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7"/>
  </p:notesMasterIdLst>
  <p:sldIdLst>
    <p:sldId id="256" r:id="rId2"/>
    <p:sldId id="257" r:id="rId3"/>
    <p:sldId id="258" r:id="rId4"/>
    <p:sldId id="259" r:id="rId5"/>
    <p:sldId id="260" r:id="rId6"/>
    <p:sldId id="261" r:id="rId7"/>
    <p:sldId id="262" r:id="rId8"/>
    <p:sldId id="267" r:id="rId9"/>
    <p:sldId id="270" r:id="rId10"/>
    <p:sldId id="269" r:id="rId11"/>
    <p:sldId id="268" r:id="rId12"/>
    <p:sldId id="264" r:id="rId13"/>
    <p:sldId id="265" r:id="rId14"/>
    <p:sldId id="266" r:id="rId15"/>
    <p:sldId id="263" r:id="rId16"/>
    <p:sldId id="271" r:id="rId17"/>
    <p:sldId id="287" r:id="rId18"/>
    <p:sldId id="272" r:id="rId19"/>
    <p:sldId id="273" r:id="rId20"/>
    <p:sldId id="274" r:id="rId21"/>
    <p:sldId id="288" r:id="rId22"/>
    <p:sldId id="275" r:id="rId23"/>
    <p:sldId id="289" r:id="rId24"/>
    <p:sldId id="276" r:id="rId25"/>
    <p:sldId id="277" r:id="rId26"/>
    <p:sldId id="290" r:id="rId27"/>
    <p:sldId id="283" r:id="rId28"/>
    <p:sldId id="278" r:id="rId29"/>
    <p:sldId id="279" r:id="rId30"/>
    <p:sldId id="280" r:id="rId31"/>
    <p:sldId id="281" r:id="rId32"/>
    <p:sldId id="282" r:id="rId33"/>
    <p:sldId id="284" r:id="rId34"/>
    <p:sldId id="286" r:id="rId35"/>
    <p:sldId id="291" r:id="rId36"/>
  </p:sld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138FDA5-2A75-4ABA-9BCA-D14581CED849}" v="2" dt="2026-05-12T13:37:12.10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73" d="100"/>
          <a:sy n="73" d="100"/>
        </p:scale>
        <p:origin x="60"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42"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376649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everyone, we're Ofer and Tamir. Our project asks a simple question — when a bus leaves its origin in Tel Aviv, will it arrive on time? We trained a multi-class model on roughly 92,000 bus trips from April 2024, joined across schedules, live AVL pings, validations, weather and route geometry. The headline is that lateness is highly predictable, dominated by passenger load and time of day, and we'll spend the next 15 minutes showing you how we got there.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path. Part one is the data — sources, the raw scale, and the target. Part two is EDA. Part three is the manipulation pipeline — cleaning, encoding, feature engineering, and selection. Part four is modeling, with overfit checks, SMOTE experiments, threshold tuning, hyperparameter tuning and the final test results. Part five is conclusions.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one. Where the signals come from.</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independent feeds joined into one trip-level table. GTFS is the published schedule — the should-be anchor. SIRI is 30-second AVL pings — what actually happened. The other four are enrichments: smart-card validations as a crowding proxy, weather from IMS, the priority-lane network, and route geometry. Two anchors plus four enrichments, joined on trip_id, route_id and date.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raw dataset before any processing: 92,548 rows and 35 columns. That's our starting point. Each row is one bus trip on one date. The columns span schedule data, live position summaries, weather, network attributes and operational signals. Out of these 35 we'd ultimately keep 20 features for the final model.</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target is the difference between actual trip duration and planned trip duration. Positive means the trip ran longer than scheduled — late. Negative means faster than scheduled — early. We classify into three buckets: early, on-time, delay. The chart on the right is the actual distribution of this difference; it's right-skewed, so the system runs late more than early.</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two — exploratory data analysis. We spent serious time looking at the data before touching a model.</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three — the manipulation pipeline.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Outlier handling had two parts. First, midnight-crossing trips — when arrival time is earlier than departure time, the trip ended after midnight. We detected and corrected those. Second, IQR-based outlier detection on every numeric column, with box plots showing the percentage of outliers per column. We capped or removed extreme values per column based on the IQR bounds.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Nulls were filled per route. For speed, actual duration, and the duration difference, we used the median within each route_id and direction group. If still missing, fall back to the global median from a reference dataset. For average passengers per bus, same approach: median per route, then fall back. This keeps imputation route-aware — the median delay on Route 70 has nothing to do with the median on Route 5.</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major stages. We start with type fixes, then null imputation, outlier handling, target creation, encoding categoricals, feature engineering, then selection. The selection stage is fitted on train only and replayed frozen on validation and test.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Spearman correlation between numeric features and the duration difference. Total passengers leads with a 0.46 correlation — by far the strongest. Number of stops, curvity and full hour have positive but small correlations. Speed and route length km are negatively correlated with delay — paradoxically, longer or faster-scheduled routes are slightly less likely to be late, because they have more slack baked in. These correlations gave us our first ranked list of candidates for feature selection.</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long routes, the share of delayed trips climbs above 70% during business hours and 79% mid-afternoon. Late nights flip the pattern entirely: at 3 AM, 63% of trips run early. So lateness is not a property of the route — it's a property of the route times the hour. This insight became one of our strongest engineered features.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finding rendered as a heatmap of P(early given hour, route length). The hot band at hours 1 to 4 across longer routes is the same nighttime pattern. We lifted this directly into a numeric feature called early_by_hour_length_proba, which becomes the second-most-important feature in the model.</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look — the relationship between passenger load and delay. We split trips into high-load and low-load groups using the median number of passengers as the cutoff at 86. The two distributions are clearly different: high-load trips center around 25 minutes late, low-load trips center near 10 minutes. The t-statistic is 56.4 with a p-value essentially zero — the difference is overwhelmingly significant. Crowding causes lateness. This was our first quantitative confirmation of the operational hypothesis.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Categorical encoding. Day of week was ordinal encoded since it has natural order. The rest — agency, origin city, destination city, origin and destination station, and the route line direction code — went through target encoding using the category_encoders TargetEncoder. Target encoding gives each category its mean target value, which is much more efficient than one-hot for high-cardinality columns like route_line_direction.</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13164D-C680-5A89-1D52-6505CD00CC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29B0A2-EFB0-75E4-FB12-4742B56EAF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16D6F85-6218-2ABF-572E-34189D452A8B}"/>
              </a:ext>
            </a:extLst>
          </p:cNvPr>
          <p:cNvSpPr>
            <a:spLocks noGrp="1"/>
          </p:cNvSpPr>
          <p:nvPr>
            <p:ph type="body" idx="1"/>
          </p:nvPr>
        </p:nvSpPr>
        <p:spPr/>
        <p:txBody>
          <a:bodyPr/>
          <a:lstStyle/>
          <a:p>
            <a:r>
              <a:rPr lang="en-US" dirty="0"/>
              <a:t>Feature engineering. We engineered three families. Temporal features like arrival hour and day encoded. Operational features like average passengers per bus and the passengers-times-peak interaction. And lifted features — the conditional probability of early arrival given hour and route length, lifted directly from the heatmap we showed earlier.</a:t>
            </a:r>
          </a:p>
        </p:txBody>
      </p:sp>
      <p:sp>
        <p:nvSpPr>
          <p:cNvPr id="4" name="Slide Number Placeholder 3">
            <a:extLst>
              <a:ext uri="{FF2B5EF4-FFF2-40B4-BE49-F238E27FC236}">
                <a16:creationId xmlns:a16="http://schemas.microsoft.com/office/drawing/2014/main" id="{7B22BCF9-FCDD-9986-7AFA-87FA202CE44F}"/>
              </a:ext>
            </a:extLst>
          </p:cNvPr>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2759177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Feature engineering. We engineered three families. Temporal features like arrival hour and day encoded. Operational features like average passengers per bus and the passengers-times-peak interaction. And lifted features — the conditional probability of early arrival given hour and route length, lifted directly from the heatmap we showed earlier.</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Feature selection. We started with 35 raw columns, expanded to 52 after engineering, then narrowed to 20 final features using embedded tree-based importance. We compared four selection methods — mutual information, chi-squared, RFE-CV, and embedded tree importance with L1. Embedded won with a validation macro-F1 of 0.68.</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four — modeling.</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7B3653-32E5-ABE6-FD3F-42CB6D1855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3D238A-0397-D1BA-E336-3B93A996625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259546B-63FF-B756-B613-97F8A6E012E0}"/>
              </a:ext>
            </a:extLst>
          </p:cNvPr>
          <p:cNvSpPr>
            <a:spLocks noGrp="1"/>
          </p:cNvSpPr>
          <p:nvPr>
            <p:ph type="body" idx="1"/>
          </p:nvPr>
        </p:nvSpPr>
        <p:spPr/>
        <p:txBody>
          <a:bodyPr/>
          <a:lstStyle/>
          <a:p>
            <a:r>
              <a:rPr lang="en-US" dirty="0"/>
              <a:t>Four model families compared on the validation set: logistic regression as our baseline, random forest, XGBoost, and LightGBM. ROC curves on the right, one panel per class. XGBoost wins on every class — AUC 0.83 for early, 0.90 for delay, 0.90 for on-time. LightGBM is essentially tied. Logistic regression lags clearly, especially on the early class.</a:t>
            </a:r>
          </a:p>
        </p:txBody>
      </p:sp>
      <p:sp>
        <p:nvSpPr>
          <p:cNvPr id="4" name="Slide Number Placeholder 3">
            <a:extLst>
              <a:ext uri="{FF2B5EF4-FFF2-40B4-BE49-F238E27FC236}">
                <a16:creationId xmlns:a16="http://schemas.microsoft.com/office/drawing/2014/main" id="{E26F9A8D-74E7-7782-7269-20083E3F1CE3}"/>
              </a:ext>
            </a:extLst>
          </p:cNvPr>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10033519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model families compared on the validation set: logistic regression as our baseline, random forest, XGBoost, and LightGBM. ROC curves on the right, one panel per class. XGBoost wins on every class — AUC 0.83 for early, 0.90 for delay, 0.90 for on-time. LightGBM is essentially tied. Logistic regression lags clearly, especially on the early class.</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82C3AE-ABAA-8BF1-2672-479707869F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1E4545E-0A54-E7A5-65D1-B5D01E0E158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FD25E5B-48B8-55D7-D653-5B4AA091237D}"/>
              </a:ext>
            </a:extLst>
          </p:cNvPr>
          <p:cNvSpPr>
            <a:spLocks noGrp="1"/>
          </p:cNvSpPr>
          <p:nvPr>
            <p:ph type="body" idx="1"/>
          </p:nvPr>
        </p:nvSpPr>
        <p:spPr/>
        <p:txBody>
          <a:bodyPr/>
          <a:lstStyle/>
          <a:p>
            <a:r>
              <a:rPr lang="en-US" dirty="0"/>
              <a:t>Four model families compared on the validation set: logistic regression as our baseline, random forest, XGBoost, and LightGBM. ROC curves on the right, one panel per class. XGBoost wins on every class — AUC 0.83 for early, 0.90 for delay, 0.90 for on-time. LightGBM is essentially tied. Logistic regression lags clearly, especially on the early class.</a:t>
            </a:r>
          </a:p>
        </p:txBody>
      </p:sp>
      <p:sp>
        <p:nvSpPr>
          <p:cNvPr id="4" name="Slide Number Placeholder 3">
            <a:extLst>
              <a:ext uri="{FF2B5EF4-FFF2-40B4-BE49-F238E27FC236}">
                <a16:creationId xmlns:a16="http://schemas.microsoft.com/office/drawing/2014/main" id="{A2B8D76A-4B74-8A24-081E-01BE1F5AF5A9}"/>
              </a:ext>
            </a:extLst>
          </p:cNvPr>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70439377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did three additional experiments on top of XGBoost. First, an overfit check — train accuracy 0.858, validation 0.823, gap of just 0.035; macro-F1 train 0.737, val 0.663, gap 0.075. No significant overfit. Second, SMOTE oversampling of the minority classes, primarily early — results were not better, the synthetic samples didn't help. Third, threshold tuning — sweeping the decision threshold from 0.10 to 0.30 in 0.05 steps. The best threshold was 0.20, lifting macro-F1 from baseline to 0.7029. We also ran Optuna for hyperparameter tuning, no further improvement on top of threshold tuning. So our final model is XGBoost with class weights and threshold 0.20.</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 set results. Out of 13,588 trips: accuracy 0.82, weighted F1 0.81, macro F1 0.68. Per-class: delay F1 of 0.90 with 94% recall — the model rarely misses a real delay. Early F1 of 0.51, recall 0.47 — the hardest class. On-time F1 of 0.64. The errors mostly live in on-time trips that get flagged as delay, which is the conservative kind of mistake from an operational point of view.</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7B3C29-07CE-AFA7-E742-D701D5D997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43A3AE1-C3D6-D795-875A-B29AFF2BEA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663D384-B81F-424A-7AD0-20D2E5D47FF2}"/>
              </a:ext>
            </a:extLst>
          </p:cNvPr>
          <p:cNvSpPr>
            <a:spLocks noGrp="1"/>
          </p:cNvSpPr>
          <p:nvPr>
            <p:ph type="body" idx="1"/>
          </p:nvPr>
        </p:nvSpPr>
        <p:spPr/>
        <p:txBody>
          <a:bodyPr/>
          <a:lstStyle/>
          <a:p>
            <a:r>
              <a:rPr lang="en-US" dirty="0"/>
              <a:t>Test set results. Out of 13,588 trips: accuracy 0.82, weighted F1 0.81, macro F1 0.68. Per-class: delay F1 of 0.90 with 94% recall — the model rarely misses a real delay. Early F1 of 0.51, recall 0.47 — the hardest class. On-time F1 of 0.64. The errors mostly live in on-time trips that get flagged as delay, which is the conservative kind of mistake from an operational point of view.</a:t>
            </a:r>
          </a:p>
        </p:txBody>
      </p:sp>
      <p:sp>
        <p:nvSpPr>
          <p:cNvPr id="4" name="Slide Number Placeholder 3">
            <a:extLst>
              <a:ext uri="{FF2B5EF4-FFF2-40B4-BE49-F238E27FC236}">
                <a16:creationId xmlns:a16="http://schemas.microsoft.com/office/drawing/2014/main" id="{D57C6D96-BBC8-E0D8-B3C1-7192B62C44A3}"/>
              </a:ext>
            </a:extLst>
          </p:cNvPr>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36281233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 set results. Out of 13,588 trips: accuracy 0.82, weighted F1 0.81, macro F1 0.68. Per-class: delay F1 of 0.90 with 94% recall — the model rarely misses a real delay. Early F1 of 0.51, recall 0.47 — the hardest class. On-time F1 of 0.64. The errors mostly live in on-time trips that get flagged as delay, which is the conservative kind of mistake from an operational point of view.</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SHAP feature importance, one plot per class. For delay: agency_linenum_dir_alter — route identity — dominates. Some lines are systemically late. For early: our engineered hour-by-route-length probability dominates. For on-time: average passengers per bus is the top driver. Read together: route identity drives delay, conditional probabilities drive early, and crowding drives on-time. Three different stories from one model.</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comparison: baseline LogReg vs. our final tuned XGBoost. Macro F1 jumped from 0.55 to 0.68. The gain comes from three places: tree-based modeling, threshold tuning at 0.20, and the engineered features. Each was worth roughly five points of macro-F1.</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five — what we learned.</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takeaways. Lateness is structural and predictable. Crowding beats geometry — passenger load is more important than any route shape feature. Long routes flip at night — same routes, opposite behavior. Three open questions: the early class is fundamentally harder, we have only one month of data so seasonality is invisible, and we have no driver-level data which we suspect explains residual variance.</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Happy to dig into any part of the pipeline.</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To recap — bus lateness is structural and predictable: crowding is the dominant driver, route identity matters more than geometry, and long routes flip from late to early at night. Final model is XGBoost with class weights and threshold 0.20, reaching macro F1 of 0.68 on a held-out 15% test set. This work was done as the final project for the DS22 Machine Learning course at Bar-Ilan University. Happy to take any questions.</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C2D3BC-27C7-AF4D-D48B-90B4B582D58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4A252A1-E117-E2AC-D818-AF781FBB30F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A01830-AAEF-6486-F323-B5D2819D2944}"/>
              </a:ext>
            </a:extLst>
          </p:cNvPr>
          <p:cNvSpPr>
            <a:spLocks noGrp="1"/>
          </p:cNvSpPr>
          <p:nvPr>
            <p:ph type="body" idx="1"/>
          </p:nvPr>
        </p:nvSpPr>
        <p:spPr/>
        <p:txBody>
          <a:bodyPr/>
          <a:lstStyle/>
          <a:p>
            <a:r>
              <a:rPr lang="en-US" dirty="0"/>
              <a:t>Thank you. Happy to dig into any part of the pipeline.</a:t>
            </a:r>
          </a:p>
        </p:txBody>
      </p:sp>
      <p:sp>
        <p:nvSpPr>
          <p:cNvPr id="4" name="Slide Number Placeholder 3">
            <a:extLst>
              <a:ext uri="{FF2B5EF4-FFF2-40B4-BE49-F238E27FC236}">
                <a16:creationId xmlns:a16="http://schemas.microsoft.com/office/drawing/2014/main" id="{D64D0B25-E22C-FB57-CFFF-DF3693E6A97E}"/>
              </a:ext>
            </a:extLst>
          </p:cNvPr>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6732353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AFA5EE-DF94-99C1-F9C4-3215689BD4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8E665F7-4645-A3D5-17FA-D8DCCA9F461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9C00B72-3155-5164-A5FF-264A83FE834B}"/>
              </a:ext>
            </a:extLst>
          </p:cNvPr>
          <p:cNvSpPr>
            <a:spLocks noGrp="1"/>
          </p:cNvSpPr>
          <p:nvPr>
            <p:ph type="body" idx="1"/>
          </p:nvPr>
        </p:nvSpPr>
        <p:spPr/>
        <p:txBody>
          <a:bodyPr/>
          <a:lstStyle/>
          <a:p>
            <a:r>
              <a:rPr lang="en-US" dirty="0"/>
              <a:t>Thank you. Happy to dig into any part of the pipeline.</a:t>
            </a:r>
          </a:p>
        </p:txBody>
      </p:sp>
      <p:sp>
        <p:nvSpPr>
          <p:cNvPr id="4" name="Slide Number Placeholder 3">
            <a:extLst>
              <a:ext uri="{FF2B5EF4-FFF2-40B4-BE49-F238E27FC236}">
                <a16:creationId xmlns:a16="http://schemas.microsoft.com/office/drawing/2014/main" id="{144AC879-7CF9-B82D-C113-C90CF886FE94}"/>
              </a:ext>
            </a:extLst>
          </p:cNvPr>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37306223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6.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1.xml"/><Relationship Id="rId1" Type="http://schemas.openxmlformats.org/officeDocument/2006/relationships/slideLayout" Target="../slideLayouts/slideLayout1.xml"/><Relationship Id="rId5" Type="http://schemas.openxmlformats.org/officeDocument/2006/relationships/image" Target="../media/image21.png"/><Relationship Id="rId4" Type="http://schemas.openxmlformats.org/officeDocument/2006/relationships/image" Target="../media/image20.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5F1E8"/>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0287000" y="3314903"/>
            <a:ext cx="7239000" cy="3429000"/>
          </a:xfrm>
          <a:prstGeom prst="rect">
            <a:avLst/>
          </a:prstGeom>
        </p:spPr>
      </p:pic>
      <p:sp>
        <p:nvSpPr>
          <p:cNvPr id="5" name="Text 2"/>
          <p:cNvSpPr/>
          <p:nvPr/>
        </p:nvSpPr>
        <p:spPr>
          <a:xfrm>
            <a:off x="762000" y="3044577"/>
            <a:ext cx="17266920" cy="200025"/>
          </a:xfrm>
          <a:prstGeom prst="rect">
            <a:avLst/>
          </a:prstGeom>
          <a:noFill/>
          <a:ln/>
        </p:spPr>
        <p:txBody>
          <a:bodyPr wrap="square" lIns="25400" tIns="25400" rIns="25400" bIns="25400" rtlCol="0" anchor="ctr">
            <a:noAutofit/>
          </a:bodyPr>
          <a:lstStyle/>
          <a:p>
            <a:pPr marL="0" indent="0" algn="l">
              <a:buNone/>
            </a:pPr>
            <a:r>
              <a:rPr lang="en-US" sz="1600" kern="0" spc="215" dirty="0">
                <a:solidFill>
                  <a:srgbClr val="C25A2A"/>
                </a:solidFill>
                <a:latin typeface="JetBrains Mono" pitchFamily="34" charset="0"/>
                <a:ea typeface="JetBrains Mono" pitchFamily="34" charset="-122"/>
                <a:cs typeface="JetBrains Mono" pitchFamily="34" charset="-120"/>
              </a:rPr>
              <a:t>PUBLIC-TRANSIT RELIABILITY</a:t>
            </a:r>
            <a:endParaRPr lang="en-US" sz="1600" dirty="0"/>
          </a:p>
        </p:txBody>
      </p:sp>
      <p:sp>
        <p:nvSpPr>
          <p:cNvPr id="6" name="Text 3"/>
          <p:cNvSpPr/>
          <p:nvPr/>
        </p:nvSpPr>
        <p:spPr>
          <a:xfrm>
            <a:off x="762001" y="3549402"/>
            <a:ext cx="8633459" cy="2313980"/>
          </a:xfrm>
          <a:prstGeom prst="rect">
            <a:avLst/>
          </a:prstGeom>
          <a:noFill/>
          <a:ln/>
        </p:spPr>
        <p:txBody>
          <a:bodyPr wrap="square" lIns="25400" tIns="25400" rIns="25400" bIns="25400" rtlCol="0" anchor="t">
            <a:normAutofit fontScale="70000" lnSpcReduction="20000"/>
          </a:bodyPr>
          <a:lstStyle/>
          <a:p>
            <a:pPr>
              <a:lnSpc>
                <a:spcPct val="103000"/>
              </a:lnSpc>
            </a:pPr>
            <a:r>
              <a:rPr lang="en-US" sz="8600" kern="0" spc="-217" dirty="0">
                <a:solidFill>
                  <a:srgbClr val="1A1A1A"/>
                </a:solidFill>
                <a:latin typeface="Inter"/>
                <a:ea typeface="Instrument Serif" pitchFamily="34" charset="-122"/>
              </a:rPr>
              <a:t>Machine Learning Approach to Trip-Level </a:t>
            </a:r>
            <a:r>
              <a:rPr lang="en-US" sz="8600" i="1" kern="0" spc="-217" dirty="0">
                <a:solidFill>
                  <a:srgbClr val="C25A2A"/>
                </a:solidFill>
                <a:latin typeface="Inter"/>
                <a:ea typeface="Instrument Serif" pitchFamily="34" charset="-122"/>
              </a:rPr>
              <a:t>Deviations</a:t>
            </a:r>
            <a:endParaRPr lang="en-US" sz="8700" dirty="0"/>
          </a:p>
        </p:txBody>
      </p:sp>
      <p:sp>
        <p:nvSpPr>
          <p:cNvPr id="7" name="Text 4"/>
          <p:cNvSpPr/>
          <p:nvPr/>
        </p:nvSpPr>
        <p:spPr>
          <a:xfrm>
            <a:off x="786065" y="5280325"/>
            <a:ext cx="8845342" cy="1303845"/>
          </a:xfrm>
          <a:prstGeom prst="rect">
            <a:avLst/>
          </a:prstGeom>
          <a:noFill/>
          <a:ln/>
        </p:spPr>
        <p:txBody>
          <a:bodyPr wrap="square" lIns="25400" tIns="25400" rIns="25400" bIns="25400" rtlCol="0" anchor="t">
            <a:normAutofit/>
          </a:bodyPr>
          <a:lstStyle/>
          <a:p>
            <a:pPr marL="0" indent="0" algn="l">
              <a:lnSpc>
                <a:spcPct val="140000"/>
              </a:lnSpc>
              <a:buNone/>
            </a:pPr>
            <a:r>
              <a:rPr lang="en-US" sz="1650" dirty="0">
                <a:solidFill>
                  <a:srgbClr val="4A4A4A"/>
                </a:solidFill>
                <a:latin typeface="Inter" pitchFamily="34" charset="0"/>
                <a:ea typeface="Inter" pitchFamily="34" charset="-122"/>
                <a:cs typeface="Inter" pitchFamily="34" charset="-120"/>
              </a:rPr>
              <a:t>A trip-level multi-class model trained on GTFS schedules, SIRI live positions, smart-card validations, weather, and the bus-priority network.</a:t>
            </a:r>
            <a:endParaRPr lang="en-US" sz="1650" dirty="0"/>
          </a:p>
          <a:p>
            <a:pPr marL="0" indent="0" algn="l">
              <a:lnSpc>
                <a:spcPct val="140000"/>
              </a:lnSpc>
              <a:buNone/>
            </a:pPr>
            <a:r>
              <a:rPr lang="en-US" sz="1650" dirty="0">
                <a:solidFill>
                  <a:srgbClr val="4A4A4A"/>
                </a:solidFill>
                <a:latin typeface="Inter" pitchFamily="34" charset="0"/>
                <a:ea typeface="Inter" pitchFamily="34" charset="-122"/>
              </a:rPr>
              <a:t>Applied to bus routes in the Tel Aviv metropolitan area, April 2024.</a:t>
            </a:r>
          </a:p>
        </p:txBody>
      </p:sp>
      <p:pic>
        <p:nvPicPr>
          <p:cNvPr id="19" name="Picture 18">
            <a:extLst>
              <a:ext uri="{FF2B5EF4-FFF2-40B4-BE49-F238E27FC236}">
                <a16:creationId xmlns:a16="http://schemas.microsoft.com/office/drawing/2014/main" id="{C1BB9000-B55C-2C5B-7C4E-CBF428EDA1D1}"/>
              </a:ext>
            </a:extLst>
          </p:cNvPr>
          <p:cNvPicPr>
            <a:picLocks noChangeAspect="1"/>
          </p:cNvPicPr>
          <p:nvPr/>
        </p:nvPicPr>
        <p:blipFill>
          <a:blip r:embed="rId4"/>
          <a:stretch>
            <a:fillRect/>
          </a:stretch>
        </p:blipFill>
        <p:spPr>
          <a:xfrm>
            <a:off x="15763969" y="4914196"/>
            <a:ext cx="967824" cy="458608"/>
          </a:xfrm>
          <a:prstGeom prst="rect">
            <a:avLst/>
          </a:prstGeom>
        </p:spPr>
      </p:pic>
      <p:pic>
        <p:nvPicPr>
          <p:cNvPr id="20" name="Picture 19">
            <a:extLst>
              <a:ext uri="{FF2B5EF4-FFF2-40B4-BE49-F238E27FC236}">
                <a16:creationId xmlns:a16="http://schemas.microsoft.com/office/drawing/2014/main" id="{119D95B7-1BB0-41EA-D954-DCE5273CCAA1}"/>
              </a:ext>
            </a:extLst>
          </p:cNvPr>
          <p:cNvPicPr>
            <a:picLocks noChangeAspect="1"/>
          </p:cNvPicPr>
          <p:nvPr/>
        </p:nvPicPr>
        <p:blipFill>
          <a:blip r:embed="rId4"/>
          <a:stretch>
            <a:fillRect/>
          </a:stretch>
        </p:blipFill>
        <p:spPr>
          <a:xfrm>
            <a:off x="10498883" y="6604231"/>
            <a:ext cx="7135950" cy="670068"/>
          </a:xfrm>
          <a:prstGeom prst="rect">
            <a:avLst/>
          </a:prstGeom>
        </p:spPr>
      </p:pic>
      <p:sp>
        <p:nvSpPr>
          <p:cNvPr id="21" name="Text 0">
            <a:extLst>
              <a:ext uri="{FF2B5EF4-FFF2-40B4-BE49-F238E27FC236}">
                <a16:creationId xmlns:a16="http://schemas.microsoft.com/office/drawing/2014/main" id="{BBD90E9F-1393-04F3-F30B-886C168DDECB}"/>
              </a:ext>
            </a:extLst>
          </p:cNvPr>
          <p:cNvSpPr/>
          <p:nvPr/>
        </p:nvSpPr>
        <p:spPr>
          <a:xfrm>
            <a:off x="762000" y="609600"/>
            <a:ext cx="8633460" cy="399254"/>
          </a:xfrm>
          <a:prstGeom prst="rect">
            <a:avLst/>
          </a:prstGeom>
          <a:noFill/>
          <a:ln/>
        </p:spPr>
        <p:txBody>
          <a:bodyPr wrap="square" lIns="25400" tIns="25400" rIns="25400" bIns="25400" rtlCol="0" anchor="t">
            <a:normAutofit/>
          </a:bodyPr>
          <a:lstStyle/>
          <a:p>
            <a:pPr marL="0" indent="0" algn="l">
              <a:buNone/>
            </a:pPr>
            <a:r>
              <a:rPr lang="en-US" sz="1200" b="1" kern="0" spc="182" dirty="0">
                <a:solidFill>
                  <a:srgbClr val="1A1A1A"/>
                </a:solidFill>
                <a:latin typeface="JetBrains Mono" pitchFamily="34" charset="0"/>
                <a:ea typeface="JetBrains Mono" pitchFamily="34" charset="-122"/>
                <a:cs typeface="JetBrains Mono" pitchFamily="34" charset="-120"/>
              </a:rPr>
              <a:t>BAR-ILAN UNIVERSITY · DATA SCIENCE PROGRAM</a:t>
            </a:r>
            <a:endParaRPr lang="en-US" sz="1200" dirty="0"/>
          </a:p>
        </p:txBody>
      </p:sp>
      <p:sp>
        <p:nvSpPr>
          <p:cNvPr id="22" name="Text 1">
            <a:extLst>
              <a:ext uri="{FF2B5EF4-FFF2-40B4-BE49-F238E27FC236}">
                <a16:creationId xmlns:a16="http://schemas.microsoft.com/office/drawing/2014/main" id="{47012680-84D6-1030-C39B-27347F6058D3}"/>
              </a:ext>
            </a:extLst>
          </p:cNvPr>
          <p:cNvSpPr/>
          <p:nvPr/>
        </p:nvSpPr>
        <p:spPr>
          <a:xfrm>
            <a:off x="8892540" y="609599"/>
            <a:ext cx="8633460" cy="241751"/>
          </a:xfrm>
          <a:prstGeom prst="rect">
            <a:avLst/>
          </a:prstGeom>
          <a:noFill/>
          <a:ln/>
        </p:spPr>
        <p:txBody>
          <a:bodyPr wrap="square" lIns="25400" tIns="25400" rIns="25400" bIns="25400" rtlCol="0" anchor="t">
            <a:noAutofit/>
          </a:bodyPr>
          <a:lstStyle/>
          <a:p>
            <a:pPr marL="0" indent="0" algn="r">
              <a:buNone/>
            </a:pPr>
            <a:r>
              <a:rPr lang="en-US" sz="1400" kern="0" spc="116" dirty="0">
                <a:solidFill>
                  <a:srgbClr val="888080"/>
                </a:solidFill>
                <a:latin typeface="JetBrains Mono" pitchFamily="34" charset="0"/>
                <a:ea typeface="JetBrains Mono" pitchFamily="34" charset="-122"/>
                <a:cs typeface="JetBrains Mono" pitchFamily="34" charset="-120"/>
              </a:rPr>
              <a:t>DS22 / 1125 · ML PROJECT · MAY 2026</a:t>
            </a:r>
            <a:endParaRPr lang="en-US" sz="1400" dirty="0"/>
          </a:p>
        </p:txBody>
      </p:sp>
      <p:sp>
        <p:nvSpPr>
          <p:cNvPr id="23" name="Shape 5">
            <a:extLst>
              <a:ext uri="{FF2B5EF4-FFF2-40B4-BE49-F238E27FC236}">
                <a16:creationId xmlns:a16="http://schemas.microsoft.com/office/drawing/2014/main" id="{9A87EEE7-5F93-C6A1-35DF-EF7C077F4C85}"/>
              </a:ext>
            </a:extLst>
          </p:cNvPr>
          <p:cNvSpPr/>
          <p:nvPr/>
        </p:nvSpPr>
        <p:spPr>
          <a:xfrm>
            <a:off x="762000" y="8220224"/>
            <a:ext cx="16764000" cy="9525"/>
          </a:xfrm>
          <a:prstGeom prst="rect">
            <a:avLst/>
          </a:prstGeom>
          <a:solidFill>
            <a:srgbClr val="1A1A1A"/>
          </a:solidFill>
          <a:ln/>
        </p:spPr>
        <p:txBody>
          <a:bodyPr/>
          <a:lstStyle/>
          <a:p>
            <a:endParaRPr lang="he-IL"/>
          </a:p>
        </p:txBody>
      </p:sp>
      <p:sp>
        <p:nvSpPr>
          <p:cNvPr id="24" name="Text 6">
            <a:extLst>
              <a:ext uri="{FF2B5EF4-FFF2-40B4-BE49-F238E27FC236}">
                <a16:creationId xmlns:a16="http://schemas.microsoft.com/office/drawing/2014/main" id="{C2213E9A-0B11-B900-B8BB-3E2A05C4DD59}"/>
              </a:ext>
            </a:extLst>
          </p:cNvPr>
          <p:cNvSpPr/>
          <p:nvPr/>
        </p:nvSpPr>
        <p:spPr>
          <a:xfrm>
            <a:off x="762000" y="8439299"/>
            <a:ext cx="4864292" cy="161925"/>
          </a:xfrm>
          <a:prstGeom prst="rect">
            <a:avLst/>
          </a:prstGeom>
          <a:noFill/>
          <a:ln/>
        </p:spPr>
        <p:txBody>
          <a:bodyPr wrap="square" lIns="25400" tIns="25400" rIns="25400" bIns="25400" rtlCol="0" anchor="t">
            <a:noAutofit/>
          </a:bodyPr>
          <a:lstStyle/>
          <a:p>
            <a:pPr marL="0" indent="0" algn="l">
              <a:buNone/>
            </a:pPr>
            <a:r>
              <a:rPr lang="en-US" sz="1000" kern="0" spc="135" dirty="0">
                <a:solidFill>
                  <a:srgbClr val="888080"/>
                </a:solidFill>
                <a:latin typeface="JetBrains Mono" pitchFamily="34" charset="0"/>
                <a:ea typeface="JetBrains Mono" pitchFamily="34" charset="-122"/>
                <a:cs typeface="JetBrains Mono" pitchFamily="34" charset="-120"/>
              </a:rPr>
              <a:t>INSTITUTION</a:t>
            </a:r>
            <a:endParaRPr lang="en-US" sz="1000" dirty="0"/>
          </a:p>
        </p:txBody>
      </p:sp>
      <p:sp>
        <p:nvSpPr>
          <p:cNvPr id="25" name="Text 7">
            <a:extLst>
              <a:ext uri="{FF2B5EF4-FFF2-40B4-BE49-F238E27FC236}">
                <a16:creationId xmlns:a16="http://schemas.microsoft.com/office/drawing/2014/main" id="{8261509D-7DD9-735F-7908-26C34493789C}"/>
              </a:ext>
            </a:extLst>
          </p:cNvPr>
          <p:cNvSpPr/>
          <p:nvPr/>
        </p:nvSpPr>
        <p:spPr>
          <a:xfrm>
            <a:off x="762000" y="8620274"/>
            <a:ext cx="4864292" cy="335161"/>
          </a:xfrm>
          <a:prstGeom prst="rect">
            <a:avLst/>
          </a:prstGeom>
          <a:noFill/>
          <a:ln/>
        </p:spPr>
        <p:txBody>
          <a:bodyPr wrap="square" lIns="25400" tIns="25400" rIns="25400" bIns="25400" rtlCol="0" anchor="t">
            <a:normAutofit fontScale="92500" lnSpcReduction="20000"/>
          </a:bodyPr>
          <a:lstStyle/>
          <a:p>
            <a:pPr marL="0" indent="0" algn="l">
              <a:lnSpc>
                <a:spcPct val="130000"/>
              </a:lnSpc>
              <a:buNone/>
            </a:pPr>
            <a:r>
              <a:rPr lang="en-US" sz="1800" dirty="0">
                <a:solidFill>
                  <a:srgbClr val="1A1A1A"/>
                </a:solidFill>
                <a:latin typeface="Instrument Serif" pitchFamily="34" charset="0"/>
                <a:ea typeface="Instrument Serif" pitchFamily="34" charset="-122"/>
                <a:cs typeface="Instrument Serif" pitchFamily="34" charset="-120"/>
              </a:rPr>
              <a:t>Bar-Ilan University</a:t>
            </a:r>
            <a:endParaRPr lang="en-US" sz="1800" dirty="0"/>
          </a:p>
        </p:txBody>
      </p:sp>
      <p:sp>
        <p:nvSpPr>
          <p:cNvPr id="26" name="Text 8">
            <a:extLst>
              <a:ext uri="{FF2B5EF4-FFF2-40B4-BE49-F238E27FC236}">
                <a16:creationId xmlns:a16="http://schemas.microsoft.com/office/drawing/2014/main" id="{AC0C7943-B3F6-1911-A6F0-5CD4AE9B0986}"/>
              </a:ext>
            </a:extLst>
          </p:cNvPr>
          <p:cNvSpPr/>
          <p:nvPr/>
        </p:nvSpPr>
        <p:spPr>
          <a:xfrm>
            <a:off x="5865614" y="8439299"/>
            <a:ext cx="3741728" cy="161925"/>
          </a:xfrm>
          <a:prstGeom prst="rect">
            <a:avLst/>
          </a:prstGeom>
          <a:noFill/>
          <a:ln/>
        </p:spPr>
        <p:txBody>
          <a:bodyPr wrap="square" lIns="25400" tIns="25400" rIns="25400" bIns="25400" rtlCol="0" anchor="t">
            <a:noAutofit/>
          </a:bodyPr>
          <a:lstStyle/>
          <a:p>
            <a:pPr marL="0" indent="0" algn="l">
              <a:buNone/>
            </a:pPr>
            <a:r>
              <a:rPr lang="en-US" sz="1000" kern="0" spc="135" dirty="0">
                <a:solidFill>
                  <a:srgbClr val="888080"/>
                </a:solidFill>
                <a:latin typeface="JetBrains Mono" pitchFamily="34" charset="0"/>
                <a:ea typeface="JetBrains Mono" pitchFamily="34" charset="-122"/>
                <a:cs typeface="JetBrains Mono" pitchFamily="34" charset="-120"/>
              </a:rPr>
              <a:t>AUTHORS</a:t>
            </a:r>
            <a:endParaRPr lang="en-US" sz="1000" dirty="0"/>
          </a:p>
        </p:txBody>
      </p:sp>
      <p:sp>
        <p:nvSpPr>
          <p:cNvPr id="27" name="Text 9">
            <a:extLst>
              <a:ext uri="{FF2B5EF4-FFF2-40B4-BE49-F238E27FC236}">
                <a16:creationId xmlns:a16="http://schemas.microsoft.com/office/drawing/2014/main" id="{525A7F75-8D79-C8CB-FA60-315A2B06B297}"/>
              </a:ext>
            </a:extLst>
          </p:cNvPr>
          <p:cNvSpPr/>
          <p:nvPr/>
        </p:nvSpPr>
        <p:spPr>
          <a:xfrm>
            <a:off x="5865614" y="8620274"/>
            <a:ext cx="3741728" cy="335161"/>
          </a:xfrm>
          <a:prstGeom prst="rect">
            <a:avLst/>
          </a:prstGeom>
          <a:noFill/>
          <a:ln/>
        </p:spPr>
        <p:txBody>
          <a:bodyPr wrap="square" lIns="25400" tIns="25400" rIns="25400" bIns="25400" rtlCol="0" anchor="t">
            <a:normAutofit fontScale="92500" lnSpcReduction="20000"/>
          </a:bodyPr>
          <a:lstStyle/>
          <a:p>
            <a:pPr marL="0" indent="0" algn="l">
              <a:lnSpc>
                <a:spcPct val="130000"/>
              </a:lnSpc>
              <a:buNone/>
            </a:pPr>
            <a:r>
              <a:rPr lang="en-US" sz="1800" dirty="0">
                <a:solidFill>
                  <a:srgbClr val="1A1A1A"/>
                </a:solidFill>
                <a:latin typeface="Instrument Serif" pitchFamily="34" charset="0"/>
                <a:ea typeface="Instrument Serif" pitchFamily="34" charset="-122"/>
                <a:cs typeface="Instrument Serif" pitchFamily="34" charset="-120"/>
              </a:rPr>
              <a:t>Ofer Shahal · Tamir Edelstein</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1E8"/>
        </a:solidFill>
        <a:effectLst/>
      </p:bgPr>
    </p:bg>
    <p:spTree>
      <p:nvGrpSpPr>
        <p:cNvPr id="1" name=""/>
        <p:cNvGrpSpPr/>
        <p:nvPr/>
      </p:nvGrpSpPr>
      <p:grpSpPr>
        <a:xfrm>
          <a:off x="0" y="0"/>
          <a:ext cx="0" cy="0"/>
          <a:chOff x="0" y="0"/>
          <a:chExt cx="0" cy="0"/>
        </a:xfrm>
      </p:grpSpPr>
      <p:sp>
        <p:nvSpPr>
          <p:cNvPr id="2" name="Shape 0"/>
          <p:cNvSpPr/>
          <p:nvPr/>
        </p:nvSpPr>
        <p:spPr>
          <a:xfrm>
            <a:off x="0" y="-15240"/>
            <a:ext cx="2095500" cy="10287000"/>
          </a:xfrm>
          <a:prstGeom prst="rect">
            <a:avLst/>
          </a:prstGeom>
          <a:solidFill>
            <a:srgbClr val="EBE5D6"/>
          </a:solidFill>
          <a:ln/>
        </p:spPr>
        <p:txBody>
          <a:bodyPr/>
          <a:lstStyle/>
          <a:p>
            <a:endParaRPr lang="he-IL"/>
          </a:p>
        </p:txBody>
      </p:sp>
      <p:sp>
        <p:nvSpPr>
          <p:cNvPr id="3" name="Shape 1"/>
          <p:cNvSpPr/>
          <p:nvPr/>
        </p:nvSpPr>
        <p:spPr>
          <a:xfrm>
            <a:off x="2085975" y="0"/>
            <a:ext cx="9525" cy="10287000"/>
          </a:xfrm>
          <a:prstGeom prst="rect">
            <a:avLst/>
          </a:prstGeom>
          <a:solidFill>
            <a:srgbClr val="D4CDBC"/>
          </a:solidFill>
          <a:ln/>
        </p:spPr>
        <p:txBody>
          <a:bodyPr/>
          <a:lstStyle/>
          <a:p>
            <a:endParaRPr lang="he-IL"/>
          </a:p>
        </p:txBody>
      </p:sp>
      <p:sp>
        <p:nvSpPr>
          <p:cNvPr id="6" name="Text 4"/>
          <p:cNvSpPr/>
          <p:nvPr/>
        </p:nvSpPr>
        <p:spPr>
          <a:xfrm>
            <a:off x="228063" y="1524367"/>
            <a:ext cx="372012" cy="200025"/>
          </a:xfrm>
          <a:prstGeom prst="rect">
            <a:avLst/>
          </a:prstGeom>
          <a:noFill/>
          <a:ln/>
        </p:spPr>
        <p:txBody>
          <a:bodyPr wrap="square" lIns="25400" tIns="25400" rIns="25400" bIns="25400" rtlCol="0" anchor="t">
            <a:noAutofit/>
          </a:bodyPr>
          <a:lstStyle/>
          <a:p>
            <a:pPr marL="0" indent="0" algn="l">
              <a:lnSpc>
                <a:spcPct val="130000"/>
              </a:lnSpc>
              <a:buNone/>
            </a:pPr>
            <a:r>
              <a:rPr lang="en-US" sz="1400" b="1" kern="0" spc="21" dirty="0">
                <a:solidFill>
                  <a:srgbClr val="C25A2A"/>
                </a:solidFill>
                <a:latin typeface="JetBrains Mono" pitchFamily="34" charset="0"/>
                <a:ea typeface="JetBrains Mono" pitchFamily="34" charset="-122"/>
                <a:cs typeface="JetBrains Mono" pitchFamily="34" charset="-120"/>
              </a:rPr>
              <a:t>01</a:t>
            </a:r>
            <a:endParaRPr lang="en-US" sz="1400" dirty="0"/>
          </a:p>
        </p:txBody>
      </p:sp>
      <p:sp>
        <p:nvSpPr>
          <p:cNvPr id="7" name="Text 5"/>
          <p:cNvSpPr/>
          <p:nvPr/>
        </p:nvSpPr>
        <p:spPr>
          <a:xfrm>
            <a:off x="523875" y="1522975"/>
            <a:ext cx="876300" cy="476251"/>
          </a:xfrm>
          <a:prstGeom prst="rect">
            <a:avLst/>
          </a:prstGeom>
          <a:noFill/>
          <a:ln/>
        </p:spPr>
        <p:txBody>
          <a:bodyPr wrap="square" lIns="25400" tIns="25400" rIns="25400" bIns="25400" rtlCol="0" anchor="t">
            <a:normAutofit/>
          </a:bodyPr>
          <a:lstStyle/>
          <a:p>
            <a:pPr marL="0" indent="0" algn="l">
              <a:lnSpc>
                <a:spcPct val="130000"/>
              </a:lnSpc>
              <a:buNone/>
            </a:pPr>
            <a:r>
              <a:rPr lang="en-US" sz="1400" kern="0" spc="21" dirty="0">
                <a:solidFill>
                  <a:srgbClr val="1A1A1A"/>
                </a:solidFill>
                <a:latin typeface="Inter" pitchFamily="34" charset="0"/>
                <a:ea typeface="Inter" pitchFamily="34" charset="-122"/>
                <a:cs typeface="Inter" pitchFamily="34" charset="-120"/>
              </a:rPr>
              <a:t>Agenda</a:t>
            </a:r>
            <a:endParaRPr lang="en-US" sz="1400" dirty="0"/>
          </a:p>
        </p:txBody>
      </p:sp>
      <p:sp>
        <p:nvSpPr>
          <p:cNvPr id="8" name="Text 6"/>
          <p:cNvSpPr/>
          <p:nvPr/>
        </p:nvSpPr>
        <p:spPr>
          <a:xfrm>
            <a:off x="228063" y="1830953"/>
            <a:ext cx="372010" cy="194877"/>
          </a:xfrm>
          <a:prstGeom prst="rect">
            <a:avLst/>
          </a:prstGeom>
          <a:noFill/>
          <a:ln/>
        </p:spPr>
        <p:txBody>
          <a:bodyPr wrap="square" lIns="25400" tIns="25400" rIns="25400" bIns="25400" rtlCol="0" anchor="t">
            <a:noAutofit/>
          </a:bodyPr>
          <a:lstStyle/>
          <a:p>
            <a:pPr marL="0" indent="0" algn="l">
              <a:lnSpc>
                <a:spcPct val="130000"/>
              </a:lnSpc>
              <a:buNone/>
            </a:pPr>
            <a:r>
              <a:rPr lang="en-US" sz="1400" kern="0" spc="21" dirty="0">
                <a:solidFill>
                  <a:srgbClr val="888080"/>
                </a:solidFill>
                <a:latin typeface="JetBrains Mono" pitchFamily="34" charset="0"/>
                <a:ea typeface="JetBrains Mono" pitchFamily="34" charset="-122"/>
                <a:cs typeface="JetBrains Mono" pitchFamily="34" charset="-120"/>
              </a:rPr>
              <a:t>02</a:t>
            </a:r>
            <a:endParaRPr lang="en-US" sz="1400" dirty="0"/>
          </a:p>
        </p:txBody>
      </p:sp>
      <p:sp>
        <p:nvSpPr>
          <p:cNvPr id="9" name="Text 7"/>
          <p:cNvSpPr/>
          <p:nvPr/>
        </p:nvSpPr>
        <p:spPr>
          <a:xfrm>
            <a:off x="523875" y="1826620"/>
            <a:ext cx="1325700" cy="467696"/>
          </a:xfrm>
          <a:prstGeom prst="rect">
            <a:avLst/>
          </a:prstGeom>
          <a:noFill/>
          <a:ln/>
        </p:spPr>
        <p:txBody>
          <a:bodyPr wrap="square" lIns="25400" tIns="25400" rIns="25400" bIns="25400" rtlCol="0" anchor="t">
            <a:noAutofit/>
          </a:bodyPr>
          <a:lstStyle/>
          <a:p>
            <a:pPr marL="0" indent="0" algn="l">
              <a:lnSpc>
                <a:spcPct val="130000"/>
              </a:lnSpc>
              <a:buNone/>
            </a:pPr>
            <a:r>
              <a:rPr lang="en-US" sz="1400" kern="0" spc="21" dirty="0">
                <a:solidFill>
                  <a:srgbClr val="888080"/>
                </a:solidFill>
                <a:latin typeface="Inter" pitchFamily="34" charset="0"/>
                <a:ea typeface="Inter" pitchFamily="34" charset="-122"/>
                <a:cs typeface="Inter" pitchFamily="34" charset="-120"/>
              </a:rPr>
              <a:t>Data &amp; target</a:t>
            </a:r>
            <a:endParaRPr lang="en-US" sz="1400" dirty="0"/>
          </a:p>
        </p:txBody>
      </p:sp>
      <p:sp>
        <p:nvSpPr>
          <p:cNvPr id="10" name="Text 8"/>
          <p:cNvSpPr/>
          <p:nvPr/>
        </p:nvSpPr>
        <p:spPr>
          <a:xfrm>
            <a:off x="230504" y="2152895"/>
            <a:ext cx="302895" cy="141422"/>
          </a:xfrm>
          <a:prstGeom prst="rect">
            <a:avLst/>
          </a:prstGeom>
          <a:noFill/>
          <a:ln/>
        </p:spPr>
        <p:txBody>
          <a:bodyPr wrap="square" lIns="25400" tIns="25400" rIns="25400" bIns="25400" rtlCol="0" anchor="t">
            <a:noAutofit/>
          </a:bodyPr>
          <a:lstStyle/>
          <a:p>
            <a:pPr marL="0" indent="0" algn="l">
              <a:lnSpc>
                <a:spcPct val="130000"/>
              </a:lnSpc>
              <a:buNone/>
            </a:pPr>
            <a:r>
              <a:rPr lang="en-US" sz="1400" kern="0" spc="21" dirty="0">
                <a:solidFill>
                  <a:srgbClr val="888080"/>
                </a:solidFill>
                <a:latin typeface="JetBrains Mono" pitchFamily="34" charset="0"/>
                <a:ea typeface="JetBrains Mono" pitchFamily="34" charset="-122"/>
                <a:cs typeface="JetBrains Mono" pitchFamily="34" charset="-120"/>
              </a:rPr>
              <a:t>03</a:t>
            </a:r>
            <a:endParaRPr lang="en-US" sz="1400" dirty="0"/>
          </a:p>
        </p:txBody>
      </p:sp>
      <p:sp>
        <p:nvSpPr>
          <p:cNvPr id="11" name="Text 9"/>
          <p:cNvSpPr/>
          <p:nvPr/>
        </p:nvSpPr>
        <p:spPr>
          <a:xfrm>
            <a:off x="531240" y="2145027"/>
            <a:ext cx="1185416" cy="342476"/>
          </a:xfrm>
          <a:prstGeom prst="rect">
            <a:avLst/>
          </a:prstGeom>
          <a:noFill/>
          <a:ln/>
        </p:spPr>
        <p:txBody>
          <a:bodyPr wrap="square" lIns="25400" tIns="25400" rIns="25400" bIns="25400" rtlCol="0" anchor="t">
            <a:normAutofit/>
          </a:bodyPr>
          <a:lstStyle/>
          <a:p>
            <a:pPr marL="0" indent="0" algn="l">
              <a:lnSpc>
                <a:spcPct val="130000"/>
              </a:lnSpc>
              <a:buNone/>
            </a:pPr>
            <a:r>
              <a:rPr lang="en-US" sz="1400" kern="0" spc="21" dirty="0">
                <a:solidFill>
                  <a:srgbClr val="888080"/>
                </a:solidFill>
                <a:latin typeface="Inter" pitchFamily="34" charset="0"/>
                <a:ea typeface="Inter" pitchFamily="34" charset="-122"/>
                <a:cs typeface="Inter" pitchFamily="34" charset="-120"/>
              </a:rPr>
              <a:t>EDA</a:t>
            </a:r>
            <a:endParaRPr lang="en-US" sz="1400" dirty="0"/>
          </a:p>
        </p:txBody>
      </p:sp>
      <p:sp>
        <p:nvSpPr>
          <p:cNvPr id="12" name="Text 10"/>
          <p:cNvSpPr/>
          <p:nvPr/>
        </p:nvSpPr>
        <p:spPr>
          <a:xfrm>
            <a:off x="228062" y="2444125"/>
            <a:ext cx="305337" cy="172132"/>
          </a:xfrm>
          <a:prstGeom prst="rect">
            <a:avLst/>
          </a:prstGeom>
          <a:noFill/>
          <a:ln/>
        </p:spPr>
        <p:txBody>
          <a:bodyPr wrap="square" lIns="25400" tIns="25400" rIns="25400" bIns="25400" rtlCol="0" anchor="t">
            <a:noAutofit/>
          </a:bodyPr>
          <a:lstStyle/>
          <a:p>
            <a:pPr marL="0" indent="0" algn="l">
              <a:lnSpc>
                <a:spcPct val="130000"/>
              </a:lnSpc>
              <a:buNone/>
            </a:pPr>
            <a:r>
              <a:rPr lang="en-US" sz="1400" kern="0" spc="21" dirty="0">
                <a:solidFill>
                  <a:srgbClr val="888080"/>
                </a:solidFill>
                <a:latin typeface="JetBrains Mono" pitchFamily="34" charset="0"/>
                <a:ea typeface="JetBrains Mono" pitchFamily="34" charset="-122"/>
                <a:cs typeface="JetBrains Mono" pitchFamily="34" charset="-120"/>
              </a:rPr>
              <a:t>04</a:t>
            </a:r>
            <a:endParaRPr lang="en-US" sz="1400" dirty="0"/>
          </a:p>
        </p:txBody>
      </p:sp>
      <p:sp>
        <p:nvSpPr>
          <p:cNvPr id="14" name="Text 12"/>
          <p:cNvSpPr/>
          <p:nvPr/>
        </p:nvSpPr>
        <p:spPr>
          <a:xfrm>
            <a:off x="228062" y="2750711"/>
            <a:ext cx="372011" cy="158880"/>
          </a:xfrm>
          <a:prstGeom prst="rect">
            <a:avLst/>
          </a:prstGeom>
          <a:noFill/>
          <a:ln/>
        </p:spPr>
        <p:txBody>
          <a:bodyPr wrap="square" lIns="25400" tIns="25400" rIns="25400" bIns="25400" rtlCol="0" anchor="t">
            <a:noAutofit/>
          </a:bodyPr>
          <a:lstStyle/>
          <a:p>
            <a:pPr marL="0" indent="0" algn="l">
              <a:lnSpc>
                <a:spcPct val="130000"/>
              </a:lnSpc>
              <a:buNone/>
            </a:pPr>
            <a:r>
              <a:rPr lang="en-US" sz="1400" kern="0" spc="21" dirty="0">
                <a:solidFill>
                  <a:srgbClr val="888080"/>
                </a:solidFill>
                <a:latin typeface="JetBrains Mono" pitchFamily="34" charset="0"/>
                <a:ea typeface="JetBrains Mono" pitchFamily="34" charset="-122"/>
                <a:cs typeface="JetBrains Mono" pitchFamily="34" charset="-120"/>
              </a:rPr>
              <a:t>05</a:t>
            </a:r>
            <a:endParaRPr lang="en-US" sz="1400" dirty="0"/>
          </a:p>
        </p:txBody>
      </p:sp>
      <p:sp>
        <p:nvSpPr>
          <p:cNvPr id="15" name="Text 13"/>
          <p:cNvSpPr/>
          <p:nvPr/>
        </p:nvSpPr>
        <p:spPr>
          <a:xfrm>
            <a:off x="533399" y="2725489"/>
            <a:ext cx="948333" cy="761256"/>
          </a:xfrm>
          <a:prstGeom prst="rect">
            <a:avLst/>
          </a:prstGeom>
          <a:noFill/>
          <a:ln/>
        </p:spPr>
        <p:txBody>
          <a:bodyPr wrap="square" lIns="25400" tIns="25400" rIns="25400" bIns="25400" rtlCol="0" anchor="t">
            <a:normAutofit/>
          </a:bodyPr>
          <a:lstStyle/>
          <a:p>
            <a:pPr marL="0" indent="0" algn="l">
              <a:lnSpc>
                <a:spcPct val="130000"/>
              </a:lnSpc>
              <a:buNone/>
            </a:pPr>
            <a:r>
              <a:rPr lang="en-US" sz="1400" kern="0" spc="21" dirty="0">
                <a:solidFill>
                  <a:srgbClr val="888080"/>
                </a:solidFill>
                <a:latin typeface="Inter" pitchFamily="34" charset="0"/>
                <a:ea typeface="Inter" pitchFamily="34" charset="-122"/>
                <a:cs typeface="Inter" pitchFamily="34" charset="-120"/>
              </a:rPr>
              <a:t>Modeling</a:t>
            </a:r>
            <a:endParaRPr lang="en-US" sz="1400" dirty="0"/>
          </a:p>
        </p:txBody>
      </p:sp>
      <p:sp>
        <p:nvSpPr>
          <p:cNvPr id="16" name="Text 14"/>
          <p:cNvSpPr/>
          <p:nvPr/>
        </p:nvSpPr>
        <p:spPr>
          <a:xfrm>
            <a:off x="235683" y="3042056"/>
            <a:ext cx="372010" cy="191463"/>
          </a:xfrm>
          <a:prstGeom prst="rect">
            <a:avLst/>
          </a:prstGeom>
          <a:noFill/>
          <a:ln/>
        </p:spPr>
        <p:txBody>
          <a:bodyPr wrap="square" lIns="25400" tIns="25400" rIns="25400" bIns="25400" rtlCol="0" anchor="t">
            <a:noAutofit/>
          </a:bodyPr>
          <a:lstStyle/>
          <a:p>
            <a:pPr marL="0" indent="0" algn="l">
              <a:lnSpc>
                <a:spcPct val="130000"/>
              </a:lnSpc>
              <a:buNone/>
            </a:pPr>
            <a:r>
              <a:rPr lang="en-US" sz="1400" kern="0" spc="21" dirty="0">
                <a:solidFill>
                  <a:srgbClr val="888080"/>
                </a:solidFill>
                <a:latin typeface="JetBrains Mono" pitchFamily="34" charset="0"/>
                <a:ea typeface="JetBrains Mono" pitchFamily="34" charset="-122"/>
                <a:cs typeface="JetBrains Mono" pitchFamily="34" charset="-120"/>
              </a:rPr>
              <a:t>06</a:t>
            </a:r>
            <a:endParaRPr lang="en-US" sz="1400" dirty="0"/>
          </a:p>
        </p:txBody>
      </p:sp>
      <p:sp>
        <p:nvSpPr>
          <p:cNvPr id="17" name="Text 15"/>
          <p:cNvSpPr/>
          <p:nvPr/>
        </p:nvSpPr>
        <p:spPr>
          <a:xfrm>
            <a:off x="533400" y="3032075"/>
            <a:ext cx="1185416" cy="626120"/>
          </a:xfrm>
          <a:prstGeom prst="rect">
            <a:avLst/>
          </a:prstGeom>
          <a:noFill/>
          <a:ln/>
        </p:spPr>
        <p:txBody>
          <a:bodyPr wrap="square" lIns="25400" tIns="25400" rIns="25400" bIns="25400" rtlCol="0" anchor="t">
            <a:normAutofit/>
          </a:bodyPr>
          <a:lstStyle/>
          <a:p>
            <a:pPr marL="0" indent="0" algn="l">
              <a:lnSpc>
                <a:spcPct val="130000"/>
              </a:lnSpc>
              <a:buNone/>
            </a:pPr>
            <a:r>
              <a:rPr lang="en-US" sz="1400" kern="0" spc="21" dirty="0">
                <a:solidFill>
                  <a:srgbClr val="888080"/>
                </a:solidFill>
                <a:latin typeface="Inter" pitchFamily="34" charset="0"/>
                <a:ea typeface="Inter" pitchFamily="34" charset="-122"/>
                <a:cs typeface="Inter" pitchFamily="34" charset="-120"/>
              </a:rPr>
              <a:t>Conclusions</a:t>
            </a:r>
            <a:endParaRPr lang="en-US" sz="1400" dirty="0"/>
          </a:p>
        </p:txBody>
      </p:sp>
      <p:sp>
        <p:nvSpPr>
          <p:cNvPr id="18" name="Text 16"/>
          <p:cNvSpPr/>
          <p:nvPr/>
        </p:nvSpPr>
        <p:spPr>
          <a:xfrm>
            <a:off x="230325" y="9706914"/>
            <a:ext cx="1628775" cy="342900"/>
          </a:xfrm>
          <a:prstGeom prst="rect">
            <a:avLst/>
          </a:prstGeom>
          <a:noFill/>
          <a:ln/>
        </p:spPr>
        <p:txBody>
          <a:bodyPr wrap="square" lIns="25400" tIns="25400" rIns="25400" bIns="25400" rtlCol="0" anchor="t">
            <a:noAutofit/>
          </a:bodyPr>
          <a:lstStyle/>
          <a:p>
            <a:pPr>
              <a:lnSpc>
                <a:spcPct val="160000"/>
              </a:lnSpc>
            </a:pPr>
            <a:r>
              <a:rPr lang="en-US" sz="1400" kern="0" spc="105" dirty="0">
                <a:solidFill>
                  <a:srgbClr val="888080"/>
                </a:solidFill>
                <a:latin typeface="JetBrains Mono" pitchFamily="34" charset="0"/>
                <a:ea typeface="JetBrains Mono" pitchFamily="34" charset="-122"/>
                <a:cs typeface="JetBrains Mono" pitchFamily="34" charset="-120"/>
              </a:rPr>
              <a:t> </a:t>
            </a:r>
            <a:r>
              <a:rPr lang="en-US" sz="1400" b="1" kern="0" spc="105" dirty="0">
                <a:solidFill>
                  <a:srgbClr val="1A1A1A"/>
                </a:solidFill>
                <a:latin typeface="JetBrains Mono" pitchFamily="34" charset="0"/>
                <a:ea typeface="JetBrains Mono" pitchFamily="34" charset="-122"/>
                <a:cs typeface="JetBrains Mono" pitchFamily="34" charset="-120"/>
              </a:rPr>
              <a:t>02 / 34</a:t>
            </a:r>
            <a:endParaRPr lang="en-US" sz="1400" dirty="0"/>
          </a:p>
        </p:txBody>
      </p:sp>
      <p:sp>
        <p:nvSpPr>
          <p:cNvPr id="19" name="Text 17"/>
          <p:cNvSpPr/>
          <p:nvPr/>
        </p:nvSpPr>
        <p:spPr>
          <a:xfrm>
            <a:off x="2781300" y="308669"/>
            <a:ext cx="15187041" cy="434281"/>
          </a:xfrm>
          <a:prstGeom prst="rect">
            <a:avLst/>
          </a:prstGeom>
          <a:noFill/>
          <a:ln/>
        </p:spPr>
        <p:txBody>
          <a:bodyPr wrap="square" lIns="25400" tIns="25400" rIns="25400" bIns="25400" rtlCol="0" anchor="ctr">
            <a:normAutofit/>
          </a:bodyPr>
          <a:lstStyle/>
          <a:p>
            <a:pPr marL="0" indent="0" algn="l">
              <a:buNone/>
            </a:pPr>
            <a:r>
              <a:rPr lang="en-US" sz="1400" kern="0" spc="182" dirty="0">
                <a:solidFill>
                  <a:srgbClr val="888080"/>
                </a:solidFill>
                <a:latin typeface="JetBrains Mono" pitchFamily="34" charset="0"/>
                <a:ea typeface="JetBrains Mono" pitchFamily="34" charset="-122"/>
                <a:cs typeface="JetBrains Mono" pitchFamily="34" charset="-120"/>
              </a:rPr>
              <a:t>AGENDA</a:t>
            </a:r>
            <a:endParaRPr lang="en-US" sz="1400" dirty="0"/>
          </a:p>
        </p:txBody>
      </p:sp>
      <p:sp>
        <p:nvSpPr>
          <p:cNvPr id="20" name="Text 18"/>
          <p:cNvSpPr/>
          <p:nvPr/>
        </p:nvSpPr>
        <p:spPr>
          <a:xfrm>
            <a:off x="2781300" y="914400"/>
            <a:ext cx="15187041" cy="643830"/>
          </a:xfrm>
          <a:prstGeom prst="rect">
            <a:avLst/>
          </a:prstGeom>
          <a:noFill/>
          <a:ln/>
        </p:spPr>
        <p:txBody>
          <a:bodyPr wrap="square" lIns="25400" tIns="25400" rIns="25400" bIns="25400" rtlCol="0" anchor="t">
            <a:normAutofit fontScale="92500" lnSpcReduction="20000"/>
          </a:bodyPr>
          <a:lstStyle/>
          <a:p>
            <a:pPr marL="0" indent="0" algn="l">
              <a:lnSpc>
                <a:spcPct val="106000"/>
              </a:lnSpc>
              <a:buNone/>
            </a:pPr>
            <a:r>
              <a:rPr lang="en-US" sz="4500" kern="0" spc="-81" dirty="0">
                <a:solidFill>
                  <a:srgbClr val="1A1A1A"/>
                </a:solidFill>
                <a:latin typeface="Instrument Serif" pitchFamily="34" charset="0"/>
                <a:ea typeface="Instrument Serif" pitchFamily="34" charset="-122"/>
                <a:cs typeface="Instrument Serif" pitchFamily="34" charset="-120"/>
              </a:rPr>
              <a:t>What we'll cover today.</a:t>
            </a:r>
            <a:endParaRPr lang="en-US" sz="4500" dirty="0"/>
          </a:p>
        </p:txBody>
      </p:sp>
      <p:sp>
        <p:nvSpPr>
          <p:cNvPr id="21" name="Text 19"/>
          <p:cNvSpPr/>
          <p:nvPr/>
        </p:nvSpPr>
        <p:spPr>
          <a:xfrm>
            <a:off x="2781300" y="1691580"/>
            <a:ext cx="10791825" cy="617934"/>
          </a:xfrm>
          <a:prstGeom prst="rect">
            <a:avLst/>
          </a:prstGeom>
          <a:noFill/>
          <a:ln/>
        </p:spPr>
        <p:txBody>
          <a:bodyPr wrap="square" lIns="25400" tIns="25400" rIns="25400" bIns="25400" rtlCol="0" anchor="t">
            <a:normAutofit fontScale="92500" lnSpcReduction="20000"/>
          </a:bodyPr>
          <a:lstStyle/>
          <a:p>
            <a:pPr marL="0" indent="0" algn="l">
              <a:lnSpc>
                <a:spcPct val="145000"/>
              </a:lnSpc>
              <a:buNone/>
            </a:pPr>
            <a:r>
              <a:rPr lang="en-US" sz="1575" dirty="0">
                <a:solidFill>
                  <a:srgbClr val="4A4A4A"/>
                </a:solidFill>
                <a:latin typeface="Inter" pitchFamily="34" charset="0"/>
                <a:ea typeface="Inter" pitchFamily="34" charset="-122"/>
                <a:cs typeface="Inter" pitchFamily="34" charset="-120"/>
              </a:rPr>
              <a:t>A walkthrough of how we framed the problem, what the data revealed, the manipulation pipeline, and the modeling experiments that produced our final XGBoost classifier.</a:t>
            </a:r>
            <a:endParaRPr lang="en-US" sz="1575" dirty="0"/>
          </a:p>
        </p:txBody>
      </p:sp>
      <p:sp>
        <p:nvSpPr>
          <p:cNvPr id="22" name="Shape 20"/>
          <p:cNvSpPr/>
          <p:nvPr/>
        </p:nvSpPr>
        <p:spPr>
          <a:xfrm>
            <a:off x="2781300" y="2728615"/>
            <a:ext cx="14744700" cy="9525"/>
          </a:xfrm>
          <a:prstGeom prst="rect">
            <a:avLst/>
          </a:prstGeom>
          <a:solidFill>
            <a:srgbClr val="D4CDBC"/>
          </a:solidFill>
          <a:ln/>
        </p:spPr>
        <p:txBody>
          <a:bodyPr/>
          <a:lstStyle/>
          <a:p>
            <a:endParaRPr lang="he-IL"/>
          </a:p>
        </p:txBody>
      </p:sp>
      <p:sp>
        <p:nvSpPr>
          <p:cNvPr id="23" name="Text 21"/>
          <p:cNvSpPr/>
          <p:nvPr/>
        </p:nvSpPr>
        <p:spPr>
          <a:xfrm>
            <a:off x="2781300" y="2909590"/>
            <a:ext cx="647700" cy="300930"/>
          </a:xfrm>
          <a:prstGeom prst="rect">
            <a:avLst/>
          </a:prstGeom>
          <a:noFill/>
          <a:ln/>
        </p:spPr>
        <p:txBody>
          <a:bodyPr wrap="square" lIns="25400" tIns="25400" rIns="25400" bIns="25400" rtlCol="0" anchor="t">
            <a:normAutofit/>
          </a:bodyPr>
          <a:lstStyle/>
          <a:p>
            <a:pPr marL="0" indent="0" algn="l">
              <a:buNone/>
            </a:pPr>
            <a:r>
              <a:rPr lang="en-US" sz="1400" b="1" kern="0" spc="149" dirty="0">
                <a:solidFill>
                  <a:srgbClr val="C25A2A"/>
                </a:solidFill>
                <a:latin typeface="JetBrains Mono" pitchFamily="34" charset="0"/>
                <a:ea typeface="JetBrains Mono" pitchFamily="34" charset="-122"/>
                <a:cs typeface="JetBrains Mono" pitchFamily="34" charset="-120"/>
              </a:rPr>
              <a:t>01</a:t>
            </a:r>
            <a:endParaRPr lang="en-US" sz="1400" dirty="0"/>
          </a:p>
        </p:txBody>
      </p:sp>
      <p:sp>
        <p:nvSpPr>
          <p:cNvPr id="24" name="Text 22"/>
          <p:cNvSpPr/>
          <p:nvPr/>
        </p:nvSpPr>
        <p:spPr>
          <a:xfrm>
            <a:off x="3581400" y="2909590"/>
            <a:ext cx="5297805" cy="300930"/>
          </a:xfrm>
          <a:prstGeom prst="rect">
            <a:avLst/>
          </a:prstGeom>
          <a:noFill/>
          <a:ln/>
        </p:spPr>
        <p:txBody>
          <a:bodyPr wrap="square" lIns="25400" tIns="25400" rIns="25400" bIns="25400" rtlCol="0" anchor="t">
            <a:normAutofit fontScale="92500" lnSpcReduction="20000"/>
          </a:bodyPr>
          <a:lstStyle/>
          <a:p>
            <a:pPr marL="0" indent="0" algn="l">
              <a:lnSpc>
                <a:spcPct val="115000"/>
              </a:lnSpc>
              <a:buNone/>
            </a:pPr>
            <a:r>
              <a:rPr lang="en-US" sz="1800" dirty="0">
                <a:solidFill>
                  <a:srgbClr val="1A1A1A"/>
                </a:solidFill>
                <a:latin typeface="Instrument Serif" pitchFamily="34" charset="0"/>
                <a:ea typeface="Instrument Serif" pitchFamily="34" charset="-122"/>
                <a:cs typeface="Instrument Serif" pitchFamily="34" charset="-120"/>
              </a:rPr>
              <a:t>Data &amp; target</a:t>
            </a:r>
            <a:endParaRPr lang="en-US" sz="1800" dirty="0"/>
          </a:p>
        </p:txBody>
      </p:sp>
      <p:sp>
        <p:nvSpPr>
          <p:cNvPr id="25" name="Text 23"/>
          <p:cNvSpPr/>
          <p:nvPr/>
        </p:nvSpPr>
        <p:spPr>
          <a:xfrm>
            <a:off x="8953500" y="2909590"/>
            <a:ext cx="8829675" cy="300930"/>
          </a:xfrm>
          <a:prstGeom prst="rect">
            <a:avLst/>
          </a:prstGeom>
          <a:noFill/>
          <a:ln/>
        </p:spPr>
        <p:txBody>
          <a:bodyPr wrap="square" lIns="25400" tIns="25400" rIns="25400" bIns="25400" rtlCol="0" anchor="t">
            <a:noAutofit/>
          </a:bodyPr>
          <a:lstStyle/>
          <a:p>
            <a:pPr marL="0" indent="0" algn="l">
              <a:lnSpc>
                <a:spcPct val="150000"/>
              </a:lnSpc>
              <a:buNone/>
            </a:pPr>
            <a:r>
              <a:rPr lang="en-US" sz="1400" dirty="0">
                <a:solidFill>
                  <a:srgbClr val="4A4A4A"/>
                </a:solidFill>
                <a:latin typeface="Inter" pitchFamily="34" charset="0"/>
                <a:ea typeface="Inter" pitchFamily="34" charset="-122"/>
                <a:cs typeface="Inter" pitchFamily="34" charset="-120"/>
              </a:rPr>
              <a:t>Six sources, 92,548 trips × 35 columns, target defined as Δ-duration with three classes.</a:t>
            </a:r>
            <a:endParaRPr lang="en-US" sz="1400" dirty="0"/>
          </a:p>
        </p:txBody>
      </p:sp>
      <p:sp>
        <p:nvSpPr>
          <p:cNvPr id="26" name="Shape 24"/>
          <p:cNvSpPr/>
          <p:nvPr/>
        </p:nvSpPr>
        <p:spPr>
          <a:xfrm>
            <a:off x="2781300" y="3477220"/>
            <a:ext cx="14744700" cy="9525"/>
          </a:xfrm>
          <a:prstGeom prst="rect">
            <a:avLst/>
          </a:prstGeom>
          <a:solidFill>
            <a:srgbClr val="D4CDBC"/>
          </a:solidFill>
          <a:ln/>
        </p:spPr>
        <p:txBody>
          <a:bodyPr/>
          <a:lstStyle/>
          <a:p>
            <a:endParaRPr lang="he-IL"/>
          </a:p>
        </p:txBody>
      </p:sp>
      <p:sp>
        <p:nvSpPr>
          <p:cNvPr id="27" name="Text 25"/>
          <p:cNvSpPr/>
          <p:nvPr/>
        </p:nvSpPr>
        <p:spPr>
          <a:xfrm>
            <a:off x="2781300" y="3658195"/>
            <a:ext cx="647700" cy="300930"/>
          </a:xfrm>
          <a:prstGeom prst="rect">
            <a:avLst/>
          </a:prstGeom>
          <a:noFill/>
          <a:ln/>
        </p:spPr>
        <p:txBody>
          <a:bodyPr wrap="square" lIns="25400" tIns="25400" rIns="25400" bIns="25400" rtlCol="0" anchor="t">
            <a:normAutofit/>
          </a:bodyPr>
          <a:lstStyle/>
          <a:p>
            <a:pPr marL="0" indent="0" algn="l">
              <a:buNone/>
            </a:pPr>
            <a:r>
              <a:rPr lang="en-US" sz="1400" b="1" kern="0" spc="149" dirty="0">
                <a:solidFill>
                  <a:srgbClr val="C25A2A"/>
                </a:solidFill>
                <a:latin typeface="JetBrains Mono" pitchFamily="34" charset="0"/>
                <a:ea typeface="JetBrains Mono" pitchFamily="34" charset="-122"/>
                <a:cs typeface="JetBrains Mono" pitchFamily="34" charset="-120"/>
              </a:rPr>
              <a:t>02</a:t>
            </a:r>
            <a:endParaRPr lang="en-US" sz="1400" dirty="0"/>
          </a:p>
        </p:txBody>
      </p:sp>
      <p:sp>
        <p:nvSpPr>
          <p:cNvPr id="28" name="Text 26"/>
          <p:cNvSpPr/>
          <p:nvPr/>
        </p:nvSpPr>
        <p:spPr>
          <a:xfrm>
            <a:off x="3581400" y="3658195"/>
            <a:ext cx="5297805" cy="300930"/>
          </a:xfrm>
          <a:prstGeom prst="rect">
            <a:avLst/>
          </a:prstGeom>
          <a:noFill/>
          <a:ln/>
        </p:spPr>
        <p:txBody>
          <a:bodyPr wrap="square" lIns="25400" tIns="25400" rIns="25400" bIns="25400" rtlCol="0" anchor="t">
            <a:normAutofit fontScale="92500" lnSpcReduction="20000"/>
          </a:bodyPr>
          <a:lstStyle/>
          <a:p>
            <a:pPr marL="0" indent="0" algn="l">
              <a:lnSpc>
                <a:spcPct val="115000"/>
              </a:lnSpc>
              <a:buNone/>
            </a:pPr>
            <a:r>
              <a:rPr lang="en-US" sz="1800" dirty="0">
                <a:solidFill>
                  <a:srgbClr val="1A1A1A"/>
                </a:solidFill>
                <a:latin typeface="Instrument Serif" pitchFamily="34" charset="0"/>
                <a:ea typeface="Instrument Serif" pitchFamily="34" charset="-122"/>
                <a:cs typeface="Instrument Serif" pitchFamily="34" charset="-120"/>
              </a:rPr>
              <a:t>Exploratory analysis</a:t>
            </a:r>
            <a:endParaRPr lang="en-US" sz="1800" dirty="0"/>
          </a:p>
        </p:txBody>
      </p:sp>
      <p:sp>
        <p:nvSpPr>
          <p:cNvPr id="29" name="Text 27"/>
          <p:cNvSpPr/>
          <p:nvPr/>
        </p:nvSpPr>
        <p:spPr>
          <a:xfrm>
            <a:off x="8953500" y="3542284"/>
            <a:ext cx="6346601" cy="300930"/>
          </a:xfrm>
          <a:prstGeom prst="rect">
            <a:avLst/>
          </a:prstGeom>
          <a:noFill/>
          <a:ln/>
        </p:spPr>
        <p:txBody>
          <a:bodyPr wrap="square" lIns="25400" tIns="25400" rIns="25400" bIns="25400" rtlCol="0" anchor="t">
            <a:noAutofit/>
          </a:bodyPr>
          <a:lstStyle/>
          <a:p>
            <a:pPr marL="0" indent="0" algn="l">
              <a:lnSpc>
                <a:spcPct val="150000"/>
              </a:lnSpc>
              <a:buNone/>
            </a:pPr>
            <a:r>
              <a:rPr lang="en-US" sz="1400" dirty="0">
                <a:solidFill>
                  <a:srgbClr val="4A4A4A"/>
                </a:solidFill>
                <a:latin typeface="Inter" pitchFamily="34" charset="0"/>
                <a:ea typeface="Inter" pitchFamily="34" charset="-122"/>
                <a:cs typeface="Inter" pitchFamily="34" charset="-120"/>
              </a:rPr>
              <a:t>Passenger-load t-test, Spearman correlations, the long-route night flip, and the hour × route-length heatmap.</a:t>
            </a:r>
            <a:endParaRPr lang="en-US" sz="1400" dirty="0"/>
          </a:p>
        </p:txBody>
      </p:sp>
      <p:sp>
        <p:nvSpPr>
          <p:cNvPr id="30" name="Shape 28"/>
          <p:cNvSpPr/>
          <p:nvPr/>
        </p:nvSpPr>
        <p:spPr>
          <a:xfrm>
            <a:off x="2781300" y="4225826"/>
            <a:ext cx="14744700" cy="9525"/>
          </a:xfrm>
          <a:prstGeom prst="rect">
            <a:avLst/>
          </a:prstGeom>
          <a:solidFill>
            <a:srgbClr val="D4CDBC"/>
          </a:solidFill>
          <a:ln/>
        </p:spPr>
        <p:txBody>
          <a:bodyPr/>
          <a:lstStyle/>
          <a:p>
            <a:endParaRPr lang="he-IL"/>
          </a:p>
        </p:txBody>
      </p:sp>
      <p:sp>
        <p:nvSpPr>
          <p:cNvPr id="31" name="Text 29"/>
          <p:cNvSpPr/>
          <p:nvPr/>
        </p:nvSpPr>
        <p:spPr>
          <a:xfrm>
            <a:off x="2781300" y="4406801"/>
            <a:ext cx="647700" cy="495300"/>
          </a:xfrm>
          <a:prstGeom prst="rect">
            <a:avLst/>
          </a:prstGeom>
          <a:noFill/>
          <a:ln/>
        </p:spPr>
        <p:txBody>
          <a:bodyPr wrap="square" lIns="25400" tIns="25400" rIns="25400" bIns="25400" rtlCol="0" anchor="t">
            <a:normAutofit/>
          </a:bodyPr>
          <a:lstStyle/>
          <a:p>
            <a:pPr marL="0" indent="0" algn="l">
              <a:buNone/>
            </a:pPr>
            <a:r>
              <a:rPr lang="en-US" sz="1400" b="1" kern="0" spc="149" dirty="0">
                <a:solidFill>
                  <a:srgbClr val="C25A2A"/>
                </a:solidFill>
                <a:latin typeface="JetBrains Mono" pitchFamily="34" charset="0"/>
                <a:ea typeface="JetBrains Mono" pitchFamily="34" charset="-122"/>
                <a:cs typeface="JetBrains Mono" pitchFamily="34" charset="-120"/>
              </a:rPr>
              <a:t>03</a:t>
            </a:r>
            <a:endParaRPr lang="en-US" sz="1400" dirty="0"/>
          </a:p>
        </p:txBody>
      </p:sp>
      <p:sp>
        <p:nvSpPr>
          <p:cNvPr id="32" name="Text 30"/>
          <p:cNvSpPr/>
          <p:nvPr/>
        </p:nvSpPr>
        <p:spPr>
          <a:xfrm>
            <a:off x="3581400" y="4406801"/>
            <a:ext cx="5297805" cy="495300"/>
          </a:xfrm>
          <a:prstGeom prst="rect">
            <a:avLst/>
          </a:prstGeom>
          <a:noFill/>
          <a:ln/>
        </p:spPr>
        <p:txBody>
          <a:bodyPr wrap="square" lIns="25400" tIns="25400" rIns="25400" bIns="25400" rtlCol="0" anchor="t">
            <a:normAutofit/>
          </a:bodyPr>
          <a:lstStyle/>
          <a:p>
            <a:pPr marL="0" indent="0" algn="l">
              <a:lnSpc>
                <a:spcPct val="115000"/>
              </a:lnSpc>
              <a:buNone/>
            </a:pPr>
            <a:r>
              <a:rPr lang="en-US" sz="1800" dirty="0">
                <a:solidFill>
                  <a:srgbClr val="1A1A1A"/>
                </a:solidFill>
                <a:latin typeface="Instrument Serif" pitchFamily="34" charset="0"/>
                <a:ea typeface="Instrument Serif" pitchFamily="34" charset="-122"/>
                <a:cs typeface="Instrument Serif" pitchFamily="34" charset="-120"/>
              </a:rPr>
              <a:t>Manipulation pipeline</a:t>
            </a:r>
            <a:endParaRPr lang="en-US" sz="1800" dirty="0"/>
          </a:p>
        </p:txBody>
      </p:sp>
      <p:sp>
        <p:nvSpPr>
          <p:cNvPr id="33" name="Text 31"/>
          <p:cNvSpPr/>
          <p:nvPr/>
        </p:nvSpPr>
        <p:spPr>
          <a:xfrm>
            <a:off x="8953500" y="4406800"/>
            <a:ext cx="8829675" cy="628649"/>
          </a:xfrm>
          <a:prstGeom prst="rect">
            <a:avLst/>
          </a:prstGeom>
          <a:noFill/>
          <a:ln/>
        </p:spPr>
        <p:txBody>
          <a:bodyPr wrap="square" lIns="25400" tIns="25400" rIns="25400" bIns="25400" rtlCol="0" anchor="t">
            <a:noAutofit/>
          </a:bodyPr>
          <a:lstStyle/>
          <a:p>
            <a:pPr marL="0" indent="0" algn="l">
              <a:lnSpc>
                <a:spcPct val="150000"/>
              </a:lnSpc>
              <a:buNone/>
            </a:pPr>
            <a:r>
              <a:rPr lang="en-US" sz="1400" dirty="0">
                <a:solidFill>
                  <a:srgbClr val="4A4A4A"/>
                </a:solidFill>
                <a:latin typeface="Inter" pitchFamily="34" charset="0"/>
                <a:ea typeface="Inter" pitchFamily="34" charset="-122"/>
                <a:cs typeface="Inter" pitchFamily="34" charset="-120"/>
              </a:rPr>
              <a:t>Imputation per route, midnight-crossing &amp; IQR outlier handling, target encoding, feature engineering, embedded selection.</a:t>
            </a:r>
            <a:endParaRPr lang="en-US" sz="1400" dirty="0"/>
          </a:p>
        </p:txBody>
      </p:sp>
      <p:sp>
        <p:nvSpPr>
          <p:cNvPr id="34" name="Shape 32"/>
          <p:cNvSpPr/>
          <p:nvPr/>
        </p:nvSpPr>
        <p:spPr>
          <a:xfrm>
            <a:off x="2781300" y="5168801"/>
            <a:ext cx="14744700" cy="9525"/>
          </a:xfrm>
          <a:prstGeom prst="rect">
            <a:avLst/>
          </a:prstGeom>
          <a:solidFill>
            <a:srgbClr val="D4CDBC"/>
          </a:solidFill>
          <a:ln/>
        </p:spPr>
        <p:txBody>
          <a:bodyPr/>
          <a:lstStyle/>
          <a:p>
            <a:endParaRPr lang="he-IL"/>
          </a:p>
        </p:txBody>
      </p:sp>
      <p:sp>
        <p:nvSpPr>
          <p:cNvPr id="35" name="Text 33"/>
          <p:cNvSpPr/>
          <p:nvPr/>
        </p:nvSpPr>
        <p:spPr>
          <a:xfrm>
            <a:off x="2781300" y="5349776"/>
            <a:ext cx="647700" cy="300930"/>
          </a:xfrm>
          <a:prstGeom prst="rect">
            <a:avLst/>
          </a:prstGeom>
          <a:noFill/>
          <a:ln/>
        </p:spPr>
        <p:txBody>
          <a:bodyPr wrap="square" lIns="25400" tIns="25400" rIns="25400" bIns="25400" rtlCol="0" anchor="t">
            <a:normAutofit/>
          </a:bodyPr>
          <a:lstStyle/>
          <a:p>
            <a:pPr marL="0" indent="0" algn="l">
              <a:buNone/>
            </a:pPr>
            <a:r>
              <a:rPr lang="en-US" sz="1400" b="1" kern="0" spc="149" dirty="0">
                <a:solidFill>
                  <a:srgbClr val="C25A2A"/>
                </a:solidFill>
                <a:latin typeface="JetBrains Mono" pitchFamily="34" charset="0"/>
                <a:ea typeface="JetBrains Mono" pitchFamily="34" charset="-122"/>
                <a:cs typeface="JetBrains Mono" pitchFamily="34" charset="-120"/>
              </a:rPr>
              <a:t>04</a:t>
            </a:r>
            <a:endParaRPr lang="en-US" sz="1400" dirty="0"/>
          </a:p>
        </p:txBody>
      </p:sp>
      <p:sp>
        <p:nvSpPr>
          <p:cNvPr id="36" name="Text 34"/>
          <p:cNvSpPr/>
          <p:nvPr/>
        </p:nvSpPr>
        <p:spPr>
          <a:xfrm>
            <a:off x="3581400" y="5349776"/>
            <a:ext cx="5297805" cy="300930"/>
          </a:xfrm>
          <a:prstGeom prst="rect">
            <a:avLst/>
          </a:prstGeom>
          <a:noFill/>
          <a:ln/>
        </p:spPr>
        <p:txBody>
          <a:bodyPr wrap="square" lIns="25400" tIns="25400" rIns="25400" bIns="25400" rtlCol="0" anchor="t">
            <a:normAutofit fontScale="92500" lnSpcReduction="20000"/>
          </a:bodyPr>
          <a:lstStyle/>
          <a:p>
            <a:pPr marL="0" indent="0" algn="l">
              <a:lnSpc>
                <a:spcPct val="115000"/>
              </a:lnSpc>
              <a:buNone/>
            </a:pPr>
            <a:r>
              <a:rPr lang="en-US" sz="1800" dirty="0">
                <a:solidFill>
                  <a:srgbClr val="1A1A1A"/>
                </a:solidFill>
                <a:latin typeface="Instrument Serif" pitchFamily="34" charset="0"/>
                <a:ea typeface="Instrument Serif" pitchFamily="34" charset="-122"/>
                <a:cs typeface="Instrument Serif" pitchFamily="34" charset="-120"/>
              </a:rPr>
              <a:t>Modeling experiments</a:t>
            </a:r>
            <a:endParaRPr lang="en-US" sz="1800" dirty="0"/>
          </a:p>
        </p:txBody>
      </p:sp>
      <p:sp>
        <p:nvSpPr>
          <p:cNvPr id="37" name="Text 35"/>
          <p:cNvSpPr/>
          <p:nvPr/>
        </p:nvSpPr>
        <p:spPr>
          <a:xfrm>
            <a:off x="8953500" y="5349776"/>
            <a:ext cx="8829675" cy="567630"/>
          </a:xfrm>
          <a:prstGeom prst="rect">
            <a:avLst/>
          </a:prstGeom>
          <a:noFill/>
          <a:ln/>
        </p:spPr>
        <p:txBody>
          <a:bodyPr wrap="square" lIns="25400" tIns="25400" rIns="25400" bIns="25400" rtlCol="0" anchor="t">
            <a:normAutofit/>
          </a:bodyPr>
          <a:lstStyle/>
          <a:p>
            <a:pPr marL="0" indent="0" algn="l">
              <a:lnSpc>
                <a:spcPct val="150000"/>
              </a:lnSpc>
              <a:buNone/>
            </a:pPr>
            <a:r>
              <a:rPr lang="en-US" sz="1400" dirty="0">
                <a:solidFill>
                  <a:srgbClr val="4A4A4A"/>
                </a:solidFill>
                <a:latin typeface="Inter" pitchFamily="34" charset="0"/>
                <a:ea typeface="Inter" pitchFamily="34" charset="-122"/>
                <a:cs typeface="Inter" pitchFamily="34" charset="-120"/>
              </a:rPr>
              <a:t>Four model families, overfit checks, SMOTE, threshold tuning at 0.20, Optuna, and final XGBoost on the test set.</a:t>
            </a:r>
            <a:endParaRPr lang="en-US" sz="1400" dirty="0"/>
          </a:p>
        </p:txBody>
      </p:sp>
      <p:sp>
        <p:nvSpPr>
          <p:cNvPr id="38" name="Shape 36"/>
          <p:cNvSpPr/>
          <p:nvPr/>
        </p:nvSpPr>
        <p:spPr>
          <a:xfrm>
            <a:off x="2781300" y="6532662"/>
            <a:ext cx="14744700" cy="9525"/>
          </a:xfrm>
          <a:prstGeom prst="rect">
            <a:avLst/>
          </a:prstGeom>
          <a:solidFill>
            <a:srgbClr val="D4CDBC"/>
          </a:solidFill>
          <a:ln/>
        </p:spPr>
        <p:txBody>
          <a:bodyPr/>
          <a:lstStyle/>
          <a:p>
            <a:endParaRPr lang="he-IL"/>
          </a:p>
        </p:txBody>
      </p:sp>
      <p:sp>
        <p:nvSpPr>
          <p:cNvPr id="39" name="Shape 37"/>
          <p:cNvSpPr/>
          <p:nvPr/>
        </p:nvSpPr>
        <p:spPr>
          <a:xfrm>
            <a:off x="2781300" y="5917406"/>
            <a:ext cx="14744700" cy="9525"/>
          </a:xfrm>
          <a:prstGeom prst="rect">
            <a:avLst/>
          </a:prstGeom>
          <a:solidFill>
            <a:srgbClr val="D4CDBC"/>
          </a:solidFill>
          <a:ln/>
        </p:spPr>
        <p:txBody>
          <a:bodyPr/>
          <a:lstStyle/>
          <a:p>
            <a:endParaRPr lang="he-IL"/>
          </a:p>
        </p:txBody>
      </p:sp>
      <p:sp>
        <p:nvSpPr>
          <p:cNvPr id="40" name="Text 38"/>
          <p:cNvSpPr/>
          <p:nvPr/>
        </p:nvSpPr>
        <p:spPr>
          <a:xfrm>
            <a:off x="2781300" y="6098381"/>
            <a:ext cx="647700" cy="300930"/>
          </a:xfrm>
          <a:prstGeom prst="rect">
            <a:avLst/>
          </a:prstGeom>
          <a:noFill/>
          <a:ln/>
        </p:spPr>
        <p:txBody>
          <a:bodyPr wrap="square" lIns="25400" tIns="25400" rIns="25400" bIns="25400" rtlCol="0" anchor="t">
            <a:normAutofit/>
          </a:bodyPr>
          <a:lstStyle/>
          <a:p>
            <a:pPr marL="0" indent="0" algn="l">
              <a:buNone/>
            </a:pPr>
            <a:r>
              <a:rPr lang="en-US" sz="1400" b="1" kern="0" spc="149" dirty="0">
                <a:solidFill>
                  <a:srgbClr val="C25A2A"/>
                </a:solidFill>
                <a:latin typeface="JetBrains Mono" pitchFamily="34" charset="0"/>
                <a:ea typeface="JetBrains Mono" pitchFamily="34" charset="-122"/>
                <a:cs typeface="JetBrains Mono" pitchFamily="34" charset="-120"/>
              </a:rPr>
              <a:t>05</a:t>
            </a:r>
            <a:endParaRPr lang="en-US" sz="1400" dirty="0"/>
          </a:p>
        </p:txBody>
      </p:sp>
      <p:sp>
        <p:nvSpPr>
          <p:cNvPr id="41" name="Text 39"/>
          <p:cNvSpPr/>
          <p:nvPr/>
        </p:nvSpPr>
        <p:spPr>
          <a:xfrm>
            <a:off x="3581400" y="6098381"/>
            <a:ext cx="5297805" cy="300930"/>
          </a:xfrm>
          <a:prstGeom prst="rect">
            <a:avLst/>
          </a:prstGeom>
          <a:noFill/>
          <a:ln/>
        </p:spPr>
        <p:txBody>
          <a:bodyPr wrap="square" lIns="25400" tIns="25400" rIns="25400" bIns="25400" rtlCol="0" anchor="t">
            <a:normAutofit fontScale="92500" lnSpcReduction="20000"/>
          </a:bodyPr>
          <a:lstStyle/>
          <a:p>
            <a:pPr marL="0" indent="0" algn="l">
              <a:lnSpc>
                <a:spcPct val="115000"/>
              </a:lnSpc>
              <a:buNone/>
            </a:pPr>
            <a:r>
              <a:rPr lang="en-US" sz="1800" dirty="0">
                <a:solidFill>
                  <a:srgbClr val="1A1A1A"/>
                </a:solidFill>
                <a:latin typeface="Instrument Serif" pitchFamily="34" charset="0"/>
                <a:ea typeface="Instrument Serif" pitchFamily="34" charset="-122"/>
                <a:cs typeface="Instrument Serif" pitchFamily="34" charset="-120"/>
              </a:rPr>
              <a:t>SHAP &amp; conclusions</a:t>
            </a:r>
            <a:endParaRPr lang="en-US" sz="1800" dirty="0"/>
          </a:p>
        </p:txBody>
      </p:sp>
      <p:sp>
        <p:nvSpPr>
          <p:cNvPr id="42" name="Text 40"/>
          <p:cNvSpPr/>
          <p:nvPr/>
        </p:nvSpPr>
        <p:spPr>
          <a:xfrm>
            <a:off x="8953500" y="6098380"/>
            <a:ext cx="8829675" cy="558105"/>
          </a:xfrm>
          <a:prstGeom prst="rect">
            <a:avLst/>
          </a:prstGeom>
          <a:noFill/>
          <a:ln/>
        </p:spPr>
        <p:txBody>
          <a:bodyPr wrap="square" lIns="25400" tIns="25400" rIns="25400" bIns="25400" rtlCol="0" anchor="t">
            <a:normAutofit/>
          </a:bodyPr>
          <a:lstStyle/>
          <a:p>
            <a:pPr marL="0" indent="0" algn="l">
              <a:lnSpc>
                <a:spcPct val="150000"/>
              </a:lnSpc>
              <a:buNone/>
            </a:pPr>
            <a:r>
              <a:rPr lang="en-US" sz="1400" dirty="0">
                <a:solidFill>
                  <a:srgbClr val="4A4A4A"/>
                </a:solidFill>
                <a:latin typeface="Inter" pitchFamily="34" charset="0"/>
                <a:ea typeface="Inter" pitchFamily="34" charset="-122"/>
                <a:cs typeface="Inter" pitchFamily="34" charset="-120"/>
              </a:rPr>
              <a:t>Per-class feature importance, baseline-vs-final comparison, three insights and three open questions.</a:t>
            </a:r>
            <a:endParaRPr lang="en-US" sz="1400" dirty="0"/>
          </a:p>
        </p:txBody>
      </p:sp>
      <p:sp>
        <p:nvSpPr>
          <p:cNvPr id="43" name="Text 9">
            <a:extLst>
              <a:ext uri="{FF2B5EF4-FFF2-40B4-BE49-F238E27FC236}">
                <a16:creationId xmlns:a16="http://schemas.microsoft.com/office/drawing/2014/main" id="{9CD3465F-22D8-E90A-2DF3-12CF8253FDE7}"/>
              </a:ext>
            </a:extLst>
          </p:cNvPr>
          <p:cNvSpPr/>
          <p:nvPr/>
        </p:nvSpPr>
        <p:spPr>
          <a:xfrm>
            <a:off x="557659" y="2426180"/>
            <a:ext cx="1185416" cy="342476"/>
          </a:xfrm>
          <a:prstGeom prst="rect">
            <a:avLst/>
          </a:prstGeom>
          <a:noFill/>
          <a:ln/>
        </p:spPr>
        <p:txBody>
          <a:bodyPr wrap="square" lIns="25400" tIns="25400" rIns="25400" bIns="25400" rtlCol="0" anchor="t">
            <a:normAutofit/>
          </a:bodyPr>
          <a:lstStyle/>
          <a:p>
            <a:pPr marL="0" indent="0" algn="l">
              <a:lnSpc>
                <a:spcPct val="130000"/>
              </a:lnSpc>
              <a:buNone/>
            </a:pPr>
            <a:r>
              <a:rPr lang="en-US" sz="1400" kern="0" spc="21" dirty="0">
                <a:solidFill>
                  <a:srgbClr val="888080"/>
                </a:solidFill>
                <a:latin typeface="Inter" pitchFamily="34" charset="0"/>
                <a:ea typeface="Inter" pitchFamily="34" charset="-122"/>
                <a:cs typeface="Inter" pitchFamily="34" charset="-120"/>
              </a:rPr>
              <a:t>Pipeline</a:t>
            </a:r>
            <a:endParaRPr lang="en-US" sz="1400" dirty="0"/>
          </a:p>
        </p:txBody>
      </p:sp>
      <p:sp>
        <p:nvSpPr>
          <p:cNvPr id="44" name="Text 1">
            <a:extLst>
              <a:ext uri="{FF2B5EF4-FFF2-40B4-BE49-F238E27FC236}">
                <a16:creationId xmlns:a16="http://schemas.microsoft.com/office/drawing/2014/main" id="{9F8E2AC4-5373-1B0A-61C5-940135175A86}"/>
              </a:ext>
            </a:extLst>
          </p:cNvPr>
          <p:cNvSpPr/>
          <p:nvPr/>
        </p:nvSpPr>
        <p:spPr>
          <a:xfrm>
            <a:off x="261138" y="379598"/>
            <a:ext cx="1778457" cy="447678"/>
          </a:xfrm>
          <a:prstGeom prst="rect">
            <a:avLst/>
          </a:prstGeom>
          <a:noFill/>
          <a:ln/>
        </p:spPr>
        <p:txBody>
          <a:bodyPr wrap="square" lIns="25400" tIns="25400" rIns="25400" bIns="25400" rtlCol="0" anchor="t">
            <a:noAutofit/>
          </a:bodyPr>
          <a:lstStyle/>
          <a:p>
            <a:pPr marL="0" indent="0">
              <a:buNone/>
            </a:pPr>
            <a:r>
              <a:rPr lang="en-US" sz="1400" kern="0" spc="116" dirty="0">
                <a:solidFill>
                  <a:srgbClr val="888080"/>
                </a:solidFill>
                <a:latin typeface="JetBrains Mono" pitchFamily="34" charset="0"/>
                <a:ea typeface="JetBrains Mono" pitchFamily="34" charset="-122"/>
                <a:cs typeface="JetBrains Mono" pitchFamily="34" charset="-120"/>
              </a:rPr>
              <a:t>DS22 - Bar Ilan</a:t>
            </a:r>
            <a:br>
              <a:rPr lang="en-US" sz="1400" kern="0" spc="116" dirty="0">
                <a:solidFill>
                  <a:srgbClr val="888080"/>
                </a:solidFill>
                <a:latin typeface="JetBrains Mono" pitchFamily="34" charset="0"/>
                <a:ea typeface="JetBrains Mono" pitchFamily="34" charset="-122"/>
                <a:cs typeface="JetBrains Mono" pitchFamily="34" charset="-120"/>
              </a:rPr>
            </a:br>
            <a:r>
              <a:rPr lang="en-US" sz="1400" kern="0" spc="116" dirty="0">
                <a:solidFill>
                  <a:srgbClr val="888080"/>
                </a:solidFill>
                <a:latin typeface="JetBrains Mono" pitchFamily="34" charset="0"/>
                <a:ea typeface="JetBrains Mono" pitchFamily="34" charset="-122"/>
                <a:cs typeface="JetBrains Mono" pitchFamily="34" charset="-120"/>
              </a:rPr>
              <a:t>ML PROJECT</a:t>
            </a:r>
          </a:p>
          <a:p>
            <a:pPr marL="0" indent="0">
              <a:buNone/>
            </a:pPr>
            <a:r>
              <a:rPr lang="en-US" sz="1400" kern="0" spc="116" dirty="0">
                <a:solidFill>
                  <a:srgbClr val="888080"/>
                </a:solidFill>
                <a:latin typeface="JetBrains Mono" pitchFamily="34" charset="0"/>
                <a:ea typeface="JetBrains Mono" pitchFamily="34" charset="-122"/>
                <a:cs typeface="JetBrains Mono" pitchFamily="34" charset="-120"/>
              </a:rPr>
              <a:t>MAY 2026</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1E8"/>
        </a:solidFill>
        <a:effectLst/>
      </p:bgPr>
    </p:bg>
    <p:spTree>
      <p:nvGrpSpPr>
        <p:cNvPr id="1" name=""/>
        <p:cNvGrpSpPr/>
        <p:nvPr/>
      </p:nvGrpSpPr>
      <p:grpSpPr>
        <a:xfrm>
          <a:off x="0" y="0"/>
          <a:ext cx="0" cy="0"/>
          <a:chOff x="0" y="0"/>
          <a:chExt cx="0" cy="0"/>
        </a:xfrm>
      </p:grpSpPr>
      <p:sp>
        <p:nvSpPr>
          <p:cNvPr id="2" name="Shape 0"/>
          <p:cNvSpPr/>
          <p:nvPr/>
        </p:nvSpPr>
        <p:spPr>
          <a:xfrm>
            <a:off x="0" y="0"/>
            <a:ext cx="2095500" cy="10287000"/>
          </a:xfrm>
          <a:prstGeom prst="rect">
            <a:avLst/>
          </a:prstGeom>
          <a:solidFill>
            <a:srgbClr val="EBE5D6"/>
          </a:solidFill>
          <a:ln/>
        </p:spPr>
        <p:txBody>
          <a:bodyPr/>
          <a:lstStyle/>
          <a:p>
            <a:endParaRPr lang="he-IL"/>
          </a:p>
        </p:txBody>
      </p:sp>
      <p:sp>
        <p:nvSpPr>
          <p:cNvPr id="3" name="Shape 1"/>
          <p:cNvSpPr/>
          <p:nvPr/>
        </p:nvSpPr>
        <p:spPr>
          <a:xfrm>
            <a:off x="2085975" y="0"/>
            <a:ext cx="9525" cy="10287000"/>
          </a:xfrm>
          <a:prstGeom prst="rect">
            <a:avLst/>
          </a:prstGeom>
          <a:solidFill>
            <a:srgbClr val="D4CDBC"/>
          </a:solidFill>
          <a:ln/>
        </p:spPr>
        <p:txBody>
          <a:bodyPr/>
          <a:lstStyle/>
          <a:p>
            <a:endParaRPr lang="he-IL"/>
          </a:p>
        </p:txBody>
      </p:sp>
      <p:sp>
        <p:nvSpPr>
          <p:cNvPr id="18" name="Text 16"/>
          <p:cNvSpPr/>
          <p:nvPr/>
        </p:nvSpPr>
        <p:spPr>
          <a:xfrm>
            <a:off x="266700" y="9570357"/>
            <a:ext cx="1628775" cy="342900"/>
          </a:xfrm>
          <a:prstGeom prst="rect">
            <a:avLst/>
          </a:prstGeom>
          <a:noFill/>
          <a:ln/>
        </p:spPr>
        <p:txBody>
          <a:bodyPr wrap="square" lIns="25400" tIns="25400" rIns="25400" bIns="25400" rtlCol="0" anchor="t">
            <a:noAutofit/>
          </a:bodyPr>
          <a:lstStyle/>
          <a:p>
            <a:pPr>
              <a:lnSpc>
                <a:spcPct val="160000"/>
              </a:lnSpc>
            </a:pPr>
            <a:r>
              <a:rPr lang="en-US" sz="1400" b="1" kern="0" spc="105" dirty="0">
                <a:solidFill>
                  <a:srgbClr val="1A1A1A"/>
                </a:solidFill>
                <a:latin typeface="JetBrains Mono" pitchFamily="34" charset="0"/>
                <a:ea typeface="JetBrains Mono" pitchFamily="34" charset="-122"/>
                <a:cs typeface="JetBrains Mono" pitchFamily="34" charset="-120"/>
              </a:rPr>
              <a:t>03 / 34</a:t>
            </a:r>
            <a:endParaRPr lang="en-US" sz="1400" dirty="0"/>
          </a:p>
        </p:txBody>
      </p:sp>
      <p:sp>
        <p:nvSpPr>
          <p:cNvPr id="19" name="Text 17"/>
          <p:cNvSpPr/>
          <p:nvPr/>
        </p:nvSpPr>
        <p:spPr>
          <a:xfrm>
            <a:off x="2781300" y="571500"/>
            <a:ext cx="15187041" cy="171450"/>
          </a:xfrm>
          <a:prstGeom prst="rect">
            <a:avLst/>
          </a:prstGeom>
          <a:noFill/>
          <a:ln/>
        </p:spPr>
        <p:txBody>
          <a:bodyPr wrap="square" lIns="25400" tIns="25400" rIns="25400" bIns="25400" rtlCol="0" anchor="ctr">
            <a:noAutofit/>
          </a:bodyPr>
          <a:lstStyle/>
          <a:p>
            <a:pPr marL="0" indent="0" algn="l">
              <a:buNone/>
            </a:pPr>
            <a:r>
              <a:rPr lang="en-US" sz="1400" kern="0" spc="182" dirty="0">
                <a:solidFill>
                  <a:srgbClr val="888080"/>
                </a:solidFill>
                <a:latin typeface="JetBrains Mono" pitchFamily="34" charset="0"/>
                <a:ea typeface="JetBrains Mono" pitchFamily="34" charset="-122"/>
                <a:cs typeface="JetBrains Mono" pitchFamily="34" charset="-120"/>
              </a:rPr>
              <a:t>PART I · SECTION OPENER</a:t>
            </a:r>
            <a:endParaRPr lang="en-US" sz="1400" dirty="0"/>
          </a:p>
        </p:txBody>
      </p:sp>
      <p:sp>
        <p:nvSpPr>
          <p:cNvPr id="20" name="Text 18"/>
          <p:cNvSpPr/>
          <p:nvPr/>
        </p:nvSpPr>
        <p:spPr>
          <a:xfrm>
            <a:off x="2781300" y="4309610"/>
            <a:ext cx="6204226" cy="171450"/>
          </a:xfrm>
          <a:prstGeom prst="rect">
            <a:avLst/>
          </a:prstGeom>
          <a:noFill/>
          <a:ln/>
        </p:spPr>
        <p:txBody>
          <a:bodyPr wrap="square" lIns="25400" tIns="25400" rIns="25400" bIns="25400" rtlCol="0" anchor="t">
            <a:noAutofit/>
          </a:bodyPr>
          <a:lstStyle/>
          <a:p>
            <a:pPr marL="0" indent="0" algn="l">
              <a:buNone/>
            </a:pPr>
            <a:r>
              <a:rPr lang="en-US" sz="1400" kern="0" spc="149" dirty="0">
                <a:solidFill>
                  <a:srgbClr val="888080"/>
                </a:solidFill>
                <a:latin typeface="JetBrains Mono" pitchFamily="34" charset="0"/>
                <a:ea typeface="JetBrains Mono" pitchFamily="34" charset="-122"/>
                <a:cs typeface="JetBrains Mono" pitchFamily="34" charset="-120"/>
              </a:rPr>
              <a:t>SECTION</a:t>
            </a:r>
            <a:endParaRPr lang="en-US" sz="1400" dirty="0"/>
          </a:p>
        </p:txBody>
      </p:sp>
      <p:sp>
        <p:nvSpPr>
          <p:cNvPr id="21" name="Shape 19"/>
          <p:cNvSpPr/>
          <p:nvPr/>
        </p:nvSpPr>
        <p:spPr>
          <a:xfrm>
            <a:off x="2781300" y="4586288"/>
            <a:ext cx="6023521" cy="9525"/>
          </a:xfrm>
          <a:prstGeom prst="rect">
            <a:avLst/>
          </a:prstGeom>
          <a:solidFill>
            <a:srgbClr val="1A1A1A"/>
          </a:solidFill>
          <a:ln/>
        </p:spPr>
        <p:txBody>
          <a:bodyPr/>
          <a:lstStyle/>
          <a:p>
            <a:endParaRPr lang="he-IL"/>
          </a:p>
        </p:txBody>
      </p:sp>
      <p:sp>
        <p:nvSpPr>
          <p:cNvPr id="22" name="Text 20"/>
          <p:cNvSpPr/>
          <p:nvPr/>
        </p:nvSpPr>
        <p:spPr>
          <a:xfrm>
            <a:off x="2781300" y="4672013"/>
            <a:ext cx="6204226" cy="1924050"/>
          </a:xfrm>
          <a:prstGeom prst="rect">
            <a:avLst/>
          </a:prstGeom>
          <a:noFill/>
          <a:ln/>
        </p:spPr>
        <p:txBody>
          <a:bodyPr wrap="square" lIns="25400" tIns="25400" rIns="25400" bIns="25400" rtlCol="0" anchor="t">
            <a:normAutofit fontScale="92500" lnSpcReduction="20000"/>
          </a:bodyPr>
          <a:lstStyle/>
          <a:p>
            <a:pPr marL="0" indent="0" algn="l">
              <a:lnSpc>
                <a:spcPct val="90000"/>
              </a:lnSpc>
              <a:buNone/>
            </a:pPr>
            <a:r>
              <a:rPr lang="en-US" sz="16500" kern="0" spc="-660" dirty="0">
                <a:solidFill>
                  <a:srgbClr val="C25A2A"/>
                </a:solidFill>
                <a:latin typeface="JetBrains Mono" pitchFamily="34" charset="0"/>
                <a:ea typeface="JetBrains Mono" pitchFamily="34" charset="-122"/>
                <a:cs typeface="JetBrains Mono" pitchFamily="34" charset="-120"/>
              </a:rPr>
              <a:t>01</a:t>
            </a:r>
            <a:endParaRPr lang="en-US" sz="16500" dirty="0"/>
          </a:p>
        </p:txBody>
      </p:sp>
      <p:sp>
        <p:nvSpPr>
          <p:cNvPr id="24" name="Text 22"/>
          <p:cNvSpPr/>
          <p:nvPr/>
        </p:nvSpPr>
        <p:spPr>
          <a:xfrm>
            <a:off x="9376321" y="4281041"/>
            <a:ext cx="8394170" cy="1943100"/>
          </a:xfrm>
          <a:prstGeom prst="rect">
            <a:avLst/>
          </a:prstGeom>
          <a:noFill/>
          <a:ln/>
        </p:spPr>
        <p:txBody>
          <a:bodyPr wrap="square" lIns="25400" tIns="25400" rIns="25400" bIns="25400" rtlCol="0" anchor="t">
            <a:normAutofit/>
          </a:bodyPr>
          <a:lstStyle/>
          <a:p>
            <a:pPr marL="0" indent="0" algn="l">
              <a:lnSpc>
                <a:spcPct val="100000"/>
              </a:lnSpc>
              <a:buNone/>
            </a:pPr>
            <a:r>
              <a:rPr lang="en-US" sz="7500" kern="0" spc="-187" dirty="0">
                <a:solidFill>
                  <a:srgbClr val="1A1A1A"/>
                </a:solidFill>
                <a:latin typeface="Instrument Serif" pitchFamily="34" charset="0"/>
                <a:ea typeface="Instrument Serif" pitchFamily="34" charset="-122"/>
                <a:cs typeface="Instrument Serif" pitchFamily="34" charset="-120"/>
              </a:rPr>
              <a:t>Data &amp; </a:t>
            </a:r>
            <a:r>
              <a:rPr lang="en-US" sz="7500" i="1" kern="0" spc="-187" dirty="0">
                <a:solidFill>
                  <a:srgbClr val="C25A2A"/>
                </a:solidFill>
                <a:latin typeface="Instrument Serif" pitchFamily="34" charset="0"/>
                <a:ea typeface="Instrument Serif" pitchFamily="34" charset="-122"/>
                <a:cs typeface="Instrument Serif" pitchFamily="34" charset="-120"/>
              </a:rPr>
              <a:t>Target.</a:t>
            </a:r>
            <a:endParaRPr lang="en-US" sz="7500" dirty="0"/>
          </a:p>
        </p:txBody>
      </p:sp>
      <p:sp>
        <p:nvSpPr>
          <p:cNvPr id="25" name="Text 23"/>
          <p:cNvSpPr/>
          <p:nvPr/>
        </p:nvSpPr>
        <p:spPr>
          <a:xfrm>
            <a:off x="9398822" y="5634037"/>
            <a:ext cx="6867525" cy="723219"/>
          </a:xfrm>
          <a:prstGeom prst="rect">
            <a:avLst/>
          </a:prstGeom>
          <a:noFill/>
          <a:ln/>
        </p:spPr>
        <p:txBody>
          <a:bodyPr wrap="square" lIns="25400" tIns="25400" rIns="25400" bIns="25400" rtlCol="0" anchor="t">
            <a:normAutofit/>
          </a:bodyPr>
          <a:lstStyle/>
          <a:p>
            <a:pPr marL="0" indent="0" algn="l">
              <a:lnSpc>
                <a:spcPct val="145000"/>
              </a:lnSpc>
              <a:buNone/>
            </a:pPr>
            <a:r>
              <a:rPr lang="en-US" sz="1425" dirty="0">
                <a:solidFill>
                  <a:srgbClr val="4A4A4A"/>
                </a:solidFill>
                <a:latin typeface="Inter" pitchFamily="34" charset="0"/>
                <a:ea typeface="Inter" pitchFamily="34" charset="-122"/>
                <a:cs typeface="Inter" pitchFamily="34" charset="-120"/>
              </a:rPr>
              <a:t>From GTFS plans and SIRI pings to weather, validations and route geometry - joined into 92,548 rows on a single trip-level key.</a:t>
            </a:r>
            <a:endParaRPr lang="en-US" sz="1425" dirty="0"/>
          </a:p>
        </p:txBody>
      </p:sp>
      <p:sp>
        <p:nvSpPr>
          <p:cNvPr id="23" name="Text 4">
            <a:extLst>
              <a:ext uri="{FF2B5EF4-FFF2-40B4-BE49-F238E27FC236}">
                <a16:creationId xmlns:a16="http://schemas.microsoft.com/office/drawing/2014/main" id="{F06872D2-424F-2209-C168-E22DF5882BE7}"/>
              </a:ext>
            </a:extLst>
          </p:cNvPr>
          <p:cNvSpPr/>
          <p:nvPr/>
        </p:nvSpPr>
        <p:spPr>
          <a:xfrm>
            <a:off x="228063" y="1524367"/>
            <a:ext cx="372012" cy="200025"/>
          </a:xfrm>
          <a:prstGeom prst="rect">
            <a:avLst/>
          </a:prstGeom>
          <a:noFill/>
          <a:ln/>
        </p:spPr>
        <p:txBody>
          <a:bodyPr wrap="square" lIns="25400" tIns="25400" rIns="25400" bIns="25400" rtlCol="0" anchor="t">
            <a:noAutofit/>
          </a:bodyPr>
          <a:lstStyle/>
          <a:p>
            <a:pPr marL="0" indent="0" algn="l">
              <a:lnSpc>
                <a:spcPct val="130000"/>
              </a:lnSpc>
              <a:buNone/>
            </a:pPr>
            <a:r>
              <a:rPr lang="en-US" sz="1400" kern="0" spc="21" dirty="0">
                <a:solidFill>
                  <a:srgbClr val="888080"/>
                </a:solidFill>
                <a:latin typeface="Inter" pitchFamily="34" charset="0"/>
                <a:ea typeface="Inter" pitchFamily="34" charset="-122"/>
              </a:rPr>
              <a:t>01</a:t>
            </a:r>
          </a:p>
        </p:txBody>
      </p:sp>
      <p:sp>
        <p:nvSpPr>
          <p:cNvPr id="26" name="Text 5">
            <a:extLst>
              <a:ext uri="{FF2B5EF4-FFF2-40B4-BE49-F238E27FC236}">
                <a16:creationId xmlns:a16="http://schemas.microsoft.com/office/drawing/2014/main" id="{1D056047-C1B4-44B3-CE11-860215094C70}"/>
              </a:ext>
            </a:extLst>
          </p:cNvPr>
          <p:cNvSpPr/>
          <p:nvPr/>
        </p:nvSpPr>
        <p:spPr>
          <a:xfrm>
            <a:off x="523875" y="1522975"/>
            <a:ext cx="876300" cy="476251"/>
          </a:xfrm>
          <a:prstGeom prst="rect">
            <a:avLst/>
          </a:prstGeom>
          <a:noFill/>
          <a:ln/>
        </p:spPr>
        <p:txBody>
          <a:bodyPr wrap="square" lIns="25400" tIns="25400" rIns="25400" bIns="25400" rtlCol="0" anchor="t">
            <a:normAutofit/>
          </a:bodyPr>
          <a:lstStyle/>
          <a:p>
            <a:pPr marL="0" indent="0" algn="l">
              <a:lnSpc>
                <a:spcPct val="130000"/>
              </a:lnSpc>
              <a:buNone/>
            </a:pPr>
            <a:r>
              <a:rPr lang="en-US" sz="1400" kern="0" spc="21" dirty="0">
                <a:solidFill>
                  <a:srgbClr val="888080"/>
                </a:solidFill>
                <a:latin typeface="Inter" pitchFamily="34" charset="0"/>
                <a:ea typeface="Inter" pitchFamily="34" charset="-122"/>
              </a:rPr>
              <a:t>Agenda</a:t>
            </a:r>
          </a:p>
        </p:txBody>
      </p:sp>
      <p:sp>
        <p:nvSpPr>
          <p:cNvPr id="27" name="Text 6">
            <a:extLst>
              <a:ext uri="{FF2B5EF4-FFF2-40B4-BE49-F238E27FC236}">
                <a16:creationId xmlns:a16="http://schemas.microsoft.com/office/drawing/2014/main" id="{72A7A4C7-32AD-46FC-B0D0-158D23C0A845}"/>
              </a:ext>
            </a:extLst>
          </p:cNvPr>
          <p:cNvSpPr/>
          <p:nvPr/>
        </p:nvSpPr>
        <p:spPr>
          <a:xfrm>
            <a:off x="228063" y="1830953"/>
            <a:ext cx="372010" cy="194877"/>
          </a:xfrm>
          <a:prstGeom prst="rect">
            <a:avLst/>
          </a:prstGeom>
          <a:noFill/>
          <a:ln/>
        </p:spPr>
        <p:txBody>
          <a:bodyPr wrap="square" lIns="25400" tIns="25400" rIns="25400" bIns="25400" rtlCol="0" anchor="t">
            <a:noAutofit/>
          </a:bodyPr>
          <a:lstStyle/>
          <a:p>
            <a:pPr marL="0" indent="0" algn="l">
              <a:lnSpc>
                <a:spcPct val="130000"/>
              </a:lnSpc>
              <a:buNone/>
            </a:pPr>
            <a:r>
              <a:rPr lang="en-US" sz="1400" b="1" kern="0" spc="21" dirty="0">
                <a:solidFill>
                  <a:srgbClr val="C25A2A"/>
                </a:solidFill>
                <a:latin typeface="JetBrains Mono" pitchFamily="34" charset="0"/>
                <a:ea typeface="JetBrains Mono" pitchFamily="34" charset="-122"/>
              </a:rPr>
              <a:t>02</a:t>
            </a:r>
          </a:p>
        </p:txBody>
      </p:sp>
      <p:sp>
        <p:nvSpPr>
          <p:cNvPr id="28" name="Text 7">
            <a:extLst>
              <a:ext uri="{FF2B5EF4-FFF2-40B4-BE49-F238E27FC236}">
                <a16:creationId xmlns:a16="http://schemas.microsoft.com/office/drawing/2014/main" id="{0B52B146-121A-6DC6-F5DD-61DFA18BBF4F}"/>
              </a:ext>
            </a:extLst>
          </p:cNvPr>
          <p:cNvSpPr/>
          <p:nvPr/>
        </p:nvSpPr>
        <p:spPr>
          <a:xfrm>
            <a:off x="523875" y="1826620"/>
            <a:ext cx="1325700" cy="467696"/>
          </a:xfrm>
          <a:prstGeom prst="rect">
            <a:avLst/>
          </a:prstGeom>
          <a:noFill/>
          <a:ln/>
        </p:spPr>
        <p:txBody>
          <a:bodyPr wrap="square" lIns="25400" tIns="25400" rIns="25400" bIns="25400" rtlCol="0" anchor="t">
            <a:noAutofit/>
          </a:bodyPr>
          <a:lstStyle/>
          <a:p>
            <a:pPr marL="0" indent="0" algn="l">
              <a:lnSpc>
                <a:spcPct val="130000"/>
              </a:lnSpc>
              <a:buNone/>
            </a:pPr>
            <a:r>
              <a:rPr lang="en-US" sz="1400" kern="0" spc="21" dirty="0">
                <a:solidFill>
                  <a:srgbClr val="1A1A1A"/>
                </a:solidFill>
                <a:latin typeface="Inter" pitchFamily="34" charset="0"/>
                <a:ea typeface="Inter" pitchFamily="34" charset="-122"/>
              </a:rPr>
              <a:t>Data &amp; target</a:t>
            </a:r>
          </a:p>
        </p:txBody>
      </p:sp>
      <p:sp>
        <p:nvSpPr>
          <p:cNvPr id="29" name="Text 8">
            <a:extLst>
              <a:ext uri="{FF2B5EF4-FFF2-40B4-BE49-F238E27FC236}">
                <a16:creationId xmlns:a16="http://schemas.microsoft.com/office/drawing/2014/main" id="{441FC9E9-806D-BD32-8BBF-6BDB0A66BCEF}"/>
              </a:ext>
            </a:extLst>
          </p:cNvPr>
          <p:cNvSpPr/>
          <p:nvPr/>
        </p:nvSpPr>
        <p:spPr>
          <a:xfrm>
            <a:off x="230504" y="2152895"/>
            <a:ext cx="302895" cy="141422"/>
          </a:xfrm>
          <a:prstGeom prst="rect">
            <a:avLst/>
          </a:prstGeom>
          <a:noFill/>
          <a:ln/>
        </p:spPr>
        <p:txBody>
          <a:bodyPr wrap="square" lIns="25400" tIns="25400" rIns="25400" bIns="25400" rtlCol="0" anchor="t">
            <a:noAutofit/>
          </a:bodyPr>
          <a:lstStyle/>
          <a:p>
            <a:pPr marL="0" indent="0" algn="l">
              <a:lnSpc>
                <a:spcPct val="130000"/>
              </a:lnSpc>
              <a:buNone/>
            </a:pPr>
            <a:r>
              <a:rPr lang="en-US" sz="1400" kern="0" spc="21" dirty="0">
                <a:solidFill>
                  <a:srgbClr val="888080"/>
                </a:solidFill>
                <a:latin typeface="JetBrains Mono" pitchFamily="34" charset="0"/>
                <a:ea typeface="JetBrains Mono" pitchFamily="34" charset="-122"/>
                <a:cs typeface="JetBrains Mono" pitchFamily="34" charset="-120"/>
              </a:rPr>
              <a:t>03</a:t>
            </a:r>
            <a:endParaRPr lang="en-US" sz="1400" dirty="0"/>
          </a:p>
        </p:txBody>
      </p:sp>
      <p:sp>
        <p:nvSpPr>
          <p:cNvPr id="30" name="Text 9">
            <a:extLst>
              <a:ext uri="{FF2B5EF4-FFF2-40B4-BE49-F238E27FC236}">
                <a16:creationId xmlns:a16="http://schemas.microsoft.com/office/drawing/2014/main" id="{94900B16-C3F5-C2F6-91CD-B61BA5C28BAE}"/>
              </a:ext>
            </a:extLst>
          </p:cNvPr>
          <p:cNvSpPr/>
          <p:nvPr/>
        </p:nvSpPr>
        <p:spPr>
          <a:xfrm>
            <a:off x="531240" y="2145027"/>
            <a:ext cx="1185416" cy="342476"/>
          </a:xfrm>
          <a:prstGeom prst="rect">
            <a:avLst/>
          </a:prstGeom>
          <a:noFill/>
          <a:ln/>
        </p:spPr>
        <p:txBody>
          <a:bodyPr wrap="square" lIns="25400" tIns="25400" rIns="25400" bIns="25400" rtlCol="0" anchor="t">
            <a:normAutofit/>
          </a:bodyPr>
          <a:lstStyle/>
          <a:p>
            <a:pPr marL="0" indent="0" algn="l">
              <a:lnSpc>
                <a:spcPct val="130000"/>
              </a:lnSpc>
              <a:buNone/>
            </a:pPr>
            <a:r>
              <a:rPr lang="en-US" sz="1400" kern="0" spc="21" dirty="0">
                <a:solidFill>
                  <a:srgbClr val="888080"/>
                </a:solidFill>
                <a:latin typeface="Inter" pitchFamily="34" charset="0"/>
                <a:ea typeface="Inter" pitchFamily="34" charset="-122"/>
                <a:cs typeface="Inter" pitchFamily="34" charset="-120"/>
              </a:rPr>
              <a:t>EDA</a:t>
            </a:r>
            <a:endParaRPr lang="en-US" sz="1400" dirty="0"/>
          </a:p>
        </p:txBody>
      </p:sp>
      <p:sp>
        <p:nvSpPr>
          <p:cNvPr id="31" name="Text 10">
            <a:extLst>
              <a:ext uri="{FF2B5EF4-FFF2-40B4-BE49-F238E27FC236}">
                <a16:creationId xmlns:a16="http://schemas.microsoft.com/office/drawing/2014/main" id="{B198D7D6-D211-72F5-358F-D5475F620225}"/>
              </a:ext>
            </a:extLst>
          </p:cNvPr>
          <p:cNvSpPr/>
          <p:nvPr/>
        </p:nvSpPr>
        <p:spPr>
          <a:xfrm>
            <a:off x="228062" y="2444125"/>
            <a:ext cx="305337" cy="172132"/>
          </a:xfrm>
          <a:prstGeom prst="rect">
            <a:avLst/>
          </a:prstGeom>
          <a:noFill/>
          <a:ln/>
        </p:spPr>
        <p:txBody>
          <a:bodyPr wrap="square" lIns="25400" tIns="25400" rIns="25400" bIns="25400" rtlCol="0" anchor="t">
            <a:noAutofit/>
          </a:bodyPr>
          <a:lstStyle/>
          <a:p>
            <a:pPr marL="0" indent="0" algn="l">
              <a:lnSpc>
                <a:spcPct val="130000"/>
              </a:lnSpc>
              <a:buNone/>
            </a:pPr>
            <a:r>
              <a:rPr lang="en-US" sz="1400" kern="0" spc="21" dirty="0">
                <a:solidFill>
                  <a:srgbClr val="888080"/>
                </a:solidFill>
                <a:latin typeface="JetBrains Mono" pitchFamily="34" charset="0"/>
                <a:ea typeface="JetBrains Mono" pitchFamily="34" charset="-122"/>
                <a:cs typeface="JetBrains Mono" pitchFamily="34" charset="-120"/>
              </a:rPr>
              <a:t>04</a:t>
            </a:r>
            <a:endParaRPr lang="en-US" sz="1400" dirty="0"/>
          </a:p>
        </p:txBody>
      </p:sp>
      <p:sp>
        <p:nvSpPr>
          <p:cNvPr id="32" name="Text 12">
            <a:extLst>
              <a:ext uri="{FF2B5EF4-FFF2-40B4-BE49-F238E27FC236}">
                <a16:creationId xmlns:a16="http://schemas.microsoft.com/office/drawing/2014/main" id="{92FA5C8A-B505-FED1-92FF-3C7257BF4B45}"/>
              </a:ext>
            </a:extLst>
          </p:cNvPr>
          <p:cNvSpPr/>
          <p:nvPr/>
        </p:nvSpPr>
        <p:spPr>
          <a:xfrm>
            <a:off x="228062" y="2750711"/>
            <a:ext cx="372011" cy="158880"/>
          </a:xfrm>
          <a:prstGeom prst="rect">
            <a:avLst/>
          </a:prstGeom>
          <a:noFill/>
          <a:ln/>
        </p:spPr>
        <p:txBody>
          <a:bodyPr wrap="square" lIns="25400" tIns="25400" rIns="25400" bIns="25400" rtlCol="0" anchor="t">
            <a:noAutofit/>
          </a:bodyPr>
          <a:lstStyle/>
          <a:p>
            <a:pPr marL="0" indent="0" algn="l">
              <a:lnSpc>
                <a:spcPct val="130000"/>
              </a:lnSpc>
              <a:buNone/>
            </a:pPr>
            <a:r>
              <a:rPr lang="en-US" sz="1400" kern="0" spc="21" dirty="0">
                <a:solidFill>
                  <a:srgbClr val="888080"/>
                </a:solidFill>
                <a:latin typeface="JetBrains Mono" pitchFamily="34" charset="0"/>
                <a:ea typeface="JetBrains Mono" pitchFamily="34" charset="-122"/>
                <a:cs typeface="JetBrains Mono" pitchFamily="34" charset="-120"/>
              </a:rPr>
              <a:t>05</a:t>
            </a:r>
            <a:endParaRPr lang="en-US" sz="1400" dirty="0"/>
          </a:p>
        </p:txBody>
      </p:sp>
      <p:sp>
        <p:nvSpPr>
          <p:cNvPr id="33" name="Text 13">
            <a:extLst>
              <a:ext uri="{FF2B5EF4-FFF2-40B4-BE49-F238E27FC236}">
                <a16:creationId xmlns:a16="http://schemas.microsoft.com/office/drawing/2014/main" id="{0A99E285-8476-A033-ACEF-F9E40B9C3F94}"/>
              </a:ext>
            </a:extLst>
          </p:cNvPr>
          <p:cNvSpPr/>
          <p:nvPr/>
        </p:nvSpPr>
        <p:spPr>
          <a:xfrm>
            <a:off x="533399" y="2725489"/>
            <a:ext cx="948333" cy="761256"/>
          </a:xfrm>
          <a:prstGeom prst="rect">
            <a:avLst/>
          </a:prstGeom>
          <a:noFill/>
          <a:ln/>
        </p:spPr>
        <p:txBody>
          <a:bodyPr wrap="square" lIns="25400" tIns="25400" rIns="25400" bIns="25400" rtlCol="0" anchor="t">
            <a:normAutofit/>
          </a:bodyPr>
          <a:lstStyle/>
          <a:p>
            <a:pPr marL="0" indent="0" algn="l">
              <a:lnSpc>
                <a:spcPct val="130000"/>
              </a:lnSpc>
              <a:buNone/>
            </a:pPr>
            <a:r>
              <a:rPr lang="en-US" sz="1400" kern="0" spc="21" dirty="0">
                <a:solidFill>
                  <a:srgbClr val="888080"/>
                </a:solidFill>
                <a:latin typeface="Inter" pitchFamily="34" charset="0"/>
                <a:ea typeface="Inter" pitchFamily="34" charset="-122"/>
                <a:cs typeface="Inter" pitchFamily="34" charset="-120"/>
              </a:rPr>
              <a:t>Modeling</a:t>
            </a:r>
            <a:endParaRPr lang="en-US" sz="1400" dirty="0"/>
          </a:p>
        </p:txBody>
      </p:sp>
      <p:sp>
        <p:nvSpPr>
          <p:cNvPr id="34" name="Text 14">
            <a:extLst>
              <a:ext uri="{FF2B5EF4-FFF2-40B4-BE49-F238E27FC236}">
                <a16:creationId xmlns:a16="http://schemas.microsoft.com/office/drawing/2014/main" id="{13E14ADD-8B64-362C-F530-0F0FD2233F68}"/>
              </a:ext>
            </a:extLst>
          </p:cNvPr>
          <p:cNvSpPr/>
          <p:nvPr/>
        </p:nvSpPr>
        <p:spPr>
          <a:xfrm>
            <a:off x="235683" y="3042056"/>
            <a:ext cx="372010" cy="191463"/>
          </a:xfrm>
          <a:prstGeom prst="rect">
            <a:avLst/>
          </a:prstGeom>
          <a:noFill/>
          <a:ln/>
        </p:spPr>
        <p:txBody>
          <a:bodyPr wrap="square" lIns="25400" tIns="25400" rIns="25400" bIns="25400" rtlCol="0" anchor="t">
            <a:noAutofit/>
          </a:bodyPr>
          <a:lstStyle/>
          <a:p>
            <a:pPr marL="0" indent="0" algn="l">
              <a:lnSpc>
                <a:spcPct val="130000"/>
              </a:lnSpc>
              <a:buNone/>
            </a:pPr>
            <a:r>
              <a:rPr lang="en-US" sz="1400" kern="0" spc="21" dirty="0">
                <a:solidFill>
                  <a:srgbClr val="888080"/>
                </a:solidFill>
                <a:latin typeface="JetBrains Mono" pitchFamily="34" charset="0"/>
                <a:ea typeface="JetBrains Mono" pitchFamily="34" charset="-122"/>
                <a:cs typeface="JetBrains Mono" pitchFamily="34" charset="-120"/>
              </a:rPr>
              <a:t>06</a:t>
            </a:r>
            <a:endParaRPr lang="en-US" sz="1400" dirty="0"/>
          </a:p>
        </p:txBody>
      </p:sp>
      <p:sp>
        <p:nvSpPr>
          <p:cNvPr id="35" name="Text 15">
            <a:extLst>
              <a:ext uri="{FF2B5EF4-FFF2-40B4-BE49-F238E27FC236}">
                <a16:creationId xmlns:a16="http://schemas.microsoft.com/office/drawing/2014/main" id="{3C0762C7-61DF-865F-175D-B92C0A80928C}"/>
              </a:ext>
            </a:extLst>
          </p:cNvPr>
          <p:cNvSpPr/>
          <p:nvPr/>
        </p:nvSpPr>
        <p:spPr>
          <a:xfrm>
            <a:off x="533400" y="3032075"/>
            <a:ext cx="1185416" cy="626120"/>
          </a:xfrm>
          <a:prstGeom prst="rect">
            <a:avLst/>
          </a:prstGeom>
          <a:noFill/>
          <a:ln/>
        </p:spPr>
        <p:txBody>
          <a:bodyPr wrap="square" lIns="25400" tIns="25400" rIns="25400" bIns="25400" rtlCol="0" anchor="t">
            <a:normAutofit/>
          </a:bodyPr>
          <a:lstStyle/>
          <a:p>
            <a:pPr marL="0" indent="0" algn="l">
              <a:lnSpc>
                <a:spcPct val="130000"/>
              </a:lnSpc>
              <a:buNone/>
            </a:pPr>
            <a:r>
              <a:rPr lang="en-US" sz="1400" kern="0" spc="21" dirty="0">
                <a:solidFill>
                  <a:srgbClr val="888080"/>
                </a:solidFill>
                <a:latin typeface="Inter" pitchFamily="34" charset="0"/>
                <a:ea typeface="Inter" pitchFamily="34" charset="-122"/>
                <a:cs typeface="Inter" pitchFamily="34" charset="-120"/>
              </a:rPr>
              <a:t>Conclusions</a:t>
            </a:r>
            <a:endParaRPr lang="en-US" sz="1400" dirty="0"/>
          </a:p>
        </p:txBody>
      </p:sp>
      <p:sp>
        <p:nvSpPr>
          <p:cNvPr id="36" name="Text 9">
            <a:extLst>
              <a:ext uri="{FF2B5EF4-FFF2-40B4-BE49-F238E27FC236}">
                <a16:creationId xmlns:a16="http://schemas.microsoft.com/office/drawing/2014/main" id="{62A1003E-A013-ED4C-005A-C23CED463F58}"/>
              </a:ext>
            </a:extLst>
          </p:cNvPr>
          <p:cNvSpPr/>
          <p:nvPr/>
        </p:nvSpPr>
        <p:spPr>
          <a:xfrm>
            <a:off x="557659" y="2426180"/>
            <a:ext cx="1185416" cy="342476"/>
          </a:xfrm>
          <a:prstGeom prst="rect">
            <a:avLst/>
          </a:prstGeom>
          <a:noFill/>
          <a:ln/>
        </p:spPr>
        <p:txBody>
          <a:bodyPr wrap="square" lIns="25400" tIns="25400" rIns="25400" bIns="25400" rtlCol="0" anchor="t">
            <a:normAutofit/>
          </a:bodyPr>
          <a:lstStyle/>
          <a:p>
            <a:pPr marL="0" indent="0" algn="l">
              <a:lnSpc>
                <a:spcPct val="130000"/>
              </a:lnSpc>
              <a:buNone/>
            </a:pPr>
            <a:r>
              <a:rPr lang="en-US" sz="1400" kern="0" spc="21" dirty="0">
                <a:solidFill>
                  <a:srgbClr val="888080"/>
                </a:solidFill>
                <a:latin typeface="Inter" pitchFamily="34" charset="0"/>
                <a:ea typeface="Inter" pitchFamily="34" charset="-122"/>
                <a:cs typeface="Inter" pitchFamily="34" charset="-120"/>
              </a:rPr>
              <a:t>Pipeline</a:t>
            </a:r>
            <a:endParaRPr lang="en-US" sz="1400" dirty="0"/>
          </a:p>
        </p:txBody>
      </p:sp>
      <p:sp>
        <p:nvSpPr>
          <p:cNvPr id="37" name="Text 1">
            <a:extLst>
              <a:ext uri="{FF2B5EF4-FFF2-40B4-BE49-F238E27FC236}">
                <a16:creationId xmlns:a16="http://schemas.microsoft.com/office/drawing/2014/main" id="{9DE1A4F6-DF6D-62A7-A54D-B0D8BEE8C89F}"/>
              </a:ext>
            </a:extLst>
          </p:cNvPr>
          <p:cNvSpPr/>
          <p:nvPr/>
        </p:nvSpPr>
        <p:spPr>
          <a:xfrm>
            <a:off x="261138" y="379598"/>
            <a:ext cx="1778457" cy="447678"/>
          </a:xfrm>
          <a:prstGeom prst="rect">
            <a:avLst/>
          </a:prstGeom>
          <a:noFill/>
          <a:ln/>
        </p:spPr>
        <p:txBody>
          <a:bodyPr wrap="square" lIns="25400" tIns="25400" rIns="25400" bIns="25400" rtlCol="0" anchor="t">
            <a:noAutofit/>
          </a:bodyPr>
          <a:lstStyle/>
          <a:p>
            <a:pPr marL="0" indent="0">
              <a:buNone/>
            </a:pPr>
            <a:r>
              <a:rPr lang="en-US" sz="1400" kern="0" spc="116" dirty="0">
                <a:solidFill>
                  <a:srgbClr val="888080"/>
                </a:solidFill>
                <a:latin typeface="JetBrains Mono" pitchFamily="34" charset="0"/>
                <a:ea typeface="JetBrains Mono" pitchFamily="34" charset="-122"/>
                <a:cs typeface="JetBrains Mono" pitchFamily="34" charset="-120"/>
              </a:rPr>
              <a:t>DS22 - Bar Ilan</a:t>
            </a:r>
            <a:br>
              <a:rPr lang="en-US" sz="1400" kern="0" spc="116" dirty="0">
                <a:solidFill>
                  <a:srgbClr val="888080"/>
                </a:solidFill>
                <a:latin typeface="JetBrains Mono" pitchFamily="34" charset="0"/>
                <a:ea typeface="JetBrains Mono" pitchFamily="34" charset="-122"/>
                <a:cs typeface="JetBrains Mono" pitchFamily="34" charset="-120"/>
              </a:rPr>
            </a:br>
            <a:r>
              <a:rPr lang="en-US" sz="1400" kern="0" spc="116" dirty="0">
                <a:solidFill>
                  <a:srgbClr val="888080"/>
                </a:solidFill>
                <a:latin typeface="JetBrains Mono" pitchFamily="34" charset="0"/>
                <a:ea typeface="JetBrains Mono" pitchFamily="34" charset="-122"/>
                <a:cs typeface="JetBrains Mono" pitchFamily="34" charset="-120"/>
              </a:rPr>
              <a:t>ML PROJECT</a:t>
            </a:r>
          </a:p>
          <a:p>
            <a:pPr marL="0" indent="0">
              <a:buNone/>
            </a:pPr>
            <a:r>
              <a:rPr lang="en-US" sz="1400" kern="0" spc="116" dirty="0">
                <a:solidFill>
                  <a:srgbClr val="888080"/>
                </a:solidFill>
                <a:latin typeface="JetBrains Mono" pitchFamily="34" charset="0"/>
                <a:ea typeface="JetBrains Mono" pitchFamily="34" charset="-122"/>
                <a:cs typeface="JetBrains Mono" pitchFamily="34" charset="-120"/>
              </a:rPr>
              <a:t>MAY 2026</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1E8"/>
        </a:solidFill>
        <a:effectLst/>
      </p:bgPr>
    </p:bg>
    <p:spTree>
      <p:nvGrpSpPr>
        <p:cNvPr id="1" name=""/>
        <p:cNvGrpSpPr/>
        <p:nvPr/>
      </p:nvGrpSpPr>
      <p:grpSpPr>
        <a:xfrm>
          <a:off x="0" y="0"/>
          <a:ext cx="0" cy="0"/>
          <a:chOff x="0" y="0"/>
          <a:chExt cx="0" cy="0"/>
        </a:xfrm>
      </p:grpSpPr>
      <p:sp>
        <p:nvSpPr>
          <p:cNvPr id="2" name="Shape 0"/>
          <p:cNvSpPr/>
          <p:nvPr/>
        </p:nvSpPr>
        <p:spPr>
          <a:xfrm>
            <a:off x="0" y="0"/>
            <a:ext cx="2095500" cy="10287000"/>
          </a:xfrm>
          <a:prstGeom prst="rect">
            <a:avLst/>
          </a:prstGeom>
          <a:solidFill>
            <a:srgbClr val="EBE5D6"/>
          </a:solidFill>
          <a:ln/>
        </p:spPr>
        <p:txBody>
          <a:bodyPr/>
          <a:lstStyle/>
          <a:p>
            <a:endParaRPr lang="he-IL"/>
          </a:p>
        </p:txBody>
      </p:sp>
      <p:sp>
        <p:nvSpPr>
          <p:cNvPr id="3" name="Shape 1"/>
          <p:cNvSpPr/>
          <p:nvPr/>
        </p:nvSpPr>
        <p:spPr>
          <a:xfrm>
            <a:off x="2085975" y="0"/>
            <a:ext cx="9525" cy="10287000"/>
          </a:xfrm>
          <a:prstGeom prst="rect">
            <a:avLst/>
          </a:prstGeom>
          <a:solidFill>
            <a:srgbClr val="D4CDBC"/>
          </a:solidFill>
          <a:ln/>
        </p:spPr>
        <p:txBody>
          <a:bodyPr/>
          <a:lstStyle/>
          <a:p>
            <a:endParaRPr lang="he-IL"/>
          </a:p>
        </p:txBody>
      </p:sp>
      <p:sp>
        <p:nvSpPr>
          <p:cNvPr id="18" name="Text 16"/>
          <p:cNvSpPr/>
          <p:nvPr/>
        </p:nvSpPr>
        <p:spPr>
          <a:xfrm>
            <a:off x="266700" y="9410700"/>
            <a:ext cx="1628775" cy="342900"/>
          </a:xfrm>
          <a:prstGeom prst="rect">
            <a:avLst/>
          </a:prstGeom>
          <a:noFill/>
          <a:ln/>
        </p:spPr>
        <p:txBody>
          <a:bodyPr wrap="square" lIns="25400" tIns="25400" rIns="25400" bIns="25400" rtlCol="0" anchor="t">
            <a:noAutofit/>
          </a:bodyPr>
          <a:lstStyle/>
          <a:p>
            <a:pPr>
              <a:lnSpc>
                <a:spcPct val="160000"/>
              </a:lnSpc>
            </a:pPr>
            <a:r>
              <a:rPr lang="en-US" sz="1400" b="1" kern="0" spc="105" dirty="0">
                <a:solidFill>
                  <a:srgbClr val="1A1A1A"/>
                </a:solidFill>
                <a:latin typeface="JetBrains Mono" pitchFamily="34" charset="0"/>
                <a:ea typeface="JetBrains Mono" pitchFamily="34" charset="-122"/>
                <a:cs typeface="JetBrains Mono" pitchFamily="34" charset="-120"/>
              </a:rPr>
              <a:t>04 / 34</a:t>
            </a:r>
            <a:endParaRPr lang="en-US" sz="1400" dirty="0"/>
          </a:p>
        </p:txBody>
      </p:sp>
      <p:sp>
        <p:nvSpPr>
          <p:cNvPr id="19" name="Text 17"/>
          <p:cNvSpPr/>
          <p:nvPr/>
        </p:nvSpPr>
        <p:spPr>
          <a:xfrm>
            <a:off x="2781300" y="571500"/>
            <a:ext cx="15187041" cy="171450"/>
          </a:xfrm>
          <a:prstGeom prst="rect">
            <a:avLst/>
          </a:prstGeom>
          <a:noFill/>
          <a:ln/>
        </p:spPr>
        <p:txBody>
          <a:bodyPr wrap="square" lIns="25400" tIns="25400" rIns="25400" bIns="25400" rtlCol="0" anchor="ctr">
            <a:noAutofit/>
          </a:bodyPr>
          <a:lstStyle/>
          <a:p>
            <a:pPr marL="0" indent="0" algn="l">
              <a:buNone/>
            </a:pPr>
            <a:r>
              <a:rPr lang="en-US" sz="1400" kern="0" spc="182" dirty="0">
                <a:solidFill>
                  <a:srgbClr val="888080"/>
                </a:solidFill>
                <a:latin typeface="JetBrains Mono" pitchFamily="34" charset="0"/>
                <a:ea typeface="JetBrains Mono" pitchFamily="34" charset="-122"/>
                <a:cs typeface="JetBrains Mono" pitchFamily="34" charset="-120"/>
              </a:rPr>
              <a:t>DATA · SOURCES</a:t>
            </a:r>
            <a:endParaRPr lang="en-US" sz="1400" dirty="0"/>
          </a:p>
        </p:txBody>
      </p:sp>
      <p:sp>
        <p:nvSpPr>
          <p:cNvPr id="20" name="Text 18"/>
          <p:cNvSpPr/>
          <p:nvPr/>
        </p:nvSpPr>
        <p:spPr>
          <a:xfrm>
            <a:off x="2781300" y="914400"/>
            <a:ext cx="15187041" cy="643830"/>
          </a:xfrm>
          <a:prstGeom prst="rect">
            <a:avLst/>
          </a:prstGeom>
          <a:noFill/>
          <a:ln/>
        </p:spPr>
        <p:txBody>
          <a:bodyPr wrap="square" lIns="25400" tIns="25400" rIns="25400" bIns="25400" rtlCol="0" anchor="t">
            <a:normAutofit fontScale="92500" lnSpcReduction="20000"/>
          </a:bodyPr>
          <a:lstStyle/>
          <a:p>
            <a:pPr marL="0" indent="0" algn="l">
              <a:lnSpc>
                <a:spcPct val="106000"/>
              </a:lnSpc>
              <a:buNone/>
            </a:pPr>
            <a:r>
              <a:rPr lang="en-US" sz="4500" kern="0" spc="-81" dirty="0">
                <a:solidFill>
                  <a:srgbClr val="1A1A1A"/>
                </a:solidFill>
                <a:latin typeface="Instrument Serif" pitchFamily="34" charset="0"/>
                <a:ea typeface="Instrument Serif" pitchFamily="34" charset="-122"/>
                <a:cs typeface="Instrument Serif" pitchFamily="34" charset="-120"/>
              </a:rPr>
              <a:t>Six independent feeds.</a:t>
            </a:r>
            <a:endParaRPr lang="en-US" sz="4500" dirty="0"/>
          </a:p>
        </p:txBody>
      </p:sp>
      <p:sp>
        <p:nvSpPr>
          <p:cNvPr id="21" name="Text 19"/>
          <p:cNvSpPr/>
          <p:nvPr/>
        </p:nvSpPr>
        <p:spPr>
          <a:xfrm>
            <a:off x="2781300" y="1691580"/>
            <a:ext cx="10791825" cy="617934"/>
          </a:xfrm>
          <a:prstGeom prst="rect">
            <a:avLst/>
          </a:prstGeom>
          <a:noFill/>
          <a:ln/>
        </p:spPr>
        <p:txBody>
          <a:bodyPr wrap="square" lIns="25400" tIns="25400" rIns="25400" bIns="25400" rtlCol="0" anchor="t">
            <a:normAutofit lnSpcReduction="10000"/>
          </a:bodyPr>
          <a:lstStyle/>
          <a:p>
            <a:pPr marL="0" indent="0" algn="l">
              <a:lnSpc>
                <a:spcPct val="145000"/>
              </a:lnSpc>
              <a:buNone/>
            </a:pPr>
            <a:r>
              <a:rPr lang="en-US" sz="1575" dirty="0">
                <a:solidFill>
                  <a:srgbClr val="4A4A4A"/>
                </a:solidFill>
                <a:latin typeface="Inter" pitchFamily="34" charset="0"/>
                <a:ea typeface="Inter" pitchFamily="34" charset="-122"/>
                <a:cs typeface="Inter" pitchFamily="34" charset="-120"/>
              </a:rPr>
              <a:t>Two primary anchors describe what should happen and what did. Four enrichments explain why the difference exists.</a:t>
            </a:r>
            <a:endParaRPr lang="en-US" sz="1575" dirty="0"/>
          </a:p>
        </p:txBody>
      </p:sp>
      <p:sp>
        <p:nvSpPr>
          <p:cNvPr id="22" name="Shape 20"/>
          <p:cNvSpPr/>
          <p:nvPr/>
        </p:nvSpPr>
        <p:spPr>
          <a:xfrm>
            <a:off x="2781300" y="2614315"/>
            <a:ext cx="4800600" cy="1706017"/>
          </a:xfrm>
          <a:prstGeom prst="rect">
            <a:avLst/>
          </a:prstGeom>
          <a:solidFill>
            <a:srgbClr val="1A1A1A"/>
          </a:solidFill>
          <a:ln w="9525">
            <a:solidFill>
              <a:srgbClr val="1A1A1A"/>
            </a:solidFill>
            <a:prstDash val="solid"/>
          </a:ln>
        </p:spPr>
        <p:txBody>
          <a:bodyPr/>
          <a:lstStyle/>
          <a:p>
            <a:endParaRPr lang="he-IL"/>
          </a:p>
        </p:txBody>
      </p:sp>
      <p:sp>
        <p:nvSpPr>
          <p:cNvPr id="23" name="Text 21"/>
          <p:cNvSpPr/>
          <p:nvPr/>
        </p:nvSpPr>
        <p:spPr>
          <a:xfrm>
            <a:off x="3019425" y="2731792"/>
            <a:ext cx="4454081" cy="161925"/>
          </a:xfrm>
          <a:prstGeom prst="rect">
            <a:avLst/>
          </a:prstGeom>
          <a:noFill/>
          <a:ln/>
        </p:spPr>
        <p:txBody>
          <a:bodyPr wrap="square" lIns="25400" tIns="25400" rIns="25400" bIns="25400" rtlCol="0" anchor="t">
            <a:noAutofit/>
          </a:bodyPr>
          <a:lstStyle/>
          <a:p>
            <a:pPr marL="0" indent="0" algn="l">
              <a:buNone/>
            </a:pPr>
            <a:r>
              <a:rPr lang="en-US" sz="1400" b="1" kern="0" spc="135" dirty="0">
                <a:solidFill>
                  <a:srgbClr val="C25A2A"/>
                </a:solidFill>
                <a:latin typeface="JetBrains Mono" pitchFamily="34" charset="0"/>
                <a:ea typeface="JetBrains Mono" pitchFamily="34" charset="-122"/>
                <a:cs typeface="JetBrains Mono" pitchFamily="34" charset="-120"/>
              </a:rPr>
              <a:t>PRIMARY · STATIC</a:t>
            </a:r>
            <a:endParaRPr lang="en-US" sz="1400" dirty="0"/>
          </a:p>
        </p:txBody>
      </p:sp>
      <p:sp>
        <p:nvSpPr>
          <p:cNvPr id="24" name="Text 22"/>
          <p:cNvSpPr/>
          <p:nvPr/>
        </p:nvSpPr>
        <p:spPr>
          <a:xfrm>
            <a:off x="3019425" y="3052465"/>
            <a:ext cx="4454081" cy="421868"/>
          </a:xfrm>
          <a:prstGeom prst="rect">
            <a:avLst/>
          </a:prstGeom>
          <a:noFill/>
          <a:ln/>
        </p:spPr>
        <p:txBody>
          <a:bodyPr wrap="square" lIns="25400" tIns="25400" rIns="25400" bIns="25400" rtlCol="0" anchor="t">
            <a:normAutofit fontScale="70000" lnSpcReduction="20000"/>
          </a:bodyPr>
          <a:lstStyle/>
          <a:p>
            <a:pPr marL="0" indent="0" algn="l">
              <a:lnSpc>
                <a:spcPct val="112000"/>
              </a:lnSpc>
              <a:buNone/>
            </a:pPr>
            <a:r>
              <a:rPr lang="en-US" sz="3600" kern="0" spc="-16" dirty="0">
                <a:solidFill>
                  <a:srgbClr val="F5F1E8"/>
                </a:solidFill>
                <a:latin typeface="Instrument Serif" pitchFamily="34" charset="0"/>
                <a:ea typeface="Instrument Serif" pitchFamily="34" charset="-122"/>
                <a:cs typeface="Instrument Serif" pitchFamily="34" charset="-120"/>
              </a:rPr>
              <a:t>GTFS</a:t>
            </a:r>
            <a:endParaRPr lang="en-US" sz="1950" dirty="0"/>
          </a:p>
        </p:txBody>
      </p:sp>
      <p:sp>
        <p:nvSpPr>
          <p:cNvPr id="25" name="Text 23"/>
          <p:cNvSpPr/>
          <p:nvPr/>
        </p:nvSpPr>
        <p:spPr>
          <a:xfrm>
            <a:off x="3019425" y="3424982"/>
            <a:ext cx="4454081" cy="495300"/>
          </a:xfrm>
          <a:prstGeom prst="rect">
            <a:avLst/>
          </a:prstGeom>
          <a:noFill/>
          <a:ln/>
        </p:spPr>
        <p:txBody>
          <a:bodyPr wrap="square" lIns="25400" tIns="25400" rIns="25400" bIns="25400" rtlCol="0" anchor="t">
            <a:noAutofit/>
          </a:bodyPr>
          <a:lstStyle/>
          <a:p>
            <a:pPr marL="0" indent="0" algn="l">
              <a:lnSpc>
                <a:spcPct val="150000"/>
              </a:lnSpc>
              <a:buNone/>
            </a:pPr>
            <a:r>
              <a:rPr lang="en-US" sz="1400" dirty="0">
                <a:solidFill>
                  <a:srgbClr val="FFFFFF">
                    <a:alpha val="78000"/>
                  </a:srgbClr>
                </a:solidFill>
                <a:latin typeface="Inter" pitchFamily="34" charset="0"/>
                <a:ea typeface="Inter" pitchFamily="34" charset="-122"/>
                <a:cs typeface="Inter" pitchFamily="34" charset="-120"/>
              </a:rPr>
              <a:t>Published schedule. Stops, trips, planned durations. The </a:t>
            </a:r>
            <a:r>
              <a:rPr lang="en-US" sz="1400" i="1" dirty="0">
                <a:solidFill>
                  <a:srgbClr val="FFFFFF">
                    <a:alpha val="78000"/>
                  </a:srgbClr>
                </a:solidFill>
                <a:latin typeface="Inter" pitchFamily="34" charset="0"/>
                <a:ea typeface="Inter" pitchFamily="34" charset="-122"/>
                <a:cs typeface="Inter" pitchFamily="34" charset="-120"/>
              </a:rPr>
              <a:t>should-be </a:t>
            </a:r>
            <a:r>
              <a:rPr lang="en-US" sz="1400" dirty="0">
                <a:solidFill>
                  <a:srgbClr val="FFFFFF">
                    <a:alpha val="78000"/>
                  </a:srgbClr>
                </a:solidFill>
                <a:latin typeface="Inter" pitchFamily="34" charset="0"/>
                <a:ea typeface="Inter" pitchFamily="34" charset="-122"/>
                <a:cs typeface="Inter" pitchFamily="34" charset="-120"/>
              </a:rPr>
              <a:t>anchor.</a:t>
            </a:r>
            <a:endParaRPr lang="en-US" sz="1400" dirty="0"/>
          </a:p>
        </p:txBody>
      </p:sp>
      <p:sp>
        <p:nvSpPr>
          <p:cNvPr id="27" name="Shape 25"/>
          <p:cNvSpPr/>
          <p:nvPr/>
        </p:nvSpPr>
        <p:spPr>
          <a:xfrm>
            <a:off x="7753350" y="2614315"/>
            <a:ext cx="4800600" cy="1706017"/>
          </a:xfrm>
          <a:prstGeom prst="rect">
            <a:avLst/>
          </a:prstGeom>
          <a:solidFill>
            <a:srgbClr val="1A1A1A"/>
          </a:solidFill>
          <a:ln w="9525">
            <a:solidFill>
              <a:srgbClr val="1A1A1A"/>
            </a:solidFill>
            <a:prstDash val="solid"/>
          </a:ln>
        </p:spPr>
        <p:txBody>
          <a:bodyPr/>
          <a:lstStyle/>
          <a:p>
            <a:endParaRPr lang="he-IL"/>
          </a:p>
        </p:txBody>
      </p:sp>
      <p:sp>
        <p:nvSpPr>
          <p:cNvPr id="28" name="Text 26"/>
          <p:cNvSpPr/>
          <p:nvPr/>
        </p:nvSpPr>
        <p:spPr>
          <a:xfrm>
            <a:off x="7991475" y="2731792"/>
            <a:ext cx="4454081" cy="161925"/>
          </a:xfrm>
          <a:prstGeom prst="rect">
            <a:avLst/>
          </a:prstGeom>
          <a:noFill/>
          <a:ln/>
        </p:spPr>
        <p:txBody>
          <a:bodyPr wrap="square" lIns="25400" tIns="25400" rIns="25400" bIns="25400" rtlCol="0" anchor="t">
            <a:noAutofit/>
          </a:bodyPr>
          <a:lstStyle/>
          <a:p>
            <a:pPr marL="0" indent="0" algn="l">
              <a:buNone/>
            </a:pPr>
            <a:r>
              <a:rPr lang="en-US" sz="1400" b="1" kern="0" spc="135" dirty="0">
                <a:solidFill>
                  <a:srgbClr val="C25A2A"/>
                </a:solidFill>
                <a:latin typeface="JetBrains Mono" pitchFamily="34" charset="0"/>
                <a:ea typeface="JetBrains Mono" pitchFamily="34" charset="-122"/>
                <a:cs typeface="JetBrains Mono" pitchFamily="34" charset="-120"/>
              </a:rPr>
              <a:t>PRIMARY · LIVE</a:t>
            </a:r>
            <a:endParaRPr lang="en-US" sz="1400" dirty="0"/>
          </a:p>
        </p:txBody>
      </p:sp>
      <p:sp>
        <p:nvSpPr>
          <p:cNvPr id="30" name="Text 28"/>
          <p:cNvSpPr/>
          <p:nvPr/>
        </p:nvSpPr>
        <p:spPr>
          <a:xfrm>
            <a:off x="7991475" y="3381437"/>
            <a:ext cx="4454081" cy="495300"/>
          </a:xfrm>
          <a:prstGeom prst="rect">
            <a:avLst/>
          </a:prstGeom>
          <a:noFill/>
          <a:ln/>
        </p:spPr>
        <p:txBody>
          <a:bodyPr wrap="square" lIns="25400" tIns="25400" rIns="25400" bIns="25400" rtlCol="0" anchor="t">
            <a:noAutofit/>
          </a:bodyPr>
          <a:lstStyle/>
          <a:p>
            <a:pPr>
              <a:lnSpc>
                <a:spcPct val="150000"/>
              </a:lnSpc>
            </a:pPr>
            <a:r>
              <a:rPr lang="en-US" sz="1400" dirty="0">
                <a:solidFill>
                  <a:srgbClr val="FFFFFF">
                    <a:alpha val="78000"/>
                  </a:srgbClr>
                </a:solidFill>
                <a:latin typeface="Inter" pitchFamily="34" charset="0"/>
                <a:ea typeface="Inter" pitchFamily="34" charset="-122"/>
                <a:cs typeface="Inter" pitchFamily="34" charset="-120"/>
              </a:rPr>
              <a:t>30-second AVL pings . Reconstructed to actual trip duration. Retrieved via API from: https://open-bus-stride-api.hasadna.org.il/docs#/</a:t>
            </a:r>
            <a:endParaRPr lang="en-US" sz="1400" dirty="0"/>
          </a:p>
        </p:txBody>
      </p:sp>
      <p:sp>
        <p:nvSpPr>
          <p:cNvPr id="32" name="Shape 30"/>
          <p:cNvSpPr/>
          <p:nvPr/>
        </p:nvSpPr>
        <p:spPr>
          <a:xfrm>
            <a:off x="12725400" y="2614315"/>
            <a:ext cx="4800600" cy="1706017"/>
          </a:xfrm>
          <a:prstGeom prst="rect">
            <a:avLst/>
          </a:prstGeom>
          <a:solidFill>
            <a:srgbClr val="FFFFFF"/>
          </a:solidFill>
          <a:ln w="9525">
            <a:solidFill>
              <a:srgbClr val="D4CDBC"/>
            </a:solidFill>
            <a:prstDash val="solid"/>
          </a:ln>
        </p:spPr>
        <p:txBody>
          <a:bodyPr/>
          <a:lstStyle/>
          <a:p>
            <a:endParaRPr lang="he-IL"/>
          </a:p>
        </p:txBody>
      </p:sp>
      <p:sp>
        <p:nvSpPr>
          <p:cNvPr id="34" name="Text 32"/>
          <p:cNvSpPr/>
          <p:nvPr/>
        </p:nvSpPr>
        <p:spPr>
          <a:xfrm>
            <a:off x="12963525" y="2893717"/>
            <a:ext cx="4454081" cy="474115"/>
          </a:xfrm>
          <a:prstGeom prst="rect">
            <a:avLst/>
          </a:prstGeom>
          <a:noFill/>
          <a:ln/>
        </p:spPr>
        <p:txBody>
          <a:bodyPr wrap="square" lIns="25400" tIns="25400" rIns="25400" bIns="25400" rtlCol="0" anchor="t">
            <a:normAutofit/>
          </a:bodyPr>
          <a:lstStyle/>
          <a:p>
            <a:pPr marL="0" indent="0" algn="l">
              <a:lnSpc>
                <a:spcPct val="112000"/>
              </a:lnSpc>
              <a:buNone/>
            </a:pPr>
            <a:r>
              <a:rPr lang="en-US" sz="2600" kern="0" spc="-16" dirty="0">
                <a:solidFill>
                  <a:srgbClr val="1A1A1A"/>
                </a:solidFill>
                <a:latin typeface="Instrument Serif" pitchFamily="34" charset="0"/>
                <a:ea typeface="Instrument Serif" pitchFamily="34" charset="-122"/>
                <a:cs typeface="Instrument Serif" pitchFamily="34" charset="-120"/>
              </a:rPr>
              <a:t>Validations</a:t>
            </a:r>
            <a:endParaRPr lang="en-US" sz="1950" dirty="0"/>
          </a:p>
        </p:txBody>
      </p:sp>
      <p:sp>
        <p:nvSpPr>
          <p:cNvPr id="35" name="Text 33"/>
          <p:cNvSpPr/>
          <p:nvPr/>
        </p:nvSpPr>
        <p:spPr>
          <a:xfrm>
            <a:off x="12963525" y="3424982"/>
            <a:ext cx="4454081" cy="495300"/>
          </a:xfrm>
          <a:prstGeom prst="rect">
            <a:avLst/>
          </a:prstGeom>
          <a:noFill/>
          <a:ln/>
        </p:spPr>
        <p:txBody>
          <a:bodyPr wrap="square" lIns="25400" tIns="25400" rIns="25400" bIns="25400" rtlCol="0" anchor="t">
            <a:noAutofit/>
          </a:bodyPr>
          <a:lstStyle/>
          <a:p>
            <a:pPr marL="0" indent="0" algn="l">
              <a:lnSpc>
                <a:spcPct val="150000"/>
              </a:lnSpc>
              <a:buNone/>
            </a:pPr>
            <a:r>
              <a:rPr lang="en-US" sz="1400" dirty="0">
                <a:solidFill>
                  <a:srgbClr val="4A4A4A"/>
                </a:solidFill>
                <a:latin typeface="Inter" pitchFamily="34" charset="0"/>
                <a:ea typeface="Inter" pitchFamily="34" charset="-122"/>
                <a:cs typeface="Inter" pitchFamily="34" charset="-120"/>
              </a:rPr>
              <a:t>Smart-card taps per trip - proxy for passenger load and dwell time at stops. Received from Ministry of Transportation.</a:t>
            </a:r>
            <a:endParaRPr lang="en-US" sz="1400" dirty="0"/>
          </a:p>
        </p:txBody>
      </p:sp>
      <p:sp>
        <p:nvSpPr>
          <p:cNvPr id="37" name="Shape 35"/>
          <p:cNvSpPr/>
          <p:nvPr/>
        </p:nvSpPr>
        <p:spPr>
          <a:xfrm>
            <a:off x="2781300" y="4491782"/>
            <a:ext cx="4800600" cy="1706017"/>
          </a:xfrm>
          <a:prstGeom prst="rect">
            <a:avLst/>
          </a:prstGeom>
          <a:solidFill>
            <a:srgbClr val="FFFFFF"/>
          </a:solidFill>
          <a:ln w="9525">
            <a:solidFill>
              <a:srgbClr val="D4CDBC"/>
            </a:solidFill>
            <a:prstDash val="solid"/>
          </a:ln>
        </p:spPr>
        <p:txBody>
          <a:bodyPr/>
          <a:lstStyle/>
          <a:p>
            <a:endParaRPr lang="he-IL"/>
          </a:p>
        </p:txBody>
      </p:sp>
      <p:sp>
        <p:nvSpPr>
          <p:cNvPr id="39" name="Text 37"/>
          <p:cNvSpPr/>
          <p:nvPr/>
        </p:nvSpPr>
        <p:spPr>
          <a:xfrm>
            <a:off x="3019425" y="4730948"/>
            <a:ext cx="4454081" cy="514351"/>
          </a:xfrm>
          <a:prstGeom prst="rect">
            <a:avLst/>
          </a:prstGeom>
          <a:noFill/>
          <a:ln/>
        </p:spPr>
        <p:txBody>
          <a:bodyPr wrap="square" lIns="25400" tIns="25400" rIns="25400" bIns="25400" rtlCol="0" anchor="t">
            <a:normAutofit/>
          </a:bodyPr>
          <a:lstStyle/>
          <a:p>
            <a:pPr marL="0" indent="0" algn="l">
              <a:lnSpc>
                <a:spcPct val="112000"/>
              </a:lnSpc>
              <a:buNone/>
            </a:pPr>
            <a:r>
              <a:rPr lang="en-US" sz="2500" kern="0" spc="-16" dirty="0">
                <a:solidFill>
                  <a:srgbClr val="1A1A1A"/>
                </a:solidFill>
                <a:latin typeface="Instrument Serif" pitchFamily="34" charset="0"/>
                <a:ea typeface="Instrument Serif" pitchFamily="34" charset="-122"/>
                <a:cs typeface="Instrument Serif" pitchFamily="34" charset="-120"/>
              </a:rPr>
              <a:t>IMS</a:t>
            </a:r>
            <a:endParaRPr lang="en-US" sz="2500" dirty="0"/>
          </a:p>
        </p:txBody>
      </p:sp>
      <p:sp>
        <p:nvSpPr>
          <p:cNvPr id="40" name="Text 38"/>
          <p:cNvSpPr/>
          <p:nvPr/>
        </p:nvSpPr>
        <p:spPr>
          <a:xfrm>
            <a:off x="3019425" y="5302448"/>
            <a:ext cx="4454081" cy="495300"/>
          </a:xfrm>
          <a:prstGeom prst="rect">
            <a:avLst/>
          </a:prstGeom>
          <a:noFill/>
          <a:ln/>
        </p:spPr>
        <p:txBody>
          <a:bodyPr wrap="square" lIns="25400" tIns="25400" rIns="25400" bIns="25400" rtlCol="0" anchor="t">
            <a:noAutofit/>
          </a:bodyPr>
          <a:lstStyle/>
          <a:p>
            <a:pPr marL="0" indent="0" algn="l">
              <a:lnSpc>
                <a:spcPct val="150000"/>
              </a:lnSpc>
              <a:buNone/>
            </a:pPr>
            <a:r>
              <a:rPr lang="en-US" sz="1400" dirty="0">
                <a:solidFill>
                  <a:srgbClr val="4A4A4A"/>
                </a:solidFill>
                <a:latin typeface="Inter" pitchFamily="34" charset="0"/>
                <a:ea typeface="Inter" pitchFamily="34" charset="-122"/>
                <a:cs typeface="Inter" pitchFamily="34" charset="-120"/>
              </a:rPr>
              <a:t>Daily and hourly rainfall and temperature, joined by date and station. Downloaded from IMS website.</a:t>
            </a:r>
            <a:endParaRPr lang="en-US" sz="1400" dirty="0"/>
          </a:p>
        </p:txBody>
      </p:sp>
      <p:sp>
        <p:nvSpPr>
          <p:cNvPr id="42" name="Shape 40"/>
          <p:cNvSpPr/>
          <p:nvPr/>
        </p:nvSpPr>
        <p:spPr>
          <a:xfrm>
            <a:off x="7753350" y="4465655"/>
            <a:ext cx="4800600" cy="1706017"/>
          </a:xfrm>
          <a:prstGeom prst="rect">
            <a:avLst/>
          </a:prstGeom>
          <a:solidFill>
            <a:srgbClr val="FFFFFF"/>
          </a:solidFill>
          <a:ln w="9525">
            <a:solidFill>
              <a:srgbClr val="D4CDBC"/>
            </a:solidFill>
            <a:prstDash val="solid"/>
          </a:ln>
        </p:spPr>
        <p:txBody>
          <a:bodyPr/>
          <a:lstStyle/>
          <a:p>
            <a:endParaRPr lang="he-IL"/>
          </a:p>
        </p:txBody>
      </p:sp>
      <p:sp>
        <p:nvSpPr>
          <p:cNvPr id="44" name="Text 42"/>
          <p:cNvSpPr/>
          <p:nvPr/>
        </p:nvSpPr>
        <p:spPr>
          <a:xfrm>
            <a:off x="7991475" y="4730948"/>
            <a:ext cx="4454081" cy="514351"/>
          </a:xfrm>
          <a:prstGeom prst="rect">
            <a:avLst/>
          </a:prstGeom>
          <a:noFill/>
          <a:ln/>
        </p:spPr>
        <p:txBody>
          <a:bodyPr wrap="square" lIns="25400" tIns="25400" rIns="25400" bIns="25400" rtlCol="0" anchor="t">
            <a:normAutofit/>
          </a:bodyPr>
          <a:lstStyle/>
          <a:p>
            <a:pPr marL="0" indent="0" algn="l">
              <a:lnSpc>
                <a:spcPct val="112000"/>
              </a:lnSpc>
              <a:buNone/>
            </a:pPr>
            <a:r>
              <a:rPr lang="en-US" sz="2500" kern="0" spc="-16" dirty="0">
                <a:solidFill>
                  <a:srgbClr val="1A1A1A"/>
                </a:solidFill>
                <a:latin typeface="Instrument Serif" pitchFamily="34" charset="0"/>
                <a:ea typeface="Instrument Serif" pitchFamily="34" charset="-122"/>
                <a:cs typeface="Instrument Serif" pitchFamily="34" charset="-120"/>
              </a:rPr>
              <a:t>Priority lanes</a:t>
            </a:r>
            <a:endParaRPr lang="en-US" sz="2500" dirty="0"/>
          </a:p>
        </p:txBody>
      </p:sp>
      <p:sp>
        <p:nvSpPr>
          <p:cNvPr id="45" name="Text 43"/>
          <p:cNvSpPr/>
          <p:nvPr/>
        </p:nvSpPr>
        <p:spPr>
          <a:xfrm>
            <a:off x="7991474" y="5142972"/>
            <a:ext cx="4454081" cy="495300"/>
          </a:xfrm>
          <a:prstGeom prst="rect">
            <a:avLst/>
          </a:prstGeom>
          <a:noFill/>
          <a:ln/>
        </p:spPr>
        <p:txBody>
          <a:bodyPr wrap="square" lIns="25400" tIns="25400" rIns="25400" bIns="25400" rtlCol="0" anchor="t">
            <a:noAutofit/>
          </a:bodyPr>
          <a:lstStyle/>
          <a:p>
            <a:pPr marL="0" indent="0" algn="l">
              <a:lnSpc>
                <a:spcPct val="150000"/>
              </a:lnSpc>
              <a:buNone/>
            </a:pPr>
            <a:r>
              <a:rPr lang="en-US" sz="1400" dirty="0">
                <a:solidFill>
                  <a:srgbClr val="4A4A4A"/>
                </a:solidFill>
                <a:latin typeface="Inter" pitchFamily="34" charset="0"/>
                <a:ea typeface="Inter" pitchFamily="34" charset="-122"/>
                <a:cs typeface="Inter" pitchFamily="34" charset="-120"/>
              </a:rPr>
              <a:t>Geometry of the bus-priority lanes. We compute % of route on priority lane. Downloaded spatial data from the Ministry of Transport GIS platform (“</a:t>
            </a:r>
            <a:r>
              <a:rPr lang="en-US" sz="1400" dirty="0" err="1">
                <a:solidFill>
                  <a:srgbClr val="4A4A4A"/>
                </a:solidFill>
                <a:latin typeface="Inter" pitchFamily="34" charset="0"/>
                <a:ea typeface="Inter" pitchFamily="34" charset="-122"/>
                <a:cs typeface="Inter" pitchFamily="34" charset="-120"/>
              </a:rPr>
              <a:t>Tiltan</a:t>
            </a:r>
            <a:r>
              <a:rPr lang="en-US" sz="1400" dirty="0">
                <a:solidFill>
                  <a:srgbClr val="4A4A4A"/>
                </a:solidFill>
                <a:latin typeface="Inter" pitchFamily="34" charset="0"/>
                <a:ea typeface="Inter" pitchFamily="34" charset="-122"/>
                <a:cs typeface="Inter" pitchFamily="34" charset="-120"/>
              </a:rPr>
              <a:t>”)</a:t>
            </a:r>
            <a:endParaRPr lang="en-US" sz="1400" dirty="0"/>
          </a:p>
        </p:txBody>
      </p:sp>
      <p:sp>
        <p:nvSpPr>
          <p:cNvPr id="47" name="Shape 45"/>
          <p:cNvSpPr/>
          <p:nvPr/>
        </p:nvSpPr>
        <p:spPr>
          <a:xfrm>
            <a:off x="12725400" y="4491782"/>
            <a:ext cx="4800600" cy="1706017"/>
          </a:xfrm>
          <a:prstGeom prst="rect">
            <a:avLst/>
          </a:prstGeom>
          <a:solidFill>
            <a:srgbClr val="FFFFFF"/>
          </a:solidFill>
          <a:ln w="9525">
            <a:solidFill>
              <a:srgbClr val="D4CDBC"/>
            </a:solidFill>
            <a:prstDash val="solid"/>
          </a:ln>
        </p:spPr>
        <p:txBody>
          <a:bodyPr/>
          <a:lstStyle/>
          <a:p>
            <a:endParaRPr lang="he-IL"/>
          </a:p>
        </p:txBody>
      </p:sp>
      <p:sp>
        <p:nvSpPr>
          <p:cNvPr id="49" name="Text 47"/>
          <p:cNvSpPr/>
          <p:nvPr/>
        </p:nvSpPr>
        <p:spPr>
          <a:xfrm>
            <a:off x="12963525" y="4730948"/>
            <a:ext cx="4454081" cy="514351"/>
          </a:xfrm>
          <a:prstGeom prst="rect">
            <a:avLst/>
          </a:prstGeom>
          <a:noFill/>
          <a:ln/>
        </p:spPr>
        <p:txBody>
          <a:bodyPr wrap="square" lIns="25400" tIns="25400" rIns="25400" bIns="25400" rtlCol="0" anchor="t">
            <a:normAutofit/>
          </a:bodyPr>
          <a:lstStyle/>
          <a:p>
            <a:pPr marL="0" indent="0" algn="l">
              <a:lnSpc>
                <a:spcPct val="112000"/>
              </a:lnSpc>
              <a:buNone/>
            </a:pPr>
            <a:r>
              <a:rPr lang="en-US" sz="2500" kern="0" spc="-16" dirty="0">
                <a:solidFill>
                  <a:srgbClr val="1A1A1A"/>
                </a:solidFill>
                <a:latin typeface="Instrument Serif" pitchFamily="34" charset="0"/>
                <a:ea typeface="Instrument Serif" pitchFamily="34" charset="-122"/>
                <a:cs typeface="Instrument Serif" pitchFamily="34" charset="-120"/>
              </a:rPr>
              <a:t>Route shape</a:t>
            </a:r>
            <a:endParaRPr lang="en-US" sz="2500" dirty="0"/>
          </a:p>
        </p:txBody>
      </p:sp>
      <p:sp>
        <p:nvSpPr>
          <p:cNvPr id="50" name="Text 48"/>
          <p:cNvSpPr/>
          <p:nvPr/>
        </p:nvSpPr>
        <p:spPr>
          <a:xfrm>
            <a:off x="12963525" y="5302448"/>
            <a:ext cx="4454081" cy="495300"/>
          </a:xfrm>
          <a:prstGeom prst="rect">
            <a:avLst/>
          </a:prstGeom>
          <a:noFill/>
          <a:ln/>
        </p:spPr>
        <p:txBody>
          <a:bodyPr wrap="square" lIns="25400" tIns="25400" rIns="25400" bIns="25400" rtlCol="0" anchor="t">
            <a:noAutofit/>
          </a:bodyPr>
          <a:lstStyle/>
          <a:p>
            <a:pPr marL="0" indent="0" algn="l">
              <a:lnSpc>
                <a:spcPct val="150000"/>
              </a:lnSpc>
              <a:buNone/>
            </a:pPr>
            <a:r>
              <a:rPr lang="en-US" sz="1400" dirty="0">
                <a:solidFill>
                  <a:srgbClr val="4A4A4A"/>
                </a:solidFill>
                <a:latin typeface="Inter" pitchFamily="34" charset="0"/>
                <a:ea typeface="Inter" pitchFamily="34" charset="-122"/>
                <a:cs typeface="Inter" pitchFamily="34" charset="-120"/>
              </a:rPr>
              <a:t>GTFS shape coordinates – created geometry of each bus line</a:t>
            </a:r>
            <a:endParaRPr lang="en-US" sz="1400" dirty="0"/>
          </a:p>
        </p:txBody>
      </p:sp>
      <p:sp>
        <p:nvSpPr>
          <p:cNvPr id="26" name="Text 4">
            <a:extLst>
              <a:ext uri="{FF2B5EF4-FFF2-40B4-BE49-F238E27FC236}">
                <a16:creationId xmlns:a16="http://schemas.microsoft.com/office/drawing/2014/main" id="{DB6E61AA-9991-ABAC-644A-B301E6E247B6}"/>
              </a:ext>
            </a:extLst>
          </p:cNvPr>
          <p:cNvSpPr/>
          <p:nvPr/>
        </p:nvSpPr>
        <p:spPr>
          <a:xfrm>
            <a:off x="228063" y="1524367"/>
            <a:ext cx="372012" cy="200025"/>
          </a:xfrm>
          <a:prstGeom prst="rect">
            <a:avLst/>
          </a:prstGeom>
          <a:noFill/>
          <a:ln/>
        </p:spPr>
        <p:txBody>
          <a:bodyPr wrap="square" lIns="25400" tIns="25400" rIns="25400" bIns="25400" rtlCol="0" anchor="t">
            <a:noAutofit/>
          </a:bodyPr>
          <a:lstStyle/>
          <a:p>
            <a:pPr marL="0" indent="0" algn="l">
              <a:lnSpc>
                <a:spcPct val="130000"/>
              </a:lnSpc>
              <a:buNone/>
            </a:pPr>
            <a:r>
              <a:rPr lang="en-US" sz="1400" kern="0" spc="21" dirty="0">
                <a:solidFill>
                  <a:srgbClr val="888080"/>
                </a:solidFill>
                <a:latin typeface="Inter" pitchFamily="34" charset="0"/>
                <a:ea typeface="Inter" pitchFamily="34" charset="-122"/>
              </a:rPr>
              <a:t>01</a:t>
            </a:r>
          </a:p>
        </p:txBody>
      </p:sp>
      <p:sp>
        <p:nvSpPr>
          <p:cNvPr id="31" name="Text 5">
            <a:extLst>
              <a:ext uri="{FF2B5EF4-FFF2-40B4-BE49-F238E27FC236}">
                <a16:creationId xmlns:a16="http://schemas.microsoft.com/office/drawing/2014/main" id="{58654308-A5BC-430F-895C-8C00D6FB5FBB}"/>
              </a:ext>
            </a:extLst>
          </p:cNvPr>
          <p:cNvSpPr/>
          <p:nvPr/>
        </p:nvSpPr>
        <p:spPr>
          <a:xfrm>
            <a:off x="523875" y="1522975"/>
            <a:ext cx="876300" cy="476251"/>
          </a:xfrm>
          <a:prstGeom prst="rect">
            <a:avLst/>
          </a:prstGeom>
          <a:noFill/>
          <a:ln/>
        </p:spPr>
        <p:txBody>
          <a:bodyPr wrap="square" lIns="25400" tIns="25400" rIns="25400" bIns="25400" rtlCol="0" anchor="t">
            <a:normAutofit/>
          </a:bodyPr>
          <a:lstStyle/>
          <a:p>
            <a:pPr marL="0" indent="0" algn="l">
              <a:lnSpc>
                <a:spcPct val="130000"/>
              </a:lnSpc>
              <a:buNone/>
            </a:pPr>
            <a:r>
              <a:rPr lang="en-US" sz="1400" kern="0" spc="21" dirty="0">
                <a:solidFill>
                  <a:srgbClr val="888080"/>
                </a:solidFill>
                <a:latin typeface="Inter" pitchFamily="34" charset="0"/>
                <a:ea typeface="Inter" pitchFamily="34" charset="-122"/>
              </a:rPr>
              <a:t>Agenda</a:t>
            </a:r>
          </a:p>
        </p:txBody>
      </p:sp>
      <p:sp>
        <p:nvSpPr>
          <p:cNvPr id="36" name="Text 6">
            <a:extLst>
              <a:ext uri="{FF2B5EF4-FFF2-40B4-BE49-F238E27FC236}">
                <a16:creationId xmlns:a16="http://schemas.microsoft.com/office/drawing/2014/main" id="{F3522B2F-49F4-E5EB-9605-17C2322357E8}"/>
              </a:ext>
            </a:extLst>
          </p:cNvPr>
          <p:cNvSpPr/>
          <p:nvPr/>
        </p:nvSpPr>
        <p:spPr>
          <a:xfrm>
            <a:off x="228063" y="1830953"/>
            <a:ext cx="372010" cy="194877"/>
          </a:xfrm>
          <a:prstGeom prst="rect">
            <a:avLst/>
          </a:prstGeom>
          <a:noFill/>
          <a:ln/>
        </p:spPr>
        <p:txBody>
          <a:bodyPr wrap="square" lIns="25400" tIns="25400" rIns="25400" bIns="25400" rtlCol="0" anchor="t">
            <a:noAutofit/>
          </a:bodyPr>
          <a:lstStyle/>
          <a:p>
            <a:pPr marL="0" indent="0" algn="l">
              <a:lnSpc>
                <a:spcPct val="130000"/>
              </a:lnSpc>
              <a:buNone/>
            </a:pPr>
            <a:r>
              <a:rPr lang="en-US" sz="1400" b="1" kern="0" spc="21" dirty="0">
                <a:solidFill>
                  <a:srgbClr val="C25A2A"/>
                </a:solidFill>
                <a:latin typeface="JetBrains Mono" pitchFamily="34" charset="0"/>
                <a:ea typeface="JetBrains Mono" pitchFamily="34" charset="-122"/>
              </a:rPr>
              <a:t>02</a:t>
            </a:r>
          </a:p>
        </p:txBody>
      </p:sp>
      <p:sp>
        <p:nvSpPr>
          <p:cNvPr id="41" name="Text 7">
            <a:extLst>
              <a:ext uri="{FF2B5EF4-FFF2-40B4-BE49-F238E27FC236}">
                <a16:creationId xmlns:a16="http://schemas.microsoft.com/office/drawing/2014/main" id="{74E32128-C765-C56E-4051-A3EAE094ED8C}"/>
              </a:ext>
            </a:extLst>
          </p:cNvPr>
          <p:cNvSpPr/>
          <p:nvPr/>
        </p:nvSpPr>
        <p:spPr>
          <a:xfrm>
            <a:off x="523875" y="1826620"/>
            <a:ext cx="1325700" cy="467696"/>
          </a:xfrm>
          <a:prstGeom prst="rect">
            <a:avLst/>
          </a:prstGeom>
          <a:noFill/>
          <a:ln/>
        </p:spPr>
        <p:txBody>
          <a:bodyPr wrap="square" lIns="25400" tIns="25400" rIns="25400" bIns="25400" rtlCol="0" anchor="t">
            <a:noAutofit/>
          </a:bodyPr>
          <a:lstStyle/>
          <a:p>
            <a:pPr marL="0" indent="0" algn="l">
              <a:lnSpc>
                <a:spcPct val="130000"/>
              </a:lnSpc>
              <a:buNone/>
            </a:pPr>
            <a:r>
              <a:rPr lang="en-US" sz="1400" kern="0" spc="21" dirty="0">
                <a:solidFill>
                  <a:srgbClr val="1A1A1A"/>
                </a:solidFill>
                <a:latin typeface="Inter" pitchFamily="34" charset="0"/>
                <a:ea typeface="Inter" pitchFamily="34" charset="-122"/>
              </a:rPr>
              <a:t>Data &amp; target</a:t>
            </a:r>
          </a:p>
        </p:txBody>
      </p:sp>
      <p:sp>
        <p:nvSpPr>
          <p:cNvPr id="46" name="Text 8">
            <a:extLst>
              <a:ext uri="{FF2B5EF4-FFF2-40B4-BE49-F238E27FC236}">
                <a16:creationId xmlns:a16="http://schemas.microsoft.com/office/drawing/2014/main" id="{4E91E0D2-936A-B16F-F138-53E3C908EC0D}"/>
              </a:ext>
            </a:extLst>
          </p:cNvPr>
          <p:cNvSpPr/>
          <p:nvPr/>
        </p:nvSpPr>
        <p:spPr>
          <a:xfrm>
            <a:off x="230504" y="2152895"/>
            <a:ext cx="302895" cy="141422"/>
          </a:xfrm>
          <a:prstGeom prst="rect">
            <a:avLst/>
          </a:prstGeom>
          <a:noFill/>
          <a:ln/>
        </p:spPr>
        <p:txBody>
          <a:bodyPr wrap="square" lIns="25400" tIns="25400" rIns="25400" bIns="25400" rtlCol="0" anchor="t">
            <a:noAutofit/>
          </a:bodyPr>
          <a:lstStyle/>
          <a:p>
            <a:pPr marL="0" indent="0" algn="l">
              <a:lnSpc>
                <a:spcPct val="130000"/>
              </a:lnSpc>
              <a:buNone/>
            </a:pPr>
            <a:r>
              <a:rPr lang="en-US" sz="1400" kern="0" spc="21" dirty="0">
                <a:solidFill>
                  <a:srgbClr val="888080"/>
                </a:solidFill>
                <a:latin typeface="JetBrains Mono" pitchFamily="34" charset="0"/>
                <a:ea typeface="JetBrains Mono" pitchFamily="34" charset="-122"/>
                <a:cs typeface="JetBrains Mono" pitchFamily="34" charset="-120"/>
              </a:rPr>
              <a:t>03</a:t>
            </a:r>
            <a:endParaRPr lang="en-US" sz="1400" dirty="0"/>
          </a:p>
        </p:txBody>
      </p:sp>
      <p:sp>
        <p:nvSpPr>
          <p:cNvPr id="51" name="Text 9">
            <a:extLst>
              <a:ext uri="{FF2B5EF4-FFF2-40B4-BE49-F238E27FC236}">
                <a16:creationId xmlns:a16="http://schemas.microsoft.com/office/drawing/2014/main" id="{76CD7EDB-9D1F-1AC9-185A-79F934EE7F06}"/>
              </a:ext>
            </a:extLst>
          </p:cNvPr>
          <p:cNvSpPr/>
          <p:nvPr/>
        </p:nvSpPr>
        <p:spPr>
          <a:xfrm>
            <a:off x="531240" y="2145027"/>
            <a:ext cx="1185416" cy="342476"/>
          </a:xfrm>
          <a:prstGeom prst="rect">
            <a:avLst/>
          </a:prstGeom>
          <a:noFill/>
          <a:ln/>
        </p:spPr>
        <p:txBody>
          <a:bodyPr wrap="square" lIns="25400" tIns="25400" rIns="25400" bIns="25400" rtlCol="0" anchor="t">
            <a:normAutofit/>
          </a:bodyPr>
          <a:lstStyle/>
          <a:p>
            <a:pPr marL="0" indent="0" algn="l">
              <a:lnSpc>
                <a:spcPct val="130000"/>
              </a:lnSpc>
              <a:buNone/>
            </a:pPr>
            <a:r>
              <a:rPr lang="en-US" sz="1400" kern="0" spc="21" dirty="0">
                <a:solidFill>
                  <a:srgbClr val="888080"/>
                </a:solidFill>
                <a:latin typeface="Inter" pitchFamily="34" charset="0"/>
                <a:ea typeface="Inter" pitchFamily="34" charset="-122"/>
                <a:cs typeface="Inter" pitchFamily="34" charset="-120"/>
              </a:rPr>
              <a:t>EDA</a:t>
            </a:r>
            <a:endParaRPr lang="en-US" sz="1400" dirty="0"/>
          </a:p>
        </p:txBody>
      </p:sp>
      <p:sp>
        <p:nvSpPr>
          <p:cNvPr id="52" name="Text 10">
            <a:extLst>
              <a:ext uri="{FF2B5EF4-FFF2-40B4-BE49-F238E27FC236}">
                <a16:creationId xmlns:a16="http://schemas.microsoft.com/office/drawing/2014/main" id="{C92C34EA-72D3-D8C3-AFC0-F5CB467E11CF}"/>
              </a:ext>
            </a:extLst>
          </p:cNvPr>
          <p:cNvSpPr/>
          <p:nvPr/>
        </p:nvSpPr>
        <p:spPr>
          <a:xfrm>
            <a:off x="228062" y="2444125"/>
            <a:ext cx="305337" cy="172132"/>
          </a:xfrm>
          <a:prstGeom prst="rect">
            <a:avLst/>
          </a:prstGeom>
          <a:noFill/>
          <a:ln/>
        </p:spPr>
        <p:txBody>
          <a:bodyPr wrap="square" lIns="25400" tIns="25400" rIns="25400" bIns="25400" rtlCol="0" anchor="t">
            <a:noAutofit/>
          </a:bodyPr>
          <a:lstStyle/>
          <a:p>
            <a:pPr marL="0" indent="0" algn="l">
              <a:lnSpc>
                <a:spcPct val="130000"/>
              </a:lnSpc>
              <a:buNone/>
            </a:pPr>
            <a:r>
              <a:rPr lang="en-US" sz="1400" kern="0" spc="21" dirty="0">
                <a:solidFill>
                  <a:srgbClr val="888080"/>
                </a:solidFill>
                <a:latin typeface="JetBrains Mono" pitchFamily="34" charset="0"/>
                <a:ea typeface="JetBrains Mono" pitchFamily="34" charset="-122"/>
                <a:cs typeface="JetBrains Mono" pitchFamily="34" charset="-120"/>
              </a:rPr>
              <a:t>04</a:t>
            </a:r>
            <a:endParaRPr lang="en-US" sz="1400" dirty="0"/>
          </a:p>
        </p:txBody>
      </p:sp>
      <p:sp>
        <p:nvSpPr>
          <p:cNvPr id="53" name="Text 12">
            <a:extLst>
              <a:ext uri="{FF2B5EF4-FFF2-40B4-BE49-F238E27FC236}">
                <a16:creationId xmlns:a16="http://schemas.microsoft.com/office/drawing/2014/main" id="{C1DA74D3-64B0-EB99-F881-8520AB833A3E}"/>
              </a:ext>
            </a:extLst>
          </p:cNvPr>
          <p:cNvSpPr/>
          <p:nvPr/>
        </p:nvSpPr>
        <p:spPr>
          <a:xfrm>
            <a:off x="228062" y="2750711"/>
            <a:ext cx="372011" cy="158880"/>
          </a:xfrm>
          <a:prstGeom prst="rect">
            <a:avLst/>
          </a:prstGeom>
          <a:noFill/>
          <a:ln/>
        </p:spPr>
        <p:txBody>
          <a:bodyPr wrap="square" lIns="25400" tIns="25400" rIns="25400" bIns="25400" rtlCol="0" anchor="t">
            <a:noAutofit/>
          </a:bodyPr>
          <a:lstStyle/>
          <a:p>
            <a:pPr marL="0" indent="0" algn="l">
              <a:lnSpc>
                <a:spcPct val="130000"/>
              </a:lnSpc>
              <a:buNone/>
            </a:pPr>
            <a:r>
              <a:rPr lang="en-US" sz="1400" kern="0" spc="21" dirty="0">
                <a:solidFill>
                  <a:srgbClr val="888080"/>
                </a:solidFill>
                <a:latin typeface="JetBrains Mono" pitchFamily="34" charset="0"/>
                <a:ea typeface="JetBrains Mono" pitchFamily="34" charset="-122"/>
                <a:cs typeface="JetBrains Mono" pitchFamily="34" charset="-120"/>
              </a:rPr>
              <a:t>05</a:t>
            </a:r>
            <a:endParaRPr lang="en-US" sz="1400" dirty="0"/>
          </a:p>
        </p:txBody>
      </p:sp>
      <p:sp>
        <p:nvSpPr>
          <p:cNvPr id="54" name="Text 13">
            <a:extLst>
              <a:ext uri="{FF2B5EF4-FFF2-40B4-BE49-F238E27FC236}">
                <a16:creationId xmlns:a16="http://schemas.microsoft.com/office/drawing/2014/main" id="{2825DF5F-F0AB-2A12-981F-07AB67501429}"/>
              </a:ext>
            </a:extLst>
          </p:cNvPr>
          <p:cNvSpPr/>
          <p:nvPr/>
        </p:nvSpPr>
        <p:spPr>
          <a:xfrm>
            <a:off x="533399" y="2725489"/>
            <a:ext cx="948333" cy="761256"/>
          </a:xfrm>
          <a:prstGeom prst="rect">
            <a:avLst/>
          </a:prstGeom>
          <a:noFill/>
          <a:ln/>
        </p:spPr>
        <p:txBody>
          <a:bodyPr wrap="square" lIns="25400" tIns="25400" rIns="25400" bIns="25400" rtlCol="0" anchor="t">
            <a:normAutofit/>
          </a:bodyPr>
          <a:lstStyle/>
          <a:p>
            <a:pPr marL="0" indent="0" algn="l">
              <a:lnSpc>
                <a:spcPct val="130000"/>
              </a:lnSpc>
              <a:buNone/>
            </a:pPr>
            <a:r>
              <a:rPr lang="en-US" sz="1400" kern="0" spc="21" dirty="0">
                <a:solidFill>
                  <a:srgbClr val="888080"/>
                </a:solidFill>
                <a:latin typeface="Inter" pitchFamily="34" charset="0"/>
                <a:ea typeface="Inter" pitchFamily="34" charset="-122"/>
                <a:cs typeface="Inter" pitchFamily="34" charset="-120"/>
              </a:rPr>
              <a:t>Modeling</a:t>
            </a:r>
            <a:endParaRPr lang="en-US" sz="1400" dirty="0"/>
          </a:p>
        </p:txBody>
      </p:sp>
      <p:sp>
        <p:nvSpPr>
          <p:cNvPr id="55" name="Text 14">
            <a:extLst>
              <a:ext uri="{FF2B5EF4-FFF2-40B4-BE49-F238E27FC236}">
                <a16:creationId xmlns:a16="http://schemas.microsoft.com/office/drawing/2014/main" id="{F4E5EFE4-232F-DA45-63BD-63C86DE68161}"/>
              </a:ext>
            </a:extLst>
          </p:cNvPr>
          <p:cNvSpPr/>
          <p:nvPr/>
        </p:nvSpPr>
        <p:spPr>
          <a:xfrm>
            <a:off x="235683" y="3042056"/>
            <a:ext cx="372010" cy="191463"/>
          </a:xfrm>
          <a:prstGeom prst="rect">
            <a:avLst/>
          </a:prstGeom>
          <a:noFill/>
          <a:ln/>
        </p:spPr>
        <p:txBody>
          <a:bodyPr wrap="square" lIns="25400" tIns="25400" rIns="25400" bIns="25400" rtlCol="0" anchor="t">
            <a:noAutofit/>
          </a:bodyPr>
          <a:lstStyle/>
          <a:p>
            <a:pPr marL="0" indent="0" algn="l">
              <a:lnSpc>
                <a:spcPct val="130000"/>
              </a:lnSpc>
              <a:buNone/>
            </a:pPr>
            <a:r>
              <a:rPr lang="en-US" sz="1400" kern="0" spc="21" dirty="0">
                <a:solidFill>
                  <a:srgbClr val="888080"/>
                </a:solidFill>
                <a:latin typeface="JetBrains Mono" pitchFamily="34" charset="0"/>
                <a:ea typeface="JetBrains Mono" pitchFamily="34" charset="-122"/>
                <a:cs typeface="JetBrains Mono" pitchFamily="34" charset="-120"/>
              </a:rPr>
              <a:t>06</a:t>
            </a:r>
            <a:endParaRPr lang="en-US" sz="1400" dirty="0"/>
          </a:p>
        </p:txBody>
      </p:sp>
      <p:sp>
        <p:nvSpPr>
          <p:cNvPr id="56" name="Text 15">
            <a:extLst>
              <a:ext uri="{FF2B5EF4-FFF2-40B4-BE49-F238E27FC236}">
                <a16:creationId xmlns:a16="http://schemas.microsoft.com/office/drawing/2014/main" id="{7FA56354-BE62-FAD4-14A4-A56786E36BE6}"/>
              </a:ext>
            </a:extLst>
          </p:cNvPr>
          <p:cNvSpPr/>
          <p:nvPr/>
        </p:nvSpPr>
        <p:spPr>
          <a:xfrm>
            <a:off x="533400" y="3032075"/>
            <a:ext cx="1185416" cy="626120"/>
          </a:xfrm>
          <a:prstGeom prst="rect">
            <a:avLst/>
          </a:prstGeom>
          <a:noFill/>
          <a:ln/>
        </p:spPr>
        <p:txBody>
          <a:bodyPr wrap="square" lIns="25400" tIns="25400" rIns="25400" bIns="25400" rtlCol="0" anchor="t">
            <a:normAutofit/>
          </a:bodyPr>
          <a:lstStyle/>
          <a:p>
            <a:pPr marL="0" indent="0" algn="l">
              <a:lnSpc>
                <a:spcPct val="130000"/>
              </a:lnSpc>
              <a:buNone/>
            </a:pPr>
            <a:r>
              <a:rPr lang="en-US" sz="1400" kern="0" spc="21" dirty="0">
                <a:solidFill>
                  <a:srgbClr val="888080"/>
                </a:solidFill>
                <a:latin typeface="Inter" pitchFamily="34" charset="0"/>
                <a:ea typeface="Inter" pitchFamily="34" charset="-122"/>
                <a:cs typeface="Inter" pitchFamily="34" charset="-120"/>
              </a:rPr>
              <a:t>Conclusions</a:t>
            </a:r>
            <a:endParaRPr lang="en-US" sz="1400" dirty="0"/>
          </a:p>
        </p:txBody>
      </p:sp>
      <p:sp>
        <p:nvSpPr>
          <p:cNvPr id="57" name="Text 9">
            <a:extLst>
              <a:ext uri="{FF2B5EF4-FFF2-40B4-BE49-F238E27FC236}">
                <a16:creationId xmlns:a16="http://schemas.microsoft.com/office/drawing/2014/main" id="{99166DA8-6D67-F5C1-BA2C-80590BFA5552}"/>
              </a:ext>
            </a:extLst>
          </p:cNvPr>
          <p:cNvSpPr/>
          <p:nvPr/>
        </p:nvSpPr>
        <p:spPr>
          <a:xfrm>
            <a:off x="557659" y="2426180"/>
            <a:ext cx="1185416" cy="342476"/>
          </a:xfrm>
          <a:prstGeom prst="rect">
            <a:avLst/>
          </a:prstGeom>
          <a:noFill/>
          <a:ln/>
        </p:spPr>
        <p:txBody>
          <a:bodyPr wrap="square" lIns="25400" tIns="25400" rIns="25400" bIns="25400" rtlCol="0" anchor="t">
            <a:normAutofit/>
          </a:bodyPr>
          <a:lstStyle/>
          <a:p>
            <a:pPr marL="0" indent="0" algn="l">
              <a:lnSpc>
                <a:spcPct val="130000"/>
              </a:lnSpc>
              <a:buNone/>
            </a:pPr>
            <a:r>
              <a:rPr lang="en-US" sz="1400" kern="0" spc="21" dirty="0">
                <a:solidFill>
                  <a:srgbClr val="888080"/>
                </a:solidFill>
                <a:latin typeface="Inter" pitchFamily="34" charset="0"/>
                <a:ea typeface="Inter" pitchFamily="34" charset="-122"/>
                <a:cs typeface="Inter" pitchFamily="34" charset="-120"/>
              </a:rPr>
              <a:t>Pipeline</a:t>
            </a:r>
            <a:endParaRPr lang="en-US" sz="1400" dirty="0"/>
          </a:p>
        </p:txBody>
      </p:sp>
      <p:sp>
        <p:nvSpPr>
          <p:cNvPr id="58" name="Text 1">
            <a:extLst>
              <a:ext uri="{FF2B5EF4-FFF2-40B4-BE49-F238E27FC236}">
                <a16:creationId xmlns:a16="http://schemas.microsoft.com/office/drawing/2014/main" id="{8FA988C2-B322-2FD5-5CEA-C9FD0EEA4A2C}"/>
              </a:ext>
            </a:extLst>
          </p:cNvPr>
          <p:cNvSpPr/>
          <p:nvPr/>
        </p:nvSpPr>
        <p:spPr>
          <a:xfrm>
            <a:off x="261138" y="379598"/>
            <a:ext cx="1778457" cy="447678"/>
          </a:xfrm>
          <a:prstGeom prst="rect">
            <a:avLst/>
          </a:prstGeom>
          <a:noFill/>
          <a:ln/>
        </p:spPr>
        <p:txBody>
          <a:bodyPr wrap="square" lIns="25400" tIns="25400" rIns="25400" bIns="25400" rtlCol="0" anchor="t">
            <a:noAutofit/>
          </a:bodyPr>
          <a:lstStyle/>
          <a:p>
            <a:pPr marL="0" indent="0">
              <a:buNone/>
            </a:pPr>
            <a:r>
              <a:rPr lang="en-US" sz="1400" kern="0" spc="116" dirty="0">
                <a:solidFill>
                  <a:srgbClr val="888080"/>
                </a:solidFill>
                <a:latin typeface="JetBrains Mono" pitchFamily="34" charset="0"/>
                <a:ea typeface="JetBrains Mono" pitchFamily="34" charset="-122"/>
                <a:cs typeface="JetBrains Mono" pitchFamily="34" charset="-120"/>
              </a:rPr>
              <a:t>DS22 - Bar Ilan</a:t>
            </a:r>
            <a:br>
              <a:rPr lang="en-US" sz="1400" kern="0" spc="116" dirty="0">
                <a:solidFill>
                  <a:srgbClr val="888080"/>
                </a:solidFill>
                <a:latin typeface="JetBrains Mono" pitchFamily="34" charset="0"/>
                <a:ea typeface="JetBrains Mono" pitchFamily="34" charset="-122"/>
                <a:cs typeface="JetBrains Mono" pitchFamily="34" charset="-120"/>
              </a:rPr>
            </a:br>
            <a:r>
              <a:rPr lang="en-US" sz="1400" kern="0" spc="116" dirty="0">
                <a:solidFill>
                  <a:srgbClr val="888080"/>
                </a:solidFill>
                <a:latin typeface="JetBrains Mono" pitchFamily="34" charset="0"/>
                <a:ea typeface="JetBrains Mono" pitchFamily="34" charset="-122"/>
                <a:cs typeface="JetBrains Mono" pitchFamily="34" charset="-120"/>
              </a:rPr>
              <a:t>ML PROJECT</a:t>
            </a:r>
          </a:p>
          <a:p>
            <a:pPr marL="0" indent="0">
              <a:buNone/>
            </a:pPr>
            <a:r>
              <a:rPr lang="en-US" sz="1400" kern="0" spc="116" dirty="0">
                <a:solidFill>
                  <a:srgbClr val="888080"/>
                </a:solidFill>
                <a:latin typeface="JetBrains Mono" pitchFamily="34" charset="0"/>
                <a:ea typeface="JetBrains Mono" pitchFamily="34" charset="-122"/>
                <a:cs typeface="JetBrains Mono" pitchFamily="34" charset="-120"/>
              </a:rPr>
              <a:t>MAY 2026</a:t>
            </a:r>
            <a:endParaRPr lang="en-US" sz="1400" dirty="0"/>
          </a:p>
        </p:txBody>
      </p:sp>
      <p:sp>
        <p:nvSpPr>
          <p:cNvPr id="4" name="Text 41">
            <a:extLst>
              <a:ext uri="{FF2B5EF4-FFF2-40B4-BE49-F238E27FC236}">
                <a16:creationId xmlns:a16="http://schemas.microsoft.com/office/drawing/2014/main" id="{4BC5935B-A84A-4DE0-7195-7BD673065F46}"/>
              </a:ext>
            </a:extLst>
          </p:cNvPr>
          <p:cNvSpPr/>
          <p:nvPr/>
        </p:nvSpPr>
        <p:spPr>
          <a:xfrm>
            <a:off x="2781300" y="6236435"/>
            <a:ext cx="14162066" cy="2894686"/>
          </a:xfrm>
          <a:prstGeom prst="rect">
            <a:avLst/>
          </a:prstGeom>
          <a:noFill/>
          <a:ln/>
        </p:spPr>
        <p:txBody>
          <a:bodyPr wrap="square" lIns="25400" tIns="25400" rIns="25400" bIns="25400" rtlCol="0" anchor="ctr">
            <a:noAutofit/>
          </a:bodyPr>
          <a:lstStyle/>
          <a:p>
            <a:pPr marL="0" indent="0" algn="l">
              <a:lnSpc>
                <a:spcPct val="150000"/>
              </a:lnSpc>
              <a:buNone/>
            </a:pPr>
            <a:r>
              <a:rPr lang="en-US" sz="3200" b="1" dirty="0">
                <a:solidFill>
                  <a:srgbClr val="1A1A1A"/>
                </a:solidFill>
                <a:latin typeface="Inter" pitchFamily="34" charset="0"/>
                <a:ea typeface="Inter" pitchFamily="34" charset="-122"/>
              </a:rPr>
              <a:t>Joined based on:</a:t>
            </a:r>
            <a:endParaRPr lang="en-US" dirty="0">
              <a:solidFill>
                <a:srgbClr val="1A1A1A"/>
              </a:solidFill>
              <a:latin typeface="Inter" pitchFamily="34" charset="0"/>
              <a:ea typeface="Inter" pitchFamily="34" charset="-122"/>
            </a:endParaRPr>
          </a:p>
          <a:p>
            <a:pPr marL="342900" indent="-342900" algn="l">
              <a:lnSpc>
                <a:spcPct val="150000"/>
              </a:lnSpc>
              <a:buAutoNum type="arabicParenR"/>
            </a:pPr>
            <a:r>
              <a:rPr lang="en-US" sz="2800" u="sng" dirty="0">
                <a:solidFill>
                  <a:srgbClr val="1A1A1A"/>
                </a:solidFill>
                <a:latin typeface="Inter" pitchFamily="34" charset="0"/>
                <a:ea typeface="Inter" pitchFamily="34" charset="-122"/>
              </a:rPr>
              <a:t>Route id (GTFS route identifier) </a:t>
            </a:r>
            <a:r>
              <a:rPr lang="en-US" sz="2800" dirty="0">
                <a:solidFill>
                  <a:srgbClr val="1A1A1A"/>
                </a:solidFill>
                <a:latin typeface="Inter" pitchFamily="34" charset="0"/>
                <a:ea typeface="Inter" pitchFamily="34" charset="-122"/>
              </a:rPr>
              <a:t>– matching trips with route geometry features </a:t>
            </a:r>
          </a:p>
          <a:p>
            <a:pPr marL="342900" indent="-342900" algn="l">
              <a:lnSpc>
                <a:spcPct val="150000"/>
              </a:lnSpc>
              <a:buAutoNum type="arabicParenR"/>
            </a:pPr>
            <a:r>
              <a:rPr lang="en-US" sz="2800" u="sng" dirty="0">
                <a:solidFill>
                  <a:srgbClr val="1A1A1A"/>
                </a:solidFill>
                <a:latin typeface="Inter" pitchFamily="34" charset="0"/>
                <a:ea typeface="Inter" pitchFamily="34" charset="-122"/>
              </a:rPr>
              <a:t>Date and hour </a:t>
            </a:r>
            <a:r>
              <a:rPr lang="en-US" sz="2800" dirty="0">
                <a:solidFill>
                  <a:srgbClr val="1A1A1A"/>
                </a:solidFill>
                <a:latin typeface="Inter" pitchFamily="34" charset="0"/>
                <a:ea typeface="Inter" pitchFamily="34" charset="-122"/>
              </a:rPr>
              <a:t>– Rainfall</a:t>
            </a:r>
          </a:p>
          <a:p>
            <a:pPr marL="342900" indent="-342900" algn="l">
              <a:lnSpc>
                <a:spcPct val="150000"/>
              </a:lnSpc>
              <a:buAutoNum type="arabicParenR"/>
            </a:pPr>
            <a:r>
              <a:rPr lang="en-US" sz="2800" u="sng" dirty="0">
                <a:solidFill>
                  <a:srgbClr val="1A1A1A"/>
                </a:solidFill>
                <a:latin typeface="Inter" pitchFamily="34" charset="0"/>
                <a:ea typeface="Inter" pitchFamily="34" charset="-122"/>
              </a:rPr>
              <a:t>Date, hour, and line </a:t>
            </a:r>
            <a:r>
              <a:rPr lang="en-US" sz="2800" dirty="0">
                <a:solidFill>
                  <a:srgbClr val="1A1A1A"/>
                </a:solidFill>
                <a:latin typeface="Inter" pitchFamily="34" charset="0"/>
                <a:ea typeface="Inter" pitchFamily="34" charset="-122"/>
              </a:rPr>
              <a:t>- Passengers</a:t>
            </a:r>
            <a:endParaRPr lang="en-US" sz="2800" dirty="0"/>
          </a:p>
        </p:txBody>
      </p:sp>
      <p:sp>
        <p:nvSpPr>
          <p:cNvPr id="5" name="Text 22">
            <a:extLst>
              <a:ext uri="{FF2B5EF4-FFF2-40B4-BE49-F238E27FC236}">
                <a16:creationId xmlns:a16="http://schemas.microsoft.com/office/drawing/2014/main" id="{4876BFFF-6481-9D6A-EB94-DE3FDA64FAE0}"/>
              </a:ext>
            </a:extLst>
          </p:cNvPr>
          <p:cNvSpPr/>
          <p:nvPr/>
        </p:nvSpPr>
        <p:spPr>
          <a:xfrm>
            <a:off x="7970154" y="3045455"/>
            <a:ext cx="4454081" cy="421868"/>
          </a:xfrm>
          <a:prstGeom prst="rect">
            <a:avLst/>
          </a:prstGeom>
          <a:noFill/>
          <a:ln/>
        </p:spPr>
        <p:txBody>
          <a:bodyPr wrap="square" lIns="25400" tIns="25400" rIns="25400" bIns="25400" rtlCol="0" anchor="t">
            <a:normAutofit fontScale="70000" lnSpcReduction="20000"/>
          </a:bodyPr>
          <a:lstStyle/>
          <a:p>
            <a:pPr marL="0" indent="0" algn="l">
              <a:lnSpc>
                <a:spcPct val="112000"/>
              </a:lnSpc>
              <a:buNone/>
            </a:pPr>
            <a:r>
              <a:rPr lang="en-US" sz="3600" kern="0" spc="-16" dirty="0">
                <a:solidFill>
                  <a:srgbClr val="F5F1E8"/>
                </a:solidFill>
                <a:latin typeface="Instrument Serif" pitchFamily="34" charset="0"/>
                <a:ea typeface="Instrument Serif" pitchFamily="34" charset="-122"/>
                <a:cs typeface="Instrument Serif" pitchFamily="34" charset="-120"/>
              </a:rPr>
              <a:t>SIRI</a:t>
            </a:r>
            <a:endParaRPr lang="en-US" sz="1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1E8"/>
        </a:solidFill>
        <a:effectLst/>
      </p:bgPr>
    </p:bg>
    <p:spTree>
      <p:nvGrpSpPr>
        <p:cNvPr id="1" name=""/>
        <p:cNvGrpSpPr/>
        <p:nvPr/>
      </p:nvGrpSpPr>
      <p:grpSpPr>
        <a:xfrm>
          <a:off x="0" y="0"/>
          <a:ext cx="0" cy="0"/>
          <a:chOff x="0" y="0"/>
          <a:chExt cx="0" cy="0"/>
        </a:xfrm>
      </p:grpSpPr>
      <p:sp>
        <p:nvSpPr>
          <p:cNvPr id="2" name="Shape 0"/>
          <p:cNvSpPr/>
          <p:nvPr/>
        </p:nvSpPr>
        <p:spPr>
          <a:xfrm>
            <a:off x="0" y="0"/>
            <a:ext cx="2095500" cy="10287000"/>
          </a:xfrm>
          <a:prstGeom prst="rect">
            <a:avLst/>
          </a:prstGeom>
          <a:solidFill>
            <a:srgbClr val="EBE5D6"/>
          </a:solidFill>
          <a:ln/>
        </p:spPr>
        <p:txBody>
          <a:bodyPr/>
          <a:lstStyle/>
          <a:p>
            <a:endParaRPr lang="he-IL"/>
          </a:p>
        </p:txBody>
      </p:sp>
      <p:sp>
        <p:nvSpPr>
          <p:cNvPr id="3" name="Shape 1"/>
          <p:cNvSpPr/>
          <p:nvPr/>
        </p:nvSpPr>
        <p:spPr>
          <a:xfrm>
            <a:off x="2085975" y="0"/>
            <a:ext cx="9525" cy="10287000"/>
          </a:xfrm>
          <a:prstGeom prst="rect">
            <a:avLst/>
          </a:prstGeom>
          <a:solidFill>
            <a:srgbClr val="D4CDBC"/>
          </a:solidFill>
          <a:ln/>
        </p:spPr>
        <p:txBody>
          <a:bodyPr/>
          <a:lstStyle/>
          <a:p>
            <a:endParaRPr lang="he-IL"/>
          </a:p>
        </p:txBody>
      </p:sp>
      <p:sp>
        <p:nvSpPr>
          <p:cNvPr id="18" name="Text 16"/>
          <p:cNvSpPr/>
          <p:nvPr/>
        </p:nvSpPr>
        <p:spPr>
          <a:xfrm>
            <a:off x="266700" y="9410700"/>
            <a:ext cx="1628775" cy="342900"/>
          </a:xfrm>
          <a:prstGeom prst="rect">
            <a:avLst/>
          </a:prstGeom>
          <a:noFill/>
          <a:ln/>
        </p:spPr>
        <p:txBody>
          <a:bodyPr wrap="square" lIns="25400" tIns="25400" rIns="25400" bIns="25400" rtlCol="0" anchor="t">
            <a:noAutofit/>
          </a:bodyPr>
          <a:lstStyle/>
          <a:p>
            <a:pPr>
              <a:lnSpc>
                <a:spcPct val="160000"/>
              </a:lnSpc>
            </a:pPr>
            <a:r>
              <a:rPr lang="en-US" sz="1400" b="1" kern="0" spc="105" dirty="0">
                <a:solidFill>
                  <a:srgbClr val="1A1A1A"/>
                </a:solidFill>
                <a:latin typeface="JetBrains Mono" pitchFamily="34" charset="0"/>
                <a:ea typeface="JetBrains Mono" pitchFamily="34" charset="-122"/>
                <a:cs typeface="JetBrains Mono" pitchFamily="34" charset="-120"/>
              </a:rPr>
              <a:t>05 / 34</a:t>
            </a:r>
            <a:endParaRPr lang="en-US" sz="1400" dirty="0"/>
          </a:p>
        </p:txBody>
      </p:sp>
      <p:sp>
        <p:nvSpPr>
          <p:cNvPr id="19" name="Text 17"/>
          <p:cNvSpPr/>
          <p:nvPr/>
        </p:nvSpPr>
        <p:spPr>
          <a:xfrm>
            <a:off x="2781300" y="571500"/>
            <a:ext cx="15187041" cy="171450"/>
          </a:xfrm>
          <a:prstGeom prst="rect">
            <a:avLst/>
          </a:prstGeom>
          <a:noFill/>
          <a:ln/>
        </p:spPr>
        <p:txBody>
          <a:bodyPr wrap="square" lIns="25400" tIns="25400" rIns="25400" bIns="25400" rtlCol="0" anchor="ctr">
            <a:noAutofit/>
          </a:bodyPr>
          <a:lstStyle/>
          <a:p>
            <a:pPr marL="0" indent="0" algn="l">
              <a:buNone/>
            </a:pPr>
            <a:r>
              <a:rPr lang="en-US" sz="1400" kern="0" spc="182" dirty="0">
                <a:solidFill>
                  <a:srgbClr val="888080"/>
                </a:solidFill>
                <a:latin typeface="JetBrains Mono" pitchFamily="34" charset="0"/>
                <a:ea typeface="JetBrains Mono" pitchFamily="34" charset="-122"/>
                <a:cs typeface="JetBrains Mono" pitchFamily="34" charset="-120"/>
              </a:rPr>
              <a:t>DATA · RAW SCALE</a:t>
            </a:r>
            <a:endParaRPr lang="en-US" sz="1400" dirty="0"/>
          </a:p>
        </p:txBody>
      </p:sp>
      <p:sp>
        <p:nvSpPr>
          <p:cNvPr id="20" name="Text 18"/>
          <p:cNvSpPr/>
          <p:nvPr/>
        </p:nvSpPr>
        <p:spPr>
          <a:xfrm>
            <a:off x="2781300" y="888504"/>
            <a:ext cx="15187041" cy="643830"/>
          </a:xfrm>
          <a:prstGeom prst="rect">
            <a:avLst/>
          </a:prstGeom>
          <a:noFill/>
          <a:ln/>
        </p:spPr>
        <p:txBody>
          <a:bodyPr wrap="square" lIns="25400" tIns="25400" rIns="25400" bIns="25400" rtlCol="0" anchor="t">
            <a:normAutofit fontScale="92500" lnSpcReduction="20000"/>
          </a:bodyPr>
          <a:lstStyle/>
          <a:p>
            <a:pPr marL="0" indent="0" algn="l">
              <a:lnSpc>
                <a:spcPct val="106000"/>
              </a:lnSpc>
              <a:buNone/>
            </a:pPr>
            <a:r>
              <a:rPr lang="en-US" sz="4500" kern="0" spc="-81" dirty="0">
                <a:solidFill>
                  <a:srgbClr val="1A1A1A"/>
                </a:solidFill>
                <a:latin typeface="Instrument Serif" pitchFamily="34" charset="0"/>
                <a:ea typeface="Instrument Serif" pitchFamily="34" charset="-122"/>
                <a:cs typeface="Instrument Serif" pitchFamily="34" charset="-120"/>
              </a:rPr>
              <a:t>The starting point.</a:t>
            </a:r>
            <a:endParaRPr lang="en-US" sz="4500" dirty="0"/>
          </a:p>
        </p:txBody>
      </p:sp>
      <p:sp>
        <p:nvSpPr>
          <p:cNvPr id="21" name="Text 19"/>
          <p:cNvSpPr/>
          <p:nvPr/>
        </p:nvSpPr>
        <p:spPr>
          <a:xfrm>
            <a:off x="2781300" y="1691580"/>
            <a:ext cx="10791825" cy="617934"/>
          </a:xfrm>
          <a:prstGeom prst="rect">
            <a:avLst/>
          </a:prstGeom>
          <a:noFill/>
          <a:ln/>
        </p:spPr>
        <p:txBody>
          <a:bodyPr wrap="square" lIns="25400" tIns="25400" rIns="25400" bIns="25400" rtlCol="0" anchor="t">
            <a:normAutofit/>
          </a:bodyPr>
          <a:lstStyle/>
          <a:p>
            <a:pPr marL="0" indent="0" algn="l">
              <a:lnSpc>
                <a:spcPct val="145000"/>
              </a:lnSpc>
              <a:buNone/>
            </a:pPr>
            <a:r>
              <a:rPr lang="en-US" sz="1575" dirty="0">
                <a:solidFill>
                  <a:srgbClr val="4A4A4A"/>
                </a:solidFill>
                <a:latin typeface="Inter" pitchFamily="34" charset="0"/>
                <a:ea typeface="Inter" pitchFamily="34" charset="-122"/>
                <a:cs typeface="Inter" pitchFamily="34" charset="-120"/>
              </a:rPr>
              <a:t>After joining all six sources on trip-level keys, our raw dataset before any cleaning, encoding or feature engineering.</a:t>
            </a:r>
            <a:endParaRPr lang="en-US" sz="1575" dirty="0"/>
          </a:p>
        </p:txBody>
      </p:sp>
      <p:sp>
        <p:nvSpPr>
          <p:cNvPr id="22" name="Shape 20"/>
          <p:cNvSpPr/>
          <p:nvPr/>
        </p:nvSpPr>
        <p:spPr>
          <a:xfrm>
            <a:off x="2781300" y="2728615"/>
            <a:ext cx="3820269" cy="1793677"/>
          </a:xfrm>
          <a:prstGeom prst="rect">
            <a:avLst/>
          </a:prstGeom>
          <a:solidFill>
            <a:srgbClr val="FFFFFF"/>
          </a:solidFill>
          <a:ln w="9525">
            <a:solidFill>
              <a:srgbClr val="D4CDBC"/>
            </a:solidFill>
            <a:prstDash val="solid"/>
          </a:ln>
        </p:spPr>
        <p:txBody>
          <a:bodyPr/>
          <a:lstStyle/>
          <a:p>
            <a:endParaRPr lang="he-IL"/>
          </a:p>
        </p:txBody>
      </p:sp>
      <p:sp>
        <p:nvSpPr>
          <p:cNvPr id="23" name="Text 21"/>
          <p:cNvSpPr/>
          <p:nvPr/>
        </p:nvSpPr>
        <p:spPr>
          <a:xfrm>
            <a:off x="3019425" y="2860606"/>
            <a:ext cx="3444340" cy="161925"/>
          </a:xfrm>
          <a:prstGeom prst="rect">
            <a:avLst/>
          </a:prstGeom>
          <a:noFill/>
          <a:ln/>
        </p:spPr>
        <p:txBody>
          <a:bodyPr wrap="square" lIns="25400" tIns="25400" rIns="25400" bIns="25400" rtlCol="0" anchor="t">
            <a:noAutofit/>
          </a:bodyPr>
          <a:lstStyle/>
          <a:p>
            <a:pPr marL="0" indent="0" algn="l">
              <a:buNone/>
            </a:pPr>
            <a:r>
              <a:rPr lang="en-US" sz="1400" b="1" kern="0" spc="135" dirty="0">
                <a:solidFill>
                  <a:srgbClr val="888080"/>
                </a:solidFill>
                <a:latin typeface="JetBrains Mono" pitchFamily="34" charset="0"/>
                <a:ea typeface="JetBrains Mono" pitchFamily="34" charset="-122"/>
                <a:cs typeface="JetBrains Mono" pitchFamily="34" charset="-120"/>
              </a:rPr>
              <a:t>ROWS</a:t>
            </a:r>
            <a:endParaRPr lang="en-US" sz="1400" dirty="0"/>
          </a:p>
        </p:txBody>
      </p:sp>
      <p:sp>
        <p:nvSpPr>
          <p:cNvPr id="24" name="Text 22"/>
          <p:cNvSpPr/>
          <p:nvPr/>
        </p:nvSpPr>
        <p:spPr>
          <a:xfrm>
            <a:off x="3019425" y="3166765"/>
            <a:ext cx="3444340" cy="879277"/>
          </a:xfrm>
          <a:prstGeom prst="rect">
            <a:avLst/>
          </a:prstGeom>
          <a:noFill/>
          <a:ln/>
        </p:spPr>
        <p:txBody>
          <a:bodyPr wrap="square" lIns="25400" tIns="25400" rIns="25400" bIns="25400" rtlCol="0" anchor="t">
            <a:normAutofit fontScale="92500" lnSpcReduction="20000"/>
          </a:bodyPr>
          <a:lstStyle/>
          <a:p>
            <a:pPr marL="0" indent="0" algn="l">
              <a:lnSpc>
                <a:spcPct val="92000"/>
              </a:lnSpc>
              <a:buNone/>
            </a:pPr>
            <a:r>
              <a:rPr lang="en-US" sz="7200" kern="0" spc="-180" dirty="0">
                <a:solidFill>
                  <a:srgbClr val="C25A2A"/>
                </a:solidFill>
                <a:latin typeface="Instrument Serif" pitchFamily="34" charset="0"/>
                <a:ea typeface="Instrument Serif" pitchFamily="34" charset="-122"/>
                <a:cs typeface="Instrument Serif" pitchFamily="34" charset="-120"/>
              </a:rPr>
              <a:t>9</a:t>
            </a:r>
            <a:r>
              <a:rPr lang="he-IL" sz="7200" kern="0" spc="-180" dirty="0">
                <a:solidFill>
                  <a:srgbClr val="C25A2A"/>
                </a:solidFill>
                <a:latin typeface="Instrument Serif" pitchFamily="34" charset="0"/>
                <a:ea typeface="Instrument Serif" pitchFamily="34" charset="-122"/>
                <a:cs typeface="Instrument Serif" pitchFamily="34" charset="-120"/>
              </a:rPr>
              <a:t>0</a:t>
            </a:r>
            <a:r>
              <a:rPr lang="en-US" sz="7200" kern="0" spc="-180" dirty="0">
                <a:solidFill>
                  <a:srgbClr val="C25A2A"/>
                </a:solidFill>
                <a:latin typeface="Instrument Serif" pitchFamily="34" charset="0"/>
                <a:ea typeface="Instrument Serif" pitchFamily="34" charset="-122"/>
                <a:cs typeface="Instrument Serif" pitchFamily="34" charset="-120"/>
              </a:rPr>
              <a:t>,</a:t>
            </a:r>
            <a:r>
              <a:rPr lang="he-IL" sz="7200" kern="0" spc="-180" dirty="0">
                <a:solidFill>
                  <a:srgbClr val="C25A2A"/>
                </a:solidFill>
                <a:latin typeface="Instrument Serif" pitchFamily="34" charset="0"/>
                <a:ea typeface="Instrument Serif" pitchFamily="34" charset="-122"/>
                <a:cs typeface="Instrument Serif" pitchFamily="34" charset="-120"/>
              </a:rPr>
              <a:t>881</a:t>
            </a:r>
            <a:endParaRPr lang="en-US" sz="7200" dirty="0"/>
          </a:p>
        </p:txBody>
      </p:sp>
      <p:sp>
        <p:nvSpPr>
          <p:cNvPr id="25" name="Text 23"/>
          <p:cNvSpPr/>
          <p:nvPr/>
        </p:nvSpPr>
        <p:spPr>
          <a:xfrm>
            <a:off x="3019425" y="4150363"/>
            <a:ext cx="3444340" cy="161925"/>
          </a:xfrm>
          <a:prstGeom prst="rect">
            <a:avLst/>
          </a:prstGeom>
          <a:noFill/>
          <a:ln/>
        </p:spPr>
        <p:txBody>
          <a:bodyPr wrap="square" lIns="25400" tIns="25400" rIns="25400" bIns="25400" rtlCol="0" anchor="t">
            <a:noAutofit/>
          </a:bodyPr>
          <a:lstStyle/>
          <a:p>
            <a:pPr marL="0" indent="0" algn="l">
              <a:buNone/>
            </a:pPr>
            <a:r>
              <a:rPr lang="en-US" sz="1400" kern="0" spc="135" dirty="0">
                <a:solidFill>
                  <a:srgbClr val="888080"/>
                </a:solidFill>
                <a:latin typeface="JetBrains Mono" pitchFamily="34" charset="0"/>
                <a:ea typeface="JetBrains Mono" pitchFamily="34" charset="-122"/>
                <a:cs typeface="JetBrains Mono" pitchFamily="34" charset="-120"/>
              </a:rPr>
              <a:t>BUS TRIPS </a:t>
            </a:r>
            <a:endParaRPr lang="en-US" sz="1400" dirty="0"/>
          </a:p>
        </p:txBody>
      </p:sp>
      <p:sp>
        <p:nvSpPr>
          <p:cNvPr id="26" name="Shape 24"/>
          <p:cNvSpPr/>
          <p:nvPr/>
        </p:nvSpPr>
        <p:spPr>
          <a:xfrm>
            <a:off x="6753969" y="2728615"/>
            <a:ext cx="3820418" cy="1793677"/>
          </a:xfrm>
          <a:prstGeom prst="rect">
            <a:avLst/>
          </a:prstGeom>
          <a:solidFill>
            <a:srgbClr val="FFFFFF"/>
          </a:solidFill>
          <a:ln w="9525">
            <a:solidFill>
              <a:srgbClr val="D4CDBC"/>
            </a:solidFill>
            <a:prstDash val="solid"/>
          </a:ln>
        </p:spPr>
        <p:txBody>
          <a:bodyPr/>
          <a:lstStyle/>
          <a:p>
            <a:endParaRPr lang="he-IL"/>
          </a:p>
        </p:txBody>
      </p:sp>
      <p:sp>
        <p:nvSpPr>
          <p:cNvPr id="27" name="Text 25"/>
          <p:cNvSpPr/>
          <p:nvPr/>
        </p:nvSpPr>
        <p:spPr>
          <a:xfrm>
            <a:off x="6992094" y="2817062"/>
            <a:ext cx="3444493" cy="161925"/>
          </a:xfrm>
          <a:prstGeom prst="rect">
            <a:avLst/>
          </a:prstGeom>
          <a:noFill/>
          <a:ln/>
        </p:spPr>
        <p:txBody>
          <a:bodyPr wrap="square" lIns="25400" tIns="25400" rIns="25400" bIns="25400" rtlCol="0" anchor="t">
            <a:noAutofit/>
          </a:bodyPr>
          <a:lstStyle/>
          <a:p>
            <a:pPr marL="0" indent="0" algn="l">
              <a:buNone/>
            </a:pPr>
            <a:r>
              <a:rPr lang="en-US" sz="1400" b="1" kern="0" spc="135" dirty="0">
                <a:solidFill>
                  <a:srgbClr val="888080"/>
                </a:solidFill>
                <a:latin typeface="JetBrains Mono" pitchFamily="34" charset="0"/>
                <a:ea typeface="JetBrains Mono" pitchFamily="34" charset="-122"/>
                <a:cs typeface="JetBrains Mono" pitchFamily="34" charset="-120"/>
              </a:rPr>
              <a:t>COLUMNS</a:t>
            </a:r>
            <a:endParaRPr lang="en-US" sz="1400" dirty="0"/>
          </a:p>
        </p:txBody>
      </p:sp>
      <p:sp>
        <p:nvSpPr>
          <p:cNvPr id="28" name="Text 26"/>
          <p:cNvSpPr/>
          <p:nvPr/>
        </p:nvSpPr>
        <p:spPr>
          <a:xfrm>
            <a:off x="6992094" y="3166765"/>
            <a:ext cx="3444493" cy="879277"/>
          </a:xfrm>
          <a:prstGeom prst="rect">
            <a:avLst/>
          </a:prstGeom>
          <a:noFill/>
          <a:ln/>
        </p:spPr>
        <p:txBody>
          <a:bodyPr wrap="square" lIns="25400" tIns="25400" rIns="25400" bIns="25400" rtlCol="0" anchor="t">
            <a:normAutofit fontScale="92500" lnSpcReduction="20000"/>
          </a:bodyPr>
          <a:lstStyle/>
          <a:p>
            <a:pPr marL="0" indent="0" algn="l">
              <a:lnSpc>
                <a:spcPct val="92000"/>
              </a:lnSpc>
              <a:buNone/>
            </a:pPr>
            <a:r>
              <a:rPr lang="en-US" sz="7200" kern="0" spc="-180" dirty="0">
                <a:solidFill>
                  <a:srgbClr val="1A1A1A"/>
                </a:solidFill>
                <a:latin typeface="Instrument Serif" pitchFamily="34" charset="0"/>
                <a:ea typeface="Instrument Serif" pitchFamily="34" charset="-122"/>
                <a:cs typeface="Instrument Serif" pitchFamily="34" charset="-120"/>
              </a:rPr>
              <a:t>35</a:t>
            </a:r>
            <a:endParaRPr lang="en-US" sz="7200" dirty="0"/>
          </a:p>
        </p:txBody>
      </p:sp>
      <p:sp>
        <p:nvSpPr>
          <p:cNvPr id="29" name="Text 27"/>
          <p:cNvSpPr/>
          <p:nvPr/>
        </p:nvSpPr>
        <p:spPr>
          <a:xfrm>
            <a:off x="6992094" y="4179391"/>
            <a:ext cx="3444493" cy="161925"/>
          </a:xfrm>
          <a:prstGeom prst="rect">
            <a:avLst/>
          </a:prstGeom>
          <a:noFill/>
          <a:ln/>
        </p:spPr>
        <p:txBody>
          <a:bodyPr wrap="square" lIns="25400" tIns="25400" rIns="25400" bIns="25400" rtlCol="0" anchor="t">
            <a:noAutofit/>
          </a:bodyPr>
          <a:lstStyle/>
          <a:p>
            <a:pPr marL="0" indent="0" algn="l">
              <a:buNone/>
            </a:pPr>
            <a:r>
              <a:rPr lang="en-US" sz="1400" kern="0" spc="135" dirty="0">
                <a:solidFill>
                  <a:srgbClr val="888080"/>
                </a:solidFill>
                <a:latin typeface="JetBrains Mono" pitchFamily="34" charset="0"/>
                <a:ea typeface="JetBrains Mono" pitchFamily="34" charset="-122"/>
                <a:cs typeface="JetBrains Mono" pitchFamily="34" charset="-120"/>
              </a:rPr>
              <a:t>RAW FEATURES</a:t>
            </a:r>
            <a:endParaRPr lang="en-US" sz="1400" dirty="0"/>
          </a:p>
        </p:txBody>
      </p:sp>
      <p:sp>
        <p:nvSpPr>
          <p:cNvPr id="30" name="Shape 28"/>
          <p:cNvSpPr/>
          <p:nvPr/>
        </p:nvSpPr>
        <p:spPr>
          <a:xfrm>
            <a:off x="2781300" y="4712791"/>
            <a:ext cx="7793087" cy="1099282"/>
          </a:xfrm>
          <a:prstGeom prst="rect">
            <a:avLst/>
          </a:prstGeom>
          <a:solidFill>
            <a:srgbClr val="EBE5D6"/>
          </a:solidFill>
          <a:ln w="9525">
            <a:solidFill>
              <a:srgbClr val="D4CDBC"/>
            </a:solidFill>
            <a:prstDash val="solid"/>
          </a:ln>
        </p:spPr>
        <p:txBody>
          <a:bodyPr/>
          <a:lstStyle/>
          <a:p>
            <a:endParaRPr lang="he-IL"/>
          </a:p>
        </p:txBody>
      </p:sp>
      <p:sp>
        <p:nvSpPr>
          <p:cNvPr id="32" name="Text 30"/>
          <p:cNvSpPr/>
          <p:nvPr/>
        </p:nvSpPr>
        <p:spPr>
          <a:xfrm>
            <a:off x="3068072" y="4961352"/>
            <a:ext cx="7536342" cy="272653"/>
          </a:xfrm>
          <a:prstGeom prst="rect">
            <a:avLst/>
          </a:prstGeom>
          <a:noFill/>
          <a:ln/>
        </p:spPr>
        <p:txBody>
          <a:bodyPr wrap="square" lIns="25400" tIns="25400" rIns="25400" bIns="25400" rtlCol="0" anchor="t">
            <a:noAutofit/>
          </a:bodyPr>
          <a:lstStyle/>
          <a:p>
            <a:pPr marL="0" indent="0" algn="l">
              <a:lnSpc>
                <a:spcPct val="112000"/>
              </a:lnSpc>
              <a:buNone/>
            </a:pPr>
            <a:r>
              <a:rPr lang="en-US" sz="2800" b="1" kern="0" spc="-13" dirty="0">
                <a:solidFill>
                  <a:srgbClr val="1A1A1A"/>
                </a:solidFill>
                <a:latin typeface="Instrument Serif" pitchFamily="34" charset="0"/>
                <a:ea typeface="Instrument Serif" pitchFamily="34" charset="-122"/>
                <a:cs typeface="Instrument Serif" pitchFamily="34" charset="-120"/>
              </a:rPr>
              <a:t>Each row is a single bus trip on a single date</a:t>
            </a:r>
            <a:endParaRPr lang="en-US" sz="2800" b="1" dirty="0"/>
          </a:p>
        </p:txBody>
      </p:sp>
      <p:sp>
        <p:nvSpPr>
          <p:cNvPr id="33" name="Text 31"/>
          <p:cNvSpPr/>
          <p:nvPr/>
        </p:nvSpPr>
        <p:spPr>
          <a:xfrm>
            <a:off x="3068072" y="5188166"/>
            <a:ext cx="7536342" cy="495300"/>
          </a:xfrm>
          <a:prstGeom prst="rect">
            <a:avLst/>
          </a:prstGeom>
          <a:noFill/>
          <a:ln/>
        </p:spPr>
        <p:txBody>
          <a:bodyPr wrap="square" lIns="25400" tIns="25400" rIns="25400" bIns="25400" rtlCol="0" anchor="t">
            <a:noAutofit/>
          </a:bodyPr>
          <a:lstStyle/>
          <a:p>
            <a:pPr marL="0" indent="0" algn="l">
              <a:lnSpc>
                <a:spcPct val="150000"/>
              </a:lnSpc>
              <a:buNone/>
            </a:pPr>
            <a:endParaRPr lang="en-US" sz="1400" dirty="0"/>
          </a:p>
        </p:txBody>
      </p:sp>
      <p:sp>
        <p:nvSpPr>
          <p:cNvPr id="34" name="Shape 32"/>
          <p:cNvSpPr/>
          <p:nvPr/>
        </p:nvSpPr>
        <p:spPr>
          <a:xfrm>
            <a:off x="2781301" y="6213515"/>
            <a:ext cx="3240140" cy="3305175"/>
          </a:xfrm>
          <a:prstGeom prst="rect">
            <a:avLst/>
          </a:prstGeom>
          <a:solidFill>
            <a:srgbClr val="FFFFFF"/>
          </a:solidFill>
          <a:ln w="9525">
            <a:solidFill>
              <a:srgbClr val="D4CDBC"/>
            </a:solidFill>
            <a:prstDash val="solid"/>
          </a:ln>
        </p:spPr>
        <p:txBody>
          <a:bodyPr/>
          <a:lstStyle/>
          <a:p>
            <a:endParaRPr lang="he-IL" sz="1400"/>
          </a:p>
        </p:txBody>
      </p:sp>
      <p:sp>
        <p:nvSpPr>
          <p:cNvPr id="35" name="Text 33"/>
          <p:cNvSpPr/>
          <p:nvPr/>
        </p:nvSpPr>
        <p:spPr>
          <a:xfrm>
            <a:off x="2933919" y="6481696"/>
            <a:ext cx="3240140" cy="435185"/>
          </a:xfrm>
          <a:prstGeom prst="rect">
            <a:avLst/>
          </a:prstGeom>
          <a:noFill/>
          <a:ln/>
        </p:spPr>
        <p:txBody>
          <a:bodyPr wrap="square" lIns="25400" tIns="25400" rIns="25400" bIns="25400" rtlCol="0" anchor="t">
            <a:noAutofit/>
          </a:bodyPr>
          <a:lstStyle/>
          <a:p>
            <a:pPr marL="0" indent="0" algn="l">
              <a:buNone/>
            </a:pPr>
            <a:r>
              <a:rPr lang="en-US" b="1" kern="0" spc="135" dirty="0">
                <a:solidFill>
                  <a:srgbClr val="C25A2A"/>
                </a:solidFill>
                <a:latin typeface="JetBrains Mono" pitchFamily="34" charset="0"/>
                <a:ea typeface="JetBrains Mono" pitchFamily="34" charset="-122"/>
                <a:cs typeface="JetBrains Mono" pitchFamily="34" charset="-120"/>
              </a:rPr>
              <a:t>RAW COLUMNS · BY THEME</a:t>
            </a:r>
            <a:endParaRPr lang="en-US" dirty="0"/>
          </a:p>
        </p:txBody>
      </p:sp>
      <p:sp>
        <p:nvSpPr>
          <p:cNvPr id="36" name="Shape 34"/>
          <p:cNvSpPr/>
          <p:nvPr/>
        </p:nvSpPr>
        <p:spPr>
          <a:xfrm>
            <a:off x="2890635" y="6999327"/>
            <a:ext cx="3024000" cy="9525"/>
          </a:xfrm>
          <a:prstGeom prst="rect">
            <a:avLst/>
          </a:prstGeom>
          <a:solidFill>
            <a:srgbClr val="1A1A1A"/>
          </a:solidFill>
          <a:ln/>
        </p:spPr>
        <p:txBody>
          <a:bodyPr/>
          <a:lstStyle/>
          <a:p>
            <a:endParaRPr lang="he-IL" sz="1400"/>
          </a:p>
        </p:txBody>
      </p:sp>
      <p:sp>
        <p:nvSpPr>
          <p:cNvPr id="42" name="Shape 40"/>
          <p:cNvSpPr/>
          <p:nvPr/>
        </p:nvSpPr>
        <p:spPr>
          <a:xfrm>
            <a:off x="2890635" y="7380327"/>
            <a:ext cx="3024000" cy="9525"/>
          </a:xfrm>
          <a:prstGeom prst="rect">
            <a:avLst/>
          </a:prstGeom>
          <a:solidFill>
            <a:srgbClr val="E6DFCF"/>
          </a:solidFill>
          <a:ln/>
        </p:spPr>
        <p:txBody>
          <a:bodyPr/>
          <a:lstStyle/>
          <a:p>
            <a:endParaRPr lang="he-IL" sz="1400"/>
          </a:p>
        </p:txBody>
      </p:sp>
      <p:sp>
        <p:nvSpPr>
          <p:cNvPr id="43" name="Text 41"/>
          <p:cNvSpPr/>
          <p:nvPr/>
        </p:nvSpPr>
        <p:spPr>
          <a:xfrm>
            <a:off x="2966835" y="7113627"/>
            <a:ext cx="4049054" cy="200025"/>
          </a:xfrm>
          <a:prstGeom prst="rect">
            <a:avLst/>
          </a:prstGeom>
          <a:noFill/>
          <a:ln/>
        </p:spPr>
        <p:txBody>
          <a:bodyPr wrap="square" lIns="25400" tIns="25400" rIns="25400" bIns="25400" rtlCol="0" anchor="ctr">
            <a:noAutofit/>
          </a:bodyPr>
          <a:lstStyle/>
          <a:p>
            <a:pPr marL="0" indent="0" algn="l">
              <a:buNone/>
            </a:pPr>
            <a:r>
              <a:rPr lang="en-US" dirty="0">
                <a:solidFill>
                  <a:srgbClr val="1A1A1A"/>
                </a:solidFill>
                <a:latin typeface="Inter" pitchFamily="34" charset="0"/>
                <a:ea typeface="Inter" pitchFamily="34" charset="-122"/>
                <a:cs typeface="Inter" pitchFamily="34" charset="-120"/>
              </a:rPr>
              <a:t>Schedule (GTFS)</a:t>
            </a:r>
            <a:endParaRPr lang="en-US" dirty="0"/>
          </a:p>
        </p:txBody>
      </p:sp>
      <p:sp>
        <p:nvSpPr>
          <p:cNvPr id="48" name="Shape 46"/>
          <p:cNvSpPr/>
          <p:nvPr/>
        </p:nvSpPr>
        <p:spPr>
          <a:xfrm>
            <a:off x="2890635" y="7761327"/>
            <a:ext cx="3024000" cy="9525"/>
          </a:xfrm>
          <a:prstGeom prst="rect">
            <a:avLst/>
          </a:prstGeom>
          <a:solidFill>
            <a:srgbClr val="E6DFCF"/>
          </a:solidFill>
          <a:ln/>
        </p:spPr>
        <p:txBody>
          <a:bodyPr/>
          <a:lstStyle/>
          <a:p>
            <a:endParaRPr lang="he-IL" sz="1400"/>
          </a:p>
        </p:txBody>
      </p:sp>
      <p:sp>
        <p:nvSpPr>
          <p:cNvPr id="49" name="Text 47"/>
          <p:cNvSpPr/>
          <p:nvPr/>
        </p:nvSpPr>
        <p:spPr>
          <a:xfrm>
            <a:off x="2966835" y="7494627"/>
            <a:ext cx="4049054" cy="200025"/>
          </a:xfrm>
          <a:prstGeom prst="rect">
            <a:avLst/>
          </a:prstGeom>
          <a:noFill/>
          <a:ln/>
        </p:spPr>
        <p:txBody>
          <a:bodyPr wrap="square" lIns="25400" tIns="25400" rIns="25400" bIns="25400" rtlCol="0" anchor="ctr">
            <a:noAutofit/>
          </a:bodyPr>
          <a:lstStyle/>
          <a:p>
            <a:pPr marL="0" indent="0" algn="l">
              <a:buNone/>
            </a:pPr>
            <a:r>
              <a:rPr lang="en-US" dirty="0">
                <a:solidFill>
                  <a:srgbClr val="1A1A1A"/>
                </a:solidFill>
                <a:latin typeface="Inter" pitchFamily="34" charset="0"/>
                <a:ea typeface="Inter" pitchFamily="34" charset="-122"/>
                <a:cs typeface="Inter" pitchFamily="34" charset="-120"/>
              </a:rPr>
              <a:t>Live position (SIRI)</a:t>
            </a:r>
            <a:endParaRPr lang="en-US" dirty="0"/>
          </a:p>
        </p:txBody>
      </p:sp>
      <p:sp>
        <p:nvSpPr>
          <p:cNvPr id="54" name="Shape 52"/>
          <p:cNvSpPr/>
          <p:nvPr/>
        </p:nvSpPr>
        <p:spPr>
          <a:xfrm>
            <a:off x="2890635" y="8142327"/>
            <a:ext cx="3024000" cy="9525"/>
          </a:xfrm>
          <a:prstGeom prst="rect">
            <a:avLst/>
          </a:prstGeom>
          <a:solidFill>
            <a:srgbClr val="E6DFCF"/>
          </a:solidFill>
          <a:ln/>
        </p:spPr>
        <p:txBody>
          <a:bodyPr/>
          <a:lstStyle/>
          <a:p>
            <a:endParaRPr lang="he-IL" sz="1400"/>
          </a:p>
        </p:txBody>
      </p:sp>
      <p:sp>
        <p:nvSpPr>
          <p:cNvPr id="55" name="Text 53"/>
          <p:cNvSpPr/>
          <p:nvPr/>
        </p:nvSpPr>
        <p:spPr>
          <a:xfrm>
            <a:off x="2966835" y="7875627"/>
            <a:ext cx="3024000" cy="200025"/>
          </a:xfrm>
          <a:prstGeom prst="rect">
            <a:avLst/>
          </a:prstGeom>
          <a:noFill/>
          <a:ln/>
        </p:spPr>
        <p:txBody>
          <a:bodyPr wrap="square" lIns="25400" tIns="25400" rIns="25400" bIns="25400" rtlCol="0" anchor="ctr">
            <a:noAutofit/>
          </a:bodyPr>
          <a:lstStyle/>
          <a:p>
            <a:pPr marL="0" indent="0" algn="l">
              <a:buNone/>
            </a:pPr>
            <a:r>
              <a:rPr lang="en-US" dirty="0">
                <a:solidFill>
                  <a:srgbClr val="1A1A1A"/>
                </a:solidFill>
                <a:latin typeface="Inter" pitchFamily="34" charset="0"/>
                <a:ea typeface="Inter" pitchFamily="34" charset="-122"/>
                <a:cs typeface="Inter" pitchFamily="34" charset="-120"/>
              </a:rPr>
              <a:t>Operational (validations)</a:t>
            </a:r>
            <a:endParaRPr lang="en-US" dirty="0"/>
          </a:p>
        </p:txBody>
      </p:sp>
      <p:sp>
        <p:nvSpPr>
          <p:cNvPr id="60" name="Shape 58"/>
          <p:cNvSpPr/>
          <p:nvPr/>
        </p:nvSpPr>
        <p:spPr>
          <a:xfrm>
            <a:off x="2890635" y="8523327"/>
            <a:ext cx="3024000" cy="9525"/>
          </a:xfrm>
          <a:prstGeom prst="rect">
            <a:avLst/>
          </a:prstGeom>
          <a:solidFill>
            <a:srgbClr val="E6DFCF"/>
          </a:solidFill>
          <a:ln/>
        </p:spPr>
        <p:txBody>
          <a:bodyPr/>
          <a:lstStyle/>
          <a:p>
            <a:endParaRPr lang="he-IL" sz="1400"/>
          </a:p>
        </p:txBody>
      </p:sp>
      <p:sp>
        <p:nvSpPr>
          <p:cNvPr id="61" name="Text 59"/>
          <p:cNvSpPr/>
          <p:nvPr/>
        </p:nvSpPr>
        <p:spPr>
          <a:xfrm>
            <a:off x="2966835" y="8256627"/>
            <a:ext cx="3024000" cy="200025"/>
          </a:xfrm>
          <a:prstGeom prst="rect">
            <a:avLst/>
          </a:prstGeom>
          <a:noFill/>
          <a:ln/>
        </p:spPr>
        <p:txBody>
          <a:bodyPr wrap="square" lIns="25400" tIns="25400" rIns="25400" bIns="25400" rtlCol="0" anchor="ctr">
            <a:noAutofit/>
          </a:bodyPr>
          <a:lstStyle/>
          <a:p>
            <a:pPr marL="0" indent="0" algn="l">
              <a:buNone/>
            </a:pPr>
            <a:r>
              <a:rPr lang="en-US" dirty="0">
                <a:solidFill>
                  <a:srgbClr val="1A1A1A"/>
                </a:solidFill>
                <a:latin typeface="Inter" pitchFamily="34" charset="0"/>
                <a:ea typeface="Inter" pitchFamily="34" charset="-122"/>
                <a:cs typeface="Inter" pitchFamily="34" charset="-120"/>
              </a:rPr>
              <a:t>Network &amp; geometry</a:t>
            </a:r>
            <a:endParaRPr lang="en-US" dirty="0"/>
          </a:p>
        </p:txBody>
      </p:sp>
      <p:sp>
        <p:nvSpPr>
          <p:cNvPr id="66" name="Shape 64"/>
          <p:cNvSpPr/>
          <p:nvPr/>
        </p:nvSpPr>
        <p:spPr>
          <a:xfrm>
            <a:off x="2890635" y="8904327"/>
            <a:ext cx="3024000" cy="9525"/>
          </a:xfrm>
          <a:prstGeom prst="rect">
            <a:avLst/>
          </a:prstGeom>
          <a:solidFill>
            <a:srgbClr val="E6DFCF"/>
          </a:solidFill>
          <a:ln/>
        </p:spPr>
        <p:txBody>
          <a:bodyPr/>
          <a:lstStyle/>
          <a:p>
            <a:endParaRPr lang="he-IL" sz="1400"/>
          </a:p>
        </p:txBody>
      </p:sp>
      <p:sp>
        <p:nvSpPr>
          <p:cNvPr id="67" name="Text 65"/>
          <p:cNvSpPr/>
          <p:nvPr/>
        </p:nvSpPr>
        <p:spPr>
          <a:xfrm>
            <a:off x="2966835" y="8637627"/>
            <a:ext cx="3024000" cy="200025"/>
          </a:xfrm>
          <a:prstGeom prst="rect">
            <a:avLst/>
          </a:prstGeom>
          <a:noFill/>
          <a:ln/>
        </p:spPr>
        <p:txBody>
          <a:bodyPr wrap="square" lIns="25400" tIns="25400" rIns="25400" bIns="25400" rtlCol="0" anchor="ctr">
            <a:noAutofit/>
          </a:bodyPr>
          <a:lstStyle/>
          <a:p>
            <a:pPr marL="0" indent="0" algn="l">
              <a:buNone/>
            </a:pPr>
            <a:r>
              <a:rPr lang="en-US" dirty="0">
                <a:solidFill>
                  <a:srgbClr val="1A1A1A"/>
                </a:solidFill>
                <a:latin typeface="Inter" pitchFamily="34" charset="0"/>
                <a:ea typeface="Inter" pitchFamily="34" charset="-122"/>
                <a:cs typeface="Inter" pitchFamily="34" charset="-120"/>
              </a:rPr>
              <a:t>Weather (IMS)</a:t>
            </a:r>
            <a:endParaRPr lang="en-US" dirty="0"/>
          </a:p>
        </p:txBody>
      </p:sp>
      <p:sp>
        <p:nvSpPr>
          <p:cNvPr id="72" name="Shape 70"/>
          <p:cNvSpPr/>
          <p:nvPr/>
        </p:nvSpPr>
        <p:spPr>
          <a:xfrm>
            <a:off x="2890635" y="9285327"/>
            <a:ext cx="3024000" cy="9525"/>
          </a:xfrm>
          <a:prstGeom prst="rect">
            <a:avLst/>
          </a:prstGeom>
          <a:solidFill>
            <a:srgbClr val="E6DFCF"/>
          </a:solidFill>
          <a:ln/>
        </p:spPr>
        <p:txBody>
          <a:bodyPr/>
          <a:lstStyle/>
          <a:p>
            <a:endParaRPr lang="he-IL" sz="1400"/>
          </a:p>
        </p:txBody>
      </p:sp>
      <p:sp>
        <p:nvSpPr>
          <p:cNvPr id="73" name="Text 71"/>
          <p:cNvSpPr/>
          <p:nvPr/>
        </p:nvSpPr>
        <p:spPr>
          <a:xfrm>
            <a:off x="2966835" y="9018627"/>
            <a:ext cx="3024000" cy="200025"/>
          </a:xfrm>
          <a:prstGeom prst="rect">
            <a:avLst/>
          </a:prstGeom>
          <a:noFill/>
          <a:ln/>
        </p:spPr>
        <p:txBody>
          <a:bodyPr wrap="square" lIns="25400" tIns="25400" rIns="25400" bIns="25400" rtlCol="0" anchor="ctr">
            <a:noAutofit/>
          </a:bodyPr>
          <a:lstStyle/>
          <a:p>
            <a:pPr marL="0" indent="0" algn="l">
              <a:buNone/>
            </a:pPr>
            <a:r>
              <a:rPr lang="en-US" dirty="0">
                <a:solidFill>
                  <a:srgbClr val="1A1A1A"/>
                </a:solidFill>
                <a:latin typeface="Inter" pitchFamily="34" charset="0"/>
                <a:ea typeface="Inter" pitchFamily="34" charset="-122"/>
                <a:cs typeface="Inter" pitchFamily="34" charset="-120"/>
              </a:rPr>
              <a:t>Identifiers</a:t>
            </a:r>
            <a:endParaRPr lang="en-US" sz="1400" dirty="0"/>
          </a:p>
        </p:txBody>
      </p:sp>
      <p:sp>
        <p:nvSpPr>
          <p:cNvPr id="84" name="Text 4">
            <a:extLst>
              <a:ext uri="{FF2B5EF4-FFF2-40B4-BE49-F238E27FC236}">
                <a16:creationId xmlns:a16="http://schemas.microsoft.com/office/drawing/2014/main" id="{95501C3B-11F5-DCFC-CB09-4F13FB7761DA}"/>
              </a:ext>
            </a:extLst>
          </p:cNvPr>
          <p:cNvSpPr/>
          <p:nvPr/>
        </p:nvSpPr>
        <p:spPr>
          <a:xfrm>
            <a:off x="228063" y="1524367"/>
            <a:ext cx="372012" cy="200025"/>
          </a:xfrm>
          <a:prstGeom prst="rect">
            <a:avLst/>
          </a:prstGeom>
          <a:noFill/>
          <a:ln/>
        </p:spPr>
        <p:txBody>
          <a:bodyPr wrap="square" lIns="25400" tIns="25400" rIns="25400" bIns="25400" rtlCol="0" anchor="t">
            <a:noAutofit/>
          </a:bodyPr>
          <a:lstStyle/>
          <a:p>
            <a:pPr marL="0" indent="0" algn="l">
              <a:lnSpc>
                <a:spcPct val="130000"/>
              </a:lnSpc>
              <a:buNone/>
            </a:pPr>
            <a:r>
              <a:rPr lang="en-US" sz="1400" kern="0" spc="21" dirty="0">
                <a:solidFill>
                  <a:srgbClr val="888080"/>
                </a:solidFill>
                <a:latin typeface="Inter" pitchFamily="34" charset="0"/>
                <a:ea typeface="Inter" pitchFamily="34" charset="-122"/>
              </a:rPr>
              <a:t>01</a:t>
            </a:r>
          </a:p>
        </p:txBody>
      </p:sp>
      <p:sp>
        <p:nvSpPr>
          <p:cNvPr id="85" name="Text 5">
            <a:extLst>
              <a:ext uri="{FF2B5EF4-FFF2-40B4-BE49-F238E27FC236}">
                <a16:creationId xmlns:a16="http://schemas.microsoft.com/office/drawing/2014/main" id="{4CB4E01B-F1A2-CD82-C2D9-F739724E3011}"/>
              </a:ext>
            </a:extLst>
          </p:cNvPr>
          <p:cNvSpPr/>
          <p:nvPr/>
        </p:nvSpPr>
        <p:spPr>
          <a:xfrm>
            <a:off x="523875" y="1522975"/>
            <a:ext cx="876300" cy="476251"/>
          </a:xfrm>
          <a:prstGeom prst="rect">
            <a:avLst/>
          </a:prstGeom>
          <a:noFill/>
          <a:ln/>
        </p:spPr>
        <p:txBody>
          <a:bodyPr wrap="square" lIns="25400" tIns="25400" rIns="25400" bIns="25400" rtlCol="0" anchor="t">
            <a:normAutofit/>
          </a:bodyPr>
          <a:lstStyle/>
          <a:p>
            <a:pPr marL="0" indent="0" algn="l">
              <a:lnSpc>
                <a:spcPct val="130000"/>
              </a:lnSpc>
              <a:buNone/>
            </a:pPr>
            <a:r>
              <a:rPr lang="en-US" sz="1400" kern="0" spc="21" dirty="0">
                <a:solidFill>
                  <a:srgbClr val="888080"/>
                </a:solidFill>
                <a:latin typeface="Inter" pitchFamily="34" charset="0"/>
                <a:ea typeface="Inter" pitchFamily="34" charset="-122"/>
              </a:rPr>
              <a:t>Agenda</a:t>
            </a:r>
          </a:p>
        </p:txBody>
      </p:sp>
      <p:sp>
        <p:nvSpPr>
          <p:cNvPr id="86" name="Text 6">
            <a:extLst>
              <a:ext uri="{FF2B5EF4-FFF2-40B4-BE49-F238E27FC236}">
                <a16:creationId xmlns:a16="http://schemas.microsoft.com/office/drawing/2014/main" id="{C047F9F3-36DB-0D4B-89B1-150B59DD0D0D}"/>
              </a:ext>
            </a:extLst>
          </p:cNvPr>
          <p:cNvSpPr/>
          <p:nvPr/>
        </p:nvSpPr>
        <p:spPr>
          <a:xfrm>
            <a:off x="228063" y="1830953"/>
            <a:ext cx="372010" cy="194877"/>
          </a:xfrm>
          <a:prstGeom prst="rect">
            <a:avLst/>
          </a:prstGeom>
          <a:noFill/>
          <a:ln/>
        </p:spPr>
        <p:txBody>
          <a:bodyPr wrap="square" lIns="25400" tIns="25400" rIns="25400" bIns="25400" rtlCol="0" anchor="t">
            <a:noAutofit/>
          </a:bodyPr>
          <a:lstStyle/>
          <a:p>
            <a:pPr marL="0" indent="0" algn="l">
              <a:lnSpc>
                <a:spcPct val="130000"/>
              </a:lnSpc>
              <a:buNone/>
            </a:pPr>
            <a:r>
              <a:rPr lang="en-US" sz="1400" b="1" kern="0" spc="21" dirty="0">
                <a:solidFill>
                  <a:srgbClr val="C25A2A"/>
                </a:solidFill>
                <a:latin typeface="JetBrains Mono" pitchFamily="34" charset="0"/>
                <a:ea typeface="JetBrains Mono" pitchFamily="34" charset="-122"/>
              </a:rPr>
              <a:t>02</a:t>
            </a:r>
          </a:p>
        </p:txBody>
      </p:sp>
      <p:sp>
        <p:nvSpPr>
          <p:cNvPr id="87" name="Text 7">
            <a:extLst>
              <a:ext uri="{FF2B5EF4-FFF2-40B4-BE49-F238E27FC236}">
                <a16:creationId xmlns:a16="http://schemas.microsoft.com/office/drawing/2014/main" id="{715C2256-4F5C-8894-EF75-99B571A669B7}"/>
              </a:ext>
            </a:extLst>
          </p:cNvPr>
          <p:cNvSpPr/>
          <p:nvPr/>
        </p:nvSpPr>
        <p:spPr>
          <a:xfrm>
            <a:off x="523875" y="1826620"/>
            <a:ext cx="1325700" cy="467696"/>
          </a:xfrm>
          <a:prstGeom prst="rect">
            <a:avLst/>
          </a:prstGeom>
          <a:noFill/>
          <a:ln/>
        </p:spPr>
        <p:txBody>
          <a:bodyPr wrap="square" lIns="25400" tIns="25400" rIns="25400" bIns="25400" rtlCol="0" anchor="t">
            <a:noAutofit/>
          </a:bodyPr>
          <a:lstStyle/>
          <a:p>
            <a:pPr marL="0" indent="0" algn="l">
              <a:lnSpc>
                <a:spcPct val="130000"/>
              </a:lnSpc>
              <a:buNone/>
            </a:pPr>
            <a:r>
              <a:rPr lang="en-US" sz="1400" kern="0" spc="21" dirty="0">
                <a:solidFill>
                  <a:srgbClr val="1A1A1A"/>
                </a:solidFill>
                <a:latin typeface="Inter" pitchFamily="34" charset="0"/>
                <a:ea typeface="Inter" pitchFamily="34" charset="-122"/>
              </a:rPr>
              <a:t>Data &amp; target</a:t>
            </a:r>
          </a:p>
        </p:txBody>
      </p:sp>
      <p:sp>
        <p:nvSpPr>
          <p:cNvPr id="88" name="Text 8">
            <a:extLst>
              <a:ext uri="{FF2B5EF4-FFF2-40B4-BE49-F238E27FC236}">
                <a16:creationId xmlns:a16="http://schemas.microsoft.com/office/drawing/2014/main" id="{0F29B052-07AA-36D3-990F-F1DF271631D3}"/>
              </a:ext>
            </a:extLst>
          </p:cNvPr>
          <p:cNvSpPr/>
          <p:nvPr/>
        </p:nvSpPr>
        <p:spPr>
          <a:xfrm>
            <a:off x="230504" y="2152895"/>
            <a:ext cx="302895" cy="141422"/>
          </a:xfrm>
          <a:prstGeom prst="rect">
            <a:avLst/>
          </a:prstGeom>
          <a:noFill/>
          <a:ln/>
        </p:spPr>
        <p:txBody>
          <a:bodyPr wrap="square" lIns="25400" tIns="25400" rIns="25400" bIns="25400" rtlCol="0" anchor="t">
            <a:noAutofit/>
          </a:bodyPr>
          <a:lstStyle/>
          <a:p>
            <a:pPr marL="0" indent="0" algn="l">
              <a:lnSpc>
                <a:spcPct val="130000"/>
              </a:lnSpc>
              <a:buNone/>
            </a:pPr>
            <a:r>
              <a:rPr lang="en-US" sz="1400" kern="0" spc="21" dirty="0">
                <a:solidFill>
                  <a:srgbClr val="888080"/>
                </a:solidFill>
                <a:latin typeface="JetBrains Mono" pitchFamily="34" charset="0"/>
                <a:ea typeface="JetBrains Mono" pitchFamily="34" charset="-122"/>
                <a:cs typeface="JetBrains Mono" pitchFamily="34" charset="-120"/>
              </a:rPr>
              <a:t>03</a:t>
            </a:r>
            <a:endParaRPr lang="en-US" sz="1400" dirty="0"/>
          </a:p>
        </p:txBody>
      </p:sp>
      <p:sp>
        <p:nvSpPr>
          <p:cNvPr id="89" name="Text 9">
            <a:extLst>
              <a:ext uri="{FF2B5EF4-FFF2-40B4-BE49-F238E27FC236}">
                <a16:creationId xmlns:a16="http://schemas.microsoft.com/office/drawing/2014/main" id="{B616778E-30B7-BA7F-4E1D-524EDC5E4B9E}"/>
              </a:ext>
            </a:extLst>
          </p:cNvPr>
          <p:cNvSpPr/>
          <p:nvPr/>
        </p:nvSpPr>
        <p:spPr>
          <a:xfrm>
            <a:off x="531240" y="2145027"/>
            <a:ext cx="1185416" cy="342476"/>
          </a:xfrm>
          <a:prstGeom prst="rect">
            <a:avLst/>
          </a:prstGeom>
          <a:noFill/>
          <a:ln/>
        </p:spPr>
        <p:txBody>
          <a:bodyPr wrap="square" lIns="25400" tIns="25400" rIns="25400" bIns="25400" rtlCol="0" anchor="t">
            <a:normAutofit/>
          </a:bodyPr>
          <a:lstStyle/>
          <a:p>
            <a:pPr marL="0" indent="0" algn="l">
              <a:lnSpc>
                <a:spcPct val="130000"/>
              </a:lnSpc>
              <a:buNone/>
            </a:pPr>
            <a:r>
              <a:rPr lang="en-US" sz="1400" kern="0" spc="21" dirty="0">
                <a:solidFill>
                  <a:srgbClr val="888080"/>
                </a:solidFill>
                <a:latin typeface="Inter" pitchFamily="34" charset="0"/>
                <a:ea typeface="Inter" pitchFamily="34" charset="-122"/>
                <a:cs typeface="Inter" pitchFamily="34" charset="-120"/>
              </a:rPr>
              <a:t>EDA</a:t>
            </a:r>
            <a:endParaRPr lang="en-US" sz="1400" dirty="0"/>
          </a:p>
        </p:txBody>
      </p:sp>
      <p:sp>
        <p:nvSpPr>
          <p:cNvPr id="90" name="Text 10">
            <a:extLst>
              <a:ext uri="{FF2B5EF4-FFF2-40B4-BE49-F238E27FC236}">
                <a16:creationId xmlns:a16="http://schemas.microsoft.com/office/drawing/2014/main" id="{1F823ADB-7EF2-E8BC-C79B-082935CFB384}"/>
              </a:ext>
            </a:extLst>
          </p:cNvPr>
          <p:cNvSpPr/>
          <p:nvPr/>
        </p:nvSpPr>
        <p:spPr>
          <a:xfrm>
            <a:off x="228062" y="2444125"/>
            <a:ext cx="305337" cy="172132"/>
          </a:xfrm>
          <a:prstGeom prst="rect">
            <a:avLst/>
          </a:prstGeom>
          <a:noFill/>
          <a:ln/>
        </p:spPr>
        <p:txBody>
          <a:bodyPr wrap="square" lIns="25400" tIns="25400" rIns="25400" bIns="25400" rtlCol="0" anchor="t">
            <a:noAutofit/>
          </a:bodyPr>
          <a:lstStyle/>
          <a:p>
            <a:pPr marL="0" indent="0" algn="l">
              <a:lnSpc>
                <a:spcPct val="130000"/>
              </a:lnSpc>
              <a:buNone/>
            </a:pPr>
            <a:r>
              <a:rPr lang="en-US" sz="1400" kern="0" spc="21" dirty="0">
                <a:solidFill>
                  <a:srgbClr val="888080"/>
                </a:solidFill>
                <a:latin typeface="JetBrains Mono" pitchFamily="34" charset="0"/>
                <a:ea typeface="JetBrains Mono" pitchFamily="34" charset="-122"/>
                <a:cs typeface="JetBrains Mono" pitchFamily="34" charset="-120"/>
              </a:rPr>
              <a:t>04</a:t>
            </a:r>
            <a:endParaRPr lang="en-US" sz="1400" dirty="0"/>
          </a:p>
        </p:txBody>
      </p:sp>
      <p:sp>
        <p:nvSpPr>
          <p:cNvPr id="91" name="Text 12">
            <a:extLst>
              <a:ext uri="{FF2B5EF4-FFF2-40B4-BE49-F238E27FC236}">
                <a16:creationId xmlns:a16="http://schemas.microsoft.com/office/drawing/2014/main" id="{DD2E5F2E-540A-3E2C-DDB4-DDAB2D2455F5}"/>
              </a:ext>
            </a:extLst>
          </p:cNvPr>
          <p:cNvSpPr/>
          <p:nvPr/>
        </p:nvSpPr>
        <p:spPr>
          <a:xfrm>
            <a:off x="228062" y="2750711"/>
            <a:ext cx="372011" cy="158880"/>
          </a:xfrm>
          <a:prstGeom prst="rect">
            <a:avLst/>
          </a:prstGeom>
          <a:noFill/>
          <a:ln/>
        </p:spPr>
        <p:txBody>
          <a:bodyPr wrap="square" lIns="25400" tIns="25400" rIns="25400" bIns="25400" rtlCol="0" anchor="t">
            <a:noAutofit/>
          </a:bodyPr>
          <a:lstStyle/>
          <a:p>
            <a:pPr marL="0" indent="0" algn="l">
              <a:lnSpc>
                <a:spcPct val="130000"/>
              </a:lnSpc>
              <a:buNone/>
            </a:pPr>
            <a:r>
              <a:rPr lang="en-US" sz="1400" kern="0" spc="21" dirty="0">
                <a:solidFill>
                  <a:srgbClr val="888080"/>
                </a:solidFill>
                <a:latin typeface="JetBrains Mono" pitchFamily="34" charset="0"/>
                <a:ea typeface="JetBrains Mono" pitchFamily="34" charset="-122"/>
                <a:cs typeface="JetBrains Mono" pitchFamily="34" charset="-120"/>
              </a:rPr>
              <a:t>05</a:t>
            </a:r>
            <a:endParaRPr lang="en-US" sz="1400" dirty="0"/>
          </a:p>
        </p:txBody>
      </p:sp>
      <p:sp>
        <p:nvSpPr>
          <p:cNvPr id="92" name="Text 13">
            <a:extLst>
              <a:ext uri="{FF2B5EF4-FFF2-40B4-BE49-F238E27FC236}">
                <a16:creationId xmlns:a16="http://schemas.microsoft.com/office/drawing/2014/main" id="{7A9C6DB1-2D46-7C57-26A1-E0312A1B858B}"/>
              </a:ext>
            </a:extLst>
          </p:cNvPr>
          <p:cNvSpPr/>
          <p:nvPr/>
        </p:nvSpPr>
        <p:spPr>
          <a:xfrm>
            <a:off x="533399" y="2725489"/>
            <a:ext cx="948333" cy="761256"/>
          </a:xfrm>
          <a:prstGeom prst="rect">
            <a:avLst/>
          </a:prstGeom>
          <a:noFill/>
          <a:ln/>
        </p:spPr>
        <p:txBody>
          <a:bodyPr wrap="square" lIns="25400" tIns="25400" rIns="25400" bIns="25400" rtlCol="0" anchor="t">
            <a:normAutofit/>
          </a:bodyPr>
          <a:lstStyle/>
          <a:p>
            <a:pPr marL="0" indent="0" algn="l">
              <a:lnSpc>
                <a:spcPct val="130000"/>
              </a:lnSpc>
              <a:buNone/>
            </a:pPr>
            <a:r>
              <a:rPr lang="en-US" sz="1400" kern="0" spc="21" dirty="0">
                <a:solidFill>
                  <a:srgbClr val="888080"/>
                </a:solidFill>
                <a:latin typeface="Inter" pitchFamily="34" charset="0"/>
                <a:ea typeface="Inter" pitchFamily="34" charset="-122"/>
                <a:cs typeface="Inter" pitchFamily="34" charset="-120"/>
              </a:rPr>
              <a:t>Modeling</a:t>
            </a:r>
            <a:endParaRPr lang="en-US" sz="1400" dirty="0"/>
          </a:p>
        </p:txBody>
      </p:sp>
      <p:sp>
        <p:nvSpPr>
          <p:cNvPr id="93" name="Text 14">
            <a:extLst>
              <a:ext uri="{FF2B5EF4-FFF2-40B4-BE49-F238E27FC236}">
                <a16:creationId xmlns:a16="http://schemas.microsoft.com/office/drawing/2014/main" id="{0BD13EA9-DFF9-D248-7D6A-273212A4D117}"/>
              </a:ext>
            </a:extLst>
          </p:cNvPr>
          <p:cNvSpPr/>
          <p:nvPr/>
        </p:nvSpPr>
        <p:spPr>
          <a:xfrm>
            <a:off x="235683" y="3042056"/>
            <a:ext cx="372010" cy="191463"/>
          </a:xfrm>
          <a:prstGeom prst="rect">
            <a:avLst/>
          </a:prstGeom>
          <a:noFill/>
          <a:ln/>
        </p:spPr>
        <p:txBody>
          <a:bodyPr wrap="square" lIns="25400" tIns="25400" rIns="25400" bIns="25400" rtlCol="0" anchor="t">
            <a:noAutofit/>
          </a:bodyPr>
          <a:lstStyle/>
          <a:p>
            <a:pPr marL="0" indent="0" algn="l">
              <a:lnSpc>
                <a:spcPct val="130000"/>
              </a:lnSpc>
              <a:buNone/>
            </a:pPr>
            <a:r>
              <a:rPr lang="en-US" sz="1400" kern="0" spc="21" dirty="0">
                <a:solidFill>
                  <a:srgbClr val="888080"/>
                </a:solidFill>
                <a:latin typeface="JetBrains Mono" pitchFamily="34" charset="0"/>
                <a:ea typeface="JetBrains Mono" pitchFamily="34" charset="-122"/>
                <a:cs typeface="JetBrains Mono" pitchFamily="34" charset="-120"/>
              </a:rPr>
              <a:t>06</a:t>
            </a:r>
            <a:endParaRPr lang="en-US" sz="1400" dirty="0"/>
          </a:p>
        </p:txBody>
      </p:sp>
      <p:sp>
        <p:nvSpPr>
          <p:cNvPr id="94" name="Text 15">
            <a:extLst>
              <a:ext uri="{FF2B5EF4-FFF2-40B4-BE49-F238E27FC236}">
                <a16:creationId xmlns:a16="http://schemas.microsoft.com/office/drawing/2014/main" id="{997AFD89-8AD0-8D6D-B537-B1368C908378}"/>
              </a:ext>
            </a:extLst>
          </p:cNvPr>
          <p:cNvSpPr/>
          <p:nvPr/>
        </p:nvSpPr>
        <p:spPr>
          <a:xfrm>
            <a:off x="533400" y="3032075"/>
            <a:ext cx="1185416" cy="626120"/>
          </a:xfrm>
          <a:prstGeom prst="rect">
            <a:avLst/>
          </a:prstGeom>
          <a:noFill/>
          <a:ln/>
        </p:spPr>
        <p:txBody>
          <a:bodyPr wrap="square" lIns="25400" tIns="25400" rIns="25400" bIns="25400" rtlCol="0" anchor="t">
            <a:normAutofit/>
          </a:bodyPr>
          <a:lstStyle/>
          <a:p>
            <a:pPr marL="0" indent="0" algn="l">
              <a:lnSpc>
                <a:spcPct val="130000"/>
              </a:lnSpc>
              <a:buNone/>
            </a:pPr>
            <a:r>
              <a:rPr lang="en-US" sz="1400" kern="0" spc="21" dirty="0">
                <a:solidFill>
                  <a:srgbClr val="888080"/>
                </a:solidFill>
                <a:latin typeface="Inter" pitchFamily="34" charset="0"/>
                <a:ea typeface="Inter" pitchFamily="34" charset="-122"/>
                <a:cs typeface="Inter" pitchFamily="34" charset="-120"/>
              </a:rPr>
              <a:t>Conclusions</a:t>
            </a:r>
            <a:endParaRPr lang="en-US" sz="1400" dirty="0"/>
          </a:p>
        </p:txBody>
      </p:sp>
      <p:sp>
        <p:nvSpPr>
          <p:cNvPr id="95" name="Text 9">
            <a:extLst>
              <a:ext uri="{FF2B5EF4-FFF2-40B4-BE49-F238E27FC236}">
                <a16:creationId xmlns:a16="http://schemas.microsoft.com/office/drawing/2014/main" id="{34985184-D267-C2E3-4B8F-DE94DBE865A4}"/>
              </a:ext>
            </a:extLst>
          </p:cNvPr>
          <p:cNvSpPr/>
          <p:nvPr/>
        </p:nvSpPr>
        <p:spPr>
          <a:xfrm>
            <a:off x="557659" y="2426180"/>
            <a:ext cx="1185416" cy="342476"/>
          </a:xfrm>
          <a:prstGeom prst="rect">
            <a:avLst/>
          </a:prstGeom>
          <a:noFill/>
          <a:ln/>
        </p:spPr>
        <p:txBody>
          <a:bodyPr wrap="square" lIns="25400" tIns="25400" rIns="25400" bIns="25400" rtlCol="0" anchor="t">
            <a:normAutofit/>
          </a:bodyPr>
          <a:lstStyle/>
          <a:p>
            <a:pPr marL="0" indent="0" algn="l">
              <a:lnSpc>
                <a:spcPct val="130000"/>
              </a:lnSpc>
              <a:buNone/>
            </a:pPr>
            <a:r>
              <a:rPr lang="en-US" sz="1400" kern="0" spc="21" dirty="0">
                <a:solidFill>
                  <a:srgbClr val="888080"/>
                </a:solidFill>
                <a:latin typeface="Inter" pitchFamily="34" charset="0"/>
                <a:ea typeface="Inter" pitchFamily="34" charset="-122"/>
                <a:cs typeface="Inter" pitchFamily="34" charset="-120"/>
              </a:rPr>
              <a:t>Pipeline</a:t>
            </a:r>
            <a:endParaRPr lang="en-US" sz="1400" dirty="0"/>
          </a:p>
        </p:txBody>
      </p:sp>
      <p:sp>
        <p:nvSpPr>
          <p:cNvPr id="96" name="Text 1">
            <a:extLst>
              <a:ext uri="{FF2B5EF4-FFF2-40B4-BE49-F238E27FC236}">
                <a16:creationId xmlns:a16="http://schemas.microsoft.com/office/drawing/2014/main" id="{34358EC9-6060-DB40-2234-162A4BA576E2}"/>
              </a:ext>
            </a:extLst>
          </p:cNvPr>
          <p:cNvSpPr/>
          <p:nvPr/>
        </p:nvSpPr>
        <p:spPr>
          <a:xfrm>
            <a:off x="261138" y="379598"/>
            <a:ext cx="1778457" cy="447678"/>
          </a:xfrm>
          <a:prstGeom prst="rect">
            <a:avLst/>
          </a:prstGeom>
          <a:noFill/>
          <a:ln/>
        </p:spPr>
        <p:txBody>
          <a:bodyPr wrap="square" lIns="25400" tIns="25400" rIns="25400" bIns="25400" rtlCol="0" anchor="t">
            <a:noAutofit/>
          </a:bodyPr>
          <a:lstStyle/>
          <a:p>
            <a:pPr marL="0" indent="0">
              <a:buNone/>
            </a:pPr>
            <a:r>
              <a:rPr lang="en-US" sz="1400" kern="0" spc="116" dirty="0">
                <a:solidFill>
                  <a:srgbClr val="888080"/>
                </a:solidFill>
                <a:latin typeface="JetBrains Mono" pitchFamily="34" charset="0"/>
                <a:ea typeface="JetBrains Mono" pitchFamily="34" charset="-122"/>
                <a:cs typeface="JetBrains Mono" pitchFamily="34" charset="-120"/>
              </a:rPr>
              <a:t>DS22 - Bar Ilan</a:t>
            </a:r>
            <a:br>
              <a:rPr lang="en-US" sz="1400" kern="0" spc="116" dirty="0">
                <a:solidFill>
                  <a:srgbClr val="888080"/>
                </a:solidFill>
                <a:latin typeface="JetBrains Mono" pitchFamily="34" charset="0"/>
                <a:ea typeface="JetBrains Mono" pitchFamily="34" charset="-122"/>
                <a:cs typeface="JetBrains Mono" pitchFamily="34" charset="-120"/>
              </a:rPr>
            </a:br>
            <a:r>
              <a:rPr lang="en-US" sz="1400" kern="0" spc="116" dirty="0">
                <a:solidFill>
                  <a:srgbClr val="888080"/>
                </a:solidFill>
                <a:latin typeface="JetBrains Mono" pitchFamily="34" charset="0"/>
                <a:ea typeface="JetBrains Mono" pitchFamily="34" charset="-122"/>
                <a:cs typeface="JetBrains Mono" pitchFamily="34" charset="-120"/>
              </a:rPr>
              <a:t>ML PROJECT</a:t>
            </a:r>
          </a:p>
          <a:p>
            <a:pPr marL="0" indent="0">
              <a:buNone/>
            </a:pPr>
            <a:r>
              <a:rPr lang="en-US" sz="1400" kern="0" spc="116" dirty="0">
                <a:solidFill>
                  <a:srgbClr val="888080"/>
                </a:solidFill>
                <a:latin typeface="JetBrains Mono" pitchFamily="34" charset="0"/>
                <a:ea typeface="JetBrains Mono" pitchFamily="34" charset="-122"/>
                <a:cs typeface="JetBrains Mono" pitchFamily="34" charset="-120"/>
              </a:rPr>
              <a:t>MAY 2026</a:t>
            </a:r>
            <a:endParaRPr lang="en-US" sz="1400" dirty="0"/>
          </a:p>
        </p:txBody>
      </p:sp>
      <p:pic>
        <p:nvPicPr>
          <p:cNvPr id="5" name="Picture 4">
            <a:extLst>
              <a:ext uri="{FF2B5EF4-FFF2-40B4-BE49-F238E27FC236}">
                <a16:creationId xmlns:a16="http://schemas.microsoft.com/office/drawing/2014/main" id="{D689BC7F-B183-80E5-90F9-FCDA65443C8E}"/>
              </a:ext>
            </a:extLst>
          </p:cNvPr>
          <p:cNvPicPr>
            <a:picLocks noChangeAspect="1"/>
          </p:cNvPicPr>
          <p:nvPr/>
        </p:nvPicPr>
        <p:blipFill>
          <a:blip r:embed="rId3"/>
          <a:stretch>
            <a:fillRect/>
          </a:stretch>
        </p:blipFill>
        <p:spPr>
          <a:xfrm>
            <a:off x="11416016" y="3157409"/>
            <a:ext cx="5919195" cy="6363828"/>
          </a:xfrm>
          <a:prstGeom prst="rect">
            <a:avLst/>
          </a:prstGeom>
        </p:spPr>
      </p:pic>
      <p:sp>
        <p:nvSpPr>
          <p:cNvPr id="6" name="Text 41">
            <a:extLst>
              <a:ext uri="{FF2B5EF4-FFF2-40B4-BE49-F238E27FC236}">
                <a16:creationId xmlns:a16="http://schemas.microsoft.com/office/drawing/2014/main" id="{FE9A5C44-27F8-9589-EA42-0DDFF4A55EAC}"/>
              </a:ext>
            </a:extLst>
          </p:cNvPr>
          <p:cNvSpPr/>
          <p:nvPr/>
        </p:nvSpPr>
        <p:spPr>
          <a:xfrm>
            <a:off x="13342512" y="2652274"/>
            <a:ext cx="2586239" cy="325007"/>
          </a:xfrm>
          <a:prstGeom prst="rect">
            <a:avLst/>
          </a:prstGeom>
          <a:noFill/>
          <a:ln/>
        </p:spPr>
        <p:txBody>
          <a:bodyPr wrap="square" lIns="25400" tIns="25400" rIns="25400" bIns="25400" rtlCol="0" anchor="ctr">
            <a:noAutofit/>
          </a:bodyPr>
          <a:lstStyle/>
          <a:p>
            <a:pPr marL="0" indent="0" algn="l">
              <a:buNone/>
            </a:pPr>
            <a:r>
              <a:rPr lang="en-US" sz="2400" b="1" u="sng" dirty="0">
                <a:solidFill>
                  <a:srgbClr val="1A1A1A"/>
                </a:solidFill>
                <a:latin typeface="Inter" pitchFamily="34" charset="0"/>
                <a:ea typeface="Inter" pitchFamily="34" charset="-122"/>
                <a:cs typeface="Inter" pitchFamily="34" charset="-120"/>
              </a:rPr>
              <a:t>Sample record</a:t>
            </a:r>
            <a:endParaRPr lang="en-US" sz="2400" b="1" u="sng" dirty="0"/>
          </a:p>
        </p:txBody>
      </p:sp>
      <p:sp>
        <p:nvSpPr>
          <p:cNvPr id="9" name="Text 41">
            <a:extLst>
              <a:ext uri="{FF2B5EF4-FFF2-40B4-BE49-F238E27FC236}">
                <a16:creationId xmlns:a16="http://schemas.microsoft.com/office/drawing/2014/main" id="{BCA6093C-84D0-B19D-3BB6-3805D9C1548F}"/>
              </a:ext>
            </a:extLst>
          </p:cNvPr>
          <p:cNvSpPr/>
          <p:nvPr/>
        </p:nvSpPr>
        <p:spPr>
          <a:xfrm>
            <a:off x="6130775" y="6236435"/>
            <a:ext cx="5042322" cy="2894686"/>
          </a:xfrm>
          <a:prstGeom prst="rect">
            <a:avLst/>
          </a:prstGeom>
          <a:noFill/>
          <a:ln/>
        </p:spPr>
        <p:txBody>
          <a:bodyPr wrap="square" lIns="25400" tIns="25400" rIns="25400" bIns="25400" rtlCol="0" anchor="ctr">
            <a:noAutofit/>
          </a:bodyPr>
          <a:lstStyle/>
          <a:p>
            <a:pPr marL="0" indent="0" algn="l">
              <a:lnSpc>
                <a:spcPct val="150000"/>
              </a:lnSpc>
              <a:buNone/>
            </a:pPr>
            <a:r>
              <a:rPr lang="en-US" sz="3200" b="1" dirty="0">
                <a:solidFill>
                  <a:srgbClr val="1A1A1A"/>
                </a:solidFill>
                <a:latin typeface="Inter" pitchFamily="34" charset="0"/>
                <a:ea typeface="Inter" pitchFamily="34" charset="-122"/>
              </a:rPr>
              <a:t>Time: </a:t>
            </a:r>
            <a:r>
              <a:rPr lang="en-US" sz="3200" dirty="0">
                <a:solidFill>
                  <a:srgbClr val="1A1A1A"/>
                </a:solidFill>
                <a:latin typeface="Inter" pitchFamily="34" charset="0"/>
                <a:ea typeface="Inter" pitchFamily="34" charset="-122"/>
              </a:rPr>
              <a:t>7-13.2024 (7 days)</a:t>
            </a:r>
          </a:p>
          <a:p>
            <a:pPr marL="0" indent="0" algn="l">
              <a:lnSpc>
                <a:spcPct val="150000"/>
              </a:lnSpc>
              <a:buNone/>
            </a:pPr>
            <a:r>
              <a:rPr lang="en-US" sz="3200" b="1" dirty="0">
                <a:solidFill>
                  <a:srgbClr val="1A1A1A"/>
                </a:solidFill>
                <a:latin typeface="Inter" pitchFamily="34" charset="0"/>
                <a:ea typeface="Inter" pitchFamily="34" charset="-122"/>
              </a:rPr>
              <a:t>Location: </a:t>
            </a:r>
            <a:r>
              <a:rPr lang="en-US" sz="3200" dirty="0">
                <a:solidFill>
                  <a:srgbClr val="1A1A1A"/>
                </a:solidFill>
                <a:latin typeface="Inter" pitchFamily="34" charset="0"/>
                <a:ea typeface="Inter" pitchFamily="34" charset="-122"/>
              </a:rPr>
              <a:t>Only trips starting and/or ending in Tel-Aviv</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1E8"/>
        </a:solidFill>
        <a:effectLst/>
      </p:bgPr>
    </p:bg>
    <p:spTree>
      <p:nvGrpSpPr>
        <p:cNvPr id="1" name=""/>
        <p:cNvGrpSpPr/>
        <p:nvPr/>
      </p:nvGrpSpPr>
      <p:grpSpPr>
        <a:xfrm>
          <a:off x="0" y="0"/>
          <a:ext cx="0" cy="0"/>
          <a:chOff x="0" y="0"/>
          <a:chExt cx="0" cy="0"/>
        </a:xfrm>
      </p:grpSpPr>
      <p:sp>
        <p:nvSpPr>
          <p:cNvPr id="2" name="Shape 0"/>
          <p:cNvSpPr/>
          <p:nvPr/>
        </p:nvSpPr>
        <p:spPr>
          <a:xfrm>
            <a:off x="0" y="0"/>
            <a:ext cx="2095500" cy="10287000"/>
          </a:xfrm>
          <a:prstGeom prst="rect">
            <a:avLst/>
          </a:prstGeom>
          <a:solidFill>
            <a:srgbClr val="EBE5D6"/>
          </a:solidFill>
          <a:ln/>
        </p:spPr>
        <p:txBody>
          <a:bodyPr/>
          <a:lstStyle/>
          <a:p>
            <a:endParaRPr lang="he-IL"/>
          </a:p>
        </p:txBody>
      </p:sp>
      <p:sp>
        <p:nvSpPr>
          <p:cNvPr id="3" name="Shape 1"/>
          <p:cNvSpPr/>
          <p:nvPr/>
        </p:nvSpPr>
        <p:spPr>
          <a:xfrm>
            <a:off x="2085975" y="0"/>
            <a:ext cx="9525" cy="10287000"/>
          </a:xfrm>
          <a:prstGeom prst="rect">
            <a:avLst/>
          </a:prstGeom>
          <a:solidFill>
            <a:srgbClr val="D4CDBC"/>
          </a:solidFill>
          <a:ln/>
        </p:spPr>
        <p:txBody>
          <a:bodyPr/>
          <a:lstStyle/>
          <a:p>
            <a:endParaRPr lang="he-IL"/>
          </a:p>
        </p:txBody>
      </p:sp>
      <p:sp>
        <p:nvSpPr>
          <p:cNvPr id="18" name="Text 16"/>
          <p:cNvSpPr/>
          <p:nvPr/>
        </p:nvSpPr>
        <p:spPr>
          <a:xfrm>
            <a:off x="266700" y="9410700"/>
            <a:ext cx="1628775" cy="342900"/>
          </a:xfrm>
          <a:prstGeom prst="rect">
            <a:avLst/>
          </a:prstGeom>
          <a:noFill/>
          <a:ln/>
        </p:spPr>
        <p:txBody>
          <a:bodyPr wrap="square" lIns="25400" tIns="25400" rIns="25400" bIns="25400" rtlCol="0" anchor="t">
            <a:noAutofit/>
          </a:bodyPr>
          <a:lstStyle/>
          <a:p>
            <a:pPr>
              <a:lnSpc>
                <a:spcPct val="160000"/>
              </a:lnSpc>
            </a:pPr>
            <a:r>
              <a:rPr lang="en-US" sz="1400" b="1" kern="0" spc="105" dirty="0">
                <a:solidFill>
                  <a:srgbClr val="1A1A1A"/>
                </a:solidFill>
                <a:latin typeface="JetBrains Mono" pitchFamily="34" charset="0"/>
                <a:ea typeface="JetBrains Mono" pitchFamily="34" charset="-122"/>
                <a:cs typeface="JetBrains Mono" pitchFamily="34" charset="-120"/>
              </a:rPr>
              <a:t>06 / 34</a:t>
            </a:r>
            <a:endParaRPr lang="en-US" sz="1400" dirty="0"/>
          </a:p>
        </p:txBody>
      </p:sp>
      <p:sp>
        <p:nvSpPr>
          <p:cNvPr id="19" name="Text 17"/>
          <p:cNvSpPr/>
          <p:nvPr/>
        </p:nvSpPr>
        <p:spPr>
          <a:xfrm>
            <a:off x="2781300" y="571500"/>
            <a:ext cx="15187041" cy="171450"/>
          </a:xfrm>
          <a:prstGeom prst="rect">
            <a:avLst/>
          </a:prstGeom>
          <a:noFill/>
          <a:ln/>
        </p:spPr>
        <p:txBody>
          <a:bodyPr wrap="square" lIns="25400" tIns="25400" rIns="25400" bIns="25400" rtlCol="0" anchor="ctr">
            <a:noAutofit/>
          </a:bodyPr>
          <a:lstStyle/>
          <a:p>
            <a:pPr marL="0" indent="0" algn="l">
              <a:buNone/>
            </a:pPr>
            <a:r>
              <a:rPr lang="en-US" sz="1400" kern="0" spc="182" dirty="0">
                <a:solidFill>
                  <a:srgbClr val="888080"/>
                </a:solidFill>
                <a:latin typeface="JetBrains Mono" pitchFamily="34" charset="0"/>
                <a:ea typeface="JetBrains Mono" pitchFamily="34" charset="-122"/>
                <a:cs typeface="JetBrains Mono" pitchFamily="34" charset="-120"/>
              </a:rPr>
              <a:t>DATA · TARGET</a:t>
            </a:r>
            <a:endParaRPr lang="en-US" sz="1400" dirty="0"/>
          </a:p>
        </p:txBody>
      </p:sp>
      <p:sp>
        <p:nvSpPr>
          <p:cNvPr id="20" name="Text 18"/>
          <p:cNvSpPr/>
          <p:nvPr/>
        </p:nvSpPr>
        <p:spPr>
          <a:xfrm>
            <a:off x="2781300" y="914400"/>
            <a:ext cx="15187041" cy="643830"/>
          </a:xfrm>
          <a:prstGeom prst="rect">
            <a:avLst/>
          </a:prstGeom>
          <a:noFill/>
          <a:ln/>
        </p:spPr>
        <p:txBody>
          <a:bodyPr wrap="square" lIns="25400" tIns="25400" rIns="25400" bIns="25400" rtlCol="0" anchor="t">
            <a:normAutofit fontScale="92500" lnSpcReduction="20000"/>
          </a:bodyPr>
          <a:lstStyle/>
          <a:p>
            <a:pPr marL="0" indent="0" algn="l">
              <a:lnSpc>
                <a:spcPct val="106000"/>
              </a:lnSpc>
              <a:buNone/>
            </a:pPr>
            <a:r>
              <a:rPr lang="en-US" sz="4500" kern="0" spc="-81" dirty="0">
                <a:solidFill>
                  <a:srgbClr val="1A1A1A"/>
                </a:solidFill>
                <a:latin typeface="Instrument Serif" pitchFamily="34" charset="0"/>
                <a:ea typeface="Instrument Serif" pitchFamily="34" charset="-122"/>
                <a:cs typeface="Instrument Serif" pitchFamily="34" charset="-120"/>
              </a:rPr>
              <a:t>The target: </a:t>
            </a:r>
            <a:r>
              <a:rPr lang="en-US" sz="4500" i="1" kern="0" spc="-81" dirty="0">
                <a:solidFill>
                  <a:srgbClr val="C25A2A"/>
                </a:solidFill>
                <a:latin typeface="Instrument Serif" pitchFamily="34" charset="0"/>
                <a:ea typeface="Instrument Serif" pitchFamily="34" charset="-122"/>
                <a:cs typeface="Instrument Serif" pitchFamily="34" charset="-120"/>
              </a:rPr>
              <a:t>Δ in minutes.</a:t>
            </a:r>
            <a:endParaRPr lang="en-US" sz="4500" dirty="0"/>
          </a:p>
        </p:txBody>
      </p:sp>
      <p:sp>
        <p:nvSpPr>
          <p:cNvPr id="21" name="Text 19"/>
          <p:cNvSpPr/>
          <p:nvPr/>
        </p:nvSpPr>
        <p:spPr>
          <a:xfrm>
            <a:off x="2781300" y="1691580"/>
            <a:ext cx="10791825" cy="328017"/>
          </a:xfrm>
          <a:prstGeom prst="rect">
            <a:avLst/>
          </a:prstGeom>
          <a:noFill/>
          <a:ln/>
        </p:spPr>
        <p:txBody>
          <a:bodyPr wrap="square" lIns="25400" tIns="25400" rIns="25400" bIns="25400" rtlCol="0" anchor="t">
            <a:normAutofit fontScale="92500" lnSpcReduction="20000"/>
          </a:bodyPr>
          <a:lstStyle/>
          <a:p>
            <a:pPr marL="0" indent="0" algn="l">
              <a:lnSpc>
                <a:spcPct val="145000"/>
              </a:lnSpc>
              <a:buNone/>
            </a:pPr>
            <a:r>
              <a:rPr lang="en-US" sz="1575" dirty="0">
                <a:solidFill>
                  <a:srgbClr val="4A4A4A"/>
                </a:solidFill>
                <a:latin typeface="Inter" pitchFamily="34" charset="0"/>
                <a:ea typeface="Inter" pitchFamily="34" charset="-122"/>
                <a:cs typeface="Inter" pitchFamily="34" charset="-120"/>
              </a:rPr>
              <a:t>A regression-style signed difference, bucketed into three operational classes.</a:t>
            </a:r>
            <a:endParaRPr lang="en-US" sz="1575" dirty="0"/>
          </a:p>
        </p:txBody>
      </p:sp>
      <p:sp>
        <p:nvSpPr>
          <p:cNvPr id="22" name="Shape 20"/>
          <p:cNvSpPr/>
          <p:nvPr/>
        </p:nvSpPr>
        <p:spPr>
          <a:xfrm>
            <a:off x="2781300" y="2286298"/>
            <a:ext cx="6261646" cy="1040011"/>
          </a:xfrm>
          <a:prstGeom prst="rect">
            <a:avLst/>
          </a:prstGeom>
          <a:solidFill>
            <a:srgbClr val="FFFFFF"/>
          </a:solidFill>
          <a:ln w="9525">
            <a:solidFill>
              <a:srgbClr val="D4CDBC"/>
            </a:solidFill>
            <a:prstDash val="solid"/>
          </a:ln>
        </p:spPr>
        <p:txBody>
          <a:bodyPr/>
          <a:lstStyle/>
          <a:p>
            <a:endParaRPr lang="he-IL"/>
          </a:p>
        </p:txBody>
      </p:sp>
      <p:sp>
        <p:nvSpPr>
          <p:cNvPr id="23" name="Text 21"/>
          <p:cNvSpPr/>
          <p:nvPr/>
        </p:nvSpPr>
        <p:spPr>
          <a:xfrm>
            <a:off x="3753296" y="2582466"/>
            <a:ext cx="302121" cy="485775"/>
          </a:xfrm>
          <a:prstGeom prst="rect">
            <a:avLst/>
          </a:prstGeom>
          <a:noFill/>
          <a:ln/>
        </p:spPr>
        <p:txBody>
          <a:bodyPr wrap="square" lIns="25400" tIns="25400" rIns="25400" bIns="25400" rtlCol="0" anchor="t">
            <a:normAutofit/>
          </a:bodyPr>
          <a:lstStyle/>
          <a:p>
            <a:pPr marL="0" indent="0" algn="l">
              <a:buNone/>
            </a:pPr>
            <a:r>
              <a:rPr lang="en-US" sz="2700" i="1" kern="0" spc="-27" dirty="0">
                <a:solidFill>
                  <a:srgbClr val="C25A2A"/>
                </a:solidFill>
                <a:latin typeface="Instrument Serif" pitchFamily="34" charset="0"/>
                <a:ea typeface="Instrument Serif" pitchFamily="34" charset="-122"/>
                <a:cs typeface="Instrument Serif" pitchFamily="34" charset="-120"/>
              </a:rPr>
              <a:t>Δ</a:t>
            </a:r>
            <a:endParaRPr lang="en-US" sz="2700" dirty="0"/>
          </a:p>
        </p:txBody>
      </p:sp>
      <p:sp>
        <p:nvSpPr>
          <p:cNvPr id="24" name="Text 22"/>
          <p:cNvSpPr/>
          <p:nvPr/>
        </p:nvSpPr>
        <p:spPr>
          <a:xfrm>
            <a:off x="4112568" y="2658666"/>
            <a:ext cx="209996" cy="333375"/>
          </a:xfrm>
          <a:prstGeom prst="rect">
            <a:avLst/>
          </a:prstGeom>
          <a:noFill/>
          <a:ln/>
        </p:spPr>
        <p:txBody>
          <a:bodyPr wrap="square" lIns="25400" tIns="25400" rIns="25400" bIns="25400" rtlCol="0" anchor="t">
            <a:normAutofit/>
          </a:bodyPr>
          <a:lstStyle/>
          <a:p>
            <a:pPr marL="0" indent="0" algn="l">
              <a:buNone/>
            </a:pPr>
            <a:r>
              <a:rPr lang="en-US" sz="1800" kern="0" spc="-27" dirty="0">
                <a:solidFill>
                  <a:srgbClr val="888080"/>
                </a:solidFill>
                <a:latin typeface="JetBrains Mono" pitchFamily="34" charset="0"/>
                <a:ea typeface="JetBrains Mono" pitchFamily="34" charset="-122"/>
                <a:cs typeface="JetBrains Mono" pitchFamily="34" charset="-120"/>
              </a:rPr>
              <a:t>=</a:t>
            </a:r>
            <a:endParaRPr lang="en-US" sz="1800" dirty="0"/>
          </a:p>
        </p:txBody>
      </p:sp>
      <p:sp>
        <p:nvSpPr>
          <p:cNvPr id="25" name="Text 23"/>
          <p:cNvSpPr/>
          <p:nvPr/>
        </p:nvSpPr>
        <p:spPr>
          <a:xfrm>
            <a:off x="4379714" y="2562523"/>
            <a:ext cx="1690390" cy="525661"/>
          </a:xfrm>
          <a:prstGeom prst="rect">
            <a:avLst/>
          </a:prstGeom>
          <a:noFill/>
          <a:ln/>
        </p:spPr>
        <p:txBody>
          <a:bodyPr wrap="square" lIns="25400" tIns="25400" rIns="25400" bIns="25400" rtlCol="0" anchor="t">
            <a:normAutofit fontScale="92500"/>
          </a:bodyPr>
          <a:lstStyle/>
          <a:p>
            <a:pPr marL="0" indent="0" algn="l">
              <a:buNone/>
            </a:pPr>
            <a:r>
              <a:rPr lang="en-US" sz="3000" i="1" kern="0" spc="-27" dirty="0">
                <a:solidFill>
                  <a:srgbClr val="1A1A1A"/>
                </a:solidFill>
                <a:latin typeface="Instrument Serif" pitchFamily="34" charset="0"/>
                <a:ea typeface="Instrument Serif" pitchFamily="34" charset="-122"/>
                <a:cs typeface="Instrument Serif" pitchFamily="34" charset="-120"/>
              </a:rPr>
              <a:t>duration</a:t>
            </a:r>
            <a:r>
              <a:rPr lang="en-US" sz="1700" i="1" kern="0" spc="-27" baseline="-40000" dirty="0">
                <a:solidFill>
                  <a:srgbClr val="1A1A1A"/>
                </a:solidFill>
                <a:latin typeface="Instrument Serif" pitchFamily="34" charset="0"/>
                <a:ea typeface="Instrument Serif" pitchFamily="34" charset="-122"/>
                <a:cs typeface="Instrument Serif" pitchFamily="34" charset="-120"/>
              </a:rPr>
              <a:t>actual</a:t>
            </a:r>
            <a:endParaRPr lang="en-US" sz="2700" dirty="0"/>
          </a:p>
        </p:txBody>
      </p:sp>
      <p:sp>
        <p:nvSpPr>
          <p:cNvPr id="26" name="Text 24"/>
          <p:cNvSpPr/>
          <p:nvPr/>
        </p:nvSpPr>
        <p:spPr>
          <a:xfrm>
            <a:off x="6228978" y="2615803"/>
            <a:ext cx="244227" cy="419100"/>
          </a:xfrm>
          <a:prstGeom prst="rect">
            <a:avLst/>
          </a:prstGeom>
          <a:noFill/>
          <a:ln/>
        </p:spPr>
        <p:txBody>
          <a:bodyPr wrap="square" lIns="25400" tIns="25400" rIns="25400" bIns="25400" rtlCol="0" anchor="t">
            <a:normAutofit/>
          </a:bodyPr>
          <a:lstStyle/>
          <a:p>
            <a:pPr marL="0" indent="0" algn="l">
              <a:buNone/>
            </a:pPr>
            <a:r>
              <a:rPr lang="en-US" sz="2250" kern="0" spc="-27" dirty="0">
                <a:solidFill>
                  <a:srgbClr val="888080"/>
                </a:solidFill>
                <a:latin typeface="JetBrains Mono" pitchFamily="34" charset="0"/>
                <a:ea typeface="JetBrains Mono" pitchFamily="34" charset="-122"/>
                <a:cs typeface="JetBrains Mono" pitchFamily="34" charset="-120"/>
              </a:rPr>
              <a:t>−</a:t>
            </a:r>
            <a:endParaRPr lang="en-US" sz="2250" dirty="0"/>
          </a:p>
        </p:txBody>
      </p:sp>
      <p:sp>
        <p:nvSpPr>
          <p:cNvPr id="27" name="Text 25"/>
          <p:cNvSpPr/>
          <p:nvPr/>
        </p:nvSpPr>
        <p:spPr>
          <a:xfrm>
            <a:off x="6657231" y="2544514"/>
            <a:ext cx="2134791" cy="525661"/>
          </a:xfrm>
          <a:prstGeom prst="rect">
            <a:avLst/>
          </a:prstGeom>
          <a:noFill/>
          <a:ln/>
        </p:spPr>
        <p:txBody>
          <a:bodyPr wrap="square" lIns="25400" tIns="25400" rIns="25400" bIns="25400" rtlCol="0" anchor="t">
            <a:normAutofit/>
          </a:bodyPr>
          <a:lstStyle/>
          <a:p>
            <a:pPr marL="0" indent="0" algn="l">
              <a:buNone/>
            </a:pPr>
            <a:r>
              <a:rPr lang="en-US" sz="2700" i="1" kern="0" spc="-27" dirty="0">
                <a:solidFill>
                  <a:srgbClr val="1A1A1A"/>
                </a:solidFill>
                <a:latin typeface="Instrument Serif" pitchFamily="34" charset="0"/>
                <a:ea typeface="Instrument Serif" pitchFamily="34" charset="-122"/>
                <a:cs typeface="Instrument Serif" pitchFamily="34" charset="-120"/>
              </a:rPr>
              <a:t>duration</a:t>
            </a:r>
            <a:r>
              <a:rPr lang="en-US" sz="1620" i="1" kern="0" spc="-27" baseline="-40000" dirty="0">
                <a:solidFill>
                  <a:srgbClr val="1A1A1A"/>
                </a:solidFill>
                <a:latin typeface="Instrument Serif" pitchFamily="34" charset="0"/>
                <a:ea typeface="Instrument Serif" pitchFamily="34" charset="-122"/>
                <a:cs typeface="Instrument Serif" pitchFamily="34" charset="-120"/>
              </a:rPr>
              <a:t>planned</a:t>
            </a:r>
            <a:endParaRPr lang="en-US" sz="2700" dirty="0"/>
          </a:p>
        </p:txBody>
      </p:sp>
      <p:sp>
        <p:nvSpPr>
          <p:cNvPr id="28" name="Shape 26"/>
          <p:cNvSpPr/>
          <p:nvPr/>
        </p:nvSpPr>
        <p:spPr>
          <a:xfrm>
            <a:off x="2781300" y="3497759"/>
            <a:ext cx="6261646" cy="942975"/>
          </a:xfrm>
          <a:prstGeom prst="rect">
            <a:avLst/>
          </a:prstGeom>
          <a:ln w="9525">
            <a:solidFill>
              <a:srgbClr val="D4CDBC"/>
            </a:solidFill>
            <a:prstDash val="solid"/>
          </a:ln>
        </p:spPr>
        <p:txBody>
          <a:bodyPr/>
          <a:lstStyle/>
          <a:p>
            <a:endParaRPr lang="he-IL"/>
          </a:p>
        </p:txBody>
      </p:sp>
      <p:sp>
        <p:nvSpPr>
          <p:cNvPr id="29" name="Shape 27"/>
          <p:cNvSpPr/>
          <p:nvPr/>
        </p:nvSpPr>
        <p:spPr>
          <a:xfrm>
            <a:off x="2790825" y="3507284"/>
            <a:ext cx="2080766" cy="923925"/>
          </a:xfrm>
          <a:prstGeom prst="rect">
            <a:avLst/>
          </a:prstGeom>
          <a:solidFill>
            <a:srgbClr val="2A6FB8"/>
          </a:solidFill>
          <a:ln/>
        </p:spPr>
        <p:txBody>
          <a:bodyPr/>
          <a:lstStyle/>
          <a:p>
            <a:endParaRPr lang="he-IL"/>
          </a:p>
        </p:txBody>
      </p:sp>
      <p:sp>
        <p:nvSpPr>
          <p:cNvPr id="30" name="Text 28"/>
          <p:cNvSpPr/>
          <p:nvPr/>
        </p:nvSpPr>
        <p:spPr>
          <a:xfrm>
            <a:off x="2928711" y="3582578"/>
            <a:ext cx="1852166" cy="161925"/>
          </a:xfrm>
          <a:prstGeom prst="rect">
            <a:avLst/>
          </a:prstGeom>
          <a:noFill/>
          <a:ln/>
        </p:spPr>
        <p:txBody>
          <a:bodyPr wrap="square" lIns="25400" tIns="25400" rIns="25400" bIns="25400" rtlCol="0" anchor="t">
            <a:noAutofit/>
          </a:bodyPr>
          <a:lstStyle/>
          <a:p>
            <a:pPr marL="0" indent="0" algn="l">
              <a:buNone/>
            </a:pPr>
            <a:r>
              <a:rPr lang="en-US" sz="1400" kern="0" spc="120" dirty="0">
                <a:solidFill>
                  <a:srgbClr val="FFFFFF">
                    <a:alpha val="85000"/>
                  </a:srgbClr>
                </a:solidFill>
                <a:latin typeface="JetBrains Mono" pitchFamily="34" charset="0"/>
                <a:ea typeface="JetBrains Mono" pitchFamily="34" charset="-122"/>
                <a:cs typeface="JetBrains Mono" pitchFamily="34" charset="-120"/>
              </a:rPr>
              <a:t>CLASS · EARLY</a:t>
            </a:r>
            <a:endParaRPr lang="en-US" sz="1400" dirty="0"/>
          </a:p>
        </p:txBody>
      </p:sp>
      <p:sp>
        <p:nvSpPr>
          <p:cNvPr id="31" name="Text 29"/>
          <p:cNvSpPr/>
          <p:nvPr/>
        </p:nvSpPr>
        <p:spPr>
          <a:xfrm>
            <a:off x="2943225" y="3802559"/>
            <a:ext cx="1852166" cy="361950"/>
          </a:xfrm>
          <a:prstGeom prst="rect">
            <a:avLst/>
          </a:prstGeom>
          <a:noFill/>
          <a:ln/>
        </p:spPr>
        <p:txBody>
          <a:bodyPr wrap="square" lIns="25400" tIns="25400" rIns="25400" bIns="25400" rtlCol="0" anchor="t">
            <a:normAutofit/>
          </a:bodyPr>
          <a:lstStyle/>
          <a:p>
            <a:pPr marL="0" indent="0" algn="l">
              <a:buNone/>
            </a:pPr>
            <a:r>
              <a:rPr lang="en-US" sz="1950" kern="0" spc="-19" dirty="0">
                <a:solidFill>
                  <a:srgbClr val="FFFFFF"/>
                </a:solidFill>
                <a:latin typeface="Instrument Serif" pitchFamily="34" charset="0"/>
                <a:ea typeface="Instrument Serif" pitchFamily="34" charset="-122"/>
                <a:cs typeface="Instrument Serif" pitchFamily="34" charset="-120"/>
              </a:rPr>
              <a:t>Δ &lt; -10</a:t>
            </a:r>
            <a:endParaRPr lang="en-US" sz="1950" dirty="0"/>
          </a:p>
        </p:txBody>
      </p:sp>
      <p:sp>
        <p:nvSpPr>
          <p:cNvPr id="32" name="Text 30"/>
          <p:cNvSpPr/>
          <p:nvPr/>
        </p:nvSpPr>
        <p:spPr>
          <a:xfrm>
            <a:off x="2943225" y="4164509"/>
            <a:ext cx="1852166" cy="171450"/>
          </a:xfrm>
          <a:prstGeom prst="rect">
            <a:avLst/>
          </a:prstGeom>
          <a:noFill/>
          <a:ln/>
        </p:spPr>
        <p:txBody>
          <a:bodyPr wrap="square" lIns="25400" tIns="25400" rIns="25400" bIns="25400" rtlCol="0" anchor="t">
            <a:noAutofit/>
          </a:bodyPr>
          <a:lstStyle/>
          <a:p>
            <a:pPr marL="0" indent="0" algn="l">
              <a:buNone/>
            </a:pPr>
            <a:r>
              <a:rPr lang="en-US" sz="1400" kern="0" spc="33" dirty="0">
                <a:solidFill>
                  <a:srgbClr val="FFFFFF">
                    <a:alpha val="85000"/>
                  </a:srgbClr>
                </a:solidFill>
                <a:latin typeface="JetBrains Mono" pitchFamily="34" charset="0"/>
                <a:ea typeface="JetBrains Mono" pitchFamily="34" charset="-122"/>
                <a:cs typeface="JetBrains Mono" pitchFamily="34" charset="-120"/>
              </a:rPr>
              <a:t>5.4% · n=4,952</a:t>
            </a:r>
            <a:endParaRPr lang="en-US" sz="1400" dirty="0"/>
          </a:p>
        </p:txBody>
      </p:sp>
      <p:sp>
        <p:nvSpPr>
          <p:cNvPr id="33" name="Shape 31"/>
          <p:cNvSpPr/>
          <p:nvPr/>
        </p:nvSpPr>
        <p:spPr>
          <a:xfrm>
            <a:off x="4871591" y="3507284"/>
            <a:ext cx="2080915" cy="923925"/>
          </a:xfrm>
          <a:prstGeom prst="rect">
            <a:avLst/>
          </a:prstGeom>
          <a:solidFill>
            <a:srgbClr val="4D8C4F"/>
          </a:solidFill>
          <a:ln/>
        </p:spPr>
        <p:txBody>
          <a:bodyPr/>
          <a:lstStyle/>
          <a:p>
            <a:endParaRPr lang="he-IL"/>
          </a:p>
        </p:txBody>
      </p:sp>
      <p:sp>
        <p:nvSpPr>
          <p:cNvPr id="34" name="Text 32"/>
          <p:cNvSpPr/>
          <p:nvPr/>
        </p:nvSpPr>
        <p:spPr>
          <a:xfrm>
            <a:off x="5023991" y="3582578"/>
            <a:ext cx="1852315" cy="161925"/>
          </a:xfrm>
          <a:prstGeom prst="rect">
            <a:avLst/>
          </a:prstGeom>
          <a:noFill/>
          <a:ln/>
        </p:spPr>
        <p:txBody>
          <a:bodyPr wrap="square" lIns="25400" tIns="25400" rIns="25400" bIns="25400" rtlCol="0" anchor="t">
            <a:noAutofit/>
          </a:bodyPr>
          <a:lstStyle/>
          <a:p>
            <a:pPr marL="0" indent="0" algn="l">
              <a:buNone/>
            </a:pPr>
            <a:r>
              <a:rPr lang="en-US" sz="1400" kern="0" spc="120" dirty="0">
                <a:solidFill>
                  <a:srgbClr val="FFFFFF">
                    <a:alpha val="85000"/>
                  </a:srgbClr>
                </a:solidFill>
                <a:latin typeface="JetBrains Mono" pitchFamily="34" charset="0"/>
                <a:ea typeface="JetBrains Mono" pitchFamily="34" charset="-122"/>
                <a:cs typeface="JetBrains Mono" pitchFamily="34" charset="-120"/>
              </a:rPr>
              <a:t>CLASS · ON-TIME</a:t>
            </a:r>
            <a:endParaRPr lang="en-US" sz="1400" dirty="0"/>
          </a:p>
        </p:txBody>
      </p:sp>
      <p:sp>
        <p:nvSpPr>
          <p:cNvPr id="35" name="Text 33"/>
          <p:cNvSpPr/>
          <p:nvPr/>
        </p:nvSpPr>
        <p:spPr>
          <a:xfrm>
            <a:off x="5023991" y="3802559"/>
            <a:ext cx="1918990" cy="361950"/>
          </a:xfrm>
          <a:prstGeom prst="rect">
            <a:avLst/>
          </a:prstGeom>
          <a:noFill/>
          <a:ln/>
        </p:spPr>
        <p:txBody>
          <a:bodyPr wrap="square" lIns="25400" tIns="25400" rIns="25400" bIns="25400" rtlCol="0" anchor="t">
            <a:normAutofit fontScale="92500"/>
          </a:bodyPr>
          <a:lstStyle/>
          <a:p>
            <a:r>
              <a:rPr lang="en-US" sz="1950" kern="0" spc="-19" dirty="0">
                <a:solidFill>
                  <a:srgbClr val="FFFFFF"/>
                </a:solidFill>
                <a:latin typeface="Instrument Serif" pitchFamily="34" charset="0"/>
                <a:ea typeface="Instrument Serif" pitchFamily="34" charset="-122"/>
                <a:cs typeface="Instrument Serif" pitchFamily="34" charset="-120"/>
              </a:rPr>
              <a:t>Δ &gt; 10 or Δ &lt; -10 </a:t>
            </a:r>
            <a:endParaRPr lang="en-US" sz="1950" dirty="0"/>
          </a:p>
        </p:txBody>
      </p:sp>
      <p:sp>
        <p:nvSpPr>
          <p:cNvPr id="36" name="Text 34"/>
          <p:cNvSpPr/>
          <p:nvPr/>
        </p:nvSpPr>
        <p:spPr>
          <a:xfrm>
            <a:off x="5023991" y="4164509"/>
            <a:ext cx="1852315" cy="171450"/>
          </a:xfrm>
          <a:prstGeom prst="rect">
            <a:avLst/>
          </a:prstGeom>
          <a:noFill/>
          <a:ln/>
        </p:spPr>
        <p:txBody>
          <a:bodyPr wrap="square" lIns="25400" tIns="25400" rIns="25400" bIns="25400" rtlCol="0" anchor="t">
            <a:noAutofit/>
          </a:bodyPr>
          <a:lstStyle/>
          <a:p>
            <a:pPr marL="0" indent="0" algn="l">
              <a:buNone/>
            </a:pPr>
            <a:r>
              <a:rPr lang="en-US" sz="1400" kern="0" spc="33" dirty="0">
                <a:solidFill>
                  <a:srgbClr val="FFFFFF">
                    <a:alpha val="85000"/>
                  </a:srgbClr>
                </a:solidFill>
                <a:latin typeface="JetBrains Mono" pitchFamily="34" charset="0"/>
                <a:ea typeface="JetBrains Mono" pitchFamily="34" charset="-122"/>
                <a:cs typeface="JetBrains Mono" pitchFamily="34" charset="-120"/>
              </a:rPr>
              <a:t>24.1% · n=21,899</a:t>
            </a:r>
            <a:endParaRPr lang="en-US" sz="1400" dirty="0"/>
          </a:p>
        </p:txBody>
      </p:sp>
      <p:sp>
        <p:nvSpPr>
          <p:cNvPr id="37" name="Shape 35"/>
          <p:cNvSpPr/>
          <p:nvPr/>
        </p:nvSpPr>
        <p:spPr>
          <a:xfrm>
            <a:off x="6952506" y="3507284"/>
            <a:ext cx="2080915" cy="923925"/>
          </a:xfrm>
          <a:prstGeom prst="rect">
            <a:avLst/>
          </a:prstGeom>
          <a:solidFill>
            <a:srgbClr val="B73A3A"/>
          </a:solidFill>
          <a:ln/>
        </p:spPr>
        <p:txBody>
          <a:bodyPr/>
          <a:lstStyle/>
          <a:p>
            <a:endParaRPr lang="he-IL"/>
          </a:p>
        </p:txBody>
      </p:sp>
      <p:sp>
        <p:nvSpPr>
          <p:cNvPr id="38" name="Text 36"/>
          <p:cNvSpPr/>
          <p:nvPr/>
        </p:nvSpPr>
        <p:spPr>
          <a:xfrm>
            <a:off x="7090392" y="3568064"/>
            <a:ext cx="1852315" cy="161925"/>
          </a:xfrm>
          <a:prstGeom prst="rect">
            <a:avLst/>
          </a:prstGeom>
          <a:noFill/>
          <a:ln/>
        </p:spPr>
        <p:txBody>
          <a:bodyPr wrap="square" lIns="25400" tIns="25400" rIns="25400" bIns="25400" rtlCol="0" anchor="t">
            <a:noAutofit/>
          </a:bodyPr>
          <a:lstStyle/>
          <a:p>
            <a:pPr marL="0" indent="0" algn="l">
              <a:buNone/>
            </a:pPr>
            <a:r>
              <a:rPr lang="en-US" sz="1400" kern="0" spc="120" dirty="0">
                <a:solidFill>
                  <a:srgbClr val="FFFFFF">
                    <a:alpha val="85000"/>
                  </a:srgbClr>
                </a:solidFill>
                <a:latin typeface="JetBrains Mono" pitchFamily="34" charset="0"/>
                <a:ea typeface="JetBrains Mono" pitchFamily="34" charset="-122"/>
                <a:cs typeface="JetBrains Mono" pitchFamily="34" charset="-120"/>
              </a:rPr>
              <a:t>CLASS · DELAY</a:t>
            </a:r>
            <a:endParaRPr lang="en-US" sz="1400" dirty="0"/>
          </a:p>
        </p:txBody>
      </p:sp>
      <p:sp>
        <p:nvSpPr>
          <p:cNvPr id="39" name="Text 37"/>
          <p:cNvSpPr/>
          <p:nvPr/>
        </p:nvSpPr>
        <p:spPr>
          <a:xfrm>
            <a:off x="7104906" y="3802559"/>
            <a:ext cx="1852315" cy="361950"/>
          </a:xfrm>
          <a:prstGeom prst="rect">
            <a:avLst/>
          </a:prstGeom>
          <a:noFill/>
          <a:ln/>
        </p:spPr>
        <p:txBody>
          <a:bodyPr wrap="square" lIns="25400" tIns="25400" rIns="25400" bIns="25400" rtlCol="0" anchor="t">
            <a:normAutofit/>
          </a:bodyPr>
          <a:lstStyle/>
          <a:p>
            <a:pPr marL="0" indent="0" algn="l">
              <a:buNone/>
            </a:pPr>
            <a:r>
              <a:rPr lang="en-US" sz="1950" kern="0" spc="-19" dirty="0">
                <a:solidFill>
                  <a:srgbClr val="FFFFFF"/>
                </a:solidFill>
                <a:latin typeface="Instrument Serif" pitchFamily="34" charset="0"/>
                <a:ea typeface="Instrument Serif" pitchFamily="34" charset="-122"/>
                <a:cs typeface="Instrument Serif" pitchFamily="34" charset="-120"/>
              </a:rPr>
              <a:t>Δ &gt; 10</a:t>
            </a:r>
            <a:endParaRPr lang="en-US" sz="1950" dirty="0"/>
          </a:p>
        </p:txBody>
      </p:sp>
      <p:sp>
        <p:nvSpPr>
          <p:cNvPr id="40" name="Text 38"/>
          <p:cNvSpPr/>
          <p:nvPr/>
        </p:nvSpPr>
        <p:spPr>
          <a:xfrm>
            <a:off x="7104906" y="4164509"/>
            <a:ext cx="1852315" cy="171450"/>
          </a:xfrm>
          <a:prstGeom prst="rect">
            <a:avLst/>
          </a:prstGeom>
          <a:noFill/>
          <a:ln/>
        </p:spPr>
        <p:txBody>
          <a:bodyPr wrap="square" lIns="25400" tIns="25400" rIns="25400" bIns="25400" rtlCol="0" anchor="t">
            <a:noAutofit/>
          </a:bodyPr>
          <a:lstStyle/>
          <a:p>
            <a:pPr marL="0" indent="0" algn="l">
              <a:buNone/>
            </a:pPr>
            <a:r>
              <a:rPr lang="en-US" sz="1400" kern="0" spc="33" dirty="0">
                <a:solidFill>
                  <a:srgbClr val="FFFFFF">
                    <a:alpha val="85000"/>
                  </a:srgbClr>
                </a:solidFill>
                <a:latin typeface="JetBrains Mono" pitchFamily="34" charset="0"/>
                <a:ea typeface="JetBrains Mono" pitchFamily="34" charset="-122"/>
                <a:cs typeface="JetBrains Mono" pitchFamily="34" charset="-120"/>
              </a:rPr>
              <a:t>70.5% · n=64,030</a:t>
            </a:r>
            <a:endParaRPr lang="en-US" sz="1400" dirty="0"/>
          </a:p>
        </p:txBody>
      </p:sp>
      <p:sp>
        <p:nvSpPr>
          <p:cNvPr id="41" name="Shape 39"/>
          <p:cNvSpPr/>
          <p:nvPr/>
        </p:nvSpPr>
        <p:spPr>
          <a:xfrm>
            <a:off x="2781300" y="4612183"/>
            <a:ext cx="6261646" cy="3646446"/>
          </a:xfrm>
          <a:prstGeom prst="rect">
            <a:avLst/>
          </a:prstGeom>
          <a:solidFill>
            <a:srgbClr val="FFFFFF"/>
          </a:solidFill>
          <a:ln w="9525">
            <a:solidFill>
              <a:srgbClr val="D4CDBC"/>
            </a:solidFill>
            <a:prstDash val="solid"/>
          </a:ln>
        </p:spPr>
        <p:txBody>
          <a:bodyPr/>
          <a:lstStyle/>
          <a:p>
            <a:pPr lvl="0" eaLnBrk="0" fontAlgn="base" hangingPunct="0">
              <a:spcBef>
                <a:spcPct val="0"/>
              </a:spcBef>
              <a:spcAft>
                <a:spcPct val="0"/>
              </a:spcAft>
            </a:pPr>
            <a:endParaRPr lang="he-IL" altLang="he-IL" sz="1100" dirty="0">
              <a:latin typeface="Arial" panose="020B0604020202020204" pitchFamily="34" charset="0"/>
            </a:endParaRPr>
          </a:p>
        </p:txBody>
      </p:sp>
      <p:sp>
        <p:nvSpPr>
          <p:cNvPr id="42" name="Text 40"/>
          <p:cNvSpPr/>
          <p:nvPr/>
        </p:nvSpPr>
        <p:spPr>
          <a:xfrm>
            <a:off x="3019425" y="4831259"/>
            <a:ext cx="5958958" cy="161925"/>
          </a:xfrm>
          <a:prstGeom prst="rect">
            <a:avLst/>
          </a:prstGeom>
          <a:noFill/>
          <a:ln/>
        </p:spPr>
        <p:txBody>
          <a:bodyPr wrap="square" lIns="25400" tIns="25400" rIns="25400" bIns="25400" rtlCol="0" anchor="t">
            <a:noAutofit/>
          </a:bodyPr>
          <a:lstStyle/>
          <a:p>
            <a:pPr marL="0" indent="0" algn="l">
              <a:buNone/>
            </a:pPr>
            <a:r>
              <a:rPr lang="en-US" sz="1600" b="1" kern="0" spc="135" dirty="0">
                <a:solidFill>
                  <a:srgbClr val="888080"/>
                </a:solidFill>
                <a:latin typeface="JetBrains Mono" pitchFamily="34" charset="0"/>
                <a:ea typeface="JetBrains Mono" pitchFamily="34" charset="-122"/>
                <a:cs typeface="JetBrains Mono" pitchFamily="34" charset="-120"/>
              </a:rPr>
              <a:t>WHAT MATTERS TO US</a:t>
            </a:r>
            <a:endParaRPr lang="en-US" sz="1600" dirty="0"/>
          </a:p>
        </p:txBody>
      </p:sp>
      <p:sp>
        <p:nvSpPr>
          <p:cNvPr id="43" name="Text 41"/>
          <p:cNvSpPr/>
          <p:nvPr/>
        </p:nvSpPr>
        <p:spPr>
          <a:xfrm>
            <a:off x="3019425" y="5050334"/>
            <a:ext cx="5958958" cy="1181100"/>
          </a:xfrm>
          <a:prstGeom prst="rect">
            <a:avLst/>
          </a:prstGeom>
          <a:noFill/>
          <a:ln/>
        </p:spPr>
        <p:txBody>
          <a:bodyPr wrap="square" lIns="25400" tIns="25400" rIns="25400" bIns="25400" rtlCol="0" anchor="t">
            <a:normAutofit/>
          </a:bodyPr>
          <a:lstStyle/>
          <a:p>
            <a:pPr marL="0" indent="0" algn="l">
              <a:lnSpc>
                <a:spcPct val="150000"/>
              </a:lnSpc>
              <a:buNone/>
            </a:pPr>
            <a:endParaRPr lang="en-US" sz="1200" dirty="0"/>
          </a:p>
        </p:txBody>
      </p:sp>
      <p:sp>
        <p:nvSpPr>
          <p:cNvPr id="44" name="Shape 42"/>
          <p:cNvSpPr/>
          <p:nvPr/>
        </p:nvSpPr>
        <p:spPr>
          <a:xfrm>
            <a:off x="9385846" y="2286298"/>
            <a:ext cx="8140005" cy="6896339"/>
          </a:xfrm>
          <a:prstGeom prst="rect">
            <a:avLst/>
          </a:prstGeom>
          <a:solidFill>
            <a:srgbClr val="FFFFFF"/>
          </a:solidFill>
          <a:ln w="9525">
            <a:solidFill>
              <a:srgbClr val="D4CDBC"/>
            </a:solidFill>
            <a:prstDash val="solid"/>
          </a:ln>
        </p:spPr>
        <p:txBody>
          <a:bodyPr/>
          <a:lstStyle/>
          <a:p>
            <a:endParaRPr lang="he-IL"/>
          </a:p>
        </p:txBody>
      </p:sp>
      <p:sp>
        <p:nvSpPr>
          <p:cNvPr id="45" name="Text 43"/>
          <p:cNvSpPr/>
          <p:nvPr/>
        </p:nvSpPr>
        <p:spPr>
          <a:xfrm>
            <a:off x="9509671" y="2410123"/>
            <a:ext cx="4063454" cy="248543"/>
          </a:xfrm>
          <a:prstGeom prst="rect">
            <a:avLst/>
          </a:prstGeom>
          <a:noFill/>
          <a:ln/>
        </p:spPr>
        <p:txBody>
          <a:bodyPr wrap="square" lIns="25400" tIns="25400" rIns="25400" bIns="25400" rtlCol="0" anchor="t">
            <a:noAutofit/>
          </a:bodyPr>
          <a:lstStyle/>
          <a:p>
            <a:pPr marL="0" indent="0" algn="l">
              <a:buNone/>
            </a:pPr>
            <a:r>
              <a:rPr lang="en-US" sz="1400" kern="0" spc="120" dirty="0">
                <a:solidFill>
                  <a:srgbClr val="888080"/>
                </a:solidFill>
                <a:latin typeface="JetBrains Mono" pitchFamily="34" charset="0"/>
                <a:ea typeface="JetBrains Mono" pitchFamily="34" charset="-122"/>
                <a:cs typeface="JetBrains Mono" pitchFamily="34" charset="-120"/>
              </a:rPr>
              <a:t>FIG · DISTRIBUTION OF Δ-DURATION</a:t>
            </a:r>
            <a:endParaRPr lang="en-US" sz="1400" dirty="0"/>
          </a:p>
        </p:txBody>
      </p:sp>
      <p:sp>
        <p:nvSpPr>
          <p:cNvPr id="46" name="Text 44"/>
          <p:cNvSpPr/>
          <p:nvPr/>
        </p:nvSpPr>
        <p:spPr>
          <a:xfrm>
            <a:off x="16202025" y="2352067"/>
            <a:ext cx="1276201" cy="200025"/>
          </a:xfrm>
          <a:prstGeom prst="rect">
            <a:avLst/>
          </a:prstGeom>
          <a:noFill/>
          <a:ln/>
        </p:spPr>
        <p:txBody>
          <a:bodyPr wrap="square" lIns="25400" tIns="25400" rIns="25400" bIns="25400" rtlCol="0" anchor="t">
            <a:noAutofit/>
          </a:bodyPr>
          <a:lstStyle/>
          <a:p>
            <a:pPr marL="0" indent="0" algn="l">
              <a:buNone/>
            </a:pPr>
            <a:r>
              <a:rPr lang="en-US" sz="1400" kern="0" spc="120" dirty="0">
                <a:solidFill>
                  <a:srgbClr val="888080"/>
                </a:solidFill>
                <a:latin typeface="JetBrains Mono" pitchFamily="34" charset="0"/>
                <a:ea typeface="JetBrains Mono" pitchFamily="34" charset="-122"/>
                <a:cs typeface="JetBrains Mono" pitchFamily="34" charset="-120"/>
              </a:rPr>
              <a:t>N = 90,881</a:t>
            </a:r>
            <a:endParaRPr lang="en-US" sz="1400" dirty="0"/>
          </a:p>
        </p:txBody>
      </p:sp>
      <p:sp>
        <p:nvSpPr>
          <p:cNvPr id="47" name="Shape 45"/>
          <p:cNvSpPr/>
          <p:nvPr/>
        </p:nvSpPr>
        <p:spPr>
          <a:xfrm>
            <a:off x="9509671" y="2610148"/>
            <a:ext cx="7892355" cy="6572489"/>
          </a:xfrm>
          <a:prstGeom prst="rect">
            <a:avLst/>
          </a:prstGeom>
          <a:solidFill>
            <a:srgbClr val="FFFFFF"/>
          </a:solidFill>
          <a:ln/>
        </p:spPr>
        <p:txBody>
          <a:bodyPr/>
          <a:lstStyle/>
          <a:p>
            <a:endParaRPr lang="he-IL"/>
          </a:p>
        </p:txBody>
      </p:sp>
      <p:pic>
        <p:nvPicPr>
          <p:cNvPr id="48" name="Image 0" descr="preencoded.png"/>
          <p:cNvPicPr>
            <a:picLocks noChangeAspect="1"/>
          </p:cNvPicPr>
          <p:nvPr/>
        </p:nvPicPr>
        <p:blipFill>
          <a:blip r:embed="rId3"/>
          <a:srcRect/>
          <a:stretch/>
        </p:blipFill>
        <p:spPr>
          <a:xfrm>
            <a:off x="9509672" y="2838749"/>
            <a:ext cx="7892354" cy="6121629"/>
          </a:xfrm>
          <a:prstGeom prst="rect">
            <a:avLst/>
          </a:prstGeom>
        </p:spPr>
      </p:pic>
      <p:sp>
        <p:nvSpPr>
          <p:cNvPr id="50" name="Text 19">
            <a:extLst>
              <a:ext uri="{FF2B5EF4-FFF2-40B4-BE49-F238E27FC236}">
                <a16:creationId xmlns:a16="http://schemas.microsoft.com/office/drawing/2014/main" id="{32CF7B54-A67E-F743-BA56-7B83DADF4068}"/>
              </a:ext>
            </a:extLst>
          </p:cNvPr>
          <p:cNvSpPr/>
          <p:nvPr/>
        </p:nvSpPr>
        <p:spPr>
          <a:xfrm>
            <a:off x="3019425" y="5212260"/>
            <a:ext cx="5958958" cy="2232203"/>
          </a:xfrm>
          <a:prstGeom prst="rect">
            <a:avLst/>
          </a:prstGeom>
          <a:noFill/>
          <a:ln/>
        </p:spPr>
        <p:txBody>
          <a:bodyPr wrap="square" lIns="25400" tIns="25400" rIns="25400" bIns="25400" rtlCol="0" anchor="t">
            <a:noAutofit/>
          </a:bodyPr>
          <a:lstStyle/>
          <a:p>
            <a:pPr>
              <a:lnSpc>
                <a:spcPct val="145000"/>
              </a:lnSpc>
            </a:pPr>
            <a:r>
              <a:rPr lang="en-US" sz="1400" dirty="0">
                <a:solidFill>
                  <a:srgbClr val="4A4A4A"/>
                </a:solidFill>
                <a:latin typeface="Inter" pitchFamily="34" charset="0"/>
                <a:ea typeface="Inter" pitchFamily="34" charset="-122"/>
              </a:rPr>
              <a:t>We categorize the travel time deviation into a 3-class classification problem to focus on significant operational misses:</a:t>
            </a:r>
          </a:p>
          <a:p>
            <a:pPr>
              <a:lnSpc>
                <a:spcPct val="145000"/>
              </a:lnSpc>
            </a:pPr>
            <a:endParaRPr lang="en-US" sz="1400" dirty="0">
              <a:solidFill>
                <a:srgbClr val="4A4A4A"/>
              </a:solidFill>
              <a:latin typeface="Inter" pitchFamily="34" charset="0"/>
              <a:ea typeface="Inter" pitchFamily="34" charset="-122"/>
            </a:endParaRPr>
          </a:p>
          <a:p>
            <a:pPr>
              <a:lnSpc>
                <a:spcPct val="145000"/>
              </a:lnSpc>
            </a:pPr>
            <a:r>
              <a:rPr lang="en-US" sz="1400" dirty="0">
                <a:solidFill>
                  <a:srgbClr val="4A4A4A"/>
                </a:solidFill>
                <a:latin typeface="Inter" pitchFamily="34" charset="0"/>
                <a:ea typeface="Inter" pitchFamily="34" charset="-122"/>
              </a:rPr>
              <a:t>1. Early : Δ &lt; -10 : The trip arrived at its destination 10 minutes or more ahead of the original GTFS schedule.</a:t>
            </a:r>
          </a:p>
          <a:p>
            <a:pPr>
              <a:lnSpc>
                <a:spcPct val="145000"/>
              </a:lnSpc>
            </a:pPr>
            <a:r>
              <a:rPr lang="en-US" sz="1400" dirty="0">
                <a:solidFill>
                  <a:srgbClr val="4A4A4A"/>
                </a:solidFill>
                <a:latin typeface="Inter" pitchFamily="34" charset="0"/>
                <a:ea typeface="Inter" pitchFamily="34" charset="-122"/>
              </a:rPr>
              <a:t>2. Late:  Δ &gt; 10 : The trip arrived at its destination 10 minutes or more behind the original GTFS schedule.</a:t>
            </a:r>
          </a:p>
          <a:p>
            <a:pPr>
              <a:lnSpc>
                <a:spcPct val="145000"/>
              </a:lnSpc>
            </a:pPr>
            <a:r>
              <a:rPr lang="en-US" sz="1400" dirty="0">
                <a:solidFill>
                  <a:srgbClr val="4A4A4A"/>
                </a:solidFill>
                <a:latin typeface="Inter" pitchFamily="34" charset="0"/>
                <a:ea typeface="Inter" pitchFamily="34" charset="-122"/>
              </a:rPr>
              <a:t>3. On-Time: Δ &gt; 10 or Δ &lt; -10 : All other trips that fall within the 20-minute "buffer" window.</a:t>
            </a:r>
          </a:p>
          <a:p>
            <a:pPr>
              <a:lnSpc>
                <a:spcPct val="145000"/>
              </a:lnSpc>
            </a:pPr>
            <a:r>
              <a:rPr lang="en-US" sz="1400" dirty="0">
                <a:solidFill>
                  <a:srgbClr val="4A4A4A"/>
                </a:solidFill>
                <a:latin typeface="Inter" pitchFamily="34" charset="0"/>
                <a:ea typeface="Inter" pitchFamily="34" charset="-122"/>
              </a:rPr>
              <a:t> </a:t>
            </a:r>
            <a:endParaRPr lang="en-US" sz="1400" dirty="0"/>
          </a:p>
        </p:txBody>
      </p:sp>
      <p:sp>
        <p:nvSpPr>
          <p:cNvPr id="49" name="Text 4">
            <a:extLst>
              <a:ext uri="{FF2B5EF4-FFF2-40B4-BE49-F238E27FC236}">
                <a16:creationId xmlns:a16="http://schemas.microsoft.com/office/drawing/2014/main" id="{C9938476-8673-A7D5-FF0C-122E5A43D32F}"/>
              </a:ext>
            </a:extLst>
          </p:cNvPr>
          <p:cNvSpPr/>
          <p:nvPr/>
        </p:nvSpPr>
        <p:spPr>
          <a:xfrm>
            <a:off x="228063" y="1524367"/>
            <a:ext cx="372012" cy="200025"/>
          </a:xfrm>
          <a:prstGeom prst="rect">
            <a:avLst/>
          </a:prstGeom>
          <a:noFill/>
          <a:ln/>
        </p:spPr>
        <p:txBody>
          <a:bodyPr wrap="square" lIns="25400" tIns="25400" rIns="25400" bIns="25400" rtlCol="0" anchor="t">
            <a:noAutofit/>
          </a:bodyPr>
          <a:lstStyle/>
          <a:p>
            <a:pPr marL="0" indent="0" algn="l">
              <a:lnSpc>
                <a:spcPct val="130000"/>
              </a:lnSpc>
              <a:buNone/>
            </a:pPr>
            <a:r>
              <a:rPr lang="en-US" sz="1400" kern="0" spc="21" dirty="0">
                <a:solidFill>
                  <a:srgbClr val="888080"/>
                </a:solidFill>
                <a:latin typeface="Inter" pitchFamily="34" charset="0"/>
                <a:ea typeface="Inter" pitchFamily="34" charset="-122"/>
              </a:rPr>
              <a:t>01</a:t>
            </a:r>
          </a:p>
        </p:txBody>
      </p:sp>
      <p:sp>
        <p:nvSpPr>
          <p:cNvPr id="51" name="Text 5">
            <a:extLst>
              <a:ext uri="{FF2B5EF4-FFF2-40B4-BE49-F238E27FC236}">
                <a16:creationId xmlns:a16="http://schemas.microsoft.com/office/drawing/2014/main" id="{0E7339FF-8FF9-F00E-98C3-2E4E102A392A}"/>
              </a:ext>
            </a:extLst>
          </p:cNvPr>
          <p:cNvSpPr/>
          <p:nvPr/>
        </p:nvSpPr>
        <p:spPr>
          <a:xfrm>
            <a:off x="523875" y="1522975"/>
            <a:ext cx="876300" cy="476251"/>
          </a:xfrm>
          <a:prstGeom prst="rect">
            <a:avLst/>
          </a:prstGeom>
          <a:noFill/>
          <a:ln/>
        </p:spPr>
        <p:txBody>
          <a:bodyPr wrap="square" lIns="25400" tIns="25400" rIns="25400" bIns="25400" rtlCol="0" anchor="t">
            <a:normAutofit/>
          </a:bodyPr>
          <a:lstStyle/>
          <a:p>
            <a:pPr marL="0" indent="0" algn="l">
              <a:lnSpc>
                <a:spcPct val="130000"/>
              </a:lnSpc>
              <a:buNone/>
            </a:pPr>
            <a:r>
              <a:rPr lang="en-US" sz="1400" kern="0" spc="21" dirty="0">
                <a:solidFill>
                  <a:srgbClr val="888080"/>
                </a:solidFill>
                <a:latin typeface="Inter" pitchFamily="34" charset="0"/>
                <a:ea typeface="Inter" pitchFamily="34" charset="-122"/>
              </a:rPr>
              <a:t>Agenda</a:t>
            </a:r>
          </a:p>
        </p:txBody>
      </p:sp>
      <p:sp>
        <p:nvSpPr>
          <p:cNvPr id="52" name="Text 6">
            <a:extLst>
              <a:ext uri="{FF2B5EF4-FFF2-40B4-BE49-F238E27FC236}">
                <a16:creationId xmlns:a16="http://schemas.microsoft.com/office/drawing/2014/main" id="{507EBF22-78BA-1B97-A76E-BF97C2B61628}"/>
              </a:ext>
            </a:extLst>
          </p:cNvPr>
          <p:cNvSpPr/>
          <p:nvPr/>
        </p:nvSpPr>
        <p:spPr>
          <a:xfrm>
            <a:off x="228063" y="1830953"/>
            <a:ext cx="372010" cy="194877"/>
          </a:xfrm>
          <a:prstGeom prst="rect">
            <a:avLst/>
          </a:prstGeom>
          <a:noFill/>
          <a:ln/>
        </p:spPr>
        <p:txBody>
          <a:bodyPr wrap="square" lIns="25400" tIns="25400" rIns="25400" bIns="25400" rtlCol="0" anchor="t">
            <a:noAutofit/>
          </a:bodyPr>
          <a:lstStyle/>
          <a:p>
            <a:pPr marL="0" indent="0" algn="l">
              <a:lnSpc>
                <a:spcPct val="130000"/>
              </a:lnSpc>
              <a:buNone/>
            </a:pPr>
            <a:r>
              <a:rPr lang="en-US" sz="1400" b="1" kern="0" spc="21" dirty="0">
                <a:solidFill>
                  <a:srgbClr val="C25A2A"/>
                </a:solidFill>
                <a:latin typeface="JetBrains Mono" pitchFamily="34" charset="0"/>
                <a:ea typeface="JetBrains Mono" pitchFamily="34" charset="-122"/>
              </a:rPr>
              <a:t>02</a:t>
            </a:r>
          </a:p>
        </p:txBody>
      </p:sp>
      <p:sp>
        <p:nvSpPr>
          <p:cNvPr id="53" name="Text 8">
            <a:extLst>
              <a:ext uri="{FF2B5EF4-FFF2-40B4-BE49-F238E27FC236}">
                <a16:creationId xmlns:a16="http://schemas.microsoft.com/office/drawing/2014/main" id="{7E981049-70A0-239F-7588-C09A40F73AD2}"/>
              </a:ext>
            </a:extLst>
          </p:cNvPr>
          <p:cNvSpPr/>
          <p:nvPr/>
        </p:nvSpPr>
        <p:spPr>
          <a:xfrm>
            <a:off x="230504" y="2152895"/>
            <a:ext cx="302895" cy="141422"/>
          </a:xfrm>
          <a:prstGeom prst="rect">
            <a:avLst/>
          </a:prstGeom>
          <a:noFill/>
          <a:ln/>
        </p:spPr>
        <p:txBody>
          <a:bodyPr wrap="square" lIns="25400" tIns="25400" rIns="25400" bIns="25400" rtlCol="0" anchor="t">
            <a:noAutofit/>
          </a:bodyPr>
          <a:lstStyle/>
          <a:p>
            <a:pPr marL="0" indent="0" algn="l">
              <a:lnSpc>
                <a:spcPct val="130000"/>
              </a:lnSpc>
              <a:buNone/>
            </a:pPr>
            <a:r>
              <a:rPr lang="en-US" sz="1400" kern="0" spc="21" dirty="0">
                <a:solidFill>
                  <a:srgbClr val="888080"/>
                </a:solidFill>
                <a:latin typeface="JetBrains Mono" pitchFamily="34" charset="0"/>
                <a:ea typeface="JetBrains Mono" pitchFamily="34" charset="-122"/>
                <a:cs typeface="JetBrains Mono" pitchFamily="34" charset="-120"/>
              </a:rPr>
              <a:t>03</a:t>
            </a:r>
            <a:endParaRPr lang="en-US" sz="1400" dirty="0"/>
          </a:p>
        </p:txBody>
      </p:sp>
      <p:sp>
        <p:nvSpPr>
          <p:cNvPr id="54" name="Text 9">
            <a:extLst>
              <a:ext uri="{FF2B5EF4-FFF2-40B4-BE49-F238E27FC236}">
                <a16:creationId xmlns:a16="http://schemas.microsoft.com/office/drawing/2014/main" id="{C90DC49D-0304-4C49-3666-AB4EBE3851CC}"/>
              </a:ext>
            </a:extLst>
          </p:cNvPr>
          <p:cNvSpPr/>
          <p:nvPr/>
        </p:nvSpPr>
        <p:spPr>
          <a:xfrm>
            <a:off x="531240" y="2145027"/>
            <a:ext cx="1185416" cy="342476"/>
          </a:xfrm>
          <a:prstGeom prst="rect">
            <a:avLst/>
          </a:prstGeom>
          <a:noFill/>
          <a:ln/>
        </p:spPr>
        <p:txBody>
          <a:bodyPr wrap="square" lIns="25400" tIns="25400" rIns="25400" bIns="25400" rtlCol="0" anchor="t">
            <a:normAutofit/>
          </a:bodyPr>
          <a:lstStyle/>
          <a:p>
            <a:pPr marL="0" indent="0" algn="l">
              <a:lnSpc>
                <a:spcPct val="130000"/>
              </a:lnSpc>
              <a:buNone/>
            </a:pPr>
            <a:r>
              <a:rPr lang="en-US" sz="1400" kern="0" spc="21" dirty="0">
                <a:solidFill>
                  <a:srgbClr val="888080"/>
                </a:solidFill>
                <a:latin typeface="Inter" pitchFamily="34" charset="0"/>
                <a:ea typeface="Inter" pitchFamily="34" charset="-122"/>
                <a:cs typeface="Inter" pitchFamily="34" charset="-120"/>
              </a:rPr>
              <a:t>EDA</a:t>
            </a:r>
            <a:endParaRPr lang="en-US" sz="1400" dirty="0"/>
          </a:p>
        </p:txBody>
      </p:sp>
      <p:sp>
        <p:nvSpPr>
          <p:cNvPr id="55" name="Text 10">
            <a:extLst>
              <a:ext uri="{FF2B5EF4-FFF2-40B4-BE49-F238E27FC236}">
                <a16:creationId xmlns:a16="http://schemas.microsoft.com/office/drawing/2014/main" id="{6F7E5BC4-F4F1-D26C-9E84-01906E77143D}"/>
              </a:ext>
            </a:extLst>
          </p:cNvPr>
          <p:cNvSpPr/>
          <p:nvPr/>
        </p:nvSpPr>
        <p:spPr>
          <a:xfrm>
            <a:off x="228062" y="2444125"/>
            <a:ext cx="305337" cy="172132"/>
          </a:xfrm>
          <a:prstGeom prst="rect">
            <a:avLst/>
          </a:prstGeom>
          <a:noFill/>
          <a:ln/>
        </p:spPr>
        <p:txBody>
          <a:bodyPr wrap="square" lIns="25400" tIns="25400" rIns="25400" bIns="25400" rtlCol="0" anchor="t">
            <a:noAutofit/>
          </a:bodyPr>
          <a:lstStyle/>
          <a:p>
            <a:pPr marL="0" indent="0" algn="l">
              <a:lnSpc>
                <a:spcPct val="130000"/>
              </a:lnSpc>
              <a:buNone/>
            </a:pPr>
            <a:r>
              <a:rPr lang="en-US" sz="1400" kern="0" spc="21" dirty="0">
                <a:solidFill>
                  <a:srgbClr val="888080"/>
                </a:solidFill>
                <a:latin typeface="JetBrains Mono" pitchFamily="34" charset="0"/>
                <a:ea typeface="JetBrains Mono" pitchFamily="34" charset="-122"/>
                <a:cs typeface="JetBrains Mono" pitchFamily="34" charset="-120"/>
              </a:rPr>
              <a:t>04</a:t>
            </a:r>
            <a:endParaRPr lang="en-US" sz="1400" dirty="0"/>
          </a:p>
        </p:txBody>
      </p:sp>
      <p:sp>
        <p:nvSpPr>
          <p:cNvPr id="56" name="Text 12">
            <a:extLst>
              <a:ext uri="{FF2B5EF4-FFF2-40B4-BE49-F238E27FC236}">
                <a16:creationId xmlns:a16="http://schemas.microsoft.com/office/drawing/2014/main" id="{E9D4B913-2E46-A8CA-164D-D9548CE93909}"/>
              </a:ext>
            </a:extLst>
          </p:cNvPr>
          <p:cNvSpPr/>
          <p:nvPr/>
        </p:nvSpPr>
        <p:spPr>
          <a:xfrm>
            <a:off x="228062" y="2750711"/>
            <a:ext cx="372011" cy="158880"/>
          </a:xfrm>
          <a:prstGeom prst="rect">
            <a:avLst/>
          </a:prstGeom>
          <a:noFill/>
          <a:ln/>
        </p:spPr>
        <p:txBody>
          <a:bodyPr wrap="square" lIns="25400" tIns="25400" rIns="25400" bIns="25400" rtlCol="0" anchor="t">
            <a:noAutofit/>
          </a:bodyPr>
          <a:lstStyle/>
          <a:p>
            <a:pPr marL="0" indent="0" algn="l">
              <a:lnSpc>
                <a:spcPct val="130000"/>
              </a:lnSpc>
              <a:buNone/>
            </a:pPr>
            <a:r>
              <a:rPr lang="en-US" sz="1400" kern="0" spc="21" dirty="0">
                <a:solidFill>
                  <a:srgbClr val="888080"/>
                </a:solidFill>
                <a:latin typeface="JetBrains Mono" pitchFamily="34" charset="0"/>
                <a:ea typeface="JetBrains Mono" pitchFamily="34" charset="-122"/>
                <a:cs typeface="JetBrains Mono" pitchFamily="34" charset="-120"/>
              </a:rPr>
              <a:t>05</a:t>
            </a:r>
            <a:endParaRPr lang="en-US" sz="1400" dirty="0"/>
          </a:p>
        </p:txBody>
      </p:sp>
      <p:sp>
        <p:nvSpPr>
          <p:cNvPr id="57" name="Text 13">
            <a:extLst>
              <a:ext uri="{FF2B5EF4-FFF2-40B4-BE49-F238E27FC236}">
                <a16:creationId xmlns:a16="http://schemas.microsoft.com/office/drawing/2014/main" id="{728FA063-9C24-0D0D-58D3-7608D791DA06}"/>
              </a:ext>
            </a:extLst>
          </p:cNvPr>
          <p:cNvSpPr/>
          <p:nvPr/>
        </p:nvSpPr>
        <p:spPr>
          <a:xfrm>
            <a:off x="533399" y="2725489"/>
            <a:ext cx="948333" cy="761256"/>
          </a:xfrm>
          <a:prstGeom prst="rect">
            <a:avLst/>
          </a:prstGeom>
          <a:noFill/>
          <a:ln/>
        </p:spPr>
        <p:txBody>
          <a:bodyPr wrap="square" lIns="25400" tIns="25400" rIns="25400" bIns="25400" rtlCol="0" anchor="t">
            <a:normAutofit/>
          </a:bodyPr>
          <a:lstStyle/>
          <a:p>
            <a:pPr marL="0" indent="0" algn="l">
              <a:lnSpc>
                <a:spcPct val="130000"/>
              </a:lnSpc>
              <a:buNone/>
            </a:pPr>
            <a:r>
              <a:rPr lang="en-US" sz="1400" kern="0" spc="21" dirty="0">
                <a:solidFill>
                  <a:srgbClr val="888080"/>
                </a:solidFill>
                <a:latin typeface="Inter" pitchFamily="34" charset="0"/>
                <a:ea typeface="Inter" pitchFamily="34" charset="-122"/>
                <a:cs typeface="Inter" pitchFamily="34" charset="-120"/>
              </a:rPr>
              <a:t>Modeling</a:t>
            </a:r>
            <a:endParaRPr lang="en-US" sz="1400" dirty="0"/>
          </a:p>
        </p:txBody>
      </p:sp>
      <p:sp>
        <p:nvSpPr>
          <p:cNvPr id="58" name="Text 14">
            <a:extLst>
              <a:ext uri="{FF2B5EF4-FFF2-40B4-BE49-F238E27FC236}">
                <a16:creationId xmlns:a16="http://schemas.microsoft.com/office/drawing/2014/main" id="{48873CA2-DBB8-9B4F-E496-CBD13D975490}"/>
              </a:ext>
            </a:extLst>
          </p:cNvPr>
          <p:cNvSpPr/>
          <p:nvPr/>
        </p:nvSpPr>
        <p:spPr>
          <a:xfrm>
            <a:off x="235683" y="3042056"/>
            <a:ext cx="372010" cy="191463"/>
          </a:xfrm>
          <a:prstGeom prst="rect">
            <a:avLst/>
          </a:prstGeom>
          <a:noFill/>
          <a:ln/>
        </p:spPr>
        <p:txBody>
          <a:bodyPr wrap="square" lIns="25400" tIns="25400" rIns="25400" bIns="25400" rtlCol="0" anchor="t">
            <a:noAutofit/>
          </a:bodyPr>
          <a:lstStyle/>
          <a:p>
            <a:pPr marL="0" indent="0" algn="l">
              <a:lnSpc>
                <a:spcPct val="130000"/>
              </a:lnSpc>
              <a:buNone/>
            </a:pPr>
            <a:r>
              <a:rPr lang="en-US" sz="1400" kern="0" spc="21" dirty="0">
                <a:solidFill>
                  <a:srgbClr val="888080"/>
                </a:solidFill>
                <a:latin typeface="JetBrains Mono" pitchFamily="34" charset="0"/>
                <a:ea typeface="JetBrains Mono" pitchFamily="34" charset="-122"/>
                <a:cs typeface="JetBrains Mono" pitchFamily="34" charset="-120"/>
              </a:rPr>
              <a:t>06</a:t>
            </a:r>
            <a:endParaRPr lang="en-US" sz="1400" dirty="0"/>
          </a:p>
        </p:txBody>
      </p:sp>
      <p:sp>
        <p:nvSpPr>
          <p:cNvPr id="59" name="Text 15">
            <a:extLst>
              <a:ext uri="{FF2B5EF4-FFF2-40B4-BE49-F238E27FC236}">
                <a16:creationId xmlns:a16="http://schemas.microsoft.com/office/drawing/2014/main" id="{F2E99C93-D2A6-31EB-6F4C-01E42D74FBCC}"/>
              </a:ext>
            </a:extLst>
          </p:cNvPr>
          <p:cNvSpPr/>
          <p:nvPr/>
        </p:nvSpPr>
        <p:spPr>
          <a:xfrm>
            <a:off x="533400" y="3032075"/>
            <a:ext cx="1185416" cy="626120"/>
          </a:xfrm>
          <a:prstGeom prst="rect">
            <a:avLst/>
          </a:prstGeom>
          <a:noFill/>
          <a:ln/>
        </p:spPr>
        <p:txBody>
          <a:bodyPr wrap="square" lIns="25400" tIns="25400" rIns="25400" bIns="25400" rtlCol="0" anchor="t">
            <a:normAutofit/>
          </a:bodyPr>
          <a:lstStyle/>
          <a:p>
            <a:pPr marL="0" indent="0" algn="l">
              <a:lnSpc>
                <a:spcPct val="130000"/>
              </a:lnSpc>
              <a:buNone/>
            </a:pPr>
            <a:r>
              <a:rPr lang="en-US" sz="1400" kern="0" spc="21" dirty="0">
                <a:solidFill>
                  <a:srgbClr val="888080"/>
                </a:solidFill>
                <a:latin typeface="Inter" pitchFamily="34" charset="0"/>
                <a:ea typeface="Inter" pitchFamily="34" charset="-122"/>
                <a:cs typeface="Inter" pitchFamily="34" charset="-120"/>
              </a:rPr>
              <a:t>Conclusions</a:t>
            </a:r>
            <a:endParaRPr lang="en-US" sz="1400" dirty="0"/>
          </a:p>
        </p:txBody>
      </p:sp>
      <p:sp>
        <p:nvSpPr>
          <p:cNvPr id="60" name="Text 9">
            <a:extLst>
              <a:ext uri="{FF2B5EF4-FFF2-40B4-BE49-F238E27FC236}">
                <a16:creationId xmlns:a16="http://schemas.microsoft.com/office/drawing/2014/main" id="{03D8E60C-847A-B2F9-2B60-424F9AC2AF5E}"/>
              </a:ext>
            </a:extLst>
          </p:cNvPr>
          <p:cNvSpPr/>
          <p:nvPr/>
        </p:nvSpPr>
        <p:spPr>
          <a:xfrm>
            <a:off x="557659" y="2426180"/>
            <a:ext cx="1185416" cy="342476"/>
          </a:xfrm>
          <a:prstGeom prst="rect">
            <a:avLst/>
          </a:prstGeom>
          <a:noFill/>
          <a:ln/>
        </p:spPr>
        <p:txBody>
          <a:bodyPr wrap="square" lIns="25400" tIns="25400" rIns="25400" bIns="25400" rtlCol="0" anchor="t">
            <a:normAutofit/>
          </a:bodyPr>
          <a:lstStyle/>
          <a:p>
            <a:pPr marL="0" indent="0" algn="l">
              <a:lnSpc>
                <a:spcPct val="130000"/>
              </a:lnSpc>
              <a:buNone/>
            </a:pPr>
            <a:r>
              <a:rPr lang="en-US" sz="1400" kern="0" spc="21" dirty="0">
                <a:solidFill>
                  <a:srgbClr val="888080"/>
                </a:solidFill>
                <a:latin typeface="Inter" pitchFamily="34" charset="0"/>
                <a:ea typeface="Inter" pitchFamily="34" charset="-122"/>
                <a:cs typeface="Inter" pitchFamily="34" charset="-120"/>
              </a:rPr>
              <a:t>Pipeline</a:t>
            </a:r>
            <a:endParaRPr lang="en-US" sz="1400" dirty="0"/>
          </a:p>
        </p:txBody>
      </p:sp>
      <p:sp>
        <p:nvSpPr>
          <p:cNvPr id="61" name="Text 7">
            <a:extLst>
              <a:ext uri="{FF2B5EF4-FFF2-40B4-BE49-F238E27FC236}">
                <a16:creationId xmlns:a16="http://schemas.microsoft.com/office/drawing/2014/main" id="{6CFDDDF5-A09B-DB31-37AF-0417986F3C3B}"/>
              </a:ext>
            </a:extLst>
          </p:cNvPr>
          <p:cNvSpPr/>
          <p:nvPr/>
        </p:nvSpPr>
        <p:spPr>
          <a:xfrm>
            <a:off x="523875" y="1826620"/>
            <a:ext cx="1325700" cy="467696"/>
          </a:xfrm>
          <a:prstGeom prst="rect">
            <a:avLst/>
          </a:prstGeom>
          <a:noFill/>
          <a:ln/>
        </p:spPr>
        <p:txBody>
          <a:bodyPr wrap="square" lIns="25400" tIns="25400" rIns="25400" bIns="25400" rtlCol="0" anchor="t">
            <a:noAutofit/>
          </a:bodyPr>
          <a:lstStyle/>
          <a:p>
            <a:pPr marL="0" indent="0" algn="l">
              <a:lnSpc>
                <a:spcPct val="130000"/>
              </a:lnSpc>
              <a:buNone/>
            </a:pPr>
            <a:r>
              <a:rPr lang="en-US" sz="1400" kern="0" spc="21" dirty="0">
                <a:solidFill>
                  <a:srgbClr val="1A1A1A"/>
                </a:solidFill>
                <a:latin typeface="Inter" pitchFamily="34" charset="0"/>
                <a:ea typeface="Inter" pitchFamily="34" charset="-122"/>
              </a:rPr>
              <a:t>Data &amp; target</a:t>
            </a:r>
          </a:p>
        </p:txBody>
      </p:sp>
      <p:sp>
        <p:nvSpPr>
          <p:cNvPr id="62" name="Text 1">
            <a:extLst>
              <a:ext uri="{FF2B5EF4-FFF2-40B4-BE49-F238E27FC236}">
                <a16:creationId xmlns:a16="http://schemas.microsoft.com/office/drawing/2014/main" id="{E29FC8D6-27F5-499A-29D6-085D6849B76D}"/>
              </a:ext>
            </a:extLst>
          </p:cNvPr>
          <p:cNvSpPr/>
          <p:nvPr/>
        </p:nvSpPr>
        <p:spPr>
          <a:xfrm>
            <a:off x="261138" y="379598"/>
            <a:ext cx="1778457" cy="447678"/>
          </a:xfrm>
          <a:prstGeom prst="rect">
            <a:avLst/>
          </a:prstGeom>
          <a:noFill/>
          <a:ln/>
        </p:spPr>
        <p:txBody>
          <a:bodyPr wrap="square" lIns="25400" tIns="25400" rIns="25400" bIns="25400" rtlCol="0" anchor="t">
            <a:noAutofit/>
          </a:bodyPr>
          <a:lstStyle/>
          <a:p>
            <a:pPr marL="0" indent="0">
              <a:buNone/>
            </a:pPr>
            <a:r>
              <a:rPr lang="en-US" sz="1400" kern="0" spc="116" dirty="0">
                <a:solidFill>
                  <a:srgbClr val="888080"/>
                </a:solidFill>
                <a:latin typeface="JetBrains Mono" pitchFamily="34" charset="0"/>
                <a:ea typeface="JetBrains Mono" pitchFamily="34" charset="-122"/>
                <a:cs typeface="JetBrains Mono" pitchFamily="34" charset="-120"/>
              </a:rPr>
              <a:t>DS22 - Bar Ilan</a:t>
            </a:r>
            <a:br>
              <a:rPr lang="en-US" sz="1400" kern="0" spc="116" dirty="0">
                <a:solidFill>
                  <a:srgbClr val="888080"/>
                </a:solidFill>
                <a:latin typeface="JetBrains Mono" pitchFamily="34" charset="0"/>
                <a:ea typeface="JetBrains Mono" pitchFamily="34" charset="-122"/>
                <a:cs typeface="JetBrains Mono" pitchFamily="34" charset="-120"/>
              </a:rPr>
            </a:br>
            <a:r>
              <a:rPr lang="en-US" sz="1400" kern="0" spc="116" dirty="0">
                <a:solidFill>
                  <a:srgbClr val="888080"/>
                </a:solidFill>
                <a:latin typeface="JetBrains Mono" pitchFamily="34" charset="0"/>
                <a:ea typeface="JetBrains Mono" pitchFamily="34" charset="-122"/>
                <a:cs typeface="JetBrains Mono" pitchFamily="34" charset="-120"/>
              </a:rPr>
              <a:t>ML PROJECT</a:t>
            </a:r>
          </a:p>
          <a:p>
            <a:pPr marL="0" indent="0">
              <a:buNone/>
            </a:pPr>
            <a:r>
              <a:rPr lang="en-US" sz="1400" kern="0" spc="116" dirty="0">
                <a:solidFill>
                  <a:srgbClr val="888080"/>
                </a:solidFill>
                <a:latin typeface="JetBrains Mono" pitchFamily="34" charset="0"/>
                <a:ea typeface="JetBrains Mono" pitchFamily="34" charset="-122"/>
                <a:cs typeface="JetBrains Mono" pitchFamily="34" charset="-120"/>
              </a:rPr>
              <a:t>MAY 2026</a:t>
            </a:r>
            <a:endParaRPr lang="en-US" sz="1400" dirty="0"/>
          </a:p>
        </p:txBody>
      </p:sp>
      <p:sp>
        <p:nvSpPr>
          <p:cNvPr id="63" name="Text 19">
            <a:extLst>
              <a:ext uri="{FF2B5EF4-FFF2-40B4-BE49-F238E27FC236}">
                <a16:creationId xmlns:a16="http://schemas.microsoft.com/office/drawing/2014/main" id="{C2C17809-0A9E-E1C7-1962-9AC9DB764FD7}"/>
              </a:ext>
            </a:extLst>
          </p:cNvPr>
          <p:cNvSpPr/>
          <p:nvPr/>
        </p:nvSpPr>
        <p:spPr>
          <a:xfrm>
            <a:off x="2878075" y="8477705"/>
            <a:ext cx="6164872" cy="1433000"/>
          </a:xfrm>
          <a:prstGeom prst="rect">
            <a:avLst/>
          </a:prstGeom>
          <a:noFill/>
          <a:ln/>
        </p:spPr>
        <p:txBody>
          <a:bodyPr wrap="square" lIns="25400" tIns="25400" rIns="25400" bIns="25400" rtlCol="0" anchor="t">
            <a:normAutofit/>
          </a:bodyPr>
          <a:lstStyle/>
          <a:p>
            <a:pPr>
              <a:lnSpc>
                <a:spcPct val="145000"/>
              </a:lnSpc>
            </a:pPr>
            <a:r>
              <a:rPr lang="en-US" sz="1400" dirty="0"/>
              <a:t>We initially framed this as a regression problem, but model performance was poor — the continuous target had high variance and no strong linear structure. Reframing as a 3-class classification problem yielded substantially better results and cleaner operational thresholds.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1E8"/>
        </a:solidFill>
        <a:effectLst/>
      </p:bgPr>
    </p:bg>
    <p:spTree>
      <p:nvGrpSpPr>
        <p:cNvPr id="1" name=""/>
        <p:cNvGrpSpPr/>
        <p:nvPr/>
      </p:nvGrpSpPr>
      <p:grpSpPr>
        <a:xfrm>
          <a:off x="0" y="0"/>
          <a:ext cx="0" cy="0"/>
          <a:chOff x="0" y="0"/>
          <a:chExt cx="0" cy="0"/>
        </a:xfrm>
      </p:grpSpPr>
      <p:sp>
        <p:nvSpPr>
          <p:cNvPr id="2" name="Shape 0"/>
          <p:cNvSpPr/>
          <p:nvPr/>
        </p:nvSpPr>
        <p:spPr>
          <a:xfrm>
            <a:off x="0" y="0"/>
            <a:ext cx="2095500" cy="10287000"/>
          </a:xfrm>
          <a:prstGeom prst="rect">
            <a:avLst/>
          </a:prstGeom>
          <a:solidFill>
            <a:srgbClr val="EBE5D6"/>
          </a:solidFill>
          <a:ln/>
        </p:spPr>
        <p:txBody>
          <a:bodyPr/>
          <a:lstStyle/>
          <a:p>
            <a:endParaRPr lang="he-IL"/>
          </a:p>
        </p:txBody>
      </p:sp>
      <p:sp>
        <p:nvSpPr>
          <p:cNvPr id="3" name="Shape 1"/>
          <p:cNvSpPr/>
          <p:nvPr/>
        </p:nvSpPr>
        <p:spPr>
          <a:xfrm>
            <a:off x="2085975" y="0"/>
            <a:ext cx="9525" cy="10287000"/>
          </a:xfrm>
          <a:prstGeom prst="rect">
            <a:avLst/>
          </a:prstGeom>
          <a:solidFill>
            <a:srgbClr val="D4CDBC"/>
          </a:solidFill>
          <a:ln/>
        </p:spPr>
        <p:txBody>
          <a:bodyPr/>
          <a:lstStyle/>
          <a:p>
            <a:endParaRPr lang="he-IL"/>
          </a:p>
        </p:txBody>
      </p:sp>
      <p:sp>
        <p:nvSpPr>
          <p:cNvPr id="18" name="Text 16"/>
          <p:cNvSpPr/>
          <p:nvPr/>
        </p:nvSpPr>
        <p:spPr>
          <a:xfrm>
            <a:off x="266700" y="9410700"/>
            <a:ext cx="1628775" cy="342900"/>
          </a:xfrm>
          <a:prstGeom prst="rect">
            <a:avLst/>
          </a:prstGeom>
          <a:noFill/>
          <a:ln/>
        </p:spPr>
        <p:txBody>
          <a:bodyPr wrap="square" lIns="25400" tIns="25400" rIns="25400" bIns="25400" rtlCol="0" anchor="t">
            <a:noAutofit/>
          </a:bodyPr>
          <a:lstStyle/>
          <a:p>
            <a:pPr>
              <a:lnSpc>
                <a:spcPct val="160000"/>
              </a:lnSpc>
            </a:pPr>
            <a:r>
              <a:rPr lang="en-US" sz="1400" b="1" kern="0" spc="105" dirty="0">
                <a:solidFill>
                  <a:srgbClr val="1A1A1A"/>
                </a:solidFill>
                <a:latin typeface="JetBrains Mono" pitchFamily="34" charset="0"/>
                <a:ea typeface="JetBrains Mono" pitchFamily="34" charset="-122"/>
                <a:cs typeface="JetBrains Mono" pitchFamily="34" charset="-120"/>
              </a:rPr>
              <a:t>07 / 34</a:t>
            </a:r>
            <a:endParaRPr lang="en-US" sz="1400" dirty="0"/>
          </a:p>
        </p:txBody>
      </p:sp>
      <p:sp>
        <p:nvSpPr>
          <p:cNvPr id="19" name="Text 17"/>
          <p:cNvSpPr/>
          <p:nvPr/>
        </p:nvSpPr>
        <p:spPr>
          <a:xfrm>
            <a:off x="2781300" y="571500"/>
            <a:ext cx="15187041" cy="171450"/>
          </a:xfrm>
          <a:prstGeom prst="rect">
            <a:avLst/>
          </a:prstGeom>
          <a:noFill/>
          <a:ln/>
        </p:spPr>
        <p:txBody>
          <a:bodyPr wrap="square" lIns="25400" tIns="25400" rIns="25400" bIns="25400" rtlCol="0" anchor="ctr">
            <a:noAutofit/>
          </a:bodyPr>
          <a:lstStyle/>
          <a:p>
            <a:pPr marL="0" indent="0" algn="l">
              <a:buNone/>
            </a:pPr>
            <a:r>
              <a:rPr lang="en-US" sz="1400" kern="0" spc="182" dirty="0">
                <a:solidFill>
                  <a:srgbClr val="888080"/>
                </a:solidFill>
                <a:latin typeface="JetBrains Mono" pitchFamily="34" charset="0"/>
                <a:ea typeface="JetBrains Mono" pitchFamily="34" charset="-122"/>
                <a:cs typeface="JetBrains Mono" pitchFamily="34" charset="-120"/>
              </a:rPr>
              <a:t>PART II · SECTION OPENER</a:t>
            </a:r>
            <a:endParaRPr lang="en-US" sz="1400" dirty="0"/>
          </a:p>
        </p:txBody>
      </p:sp>
      <p:sp>
        <p:nvSpPr>
          <p:cNvPr id="20" name="Text 18"/>
          <p:cNvSpPr/>
          <p:nvPr/>
        </p:nvSpPr>
        <p:spPr>
          <a:xfrm>
            <a:off x="2781300" y="4274243"/>
            <a:ext cx="6204226" cy="171450"/>
          </a:xfrm>
          <a:prstGeom prst="rect">
            <a:avLst/>
          </a:prstGeom>
          <a:noFill/>
          <a:ln/>
        </p:spPr>
        <p:txBody>
          <a:bodyPr wrap="square" lIns="25400" tIns="25400" rIns="25400" bIns="25400" rtlCol="0" anchor="t">
            <a:noAutofit/>
          </a:bodyPr>
          <a:lstStyle/>
          <a:p>
            <a:pPr marL="0" indent="0" algn="l">
              <a:buNone/>
            </a:pPr>
            <a:r>
              <a:rPr lang="en-US" sz="1400" kern="0" spc="149" dirty="0">
                <a:solidFill>
                  <a:srgbClr val="888080"/>
                </a:solidFill>
                <a:latin typeface="JetBrains Mono" pitchFamily="34" charset="0"/>
                <a:ea typeface="JetBrains Mono" pitchFamily="34" charset="-122"/>
                <a:cs typeface="JetBrains Mono" pitchFamily="34" charset="-120"/>
              </a:rPr>
              <a:t>SECTION</a:t>
            </a:r>
            <a:endParaRPr lang="en-US" sz="1400" dirty="0"/>
          </a:p>
        </p:txBody>
      </p:sp>
      <p:sp>
        <p:nvSpPr>
          <p:cNvPr id="21" name="Shape 19"/>
          <p:cNvSpPr/>
          <p:nvPr/>
        </p:nvSpPr>
        <p:spPr>
          <a:xfrm>
            <a:off x="2781300" y="4586288"/>
            <a:ext cx="6023521" cy="9525"/>
          </a:xfrm>
          <a:prstGeom prst="rect">
            <a:avLst/>
          </a:prstGeom>
          <a:solidFill>
            <a:srgbClr val="1A1A1A"/>
          </a:solidFill>
          <a:ln/>
        </p:spPr>
        <p:txBody>
          <a:bodyPr/>
          <a:lstStyle/>
          <a:p>
            <a:endParaRPr lang="he-IL"/>
          </a:p>
        </p:txBody>
      </p:sp>
      <p:sp>
        <p:nvSpPr>
          <p:cNvPr id="22" name="Text 20"/>
          <p:cNvSpPr/>
          <p:nvPr/>
        </p:nvSpPr>
        <p:spPr>
          <a:xfrm>
            <a:off x="2781300" y="4672013"/>
            <a:ext cx="6204226" cy="1924050"/>
          </a:xfrm>
          <a:prstGeom prst="rect">
            <a:avLst/>
          </a:prstGeom>
          <a:noFill/>
          <a:ln/>
        </p:spPr>
        <p:txBody>
          <a:bodyPr wrap="square" lIns="25400" tIns="25400" rIns="25400" bIns="25400" rtlCol="0" anchor="t">
            <a:normAutofit fontScale="92500" lnSpcReduction="20000"/>
          </a:bodyPr>
          <a:lstStyle/>
          <a:p>
            <a:pPr marL="0" indent="0" algn="l">
              <a:lnSpc>
                <a:spcPct val="90000"/>
              </a:lnSpc>
              <a:buNone/>
            </a:pPr>
            <a:r>
              <a:rPr lang="en-US" sz="16500" kern="0" spc="-660" dirty="0">
                <a:solidFill>
                  <a:srgbClr val="C25A2A"/>
                </a:solidFill>
                <a:latin typeface="JetBrains Mono" pitchFamily="34" charset="0"/>
                <a:ea typeface="JetBrains Mono" pitchFamily="34" charset="-122"/>
                <a:cs typeface="JetBrains Mono" pitchFamily="34" charset="-120"/>
              </a:rPr>
              <a:t>02</a:t>
            </a:r>
            <a:endParaRPr lang="en-US" sz="16500" dirty="0"/>
          </a:p>
        </p:txBody>
      </p:sp>
      <p:sp>
        <p:nvSpPr>
          <p:cNvPr id="23" name="Text 21"/>
          <p:cNvSpPr/>
          <p:nvPr/>
        </p:nvSpPr>
        <p:spPr>
          <a:xfrm>
            <a:off x="9376321" y="3938141"/>
            <a:ext cx="8394170" cy="171450"/>
          </a:xfrm>
          <a:prstGeom prst="rect">
            <a:avLst/>
          </a:prstGeom>
          <a:noFill/>
          <a:ln/>
        </p:spPr>
        <p:txBody>
          <a:bodyPr wrap="square" lIns="25400" tIns="25400" rIns="25400" bIns="25400" rtlCol="0" anchor="t">
            <a:noAutofit/>
          </a:bodyPr>
          <a:lstStyle/>
          <a:p>
            <a:pPr marL="0" indent="0" algn="l">
              <a:buNone/>
            </a:pPr>
            <a:r>
              <a:rPr lang="en-US" sz="1400" kern="0" spc="149" dirty="0">
                <a:solidFill>
                  <a:srgbClr val="888080"/>
                </a:solidFill>
                <a:latin typeface="JetBrains Mono" pitchFamily="34" charset="0"/>
                <a:ea typeface="JetBrains Mono" pitchFamily="34" charset="-122"/>
                <a:cs typeface="JetBrains Mono" pitchFamily="34" charset="-120"/>
              </a:rPr>
              <a:t>EXPLORATORY DATA ANALYSIS</a:t>
            </a:r>
            <a:endParaRPr lang="en-US" sz="1400" dirty="0"/>
          </a:p>
        </p:txBody>
      </p:sp>
      <p:sp>
        <p:nvSpPr>
          <p:cNvPr id="24" name="Text 22"/>
          <p:cNvSpPr/>
          <p:nvPr/>
        </p:nvSpPr>
        <p:spPr>
          <a:xfrm>
            <a:off x="9376321" y="4281041"/>
            <a:ext cx="8394170" cy="1943100"/>
          </a:xfrm>
          <a:prstGeom prst="rect">
            <a:avLst/>
          </a:prstGeom>
          <a:noFill/>
          <a:ln/>
        </p:spPr>
        <p:txBody>
          <a:bodyPr wrap="square" lIns="25400" tIns="25400" rIns="25400" bIns="25400" rtlCol="0" anchor="t">
            <a:normAutofit fontScale="92500" lnSpcReduction="20000"/>
          </a:bodyPr>
          <a:lstStyle/>
          <a:p>
            <a:r>
              <a:rPr lang="en-US" sz="8000" dirty="0"/>
              <a:t>Decoding Transit </a:t>
            </a:r>
            <a:r>
              <a:rPr lang="en-US" sz="7500" i="1" kern="0" spc="-187" dirty="0">
                <a:solidFill>
                  <a:srgbClr val="C25A2A"/>
                </a:solidFill>
                <a:latin typeface="Instrument Serif" pitchFamily="34" charset="0"/>
                <a:ea typeface="Instrument Serif" pitchFamily="34" charset="-122"/>
              </a:rPr>
              <a:t>Patterns</a:t>
            </a:r>
            <a:r>
              <a:rPr lang="en-US" sz="7500" i="1" kern="0" spc="-187" dirty="0">
                <a:solidFill>
                  <a:srgbClr val="C25A2A"/>
                </a:solidFill>
                <a:latin typeface="Instrument Serif" pitchFamily="34" charset="0"/>
                <a:ea typeface="Instrument Serif" pitchFamily="34" charset="-122"/>
                <a:cs typeface="Instrument Serif" pitchFamily="34" charset="-120"/>
              </a:rPr>
              <a:t>.</a:t>
            </a:r>
            <a:endParaRPr lang="en-US" sz="7500" dirty="0"/>
          </a:p>
        </p:txBody>
      </p:sp>
      <p:sp>
        <p:nvSpPr>
          <p:cNvPr id="25" name="Text 23"/>
          <p:cNvSpPr/>
          <p:nvPr/>
        </p:nvSpPr>
        <p:spPr>
          <a:xfrm>
            <a:off x="9376321" y="6433691"/>
            <a:ext cx="6867525" cy="562868"/>
          </a:xfrm>
          <a:prstGeom prst="rect">
            <a:avLst/>
          </a:prstGeom>
          <a:noFill/>
          <a:ln/>
        </p:spPr>
        <p:txBody>
          <a:bodyPr wrap="square" lIns="25400" tIns="25400" rIns="25400" bIns="25400" rtlCol="0" anchor="t">
            <a:noAutofit/>
          </a:bodyPr>
          <a:lstStyle/>
          <a:p>
            <a:pPr marL="0" indent="0" algn="l">
              <a:lnSpc>
                <a:spcPct val="145000"/>
              </a:lnSpc>
              <a:buNone/>
            </a:pPr>
            <a:r>
              <a:rPr lang="en-US" sz="1400" dirty="0">
                <a:solidFill>
                  <a:srgbClr val="4A4A4A"/>
                </a:solidFill>
                <a:latin typeface="Inter" pitchFamily="34" charset="0"/>
                <a:ea typeface="Inter" pitchFamily="34" charset="-122"/>
                <a:cs typeface="Inter" pitchFamily="34" charset="-120"/>
              </a:rPr>
              <a:t>A passenger-load t-test, a Spearman correlation ranking, and the long-route night flip - three findings that shaped feature engineering.</a:t>
            </a:r>
            <a:endParaRPr lang="en-US" sz="1400" dirty="0"/>
          </a:p>
        </p:txBody>
      </p:sp>
      <p:sp>
        <p:nvSpPr>
          <p:cNvPr id="26" name="Text 4">
            <a:extLst>
              <a:ext uri="{FF2B5EF4-FFF2-40B4-BE49-F238E27FC236}">
                <a16:creationId xmlns:a16="http://schemas.microsoft.com/office/drawing/2014/main" id="{13419717-2E34-937A-69E2-3B464E784D40}"/>
              </a:ext>
            </a:extLst>
          </p:cNvPr>
          <p:cNvSpPr/>
          <p:nvPr/>
        </p:nvSpPr>
        <p:spPr>
          <a:xfrm>
            <a:off x="228063" y="1524367"/>
            <a:ext cx="372012" cy="200025"/>
          </a:xfrm>
          <a:prstGeom prst="rect">
            <a:avLst/>
          </a:prstGeom>
          <a:noFill/>
          <a:ln/>
        </p:spPr>
        <p:txBody>
          <a:bodyPr wrap="square" lIns="25400" tIns="25400" rIns="25400" bIns="25400" rtlCol="0" anchor="t">
            <a:noAutofit/>
          </a:bodyPr>
          <a:lstStyle/>
          <a:p>
            <a:pPr marL="0" indent="0" algn="l">
              <a:lnSpc>
                <a:spcPct val="130000"/>
              </a:lnSpc>
              <a:buNone/>
            </a:pPr>
            <a:r>
              <a:rPr lang="en-US" sz="1400" kern="0" spc="21" dirty="0">
                <a:solidFill>
                  <a:srgbClr val="888080"/>
                </a:solidFill>
                <a:latin typeface="Inter" pitchFamily="34" charset="0"/>
                <a:ea typeface="Inter" pitchFamily="34" charset="-122"/>
              </a:rPr>
              <a:t>01</a:t>
            </a:r>
          </a:p>
        </p:txBody>
      </p:sp>
      <p:sp>
        <p:nvSpPr>
          <p:cNvPr id="27" name="Text 5">
            <a:extLst>
              <a:ext uri="{FF2B5EF4-FFF2-40B4-BE49-F238E27FC236}">
                <a16:creationId xmlns:a16="http://schemas.microsoft.com/office/drawing/2014/main" id="{40CB9159-FC09-C88D-C195-12BB15D07F19}"/>
              </a:ext>
            </a:extLst>
          </p:cNvPr>
          <p:cNvSpPr/>
          <p:nvPr/>
        </p:nvSpPr>
        <p:spPr>
          <a:xfrm>
            <a:off x="523875" y="1522975"/>
            <a:ext cx="876300" cy="476251"/>
          </a:xfrm>
          <a:prstGeom prst="rect">
            <a:avLst/>
          </a:prstGeom>
          <a:noFill/>
          <a:ln/>
        </p:spPr>
        <p:txBody>
          <a:bodyPr wrap="square" lIns="25400" tIns="25400" rIns="25400" bIns="25400" rtlCol="0" anchor="t">
            <a:normAutofit/>
          </a:bodyPr>
          <a:lstStyle/>
          <a:p>
            <a:pPr marL="0" indent="0" algn="l">
              <a:lnSpc>
                <a:spcPct val="130000"/>
              </a:lnSpc>
              <a:buNone/>
            </a:pPr>
            <a:r>
              <a:rPr lang="en-US" sz="1400" kern="0" spc="21" dirty="0">
                <a:solidFill>
                  <a:srgbClr val="888080"/>
                </a:solidFill>
                <a:latin typeface="Inter" pitchFamily="34" charset="0"/>
                <a:ea typeface="Inter" pitchFamily="34" charset="-122"/>
              </a:rPr>
              <a:t>Agenda</a:t>
            </a:r>
          </a:p>
        </p:txBody>
      </p:sp>
      <p:sp>
        <p:nvSpPr>
          <p:cNvPr id="28" name="Text 6">
            <a:extLst>
              <a:ext uri="{FF2B5EF4-FFF2-40B4-BE49-F238E27FC236}">
                <a16:creationId xmlns:a16="http://schemas.microsoft.com/office/drawing/2014/main" id="{06A27C43-E46B-8561-40E8-D0DB0D0D1A44}"/>
              </a:ext>
            </a:extLst>
          </p:cNvPr>
          <p:cNvSpPr/>
          <p:nvPr/>
        </p:nvSpPr>
        <p:spPr>
          <a:xfrm>
            <a:off x="228063" y="1830953"/>
            <a:ext cx="372010" cy="194877"/>
          </a:xfrm>
          <a:prstGeom prst="rect">
            <a:avLst/>
          </a:prstGeom>
          <a:noFill/>
          <a:ln/>
        </p:spPr>
        <p:txBody>
          <a:bodyPr wrap="square" lIns="25400" tIns="25400" rIns="25400" bIns="25400" rtlCol="0" anchor="t">
            <a:noAutofit/>
          </a:bodyPr>
          <a:lstStyle/>
          <a:p>
            <a:pPr marL="0" indent="0" algn="l">
              <a:lnSpc>
                <a:spcPct val="130000"/>
              </a:lnSpc>
              <a:buNone/>
            </a:pPr>
            <a:r>
              <a:rPr lang="en-US" sz="1400" kern="0" spc="21" dirty="0">
                <a:solidFill>
                  <a:srgbClr val="888080"/>
                </a:solidFill>
                <a:latin typeface="Inter" pitchFamily="34" charset="0"/>
                <a:ea typeface="Inter" pitchFamily="34" charset="-122"/>
              </a:rPr>
              <a:t>02</a:t>
            </a:r>
          </a:p>
        </p:txBody>
      </p:sp>
      <p:sp>
        <p:nvSpPr>
          <p:cNvPr id="29" name="Text 8">
            <a:extLst>
              <a:ext uri="{FF2B5EF4-FFF2-40B4-BE49-F238E27FC236}">
                <a16:creationId xmlns:a16="http://schemas.microsoft.com/office/drawing/2014/main" id="{15111425-8422-6C23-3F1F-BB707AF07028}"/>
              </a:ext>
            </a:extLst>
          </p:cNvPr>
          <p:cNvSpPr/>
          <p:nvPr/>
        </p:nvSpPr>
        <p:spPr>
          <a:xfrm>
            <a:off x="230504" y="2152895"/>
            <a:ext cx="302895" cy="141422"/>
          </a:xfrm>
          <a:prstGeom prst="rect">
            <a:avLst/>
          </a:prstGeom>
          <a:noFill/>
          <a:ln/>
        </p:spPr>
        <p:txBody>
          <a:bodyPr wrap="square" lIns="25400" tIns="25400" rIns="25400" bIns="25400" rtlCol="0" anchor="t">
            <a:noAutofit/>
          </a:bodyPr>
          <a:lstStyle/>
          <a:p>
            <a:pPr marL="0" indent="0" algn="l">
              <a:lnSpc>
                <a:spcPct val="130000"/>
              </a:lnSpc>
              <a:buNone/>
            </a:pPr>
            <a:r>
              <a:rPr lang="en-US" sz="1400" b="1" kern="0" spc="21" dirty="0">
                <a:solidFill>
                  <a:srgbClr val="C25A2A"/>
                </a:solidFill>
                <a:latin typeface="JetBrains Mono" pitchFamily="34" charset="0"/>
                <a:ea typeface="JetBrains Mono" pitchFamily="34" charset="-122"/>
              </a:rPr>
              <a:t>03</a:t>
            </a:r>
          </a:p>
        </p:txBody>
      </p:sp>
      <p:sp>
        <p:nvSpPr>
          <p:cNvPr id="30" name="Text 9">
            <a:extLst>
              <a:ext uri="{FF2B5EF4-FFF2-40B4-BE49-F238E27FC236}">
                <a16:creationId xmlns:a16="http://schemas.microsoft.com/office/drawing/2014/main" id="{AFB28CF7-6670-023B-32FF-0237B26CB244}"/>
              </a:ext>
            </a:extLst>
          </p:cNvPr>
          <p:cNvSpPr/>
          <p:nvPr/>
        </p:nvSpPr>
        <p:spPr>
          <a:xfrm>
            <a:off x="531240" y="2145027"/>
            <a:ext cx="1185416" cy="342476"/>
          </a:xfrm>
          <a:prstGeom prst="rect">
            <a:avLst/>
          </a:prstGeom>
          <a:noFill/>
          <a:ln/>
        </p:spPr>
        <p:txBody>
          <a:bodyPr wrap="square" lIns="25400" tIns="25400" rIns="25400" bIns="25400" rtlCol="0" anchor="t">
            <a:normAutofit/>
          </a:bodyPr>
          <a:lstStyle/>
          <a:p>
            <a:pPr marL="0" indent="0" algn="l">
              <a:lnSpc>
                <a:spcPct val="130000"/>
              </a:lnSpc>
              <a:buNone/>
            </a:pPr>
            <a:r>
              <a:rPr lang="en-US" sz="1400" kern="0" spc="21" dirty="0">
                <a:solidFill>
                  <a:srgbClr val="1A1A1A"/>
                </a:solidFill>
                <a:latin typeface="Inter" pitchFamily="34" charset="0"/>
                <a:ea typeface="Inter" pitchFamily="34" charset="-122"/>
              </a:rPr>
              <a:t>EDA</a:t>
            </a:r>
          </a:p>
        </p:txBody>
      </p:sp>
      <p:sp>
        <p:nvSpPr>
          <p:cNvPr id="31" name="Text 10">
            <a:extLst>
              <a:ext uri="{FF2B5EF4-FFF2-40B4-BE49-F238E27FC236}">
                <a16:creationId xmlns:a16="http://schemas.microsoft.com/office/drawing/2014/main" id="{5DF2C7BC-D0DE-9E5C-DFDA-770B0FCCF1DE}"/>
              </a:ext>
            </a:extLst>
          </p:cNvPr>
          <p:cNvSpPr/>
          <p:nvPr/>
        </p:nvSpPr>
        <p:spPr>
          <a:xfrm>
            <a:off x="228062" y="2444125"/>
            <a:ext cx="305337" cy="172132"/>
          </a:xfrm>
          <a:prstGeom prst="rect">
            <a:avLst/>
          </a:prstGeom>
          <a:noFill/>
          <a:ln/>
        </p:spPr>
        <p:txBody>
          <a:bodyPr wrap="square" lIns="25400" tIns="25400" rIns="25400" bIns="25400" rtlCol="0" anchor="t">
            <a:noAutofit/>
          </a:bodyPr>
          <a:lstStyle/>
          <a:p>
            <a:pPr marL="0" indent="0" algn="l">
              <a:lnSpc>
                <a:spcPct val="130000"/>
              </a:lnSpc>
              <a:buNone/>
            </a:pPr>
            <a:r>
              <a:rPr lang="en-US" sz="1400" kern="0" spc="21" dirty="0">
                <a:solidFill>
                  <a:srgbClr val="888080"/>
                </a:solidFill>
                <a:latin typeface="JetBrains Mono" pitchFamily="34" charset="0"/>
                <a:ea typeface="JetBrains Mono" pitchFamily="34" charset="-122"/>
                <a:cs typeface="JetBrains Mono" pitchFamily="34" charset="-120"/>
              </a:rPr>
              <a:t>04</a:t>
            </a:r>
            <a:endParaRPr lang="en-US" sz="1400" dirty="0"/>
          </a:p>
        </p:txBody>
      </p:sp>
      <p:sp>
        <p:nvSpPr>
          <p:cNvPr id="32" name="Text 12">
            <a:extLst>
              <a:ext uri="{FF2B5EF4-FFF2-40B4-BE49-F238E27FC236}">
                <a16:creationId xmlns:a16="http://schemas.microsoft.com/office/drawing/2014/main" id="{34FA7819-513D-875C-1585-004B80768373}"/>
              </a:ext>
            </a:extLst>
          </p:cNvPr>
          <p:cNvSpPr/>
          <p:nvPr/>
        </p:nvSpPr>
        <p:spPr>
          <a:xfrm>
            <a:off x="228062" y="2750711"/>
            <a:ext cx="372011" cy="158880"/>
          </a:xfrm>
          <a:prstGeom prst="rect">
            <a:avLst/>
          </a:prstGeom>
          <a:noFill/>
          <a:ln/>
        </p:spPr>
        <p:txBody>
          <a:bodyPr wrap="square" lIns="25400" tIns="25400" rIns="25400" bIns="25400" rtlCol="0" anchor="t">
            <a:noAutofit/>
          </a:bodyPr>
          <a:lstStyle/>
          <a:p>
            <a:pPr marL="0" indent="0" algn="l">
              <a:lnSpc>
                <a:spcPct val="130000"/>
              </a:lnSpc>
              <a:buNone/>
            </a:pPr>
            <a:r>
              <a:rPr lang="en-US" sz="1400" kern="0" spc="21" dirty="0">
                <a:solidFill>
                  <a:srgbClr val="888080"/>
                </a:solidFill>
                <a:latin typeface="JetBrains Mono" pitchFamily="34" charset="0"/>
                <a:ea typeface="JetBrains Mono" pitchFamily="34" charset="-122"/>
                <a:cs typeface="JetBrains Mono" pitchFamily="34" charset="-120"/>
              </a:rPr>
              <a:t>05</a:t>
            </a:r>
            <a:endParaRPr lang="en-US" sz="1400" dirty="0"/>
          </a:p>
        </p:txBody>
      </p:sp>
      <p:sp>
        <p:nvSpPr>
          <p:cNvPr id="33" name="Text 13">
            <a:extLst>
              <a:ext uri="{FF2B5EF4-FFF2-40B4-BE49-F238E27FC236}">
                <a16:creationId xmlns:a16="http://schemas.microsoft.com/office/drawing/2014/main" id="{407E9369-8EAD-900D-CB9F-11A65751EA30}"/>
              </a:ext>
            </a:extLst>
          </p:cNvPr>
          <p:cNvSpPr/>
          <p:nvPr/>
        </p:nvSpPr>
        <p:spPr>
          <a:xfrm>
            <a:off x="533399" y="2725489"/>
            <a:ext cx="948333" cy="761256"/>
          </a:xfrm>
          <a:prstGeom prst="rect">
            <a:avLst/>
          </a:prstGeom>
          <a:noFill/>
          <a:ln/>
        </p:spPr>
        <p:txBody>
          <a:bodyPr wrap="square" lIns="25400" tIns="25400" rIns="25400" bIns="25400" rtlCol="0" anchor="t">
            <a:normAutofit/>
          </a:bodyPr>
          <a:lstStyle/>
          <a:p>
            <a:pPr marL="0" indent="0" algn="l">
              <a:lnSpc>
                <a:spcPct val="130000"/>
              </a:lnSpc>
              <a:buNone/>
            </a:pPr>
            <a:r>
              <a:rPr lang="en-US" sz="1400" kern="0" spc="21" dirty="0">
                <a:solidFill>
                  <a:srgbClr val="888080"/>
                </a:solidFill>
                <a:latin typeface="Inter" pitchFamily="34" charset="0"/>
                <a:ea typeface="Inter" pitchFamily="34" charset="-122"/>
                <a:cs typeface="Inter" pitchFamily="34" charset="-120"/>
              </a:rPr>
              <a:t>Modeling</a:t>
            </a:r>
            <a:endParaRPr lang="en-US" sz="1400" dirty="0"/>
          </a:p>
        </p:txBody>
      </p:sp>
      <p:sp>
        <p:nvSpPr>
          <p:cNvPr id="34" name="Text 14">
            <a:extLst>
              <a:ext uri="{FF2B5EF4-FFF2-40B4-BE49-F238E27FC236}">
                <a16:creationId xmlns:a16="http://schemas.microsoft.com/office/drawing/2014/main" id="{56D5147B-C7C5-10DD-0F8C-CE1044FEB818}"/>
              </a:ext>
            </a:extLst>
          </p:cNvPr>
          <p:cNvSpPr/>
          <p:nvPr/>
        </p:nvSpPr>
        <p:spPr>
          <a:xfrm>
            <a:off x="235683" y="3042056"/>
            <a:ext cx="372010" cy="191463"/>
          </a:xfrm>
          <a:prstGeom prst="rect">
            <a:avLst/>
          </a:prstGeom>
          <a:noFill/>
          <a:ln/>
        </p:spPr>
        <p:txBody>
          <a:bodyPr wrap="square" lIns="25400" tIns="25400" rIns="25400" bIns="25400" rtlCol="0" anchor="t">
            <a:noAutofit/>
          </a:bodyPr>
          <a:lstStyle/>
          <a:p>
            <a:pPr marL="0" indent="0" algn="l">
              <a:lnSpc>
                <a:spcPct val="130000"/>
              </a:lnSpc>
              <a:buNone/>
            </a:pPr>
            <a:r>
              <a:rPr lang="en-US" sz="1400" kern="0" spc="21" dirty="0">
                <a:solidFill>
                  <a:srgbClr val="888080"/>
                </a:solidFill>
                <a:latin typeface="JetBrains Mono" pitchFamily="34" charset="0"/>
                <a:ea typeface="JetBrains Mono" pitchFamily="34" charset="-122"/>
                <a:cs typeface="JetBrains Mono" pitchFamily="34" charset="-120"/>
              </a:rPr>
              <a:t>06</a:t>
            </a:r>
            <a:endParaRPr lang="en-US" sz="1400" dirty="0"/>
          </a:p>
        </p:txBody>
      </p:sp>
      <p:sp>
        <p:nvSpPr>
          <p:cNvPr id="35" name="Text 15">
            <a:extLst>
              <a:ext uri="{FF2B5EF4-FFF2-40B4-BE49-F238E27FC236}">
                <a16:creationId xmlns:a16="http://schemas.microsoft.com/office/drawing/2014/main" id="{6CA707B9-2534-88FF-AE40-1634BF1B57A6}"/>
              </a:ext>
            </a:extLst>
          </p:cNvPr>
          <p:cNvSpPr/>
          <p:nvPr/>
        </p:nvSpPr>
        <p:spPr>
          <a:xfrm>
            <a:off x="533400" y="3032075"/>
            <a:ext cx="1185416" cy="626120"/>
          </a:xfrm>
          <a:prstGeom prst="rect">
            <a:avLst/>
          </a:prstGeom>
          <a:noFill/>
          <a:ln/>
        </p:spPr>
        <p:txBody>
          <a:bodyPr wrap="square" lIns="25400" tIns="25400" rIns="25400" bIns="25400" rtlCol="0" anchor="t">
            <a:normAutofit/>
          </a:bodyPr>
          <a:lstStyle/>
          <a:p>
            <a:pPr marL="0" indent="0" algn="l">
              <a:lnSpc>
                <a:spcPct val="130000"/>
              </a:lnSpc>
              <a:buNone/>
            </a:pPr>
            <a:r>
              <a:rPr lang="en-US" sz="1400" kern="0" spc="21" dirty="0">
                <a:solidFill>
                  <a:srgbClr val="888080"/>
                </a:solidFill>
                <a:latin typeface="Inter" pitchFamily="34" charset="0"/>
                <a:ea typeface="Inter" pitchFamily="34" charset="-122"/>
                <a:cs typeface="Inter" pitchFamily="34" charset="-120"/>
              </a:rPr>
              <a:t>Conclusions</a:t>
            </a:r>
            <a:endParaRPr lang="en-US" sz="1400" dirty="0"/>
          </a:p>
        </p:txBody>
      </p:sp>
      <p:sp>
        <p:nvSpPr>
          <p:cNvPr id="36" name="Text 9">
            <a:extLst>
              <a:ext uri="{FF2B5EF4-FFF2-40B4-BE49-F238E27FC236}">
                <a16:creationId xmlns:a16="http://schemas.microsoft.com/office/drawing/2014/main" id="{26F83AF5-BE8F-C7B8-E56C-0CAEDCB0D351}"/>
              </a:ext>
            </a:extLst>
          </p:cNvPr>
          <p:cNvSpPr/>
          <p:nvPr/>
        </p:nvSpPr>
        <p:spPr>
          <a:xfrm>
            <a:off x="538609" y="2426180"/>
            <a:ext cx="1185416" cy="342476"/>
          </a:xfrm>
          <a:prstGeom prst="rect">
            <a:avLst/>
          </a:prstGeom>
          <a:noFill/>
          <a:ln/>
        </p:spPr>
        <p:txBody>
          <a:bodyPr wrap="square" lIns="25400" tIns="25400" rIns="25400" bIns="25400" rtlCol="0" anchor="t">
            <a:normAutofit/>
          </a:bodyPr>
          <a:lstStyle/>
          <a:p>
            <a:pPr marL="0" indent="0" algn="l">
              <a:lnSpc>
                <a:spcPct val="130000"/>
              </a:lnSpc>
              <a:buNone/>
            </a:pPr>
            <a:r>
              <a:rPr lang="en-US" sz="1400" kern="0" spc="21" dirty="0">
                <a:solidFill>
                  <a:srgbClr val="888080"/>
                </a:solidFill>
                <a:latin typeface="Inter" pitchFamily="34" charset="0"/>
                <a:ea typeface="Inter" pitchFamily="34" charset="-122"/>
                <a:cs typeface="Inter" pitchFamily="34" charset="-120"/>
              </a:rPr>
              <a:t>Pipeline</a:t>
            </a:r>
            <a:endParaRPr lang="en-US" sz="1400" dirty="0"/>
          </a:p>
        </p:txBody>
      </p:sp>
      <p:sp>
        <p:nvSpPr>
          <p:cNvPr id="37" name="Text 7">
            <a:extLst>
              <a:ext uri="{FF2B5EF4-FFF2-40B4-BE49-F238E27FC236}">
                <a16:creationId xmlns:a16="http://schemas.microsoft.com/office/drawing/2014/main" id="{1A01CAA2-7D77-5F3F-5A66-B67EDF3DB83B}"/>
              </a:ext>
            </a:extLst>
          </p:cNvPr>
          <p:cNvSpPr/>
          <p:nvPr/>
        </p:nvSpPr>
        <p:spPr>
          <a:xfrm>
            <a:off x="523875" y="1826620"/>
            <a:ext cx="1325700" cy="467696"/>
          </a:xfrm>
          <a:prstGeom prst="rect">
            <a:avLst/>
          </a:prstGeom>
          <a:noFill/>
          <a:ln/>
        </p:spPr>
        <p:txBody>
          <a:bodyPr wrap="square" lIns="25400" tIns="25400" rIns="25400" bIns="25400" rtlCol="0" anchor="t">
            <a:noAutofit/>
          </a:bodyPr>
          <a:lstStyle/>
          <a:p>
            <a:pPr marL="0" indent="0" algn="l">
              <a:lnSpc>
                <a:spcPct val="130000"/>
              </a:lnSpc>
              <a:buNone/>
            </a:pPr>
            <a:r>
              <a:rPr lang="en-US" sz="1400" kern="0" spc="21" dirty="0">
                <a:solidFill>
                  <a:srgbClr val="888080"/>
                </a:solidFill>
                <a:latin typeface="Inter" pitchFamily="34" charset="0"/>
                <a:ea typeface="Inter" pitchFamily="34" charset="-122"/>
              </a:rPr>
              <a:t>Data &amp; target</a:t>
            </a:r>
          </a:p>
        </p:txBody>
      </p:sp>
      <p:sp>
        <p:nvSpPr>
          <p:cNvPr id="38" name="Text 1">
            <a:extLst>
              <a:ext uri="{FF2B5EF4-FFF2-40B4-BE49-F238E27FC236}">
                <a16:creationId xmlns:a16="http://schemas.microsoft.com/office/drawing/2014/main" id="{4A059E68-3B47-86D2-D7D6-F535297EFEA8}"/>
              </a:ext>
            </a:extLst>
          </p:cNvPr>
          <p:cNvSpPr/>
          <p:nvPr/>
        </p:nvSpPr>
        <p:spPr>
          <a:xfrm>
            <a:off x="261138" y="379598"/>
            <a:ext cx="1778457" cy="447678"/>
          </a:xfrm>
          <a:prstGeom prst="rect">
            <a:avLst/>
          </a:prstGeom>
          <a:noFill/>
          <a:ln/>
        </p:spPr>
        <p:txBody>
          <a:bodyPr wrap="square" lIns="25400" tIns="25400" rIns="25400" bIns="25400" rtlCol="0" anchor="t">
            <a:noAutofit/>
          </a:bodyPr>
          <a:lstStyle/>
          <a:p>
            <a:pPr marL="0" indent="0">
              <a:buNone/>
            </a:pPr>
            <a:r>
              <a:rPr lang="en-US" sz="1400" kern="0" spc="116" dirty="0">
                <a:solidFill>
                  <a:srgbClr val="888080"/>
                </a:solidFill>
                <a:latin typeface="JetBrains Mono" pitchFamily="34" charset="0"/>
                <a:ea typeface="JetBrains Mono" pitchFamily="34" charset="-122"/>
                <a:cs typeface="JetBrains Mono" pitchFamily="34" charset="-120"/>
              </a:rPr>
              <a:t>DS22 - Bar Ilan</a:t>
            </a:r>
            <a:br>
              <a:rPr lang="en-US" sz="1400" kern="0" spc="116" dirty="0">
                <a:solidFill>
                  <a:srgbClr val="888080"/>
                </a:solidFill>
                <a:latin typeface="JetBrains Mono" pitchFamily="34" charset="0"/>
                <a:ea typeface="JetBrains Mono" pitchFamily="34" charset="-122"/>
                <a:cs typeface="JetBrains Mono" pitchFamily="34" charset="-120"/>
              </a:rPr>
            </a:br>
            <a:r>
              <a:rPr lang="en-US" sz="1400" kern="0" spc="116" dirty="0">
                <a:solidFill>
                  <a:srgbClr val="888080"/>
                </a:solidFill>
                <a:latin typeface="JetBrains Mono" pitchFamily="34" charset="0"/>
                <a:ea typeface="JetBrains Mono" pitchFamily="34" charset="-122"/>
                <a:cs typeface="JetBrains Mono" pitchFamily="34" charset="-120"/>
              </a:rPr>
              <a:t>ML PROJECT</a:t>
            </a:r>
          </a:p>
          <a:p>
            <a:pPr marL="0" indent="0">
              <a:buNone/>
            </a:pPr>
            <a:r>
              <a:rPr lang="en-US" sz="1400" kern="0" spc="116" dirty="0">
                <a:solidFill>
                  <a:srgbClr val="888080"/>
                </a:solidFill>
                <a:latin typeface="JetBrains Mono" pitchFamily="34" charset="0"/>
                <a:ea typeface="JetBrains Mono" pitchFamily="34" charset="-122"/>
                <a:cs typeface="JetBrains Mono" pitchFamily="34" charset="-120"/>
              </a:rPr>
              <a:t>MAY 2026</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2">
    <p:bg>
      <p:bgPr>
        <a:solidFill>
          <a:srgbClr val="F5F1E8"/>
        </a:solidFill>
        <a:effectLst/>
      </p:bgPr>
    </p:bg>
    <p:spTree>
      <p:nvGrpSpPr>
        <p:cNvPr id="1" name=""/>
        <p:cNvGrpSpPr/>
        <p:nvPr/>
      </p:nvGrpSpPr>
      <p:grpSpPr>
        <a:xfrm>
          <a:off x="0" y="0"/>
          <a:ext cx="0" cy="0"/>
          <a:chOff x="0" y="0"/>
          <a:chExt cx="0" cy="0"/>
        </a:xfrm>
      </p:grpSpPr>
      <p:sp>
        <p:nvSpPr>
          <p:cNvPr id="2" name="Shape 0"/>
          <p:cNvSpPr/>
          <p:nvPr/>
        </p:nvSpPr>
        <p:spPr>
          <a:xfrm>
            <a:off x="0" y="0"/>
            <a:ext cx="2095500" cy="10287000"/>
          </a:xfrm>
          <a:prstGeom prst="rect">
            <a:avLst/>
          </a:prstGeom>
          <a:solidFill>
            <a:srgbClr val="EBE5D6"/>
          </a:solidFill>
          <a:ln/>
        </p:spPr>
        <p:txBody>
          <a:bodyPr/>
          <a:lstStyle/>
          <a:p>
            <a:endParaRPr lang="he-IL"/>
          </a:p>
        </p:txBody>
      </p:sp>
      <p:sp>
        <p:nvSpPr>
          <p:cNvPr id="3" name="Shape 1"/>
          <p:cNvSpPr/>
          <p:nvPr/>
        </p:nvSpPr>
        <p:spPr>
          <a:xfrm>
            <a:off x="2085975" y="0"/>
            <a:ext cx="9525" cy="10287000"/>
          </a:xfrm>
          <a:prstGeom prst="rect">
            <a:avLst/>
          </a:prstGeom>
          <a:solidFill>
            <a:srgbClr val="D4CDBC"/>
          </a:solidFill>
          <a:ln/>
        </p:spPr>
        <p:txBody>
          <a:bodyPr/>
          <a:lstStyle/>
          <a:p>
            <a:endParaRPr lang="he-IL"/>
          </a:p>
        </p:txBody>
      </p:sp>
      <p:sp>
        <p:nvSpPr>
          <p:cNvPr id="18" name="Text 16"/>
          <p:cNvSpPr/>
          <p:nvPr/>
        </p:nvSpPr>
        <p:spPr>
          <a:xfrm>
            <a:off x="266700" y="9410700"/>
            <a:ext cx="1628775" cy="342900"/>
          </a:xfrm>
          <a:prstGeom prst="rect">
            <a:avLst/>
          </a:prstGeom>
          <a:noFill/>
          <a:ln/>
        </p:spPr>
        <p:txBody>
          <a:bodyPr wrap="square" lIns="25400" tIns="25400" rIns="25400" bIns="25400" rtlCol="0" anchor="t">
            <a:noAutofit/>
          </a:bodyPr>
          <a:lstStyle/>
          <a:p>
            <a:pPr>
              <a:lnSpc>
                <a:spcPct val="160000"/>
              </a:lnSpc>
            </a:pPr>
            <a:r>
              <a:rPr lang="en-US" sz="1400" b="1" kern="0" spc="105" dirty="0">
                <a:solidFill>
                  <a:srgbClr val="1A1A1A"/>
                </a:solidFill>
                <a:latin typeface="JetBrains Mono" pitchFamily="34" charset="0"/>
                <a:ea typeface="JetBrains Mono" pitchFamily="34" charset="-122"/>
                <a:cs typeface="JetBrains Mono" pitchFamily="34" charset="-120"/>
              </a:rPr>
              <a:t>08 / 34</a:t>
            </a:r>
            <a:endParaRPr lang="en-US" sz="1400" dirty="0"/>
          </a:p>
        </p:txBody>
      </p:sp>
      <p:sp>
        <p:nvSpPr>
          <p:cNvPr id="19" name="Text 17"/>
          <p:cNvSpPr/>
          <p:nvPr/>
        </p:nvSpPr>
        <p:spPr>
          <a:xfrm>
            <a:off x="2781300" y="571500"/>
            <a:ext cx="15187041" cy="171450"/>
          </a:xfrm>
          <a:prstGeom prst="rect">
            <a:avLst/>
          </a:prstGeom>
          <a:noFill/>
          <a:ln/>
        </p:spPr>
        <p:txBody>
          <a:bodyPr wrap="square" lIns="25400" tIns="25400" rIns="25400" bIns="25400" rtlCol="0" anchor="ctr">
            <a:noAutofit/>
          </a:bodyPr>
          <a:lstStyle/>
          <a:p>
            <a:pPr marL="0" indent="0" algn="l">
              <a:buNone/>
            </a:pPr>
            <a:r>
              <a:rPr lang="en-US" sz="1400" kern="0" spc="182" dirty="0">
                <a:solidFill>
                  <a:srgbClr val="888080"/>
                </a:solidFill>
                <a:latin typeface="JetBrains Mono" pitchFamily="34" charset="0"/>
                <a:ea typeface="JetBrains Mono" pitchFamily="34" charset="-122"/>
                <a:cs typeface="JetBrains Mono" pitchFamily="34" charset="-120"/>
              </a:rPr>
              <a:t>EDA · OPERATING SCALE</a:t>
            </a:r>
            <a:endParaRPr lang="en-US" sz="1400" dirty="0"/>
          </a:p>
        </p:txBody>
      </p:sp>
      <p:sp>
        <p:nvSpPr>
          <p:cNvPr id="20" name="Text 18"/>
          <p:cNvSpPr/>
          <p:nvPr/>
        </p:nvSpPr>
        <p:spPr>
          <a:xfrm>
            <a:off x="2781300" y="914400"/>
            <a:ext cx="15187041" cy="643830"/>
          </a:xfrm>
          <a:prstGeom prst="rect">
            <a:avLst/>
          </a:prstGeom>
          <a:noFill/>
          <a:ln/>
        </p:spPr>
        <p:txBody>
          <a:bodyPr wrap="square" lIns="25400" tIns="25400" rIns="25400" bIns="25400" rtlCol="0" anchor="t">
            <a:normAutofit fontScale="92500" lnSpcReduction="20000"/>
          </a:bodyPr>
          <a:lstStyle/>
          <a:p>
            <a:pPr marL="0" indent="0" algn="l">
              <a:lnSpc>
                <a:spcPct val="106000"/>
              </a:lnSpc>
              <a:buNone/>
            </a:pPr>
            <a:r>
              <a:rPr lang="en-US" sz="4500" kern="0" spc="-81" dirty="0">
                <a:solidFill>
                  <a:srgbClr val="1A1A1A"/>
                </a:solidFill>
                <a:latin typeface="Instrument Serif" pitchFamily="34" charset="0"/>
                <a:ea typeface="Instrument Serif" pitchFamily="34" charset="-122"/>
                <a:cs typeface="Instrument Serif" pitchFamily="34" charset="-120"/>
              </a:rPr>
              <a:t>A </a:t>
            </a:r>
            <a:r>
              <a:rPr lang="en-US" sz="4500" i="1" kern="0" spc="-81" dirty="0">
                <a:solidFill>
                  <a:srgbClr val="C25A2A"/>
                </a:solidFill>
                <a:latin typeface="Instrument Serif" pitchFamily="34" charset="0"/>
                <a:ea typeface="Instrument Serif" pitchFamily="34" charset="-122"/>
                <a:cs typeface="Instrument Serif" pitchFamily="34" charset="-120"/>
              </a:rPr>
              <a:t>large, dense </a:t>
            </a:r>
            <a:r>
              <a:rPr lang="en-US" sz="4500" kern="0" spc="-81" dirty="0">
                <a:solidFill>
                  <a:srgbClr val="1A1A1A"/>
                </a:solidFill>
                <a:latin typeface="Instrument Serif" pitchFamily="34" charset="0"/>
                <a:ea typeface="Instrument Serif" pitchFamily="34" charset="-122"/>
                <a:cs typeface="Instrument Serif" pitchFamily="34" charset="-120"/>
              </a:rPr>
              <a:t>network.</a:t>
            </a:r>
            <a:endParaRPr lang="en-US" sz="4500" dirty="0"/>
          </a:p>
        </p:txBody>
      </p:sp>
      <p:sp>
        <p:nvSpPr>
          <p:cNvPr id="21" name="Shape 19"/>
          <p:cNvSpPr/>
          <p:nvPr/>
        </p:nvSpPr>
        <p:spPr>
          <a:xfrm>
            <a:off x="2852440" y="3683198"/>
            <a:ext cx="8161586" cy="6379518"/>
          </a:xfrm>
          <a:prstGeom prst="rect">
            <a:avLst/>
          </a:prstGeom>
          <a:solidFill>
            <a:srgbClr val="FFFFFF"/>
          </a:solidFill>
          <a:ln w="9525">
            <a:solidFill>
              <a:srgbClr val="D4CDBC"/>
            </a:solidFill>
            <a:prstDash val="solid"/>
          </a:ln>
        </p:spPr>
        <p:txBody>
          <a:bodyPr/>
          <a:lstStyle/>
          <a:p>
            <a:endParaRPr lang="he-IL"/>
          </a:p>
        </p:txBody>
      </p:sp>
      <p:sp>
        <p:nvSpPr>
          <p:cNvPr id="22" name="Text 20"/>
          <p:cNvSpPr/>
          <p:nvPr/>
        </p:nvSpPr>
        <p:spPr>
          <a:xfrm>
            <a:off x="2976265" y="3807023"/>
            <a:ext cx="2907968" cy="161925"/>
          </a:xfrm>
          <a:prstGeom prst="rect">
            <a:avLst/>
          </a:prstGeom>
          <a:noFill/>
          <a:ln/>
        </p:spPr>
        <p:txBody>
          <a:bodyPr wrap="square" lIns="25400" tIns="25400" rIns="25400" bIns="25400" rtlCol="0" anchor="t">
            <a:normAutofit lnSpcReduction="10000"/>
          </a:bodyPr>
          <a:lstStyle/>
          <a:p>
            <a:pPr marL="0" indent="0" algn="l">
              <a:buNone/>
            </a:pPr>
            <a:r>
              <a:rPr lang="en-US" sz="750" kern="0" spc="120" dirty="0">
                <a:solidFill>
                  <a:srgbClr val="888080"/>
                </a:solidFill>
                <a:latin typeface="JetBrains Mono" pitchFamily="34" charset="0"/>
                <a:ea typeface="JetBrains Mono" pitchFamily="34" charset="-122"/>
                <a:cs typeface="JetBrains Mono" pitchFamily="34" charset="-120"/>
              </a:rPr>
              <a:t>FIG · ROUTE GEOMETRIES · TEL AVIV METRO</a:t>
            </a:r>
            <a:endParaRPr lang="en-US" sz="750" dirty="0"/>
          </a:p>
        </p:txBody>
      </p:sp>
      <p:sp>
        <p:nvSpPr>
          <p:cNvPr id="23" name="Text 21"/>
          <p:cNvSpPr/>
          <p:nvPr/>
        </p:nvSpPr>
        <p:spPr>
          <a:xfrm>
            <a:off x="10093821" y="3807023"/>
            <a:ext cx="872579" cy="161925"/>
          </a:xfrm>
          <a:prstGeom prst="rect">
            <a:avLst/>
          </a:prstGeom>
          <a:noFill/>
          <a:ln/>
        </p:spPr>
        <p:txBody>
          <a:bodyPr wrap="square" lIns="25400" tIns="25400" rIns="25400" bIns="25400" rtlCol="0" anchor="t">
            <a:normAutofit lnSpcReduction="10000"/>
          </a:bodyPr>
          <a:lstStyle/>
          <a:p>
            <a:pPr marL="0" indent="0" algn="l">
              <a:buNone/>
            </a:pPr>
            <a:r>
              <a:rPr lang="en-US" sz="750" kern="0" spc="120" dirty="0">
                <a:solidFill>
                  <a:srgbClr val="888080"/>
                </a:solidFill>
                <a:latin typeface="JetBrains Mono" pitchFamily="34" charset="0"/>
                <a:ea typeface="JetBrains Mono" pitchFamily="34" charset="-122"/>
                <a:cs typeface="JetBrains Mono" pitchFamily="34" charset="-120"/>
              </a:rPr>
              <a:t>DENSITY MAP</a:t>
            </a:r>
            <a:endParaRPr lang="en-US" sz="750" dirty="0"/>
          </a:p>
        </p:txBody>
      </p:sp>
      <p:sp>
        <p:nvSpPr>
          <p:cNvPr id="24" name="Shape 22"/>
          <p:cNvSpPr/>
          <p:nvPr/>
        </p:nvSpPr>
        <p:spPr>
          <a:xfrm>
            <a:off x="2976265" y="4007048"/>
            <a:ext cx="7913936" cy="5931843"/>
          </a:xfrm>
          <a:prstGeom prst="rect">
            <a:avLst/>
          </a:prstGeom>
          <a:solidFill>
            <a:srgbClr val="FFFFFF"/>
          </a:solidFill>
          <a:ln/>
        </p:spPr>
        <p:txBody>
          <a:bodyPr/>
          <a:lstStyle/>
          <a:p>
            <a:endParaRPr lang="he-IL"/>
          </a:p>
        </p:txBody>
      </p:sp>
      <p:pic>
        <p:nvPicPr>
          <p:cNvPr id="25" name="Image 0" descr="preencoded.png"/>
          <p:cNvPicPr>
            <a:picLocks noChangeAspect="1"/>
          </p:cNvPicPr>
          <p:nvPr/>
        </p:nvPicPr>
        <p:blipFill>
          <a:blip r:embed="rId3"/>
          <a:srcRect/>
          <a:stretch/>
        </p:blipFill>
        <p:spPr>
          <a:xfrm>
            <a:off x="2976265" y="4007048"/>
            <a:ext cx="7913936" cy="5931843"/>
          </a:xfrm>
          <a:prstGeom prst="rect">
            <a:avLst/>
          </a:prstGeom>
        </p:spPr>
      </p:pic>
      <p:sp>
        <p:nvSpPr>
          <p:cNvPr id="26" name="Shape 23"/>
          <p:cNvSpPr/>
          <p:nvPr/>
        </p:nvSpPr>
        <p:spPr>
          <a:xfrm>
            <a:off x="2845304" y="1764299"/>
            <a:ext cx="8161585" cy="1763018"/>
          </a:xfrm>
          <a:prstGeom prst="rect">
            <a:avLst/>
          </a:prstGeom>
          <a:solidFill>
            <a:srgbClr val="EBE5D6"/>
          </a:solidFill>
          <a:ln w="9525">
            <a:solidFill>
              <a:srgbClr val="D4CDBC"/>
            </a:solidFill>
            <a:prstDash val="solid"/>
          </a:ln>
        </p:spPr>
        <p:txBody>
          <a:bodyPr/>
          <a:lstStyle/>
          <a:p>
            <a:endParaRPr lang="he-IL"/>
          </a:p>
        </p:txBody>
      </p:sp>
      <p:sp>
        <p:nvSpPr>
          <p:cNvPr id="27" name="Text 24"/>
          <p:cNvSpPr/>
          <p:nvPr/>
        </p:nvSpPr>
        <p:spPr>
          <a:xfrm>
            <a:off x="3890570" y="1869590"/>
            <a:ext cx="6093702" cy="296705"/>
          </a:xfrm>
          <a:prstGeom prst="rect">
            <a:avLst/>
          </a:prstGeom>
          <a:noFill/>
          <a:ln/>
        </p:spPr>
        <p:txBody>
          <a:bodyPr wrap="square" lIns="25400" tIns="25400" rIns="25400" bIns="25400" rtlCol="0" anchor="t">
            <a:normAutofit/>
          </a:bodyPr>
          <a:lstStyle/>
          <a:p>
            <a:pPr marL="0" indent="0" algn="ctr">
              <a:buNone/>
            </a:pPr>
            <a:r>
              <a:rPr lang="en-US" sz="1200" b="1" kern="0" spc="135" dirty="0">
                <a:solidFill>
                  <a:srgbClr val="C25A2A"/>
                </a:solidFill>
                <a:latin typeface="JetBrains Mono" pitchFamily="34" charset="0"/>
                <a:ea typeface="JetBrains Mono" pitchFamily="34" charset="-122"/>
                <a:cs typeface="JetBrains Mono" pitchFamily="34" charset="-120"/>
              </a:rPr>
              <a:t>UNIQUE LINES · APRIL 2024</a:t>
            </a:r>
            <a:endParaRPr lang="en-US" sz="1200" dirty="0"/>
          </a:p>
        </p:txBody>
      </p:sp>
      <p:sp>
        <p:nvSpPr>
          <p:cNvPr id="28" name="Text 25"/>
          <p:cNvSpPr/>
          <p:nvPr/>
        </p:nvSpPr>
        <p:spPr>
          <a:xfrm>
            <a:off x="3890570" y="2304944"/>
            <a:ext cx="6093702" cy="758130"/>
          </a:xfrm>
          <a:prstGeom prst="rect">
            <a:avLst/>
          </a:prstGeom>
          <a:noFill/>
          <a:ln/>
        </p:spPr>
        <p:txBody>
          <a:bodyPr wrap="square" lIns="25400" tIns="25400" rIns="25400" bIns="25400" rtlCol="0" anchor="t">
            <a:normAutofit fontScale="92500" lnSpcReduction="20000"/>
          </a:bodyPr>
          <a:lstStyle/>
          <a:p>
            <a:pPr marL="0" indent="0" algn="ctr">
              <a:lnSpc>
                <a:spcPct val="90000"/>
              </a:lnSpc>
              <a:buNone/>
            </a:pPr>
            <a:r>
              <a:rPr lang="en-US" sz="6300" dirty="0">
                <a:solidFill>
                  <a:srgbClr val="C25A2A"/>
                </a:solidFill>
                <a:latin typeface="Instrument Serif" pitchFamily="34" charset="0"/>
                <a:ea typeface="Instrument Serif" pitchFamily="34" charset="-122"/>
                <a:cs typeface="Instrument Serif" pitchFamily="34" charset="-120"/>
              </a:rPr>
              <a:t>297</a:t>
            </a:r>
            <a:endParaRPr lang="en-US" sz="6300" dirty="0"/>
          </a:p>
        </p:txBody>
      </p:sp>
      <p:sp>
        <p:nvSpPr>
          <p:cNvPr id="29" name="Text 26"/>
          <p:cNvSpPr/>
          <p:nvPr/>
        </p:nvSpPr>
        <p:spPr>
          <a:xfrm>
            <a:off x="3890570" y="2867918"/>
            <a:ext cx="6093702" cy="252413"/>
          </a:xfrm>
          <a:prstGeom prst="rect">
            <a:avLst/>
          </a:prstGeom>
          <a:noFill/>
          <a:ln/>
        </p:spPr>
        <p:txBody>
          <a:bodyPr wrap="square" lIns="25400" tIns="25400" rIns="25400" bIns="25400" rtlCol="0" anchor="t">
            <a:noAutofit/>
          </a:bodyPr>
          <a:lstStyle/>
          <a:p>
            <a:pPr marL="0" indent="0" algn="ctr">
              <a:lnSpc>
                <a:spcPct val="150000"/>
              </a:lnSpc>
              <a:buNone/>
            </a:pPr>
            <a:r>
              <a:rPr lang="en-US" sz="1400" dirty="0">
                <a:solidFill>
                  <a:srgbClr val="4A4A4A"/>
                </a:solidFill>
                <a:latin typeface="Inter" pitchFamily="34" charset="0"/>
                <a:ea typeface="Inter" pitchFamily="34" charset="-122"/>
                <a:cs typeface="Inter" pitchFamily="34" charset="-120"/>
              </a:rPr>
              <a:t>Distinct (agency, line, direction, alt.) combinations in our dataset </a:t>
            </a:r>
            <a:br>
              <a:rPr lang="en-US" sz="1400" dirty="0">
                <a:solidFill>
                  <a:srgbClr val="4A4A4A"/>
                </a:solidFill>
                <a:latin typeface="Inter" pitchFamily="34" charset="0"/>
                <a:ea typeface="Inter" pitchFamily="34" charset="-122"/>
                <a:cs typeface="Inter" pitchFamily="34" charset="-120"/>
              </a:rPr>
            </a:br>
            <a:r>
              <a:rPr lang="en-US" sz="1400" dirty="0">
                <a:solidFill>
                  <a:srgbClr val="4A4A4A"/>
                </a:solidFill>
                <a:latin typeface="Inter" pitchFamily="34" charset="0"/>
                <a:ea typeface="Inter" pitchFamily="34" charset="-122"/>
                <a:cs typeface="Inter" pitchFamily="34" charset="-120"/>
              </a:rPr>
              <a:t>covering bus routes in the Tel Aviv metropolitan area.</a:t>
            </a:r>
            <a:endParaRPr lang="en-US" sz="1400" dirty="0"/>
          </a:p>
        </p:txBody>
      </p:sp>
      <p:sp>
        <p:nvSpPr>
          <p:cNvPr id="30" name="Shape 27"/>
          <p:cNvSpPr/>
          <p:nvPr/>
        </p:nvSpPr>
        <p:spPr>
          <a:xfrm>
            <a:off x="11247686" y="1729680"/>
            <a:ext cx="6278166" cy="8333036"/>
          </a:xfrm>
          <a:prstGeom prst="rect">
            <a:avLst/>
          </a:prstGeom>
          <a:solidFill>
            <a:srgbClr val="FFFFFF"/>
          </a:solidFill>
          <a:ln w="9525">
            <a:solidFill>
              <a:srgbClr val="D4CDBC"/>
            </a:solidFill>
            <a:prstDash val="solid"/>
          </a:ln>
        </p:spPr>
        <p:txBody>
          <a:bodyPr/>
          <a:lstStyle/>
          <a:p>
            <a:endParaRPr lang="he-IL"/>
          </a:p>
        </p:txBody>
      </p:sp>
      <p:sp>
        <p:nvSpPr>
          <p:cNvPr id="31" name="Text 28"/>
          <p:cNvSpPr/>
          <p:nvPr/>
        </p:nvSpPr>
        <p:spPr>
          <a:xfrm>
            <a:off x="11324960" y="1805732"/>
            <a:ext cx="1741289" cy="161925"/>
          </a:xfrm>
          <a:prstGeom prst="rect">
            <a:avLst/>
          </a:prstGeom>
          <a:noFill/>
          <a:ln/>
        </p:spPr>
        <p:txBody>
          <a:bodyPr wrap="square" lIns="25400" tIns="25400" rIns="25400" bIns="25400" rtlCol="0" anchor="t">
            <a:normAutofit lnSpcReduction="10000"/>
          </a:bodyPr>
          <a:lstStyle/>
          <a:p>
            <a:pPr marL="0" indent="0" algn="l">
              <a:buNone/>
            </a:pPr>
            <a:r>
              <a:rPr lang="en-US" sz="750" kern="0" spc="120" dirty="0">
                <a:solidFill>
                  <a:srgbClr val="888080"/>
                </a:solidFill>
                <a:latin typeface="JetBrains Mono" pitchFamily="34" charset="0"/>
                <a:ea typeface="JetBrains Mono" pitchFamily="34" charset="-122"/>
                <a:cs typeface="JetBrains Mono" pitchFamily="34" charset="-120"/>
              </a:rPr>
              <a:t>FIG · NATIONAL COVERAGE</a:t>
            </a:r>
            <a:endParaRPr lang="en-US" sz="750" dirty="0"/>
          </a:p>
        </p:txBody>
      </p:sp>
      <p:sp>
        <p:nvSpPr>
          <p:cNvPr id="32" name="Text 29"/>
          <p:cNvSpPr/>
          <p:nvPr/>
        </p:nvSpPr>
        <p:spPr>
          <a:xfrm>
            <a:off x="16157080" y="1805731"/>
            <a:ext cx="1302097" cy="161925"/>
          </a:xfrm>
          <a:prstGeom prst="rect">
            <a:avLst/>
          </a:prstGeom>
          <a:noFill/>
          <a:ln/>
        </p:spPr>
        <p:txBody>
          <a:bodyPr wrap="square" lIns="25400" tIns="25400" rIns="25400" bIns="25400" rtlCol="0" anchor="t">
            <a:normAutofit lnSpcReduction="10000"/>
          </a:bodyPr>
          <a:lstStyle/>
          <a:p>
            <a:pPr marL="0" indent="0" algn="l">
              <a:buNone/>
            </a:pPr>
            <a:r>
              <a:rPr lang="en-US" sz="750" kern="0" spc="120" dirty="0">
                <a:solidFill>
                  <a:srgbClr val="888080"/>
                </a:solidFill>
                <a:latin typeface="JetBrains Mono" pitchFamily="34" charset="0"/>
                <a:ea typeface="JetBrains Mono" pitchFamily="34" charset="-122"/>
                <a:cs typeface="JetBrains Mono" pitchFamily="34" charset="-120"/>
              </a:rPr>
              <a:t>EILAT ↔ THE NORTH</a:t>
            </a:r>
            <a:endParaRPr lang="en-US" sz="750" dirty="0"/>
          </a:p>
        </p:txBody>
      </p:sp>
      <p:sp>
        <p:nvSpPr>
          <p:cNvPr id="33" name="Shape 30"/>
          <p:cNvSpPr/>
          <p:nvPr/>
        </p:nvSpPr>
        <p:spPr>
          <a:xfrm>
            <a:off x="12052155" y="2112318"/>
            <a:ext cx="4896442" cy="7888486"/>
          </a:xfrm>
          <a:prstGeom prst="rect">
            <a:avLst/>
          </a:prstGeom>
          <a:solidFill>
            <a:srgbClr val="FFFFFF"/>
          </a:solidFill>
          <a:ln/>
        </p:spPr>
        <p:txBody>
          <a:bodyPr/>
          <a:lstStyle/>
          <a:p>
            <a:endParaRPr lang="he-IL"/>
          </a:p>
        </p:txBody>
      </p:sp>
      <p:pic>
        <p:nvPicPr>
          <p:cNvPr id="36" name="Picture 35">
            <a:extLst>
              <a:ext uri="{FF2B5EF4-FFF2-40B4-BE49-F238E27FC236}">
                <a16:creationId xmlns:a16="http://schemas.microsoft.com/office/drawing/2014/main" id="{417A70E1-D18A-FCB9-3D86-8D21E3599243}"/>
              </a:ext>
            </a:extLst>
          </p:cNvPr>
          <p:cNvPicPr>
            <a:picLocks noChangeAspect="1"/>
          </p:cNvPicPr>
          <p:nvPr/>
        </p:nvPicPr>
        <p:blipFill>
          <a:blip r:embed="rId4"/>
          <a:stretch>
            <a:fillRect/>
          </a:stretch>
        </p:blipFill>
        <p:spPr>
          <a:xfrm>
            <a:off x="12127656" y="2188679"/>
            <a:ext cx="4625741" cy="7750212"/>
          </a:xfrm>
          <a:prstGeom prst="rect">
            <a:avLst/>
          </a:prstGeom>
        </p:spPr>
      </p:pic>
      <p:sp>
        <p:nvSpPr>
          <p:cNvPr id="34" name="Text 4">
            <a:extLst>
              <a:ext uri="{FF2B5EF4-FFF2-40B4-BE49-F238E27FC236}">
                <a16:creationId xmlns:a16="http://schemas.microsoft.com/office/drawing/2014/main" id="{F07024C4-2180-EFBA-BA2D-57550F8C02FC}"/>
              </a:ext>
            </a:extLst>
          </p:cNvPr>
          <p:cNvSpPr/>
          <p:nvPr/>
        </p:nvSpPr>
        <p:spPr>
          <a:xfrm>
            <a:off x="228063" y="1524367"/>
            <a:ext cx="372012" cy="200025"/>
          </a:xfrm>
          <a:prstGeom prst="rect">
            <a:avLst/>
          </a:prstGeom>
          <a:noFill/>
          <a:ln/>
        </p:spPr>
        <p:txBody>
          <a:bodyPr wrap="square" lIns="25400" tIns="25400" rIns="25400" bIns="25400" rtlCol="0" anchor="t">
            <a:noAutofit/>
          </a:bodyPr>
          <a:lstStyle/>
          <a:p>
            <a:pPr marL="0" indent="0" algn="l">
              <a:lnSpc>
                <a:spcPct val="130000"/>
              </a:lnSpc>
              <a:buNone/>
            </a:pPr>
            <a:r>
              <a:rPr lang="en-US" sz="1400" kern="0" spc="21" dirty="0">
                <a:solidFill>
                  <a:srgbClr val="888080"/>
                </a:solidFill>
                <a:latin typeface="Inter" pitchFamily="34" charset="0"/>
                <a:ea typeface="Inter" pitchFamily="34" charset="-122"/>
              </a:rPr>
              <a:t>01</a:t>
            </a:r>
          </a:p>
        </p:txBody>
      </p:sp>
      <p:sp>
        <p:nvSpPr>
          <p:cNvPr id="35" name="Text 5">
            <a:extLst>
              <a:ext uri="{FF2B5EF4-FFF2-40B4-BE49-F238E27FC236}">
                <a16:creationId xmlns:a16="http://schemas.microsoft.com/office/drawing/2014/main" id="{195C74A4-5A72-A181-C9C3-580967058725}"/>
              </a:ext>
            </a:extLst>
          </p:cNvPr>
          <p:cNvSpPr/>
          <p:nvPr/>
        </p:nvSpPr>
        <p:spPr>
          <a:xfrm>
            <a:off x="523875" y="1522975"/>
            <a:ext cx="876300" cy="476251"/>
          </a:xfrm>
          <a:prstGeom prst="rect">
            <a:avLst/>
          </a:prstGeom>
          <a:noFill/>
          <a:ln/>
        </p:spPr>
        <p:txBody>
          <a:bodyPr wrap="square" lIns="25400" tIns="25400" rIns="25400" bIns="25400" rtlCol="0" anchor="t">
            <a:normAutofit/>
          </a:bodyPr>
          <a:lstStyle/>
          <a:p>
            <a:pPr marL="0" indent="0" algn="l">
              <a:lnSpc>
                <a:spcPct val="130000"/>
              </a:lnSpc>
              <a:buNone/>
            </a:pPr>
            <a:r>
              <a:rPr lang="en-US" sz="1400" kern="0" spc="21" dirty="0">
                <a:solidFill>
                  <a:srgbClr val="888080"/>
                </a:solidFill>
                <a:latin typeface="Inter" pitchFamily="34" charset="0"/>
                <a:ea typeface="Inter" pitchFamily="34" charset="-122"/>
              </a:rPr>
              <a:t>Agenda</a:t>
            </a:r>
          </a:p>
        </p:txBody>
      </p:sp>
      <p:sp>
        <p:nvSpPr>
          <p:cNvPr id="37" name="Text 6">
            <a:extLst>
              <a:ext uri="{FF2B5EF4-FFF2-40B4-BE49-F238E27FC236}">
                <a16:creationId xmlns:a16="http://schemas.microsoft.com/office/drawing/2014/main" id="{B6AF5C06-6E8F-E72A-6D28-C2250285FE6D}"/>
              </a:ext>
            </a:extLst>
          </p:cNvPr>
          <p:cNvSpPr/>
          <p:nvPr/>
        </p:nvSpPr>
        <p:spPr>
          <a:xfrm>
            <a:off x="228063" y="1830953"/>
            <a:ext cx="372010" cy="194877"/>
          </a:xfrm>
          <a:prstGeom prst="rect">
            <a:avLst/>
          </a:prstGeom>
          <a:noFill/>
          <a:ln/>
        </p:spPr>
        <p:txBody>
          <a:bodyPr wrap="square" lIns="25400" tIns="25400" rIns="25400" bIns="25400" rtlCol="0" anchor="t">
            <a:noAutofit/>
          </a:bodyPr>
          <a:lstStyle/>
          <a:p>
            <a:pPr marL="0" indent="0" algn="l">
              <a:lnSpc>
                <a:spcPct val="130000"/>
              </a:lnSpc>
              <a:buNone/>
            </a:pPr>
            <a:r>
              <a:rPr lang="en-US" sz="1400" kern="0" spc="21" dirty="0">
                <a:solidFill>
                  <a:srgbClr val="888080"/>
                </a:solidFill>
                <a:latin typeface="Inter" pitchFamily="34" charset="0"/>
                <a:ea typeface="Inter" pitchFamily="34" charset="-122"/>
              </a:rPr>
              <a:t>02</a:t>
            </a:r>
          </a:p>
        </p:txBody>
      </p:sp>
      <p:sp>
        <p:nvSpPr>
          <p:cNvPr id="38" name="Text 8">
            <a:extLst>
              <a:ext uri="{FF2B5EF4-FFF2-40B4-BE49-F238E27FC236}">
                <a16:creationId xmlns:a16="http://schemas.microsoft.com/office/drawing/2014/main" id="{35F43B69-1D64-8997-CD45-95D6C62774C7}"/>
              </a:ext>
            </a:extLst>
          </p:cNvPr>
          <p:cNvSpPr/>
          <p:nvPr/>
        </p:nvSpPr>
        <p:spPr>
          <a:xfrm>
            <a:off x="230504" y="2152895"/>
            <a:ext cx="302895" cy="141422"/>
          </a:xfrm>
          <a:prstGeom prst="rect">
            <a:avLst/>
          </a:prstGeom>
          <a:noFill/>
          <a:ln/>
        </p:spPr>
        <p:txBody>
          <a:bodyPr wrap="square" lIns="25400" tIns="25400" rIns="25400" bIns="25400" rtlCol="0" anchor="t">
            <a:noAutofit/>
          </a:bodyPr>
          <a:lstStyle/>
          <a:p>
            <a:pPr marL="0" indent="0" algn="l">
              <a:lnSpc>
                <a:spcPct val="130000"/>
              </a:lnSpc>
              <a:buNone/>
            </a:pPr>
            <a:r>
              <a:rPr lang="en-US" sz="1400" b="1" kern="0" spc="21" dirty="0">
                <a:solidFill>
                  <a:srgbClr val="C25A2A"/>
                </a:solidFill>
                <a:latin typeface="JetBrains Mono" pitchFamily="34" charset="0"/>
                <a:ea typeface="JetBrains Mono" pitchFamily="34" charset="-122"/>
              </a:rPr>
              <a:t>03</a:t>
            </a:r>
          </a:p>
        </p:txBody>
      </p:sp>
      <p:sp>
        <p:nvSpPr>
          <p:cNvPr id="39" name="Text 9">
            <a:extLst>
              <a:ext uri="{FF2B5EF4-FFF2-40B4-BE49-F238E27FC236}">
                <a16:creationId xmlns:a16="http://schemas.microsoft.com/office/drawing/2014/main" id="{1B93447D-35F2-29C1-E1CA-920DAE32CBD9}"/>
              </a:ext>
            </a:extLst>
          </p:cNvPr>
          <p:cNvSpPr/>
          <p:nvPr/>
        </p:nvSpPr>
        <p:spPr>
          <a:xfrm>
            <a:off x="531240" y="2145027"/>
            <a:ext cx="1185416" cy="342476"/>
          </a:xfrm>
          <a:prstGeom prst="rect">
            <a:avLst/>
          </a:prstGeom>
          <a:noFill/>
          <a:ln/>
        </p:spPr>
        <p:txBody>
          <a:bodyPr wrap="square" lIns="25400" tIns="25400" rIns="25400" bIns="25400" rtlCol="0" anchor="t">
            <a:normAutofit/>
          </a:bodyPr>
          <a:lstStyle/>
          <a:p>
            <a:pPr marL="0" indent="0" algn="l">
              <a:lnSpc>
                <a:spcPct val="130000"/>
              </a:lnSpc>
              <a:buNone/>
            </a:pPr>
            <a:r>
              <a:rPr lang="en-US" sz="1400" kern="0" spc="21" dirty="0">
                <a:solidFill>
                  <a:srgbClr val="1A1A1A"/>
                </a:solidFill>
                <a:latin typeface="Inter" pitchFamily="34" charset="0"/>
                <a:ea typeface="Inter" pitchFamily="34" charset="-122"/>
              </a:rPr>
              <a:t>EDA</a:t>
            </a:r>
          </a:p>
        </p:txBody>
      </p:sp>
      <p:sp>
        <p:nvSpPr>
          <p:cNvPr id="40" name="Text 10">
            <a:extLst>
              <a:ext uri="{FF2B5EF4-FFF2-40B4-BE49-F238E27FC236}">
                <a16:creationId xmlns:a16="http://schemas.microsoft.com/office/drawing/2014/main" id="{3C06F75D-4B4D-C318-8A6B-DADE5B76D892}"/>
              </a:ext>
            </a:extLst>
          </p:cNvPr>
          <p:cNvSpPr/>
          <p:nvPr/>
        </p:nvSpPr>
        <p:spPr>
          <a:xfrm>
            <a:off x="228062" y="2444125"/>
            <a:ext cx="305337" cy="172132"/>
          </a:xfrm>
          <a:prstGeom prst="rect">
            <a:avLst/>
          </a:prstGeom>
          <a:noFill/>
          <a:ln/>
        </p:spPr>
        <p:txBody>
          <a:bodyPr wrap="square" lIns="25400" tIns="25400" rIns="25400" bIns="25400" rtlCol="0" anchor="t">
            <a:noAutofit/>
          </a:bodyPr>
          <a:lstStyle/>
          <a:p>
            <a:pPr marL="0" indent="0" algn="l">
              <a:lnSpc>
                <a:spcPct val="130000"/>
              </a:lnSpc>
              <a:buNone/>
            </a:pPr>
            <a:r>
              <a:rPr lang="en-US" sz="1400" kern="0" spc="21" dirty="0">
                <a:solidFill>
                  <a:srgbClr val="888080"/>
                </a:solidFill>
                <a:latin typeface="JetBrains Mono" pitchFamily="34" charset="0"/>
                <a:ea typeface="JetBrains Mono" pitchFamily="34" charset="-122"/>
                <a:cs typeface="JetBrains Mono" pitchFamily="34" charset="-120"/>
              </a:rPr>
              <a:t>04</a:t>
            </a:r>
            <a:endParaRPr lang="en-US" sz="1400" dirty="0"/>
          </a:p>
        </p:txBody>
      </p:sp>
      <p:sp>
        <p:nvSpPr>
          <p:cNvPr id="41" name="Text 12">
            <a:extLst>
              <a:ext uri="{FF2B5EF4-FFF2-40B4-BE49-F238E27FC236}">
                <a16:creationId xmlns:a16="http://schemas.microsoft.com/office/drawing/2014/main" id="{885A7592-3829-C9D3-80C4-F27E37439D10}"/>
              </a:ext>
            </a:extLst>
          </p:cNvPr>
          <p:cNvSpPr/>
          <p:nvPr/>
        </p:nvSpPr>
        <p:spPr>
          <a:xfrm>
            <a:off x="228062" y="2750711"/>
            <a:ext cx="372011" cy="158880"/>
          </a:xfrm>
          <a:prstGeom prst="rect">
            <a:avLst/>
          </a:prstGeom>
          <a:noFill/>
          <a:ln/>
        </p:spPr>
        <p:txBody>
          <a:bodyPr wrap="square" lIns="25400" tIns="25400" rIns="25400" bIns="25400" rtlCol="0" anchor="t">
            <a:noAutofit/>
          </a:bodyPr>
          <a:lstStyle/>
          <a:p>
            <a:pPr marL="0" indent="0" algn="l">
              <a:lnSpc>
                <a:spcPct val="130000"/>
              </a:lnSpc>
              <a:buNone/>
            </a:pPr>
            <a:r>
              <a:rPr lang="en-US" sz="1400" kern="0" spc="21" dirty="0">
                <a:solidFill>
                  <a:srgbClr val="888080"/>
                </a:solidFill>
                <a:latin typeface="JetBrains Mono" pitchFamily="34" charset="0"/>
                <a:ea typeface="JetBrains Mono" pitchFamily="34" charset="-122"/>
                <a:cs typeface="JetBrains Mono" pitchFamily="34" charset="-120"/>
              </a:rPr>
              <a:t>05</a:t>
            </a:r>
            <a:endParaRPr lang="en-US" sz="1400" dirty="0"/>
          </a:p>
        </p:txBody>
      </p:sp>
      <p:sp>
        <p:nvSpPr>
          <p:cNvPr id="42" name="Text 13">
            <a:extLst>
              <a:ext uri="{FF2B5EF4-FFF2-40B4-BE49-F238E27FC236}">
                <a16:creationId xmlns:a16="http://schemas.microsoft.com/office/drawing/2014/main" id="{4B3C64D4-8F72-CD19-9525-4C7A03FD2E36}"/>
              </a:ext>
            </a:extLst>
          </p:cNvPr>
          <p:cNvSpPr/>
          <p:nvPr/>
        </p:nvSpPr>
        <p:spPr>
          <a:xfrm>
            <a:off x="533399" y="2725489"/>
            <a:ext cx="948333" cy="761256"/>
          </a:xfrm>
          <a:prstGeom prst="rect">
            <a:avLst/>
          </a:prstGeom>
          <a:noFill/>
          <a:ln/>
        </p:spPr>
        <p:txBody>
          <a:bodyPr wrap="square" lIns="25400" tIns="25400" rIns="25400" bIns="25400" rtlCol="0" anchor="t">
            <a:normAutofit/>
          </a:bodyPr>
          <a:lstStyle/>
          <a:p>
            <a:pPr marL="0" indent="0" algn="l">
              <a:lnSpc>
                <a:spcPct val="130000"/>
              </a:lnSpc>
              <a:buNone/>
            </a:pPr>
            <a:r>
              <a:rPr lang="en-US" sz="1400" kern="0" spc="21" dirty="0">
                <a:solidFill>
                  <a:srgbClr val="888080"/>
                </a:solidFill>
                <a:latin typeface="Inter" pitchFamily="34" charset="0"/>
                <a:ea typeface="Inter" pitchFamily="34" charset="-122"/>
                <a:cs typeface="Inter" pitchFamily="34" charset="-120"/>
              </a:rPr>
              <a:t>Modeling</a:t>
            </a:r>
            <a:endParaRPr lang="en-US" sz="1400" dirty="0"/>
          </a:p>
        </p:txBody>
      </p:sp>
      <p:sp>
        <p:nvSpPr>
          <p:cNvPr id="43" name="Text 14">
            <a:extLst>
              <a:ext uri="{FF2B5EF4-FFF2-40B4-BE49-F238E27FC236}">
                <a16:creationId xmlns:a16="http://schemas.microsoft.com/office/drawing/2014/main" id="{57E7E305-E352-6189-0A1F-CDB06EA15447}"/>
              </a:ext>
            </a:extLst>
          </p:cNvPr>
          <p:cNvSpPr/>
          <p:nvPr/>
        </p:nvSpPr>
        <p:spPr>
          <a:xfrm>
            <a:off x="235683" y="3042056"/>
            <a:ext cx="372010" cy="191463"/>
          </a:xfrm>
          <a:prstGeom prst="rect">
            <a:avLst/>
          </a:prstGeom>
          <a:noFill/>
          <a:ln/>
        </p:spPr>
        <p:txBody>
          <a:bodyPr wrap="square" lIns="25400" tIns="25400" rIns="25400" bIns="25400" rtlCol="0" anchor="t">
            <a:noAutofit/>
          </a:bodyPr>
          <a:lstStyle/>
          <a:p>
            <a:pPr marL="0" indent="0" algn="l">
              <a:lnSpc>
                <a:spcPct val="130000"/>
              </a:lnSpc>
              <a:buNone/>
            </a:pPr>
            <a:r>
              <a:rPr lang="en-US" sz="1400" kern="0" spc="21" dirty="0">
                <a:solidFill>
                  <a:srgbClr val="888080"/>
                </a:solidFill>
                <a:latin typeface="JetBrains Mono" pitchFamily="34" charset="0"/>
                <a:ea typeface="JetBrains Mono" pitchFamily="34" charset="-122"/>
                <a:cs typeface="JetBrains Mono" pitchFamily="34" charset="-120"/>
              </a:rPr>
              <a:t>06</a:t>
            </a:r>
            <a:endParaRPr lang="en-US" sz="1400" dirty="0"/>
          </a:p>
        </p:txBody>
      </p:sp>
      <p:sp>
        <p:nvSpPr>
          <p:cNvPr id="44" name="Text 15">
            <a:extLst>
              <a:ext uri="{FF2B5EF4-FFF2-40B4-BE49-F238E27FC236}">
                <a16:creationId xmlns:a16="http://schemas.microsoft.com/office/drawing/2014/main" id="{1ACB2313-5C35-66E6-151B-03697123CF78}"/>
              </a:ext>
            </a:extLst>
          </p:cNvPr>
          <p:cNvSpPr/>
          <p:nvPr/>
        </p:nvSpPr>
        <p:spPr>
          <a:xfrm>
            <a:off x="533400" y="3032075"/>
            <a:ext cx="1185416" cy="626120"/>
          </a:xfrm>
          <a:prstGeom prst="rect">
            <a:avLst/>
          </a:prstGeom>
          <a:noFill/>
          <a:ln/>
        </p:spPr>
        <p:txBody>
          <a:bodyPr wrap="square" lIns="25400" tIns="25400" rIns="25400" bIns="25400" rtlCol="0" anchor="t">
            <a:normAutofit/>
          </a:bodyPr>
          <a:lstStyle/>
          <a:p>
            <a:pPr marL="0" indent="0" algn="l">
              <a:lnSpc>
                <a:spcPct val="130000"/>
              </a:lnSpc>
              <a:buNone/>
            </a:pPr>
            <a:r>
              <a:rPr lang="en-US" sz="1400" kern="0" spc="21" dirty="0">
                <a:solidFill>
                  <a:srgbClr val="888080"/>
                </a:solidFill>
                <a:latin typeface="Inter" pitchFamily="34" charset="0"/>
                <a:ea typeface="Inter" pitchFamily="34" charset="-122"/>
                <a:cs typeface="Inter" pitchFamily="34" charset="-120"/>
              </a:rPr>
              <a:t>Conclusions</a:t>
            </a:r>
            <a:endParaRPr lang="en-US" sz="1400" dirty="0"/>
          </a:p>
        </p:txBody>
      </p:sp>
      <p:sp>
        <p:nvSpPr>
          <p:cNvPr id="45" name="Text 9">
            <a:extLst>
              <a:ext uri="{FF2B5EF4-FFF2-40B4-BE49-F238E27FC236}">
                <a16:creationId xmlns:a16="http://schemas.microsoft.com/office/drawing/2014/main" id="{402BFC67-E75C-5007-242A-AE0033BB9233}"/>
              </a:ext>
            </a:extLst>
          </p:cNvPr>
          <p:cNvSpPr/>
          <p:nvPr/>
        </p:nvSpPr>
        <p:spPr>
          <a:xfrm>
            <a:off x="538609" y="2426180"/>
            <a:ext cx="1185416" cy="342476"/>
          </a:xfrm>
          <a:prstGeom prst="rect">
            <a:avLst/>
          </a:prstGeom>
          <a:noFill/>
          <a:ln/>
        </p:spPr>
        <p:txBody>
          <a:bodyPr wrap="square" lIns="25400" tIns="25400" rIns="25400" bIns="25400" rtlCol="0" anchor="t">
            <a:normAutofit/>
          </a:bodyPr>
          <a:lstStyle/>
          <a:p>
            <a:pPr marL="0" indent="0" algn="l">
              <a:lnSpc>
                <a:spcPct val="130000"/>
              </a:lnSpc>
              <a:buNone/>
            </a:pPr>
            <a:r>
              <a:rPr lang="en-US" sz="1400" kern="0" spc="21" dirty="0">
                <a:solidFill>
                  <a:srgbClr val="888080"/>
                </a:solidFill>
                <a:latin typeface="Inter" pitchFamily="34" charset="0"/>
                <a:ea typeface="Inter" pitchFamily="34" charset="-122"/>
                <a:cs typeface="Inter" pitchFamily="34" charset="-120"/>
              </a:rPr>
              <a:t>Pipeline</a:t>
            </a:r>
            <a:endParaRPr lang="en-US" sz="1400" dirty="0"/>
          </a:p>
        </p:txBody>
      </p:sp>
      <p:sp>
        <p:nvSpPr>
          <p:cNvPr id="46" name="Text 7">
            <a:extLst>
              <a:ext uri="{FF2B5EF4-FFF2-40B4-BE49-F238E27FC236}">
                <a16:creationId xmlns:a16="http://schemas.microsoft.com/office/drawing/2014/main" id="{49DB5845-CFDD-72AA-84A5-5BDE9838C1A1}"/>
              </a:ext>
            </a:extLst>
          </p:cNvPr>
          <p:cNvSpPr/>
          <p:nvPr/>
        </p:nvSpPr>
        <p:spPr>
          <a:xfrm>
            <a:off x="523875" y="1826620"/>
            <a:ext cx="1325700" cy="467696"/>
          </a:xfrm>
          <a:prstGeom prst="rect">
            <a:avLst/>
          </a:prstGeom>
          <a:noFill/>
          <a:ln/>
        </p:spPr>
        <p:txBody>
          <a:bodyPr wrap="square" lIns="25400" tIns="25400" rIns="25400" bIns="25400" rtlCol="0" anchor="t">
            <a:noAutofit/>
          </a:bodyPr>
          <a:lstStyle/>
          <a:p>
            <a:pPr marL="0" indent="0" algn="l">
              <a:lnSpc>
                <a:spcPct val="130000"/>
              </a:lnSpc>
              <a:buNone/>
            </a:pPr>
            <a:r>
              <a:rPr lang="en-US" sz="1400" kern="0" spc="21" dirty="0">
                <a:solidFill>
                  <a:srgbClr val="888080"/>
                </a:solidFill>
                <a:latin typeface="Inter" pitchFamily="34" charset="0"/>
                <a:ea typeface="Inter" pitchFamily="34" charset="-122"/>
              </a:rPr>
              <a:t>Data &amp; target</a:t>
            </a:r>
          </a:p>
        </p:txBody>
      </p:sp>
      <p:sp>
        <p:nvSpPr>
          <p:cNvPr id="47" name="Text 1">
            <a:extLst>
              <a:ext uri="{FF2B5EF4-FFF2-40B4-BE49-F238E27FC236}">
                <a16:creationId xmlns:a16="http://schemas.microsoft.com/office/drawing/2014/main" id="{2FBE01B2-3E19-D193-A66E-A51A05485209}"/>
              </a:ext>
            </a:extLst>
          </p:cNvPr>
          <p:cNvSpPr/>
          <p:nvPr/>
        </p:nvSpPr>
        <p:spPr>
          <a:xfrm>
            <a:off x="261138" y="379598"/>
            <a:ext cx="1778457" cy="447678"/>
          </a:xfrm>
          <a:prstGeom prst="rect">
            <a:avLst/>
          </a:prstGeom>
          <a:noFill/>
          <a:ln/>
        </p:spPr>
        <p:txBody>
          <a:bodyPr wrap="square" lIns="25400" tIns="25400" rIns="25400" bIns="25400" rtlCol="0" anchor="t">
            <a:noAutofit/>
          </a:bodyPr>
          <a:lstStyle/>
          <a:p>
            <a:pPr marL="0" indent="0">
              <a:buNone/>
            </a:pPr>
            <a:r>
              <a:rPr lang="en-US" sz="1400" kern="0" spc="116" dirty="0">
                <a:solidFill>
                  <a:srgbClr val="888080"/>
                </a:solidFill>
                <a:latin typeface="JetBrains Mono" pitchFamily="34" charset="0"/>
                <a:ea typeface="JetBrains Mono" pitchFamily="34" charset="-122"/>
                <a:cs typeface="JetBrains Mono" pitchFamily="34" charset="-120"/>
              </a:rPr>
              <a:t>DS22 - Bar Ilan</a:t>
            </a:r>
            <a:br>
              <a:rPr lang="en-US" sz="1400" kern="0" spc="116" dirty="0">
                <a:solidFill>
                  <a:srgbClr val="888080"/>
                </a:solidFill>
                <a:latin typeface="JetBrains Mono" pitchFamily="34" charset="0"/>
                <a:ea typeface="JetBrains Mono" pitchFamily="34" charset="-122"/>
                <a:cs typeface="JetBrains Mono" pitchFamily="34" charset="-120"/>
              </a:rPr>
            </a:br>
            <a:r>
              <a:rPr lang="en-US" sz="1400" kern="0" spc="116" dirty="0">
                <a:solidFill>
                  <a:srgbClr val="888080"/>
                </a:solidFill>
                <a:latin typeface="JetBrains Mono" pitchFamily="34" charset="0"/>
                <a:ea typeface="JetBrains Mono" pitchFamily="34" charset="-122"/>
                <a:cs typeface="JetBrains Mono" pitchFamily="34" charset="-120"/>
              </a:rPr>
              <a:t>ML PROJECT</a:t>
            </a:r>
          </a:p>
          <a:p>
            <a:pPr marL="0" indent="0">
              <a:buNone/>
            </a:pPr>
            <a:r>
              <a:rPr lang="en-US" sz="1400" kern="0" spc="116" dirty="0">
                <a:solidFill>
                  <a:srgbClr val="888080"/>
                </a:solidFill>
                <a:latin typeface="JetBrains Mono" pitchFamily="34" charset="0"/>
                <a:ea typeface="JetBrains Mono" pitchFamily="34" charset="-122"/>
                <a:cs typeface="JetBrains Mono" pitchFamily="34" charset="-120"/>
              </a:rPr>
              <a:t>MAY 2026</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5">
    <p:bg>
      <p:bgPr>
        <a:solidFill>
          <a:srgbClr val="F5F1E8"/>
        </a:solidFill>
        <a:effectLst/>
      </p:bgPr>
    </p:bg>
    <p:spTree>
      <p:nvGrpSpPr>
        <p:cNvPr id="1" name=""/>
        <p:cNvGrpSpPr/>
        <p:nvPr/>
      </p:nvGrpSpPr>
      <p:grpSpPr>
        <a:xfrm>
          <a:off x="0" y="0"/>
          <a:ext cx="0" cy="0"/>
          <a:chOff x="0" y="0"/>
          <a:chExt cx="0" cy="0"/>
        </a:xfrm>
      </p:grpSpPr>
      <p:sp>
        <p:nvSpPr>
          <p:cNvPr id="2" name="Shape 0"/>
          <p:cNvSpPr/>
          <p:nvPr/>
        </p:nvSpPr>
        <p:spPr>
          <a:xfrm>
            <a:off x="0" y="0"/>
            <a:ext cx="2095500" cy="10287000"/>
          </a:xfrm>
          <a:prstGeom prst="rect">
            <a:avLst/>
          </a:prstGeom>
          <a:solidFill>
            <a:srgbClr val="EBE5D6"/>
          </a:solidFill>
          <a:ln/>
        </p:spPr>
        <p:txBody>
          <a:bodyPr/>
          <a:lstStyle/>
          <a:p>
            <a:endParaRPr lang="he-IL"/>
          </a:p>
        </p:txBody>
      </p:sp>
      <p:sp>
        <p:nvSpPr>
          <p:cNvPr id="3" name="Shape 1"/>
          <p:cNvSpPr/>
          <p:nvPr/>
        </p:nvSpPr>
        <p:spPr>
          <a:xfrm>
            <a:off x="2085975" y="0"/>
            <a:ext cx="9525" cy="10287000"/>
          </a:xfrm>
          <a:prstGeom prst="rect">
            <a:avLst/>
          </a:prstGeom>
          <a:solidFill>
            <a:srgbClr val="D4CDBC"/>
          </a:solidFill>
          <a:ln/>
        </p:spPr>
        <p:txBody>
          <a:bodyPr/>
          <a:lstStyle/>
          <a:p>
            <a:endParaRPr lang="he-IL"/>
          </a:p>
        </p:txBody>
      </p:sp>
      <p:sp>
        <p:nvSpPr>
          <p:cNvPr id="19" name="Text 17"/>
          <p:cNvSpPr/>
          <p:nvPr/>
        </p:nvSpPr>
        <p:spPr>
          <a:xfrm>
            <a:off x="2781300" y="571500"/>
            <a:ext cx="15187041" cy="171450"/>
          </a:xfrm>
          <a:prstGeom prst="rect">
            <a:avLst/>
          </a:prstGeom>
          <a:noFill/>
          <a:ln/>
        </p:spPr>
        <p:txBody>
          <a:bodyPr wrap="square" lIns="25400" tIns="25400" rIns="25400" bIns="25400" rtlCol="0" anchor="ctr">
            <a:noAutofit/>
          </a:bodyPr>
          <a:lstStyle/>
          <a:p>
            <a:pPr marL="0" indent="0" algn="l">
              <a:buNone/>
            </a:pPr>
            <a:r>
              <a:rPr lang="en-US" sz="1400" kern="0" spc="182" dirty="0">
                <a:solidFill>
                  <a:srgbClr val="888080"/>
                </a:solidFill>
                <a:latin typeface="JetBrains Mono" pitchFamily="34" charset="0"/>
                <a:ea typeface="JetBrains Mono" pitchFamily="34" charset="-122"/>
                <a:cs typeface="JetBrains Mono" pitchFamily="34" charset="-120"/>
              </a:rPr>
              <a:t>EDA · ROUTE LENGTH DISTRIBUTION</a:t>
            </a:r>
            <a:endParaRPr lang="en-US" sz="1400" dirty="0"/>
          </a:p>
        </p:txBody>
      </p:sp>
      <p:sp>
        <p:nvSpPr>
          <p:cNvPr id="20" name="Text 18"/>
          <p:cNvSpPr/>
          <p:nvPr/>
        </p:nvSpPr>
        <p:spPr>
          <a:xfrm>
            <a:off x="2781300" y="914400"/>
            <a:ext cx="15187041" cy="643830"/>
          </a:xfrm>
          <a:prstGeom prst="rect">
            <a:avLst/>
          </a:prstGeom>
          <a:noFill/>
          <a:ln/>
        </p:spPr>
        <p:txBody>
          <a:bodyPr wrap="square" lIns="25400" tIns="25400" rIns="25400" bIns="25400" rtlCol="0" anchor="t">
            <a:normAutofit fontScale="92500" lnSpcReduction="20000"/>
          </a:bodyPr>
          <a:lstStyle/>
          <a:p>
            <a:pPr marL="0" indent="0" algn="l">
              <a:lnSpc>
                <a:spcPct val="106000"/>
              </a:lnSpc>
              <a:buNone/>
            </a:pPr>
            <a:r>
              <a:rPr lang="en-US" sz="4500" kern="0" spc="-81" dirty="0">
                <a:solidFill>
                  <a:srgbClr val="1A1A1A"/>
                </a:solidFill>
                <a:latin typeface="Instrument Serif" pitchFamily="34" charset="0"/>
                <a:ea typeface="Instrument Serif" pitchFamily="34" charset="-122"/>
                <a:cs typeface="Instrument Serif" pitchFamily="34" charset="-120"/>
              </a:rPr>
              <a:t>A heavy long </a:t>
            </a:r>
            <a:r>
              <a:rPr lang="en-US" sz="4500" i="1" kern="0" spc="-81" dirty="0">
                <a:solidFill>
                  <a:srgbClr val="C25A2A"/>
                </a:solidFill>
                <a:latin typeface="Instrument Serif" pitchFamily="34" charset="0"/>
                <a:ea typeface="Instrument Serif" pitchFamily="34" charset="-122"/>
                <a:cs typeface="Instrument Serif" pitchFamily="34" charset="-120"/>
              </a:rPr>
              <a:t>tail.</a:t>
            </a:r>
            <a:endParaRPr lang="en-US" sz="4500" dirty="0"/>
          </a:p>
        </p:txBody>
      </p:sp>
      <p:sp>
        <p:nvSpPr>
          <p:cNvPr id="21" name="Shape 19"/>
          <p:cNvSpPr/>
          <p:nvPr/>
        </p:nvSpPr>
        <p:spPr>
          <a:xfrm>
            <a:off x="2781300" y="1748730"/>
            <a:ext cx="8423225" cy="5969794"/>
          </a:xfrm>
          <a:prstGeom prst="rect">
            <a:avLst/>
          </a:prstGeom>
          <a:solidFill>
            <a:srgbClr val="FFFFFF"/>
          </a:solidFill>
          <a:ln w="9525">
            <a:solidFill>
              <a:srgbClr val="D4CDBC"/>
            </a:solidFill>
            <a:prstDash val="solid"/>
          </a:ln>
        </p:spPr>
        <p:txBody>
          <a:bodyPr/>
          <a:lstStyle/>
          <a:p>
            <a:endParaRPr lang="he-IL"/>
          </a:p>
        </p:txBody>
      </p:sp>
      <p:sp>
        <p:nvSpPr>
          <p:cNvPr id="22" name="Text 20"/>
          <p:cNvSpPr/>
          <p:nvPr/>
        </p:nvSpPr>
        <p:spPr>
          <a:xfrm>
            <a:off x="2905125" y="1872555"/>
            <a:ext cx="2320379" cy="161925"/>
          </a:xfrm>
          <a:prstGeom prst="rect">
            <a:avLst/>
          </a:prstGeom>
          <a:noFill/>
          <a:ln/>
        </p:spPr>
        <p:txBody>
          <a:bodyPr wrap="square" lIns="25400" tIns="25400" rIns="25400" bIns="25400" rtlCol="0" anchor="t">
            <a:normAutofit lnSpcReduction="10000"/>
          </a:bodyPr>
          <a:lstStyle/>
          <a:p>
            <a:pPr marL="0" indent="0" algn="l">
              <a:buNone/>
            </a:pPr>
            <a:r>
              <a:rPr lang="en-US" sz="750" kern="0" spc="120" dirty="0">
                <a:solidFill>
                  <a:srgbClr val="888080"/>
                </a:solidFill>
                <a:latin typeface="JetBrains Mono" pitchFamily="34" charset="0"/>
                <a:ea typeface="JetBrains Mono" pitchFamily="34" charset="-122"/>
                <a:cs typeface="JetBrains Mono" pitchFamily="34" charset="-120"/>
              </a:rPr>
              <a:t>FIG · ROUTE LENGTH DISTRIBUTION</a:t>
            </a:r>
            <a:endParaRPr lang="en-US" sz="750" dirty="0"/>
          </a:p>
        </p:txBody>
      </p:sp>
      <p:sp>
        <p:nvSpPr>
          <p:cNvPr id="23" name="Text 21"/>
          <p:cNvSpPr/>
          <p:nvPr/>
        </p:nvSpPr>
        <p:spPr>
          <a:xfrm>
            <a:off x="10211991" y="1872555"/>
            <a:ext cx="944910" cy="161925"/>
          </a:xfrm>
          <a:prstGeom prst="rect">
            <a:avLst/>
          </a:prstGeom>
          <a:noFill/>
          <a:ln/>
        </p:spPr>
        <p:txBody>
          <a:bodyPr wrap="square" lIns="25400" tIns="25400" rIns="25400" bIns="25400" rtlCol="0" anchor="t">
            <a:normAutofit lnSpcReduction="10000"/>
          </a:bodyPr>
          <a:lstStyle/>
          <a:p>
            <a:pPr marL="0" indent="0" algn="l">
              <a:buNone/>
            </a:pPr>
            <a:r>
              <a:rPr lang="en-US" sz="750" kern="0" spc="120" dirty="0">
                <a:solidFill>
                  <a:srgbClr val="888080"/>
                </a:solidFill>
                <a:latin typeface="JetBrains Mono" pitchFamily="34" charset="0"/>
                <a:ea typeface="JetBrains Mono" pitchFamily="34" charset="-122"/>
                <a:cs typeface="JetBrains Mono" pitchFamily="34" charset="-120"/>
              </a:rPr>
              <a:t>BOXPLOT · KM</a:t>
            </a:r>
            <a:endParaRPr lang="en-US" sz="750" dirty="0"/>
          </a:p>
        </p:txBody>
      </p:sp>
      <p:sp>
        <p:nvSpPr>
          <p:cNvPr id="24" name="Shape 22"/>
          <p:cNvSpPr/>
          <p:nvPr/>
        </p:nvSpPr>
        <p:spPr>
          <a:xfrm>
            <a:off x="2905125" y="2072580"/>
            <a:ext cx="8175575" cy="5522119"/>
          </a:xfrm>
          <a:prstGeom prst="rect">
            <a:avLst/>
          </a:prstGeom>
          <a:solidFill>
            <a:srgbClr val="FFFFFF"/>
          </a:solidFill>
          <a:ln/>
        </p:spPr>
        <p:txBody>
          <a:bodyPr/>
          <a:lstStyle/>
          <a:p>
            <a:endParaRPr lang="he-IL"/>
          </a:p>
        </p:txBody>
      </p:sp>
      <p:pic>
        <p:nvPicPr>
          <p:cNvPr id="25" name="Image 0" descr="preencoded.png"/>
          <p:cNvPicPr>
            <a:picLocks noChangeAspect="1"/>
          </p:cNvPicPr>
          <p:nvPr/>
        </p:nvPicPr>
        <p:blipFill>
          <a:blip r:embed="rId3"/>
          <a:srcRect/>
          <a:stretch/>
        </p:blipFill>
        <p:spPr>
          <a:xfrm>
            <a:off x="2905125" y="2072580"/>
            <a:ext cx="8175575" cy="5522119"/>
          </a:xfrm>
          <a:prstGeom prst="rect">
            <a:avLst/>
          </a:prstGeom>
        </p:spPr>
      </p:pic>
      <p:sp>
        <p:nvSpPr>
          <p:cNvPr id="26" name="Text 23"/>
          <p:cNvSpPr/>
          <p:nvPr/>
        </p:nvSpPr>
        <p:spPr>
          <a:xfrm>
            <a:off x="11680775" y="1724392"/>
            <a:ext cx="6197022" cy="161925"/>
          </a:xfrm>
          <a:prstGeom prst="rect">
            <a:avLst/>
          </a:prstGeom>
          <a:noFill/>
          <a:ln/>
        </p:spPr>
        <p:txBody>
          <a:bodyPr wrap="square" lIns="25400" tIns="25400" rIns="25400" bIns="25400" rtlCol="0" anchor="t">
            <a:noAutofit/>
          </a:bodyPr>
          <a:lstStyle/>
          <a:p>
            <a:pPr marL="0" indent="0" algn="l">
              <a:buNone/>
            </a:pPr>
            <a:r>
              <a:rPr lang="en-US" sz="1400" b="1" kern="0" spc="135" dirty="0">
                <a:solidFill>
                  <a:srgbClr val="C25A2A"/>
                </a:solidFill>
                <a:latin typeface="JetBrains Mono" pitchFamily="34" charset="0"/>
                <a:ea typeface="JetBrains Mono" pitchFamily="34" charset="-122"/>
                <a:cs typeface="JetBrains Mono" pitchFamily="34" charset="-120"/>
              </a:rPr>
              <a:t>SHAPE</a:t>
            </a:r>
            <a:endParaRPr lang="en-US" sz="1400" dirty="0"/>
          </a:p>
        </p:txBody>
      </p:sp>
      <p:sp>
        <p:nvSpPr>
          <p:cNvPr id="27" name="Text 24"/>
          <p:cNvSpPr/>
          <p:nvPr/>
        </p:nvSpPr>
        <p:spPr>
          <a:xfrm>
            <a:off x="11680775" y="1967805"/>
            <a:ext cx="6025572" cy="252413"/>
          </a:xfrm>
          <a:prstGeom prst="rect">
            <a:avLst/>
          </a:prstGeom>
          <a:noFill/>
          <a:ln/>
        </p:spPr>
        <p:txBody>
          <a:bodyPr wrap="square" lIns="25400" tIns="25400" rIns="25400" bIns="25400" rtlCol="0" anchor="t">
            <a:noAutofit/>
          </a:bodyPr>
          <a:lstStyle/>
          <a:p>
            <a:pPr marL="0" indent="0" algn="l">
              <a:lnSpc>
                <a:spcPct val="150000"/>
              </a:lnSpc>
              <a:buNone/>
            </a:pPr>
            <a:r>
              <a:rPr lang="en-US" sz="1400" dirty="0">
                <a:solidFill>
                  <a:srgbClr val="1A1A1A"/>
                </a:solidFill>
                <a:latin typeface="Inter" pitchFamily="34" charset="0"/>
                <a:ea typeface="Inter" pitchFamily="34" charset="-122"/>
                <a:cs typeface="Inter" pitchFamily="34" charset="-120"/>
              </a:rPr>
              <a:t>Dense urban core. </a:t>
            </a:r>
            <a:r>
              <a:rPr lang="en-US" sz="1400" dirty="0">
                <a:solidFill>
                  <a:srgbClr val="4A4A4A"/>
                </a:solidFill>
                <a:latin typeface="Inter" pitchFamily="34" charset="0"/>
                <a:ea typeface="Inter" pitchFamily="34" charset="-122"/>
                <a:cs typeface="Inter" pitchFamily="34" charset="-120"/>
              </a:rPr>
              <a:t>The IQR sits near 10–25 km — the bulk of TLV-metro lines.</a:t>
            </a:r>
            <a:endParaRPr lang="en-US" sz="1400" dirty="0"/>
          </a:p>
        </p:txBody>
      </p:sp>
      <p:sp>
        <p:nvSpPr>
          <p:cNvPr id="28" name="Text 25"/>
          <p:cNvSpPr/>
          <p:nvPr/>
        </p:nvSpPr>
        <p:spPr>
          <a:xfrm>
            <a:off x="11680775" y="2258318"/>
            <a:ext cx="6025572" cy="252413"/>
          </a:xfrm>
          <a:prstGeom prst="rect">
            <a:avLst/>
          </a:prstGeom>
          <a:noFill/>
          <a:ln/>
        </p:spPr>
        <p:txBody>
          <a:bodyPr wrap="square" lIns="25400" tIns="25400" rIns="25400" bIns="25400" rtlCol="0" anchor="t">
            <a:noAutofit/>
          </a:bodyPr>
          <a:lstStyle/>
          <a:p>
            <a:pPr marL="0" indent="0" algn="l">
              <a:lnSpc>
                <a:spcPct val="150000"/>
              </a:lnSpc>
              <a:buNone/>
            </a:pPr>
            <a:r>
              <a:rPr lang="en-US" sz="1400" dirty="0">
                <a:solidFill>
                  <a:srgbClr val="1A1A1A"/>
                </a:solidFill>
                <a:latin typeface="Inter" pitchFamily="34" charset="0"/>
                <a:ea typeface="Inter" pitchFamily="34" charset="-122"/>
                <a:cs typeface="Inter" pitchFamily="34" charset="-120"/>
              </a:rPr>
              <a:t>Long tail to ~330 km. </a:t>
            </a:r>
            <a:r>
              <a:rPr lang="en-US" sz="1400" dirty="0">
                <a:solidFill>
                  <a:srgbClr val="4A4A4A"/>
                </a:solidFill>
                <a:latin typeface="Inter" pitchFamily="34" charset="0"/>
                <a:ea typeface="Inter" pitchFamily="34" charset="-122"/>
                <a:cs typeface="Inter" pitchFamily="34" charset="-120"/>
              </a:rPr>
              <a:t>Intercity lines (Eilat, far north) extend the distribution dramatically.</a:t>
            </a:r>
            <a:endParaRPr lang="en-US" sz="1400" dirty="0"/>
          </a:p>
        </p:txBody>
      </p:sp>
      <p:sp>
        <p:nvSpPr>
          <p:cNvPr id="30" name="Shape 27"/>
          <p:cNvSpPr/>
          <p:nvPr/>
        </p:nvSpPr>
        <p:spPr>
          <a:xfrm>
            <a:off x="11680775" y="3518043"/>
            <a:ext cx="6016526" cy="2122903"/>
          </a:xfrm>
          <a:prstGeom prst="rect">
            <a:avLst/>
          </a:prstGeom>
          <a:solidFill>
            <a:srgbClr val="EBE5D6"/>
          </a:solidFill>
          <a:ln w="9525">
            <a:solidFill>
              <a:srgbClr val="D4CDBC"/>
            </a:solidFill>
            <a:prstDash val="solid"/>
          </a:ln>
        </p:spPr>
        <p:txBody>
          <a:bodyPr/>
          <a:lstStyle/>
          <a:p>
            <a:endParaRPr lang="he-IL" sz="1400"/>
          </a:p>
        </p:txBody>
      </p:sp>
      <p:sp>
        <p:nvSpPr>
          <p:cNvPr id="31" name="Text 28"/>
          <p:cNvSpPr/>
          <p:nvPr/>
        </p:nvSpPr>
        <p:spPr>
          <a:xfrm>
            <a:off x="11918900" y="3737118"/>
            <a:ext cx="5706484" cy="161925"/>
          </a:xfrm>
          <a:prstGeom prst="rect">
            <a:avLst/>
          </a:prstGeom>
          <a:noFill/>
          <a:ln/>
        </p:spPr>
        <p:txBody>
          <a:bodyPr wrap="square" lIns="25400" tIns="25400" rIns="25400" bIns="25400" rtlCol="0" anchor="t">
            <a:noAutofit/>
          </a:bodyPr>
          <a:lstStyle/>
          <a:p>
            <a:pPr marL="0" indent="0" algn="l">
              <a:buNone/>
            </a:pPr>
            <a:r>
              <a:rPr lang="en-US" sz="1400" b="1" kern="0" spc="135" dirty="0">
                <a:solidFill>
                  <a:srgbClr val="C25A2A"/>
                </a:solidFill>
                <a:latin typeface="JetBrains Mono" pitchFamily="34" charset="0"/>
                <a:ea typeface="JetBrains Mono" pitchFamily="34" charset="-122"/>
                <a:cs typeface="JetBrains Mono" pitchFamily="34" charset="-120"/>
              </a:rPr>
              <a:t>WHY IT MATTERS</a:t>
            </a:r>
            <a:endParaRPr lang="en-US" sz="1400" dirty="0"/>
          </a:p>
        </p:txBody>
      </p:sp>
      <p:sp>
        <p:nvSpPr>
          <p:cNvPr id="32" name="Text 29"/>
          <p:cNvSpPr/>
          <p:nvPr/>
        </p:nvSpPr>
        <p:spPr>
          <a:xfrm>
            <a:off x="11918900" y="3930435"/>
            <a:ext cx="5706484" cy="952500"/>
          </a:xfrm>
          <a:prstGeom prst="rect">
            <a:avLst/>
          </a:prstGeom>
          <a:noFill/>
          <a:ln/>
        </p:spPr>
        <p:txBody>
          <a:bodyPr wrap="square" lIns="25400" tIns="25400" rIns="25400" bIns="25400" rtlCol="0" anchor="t">
            <a:noAutofit/>
          </a:bodyPr>
          <a:lstStyle/>
          <a:p>
            <a:pPr marL="0" indent="0" algn="l">
              <a:lnSpc>
                <a:spcPct val="150000"/>
              </a:lnSpc>
              <a:buNone/>
            </a:pPr>
            <a:r>
              <a:rPr lang="en-US" sz="1400" dirty="0">
                <a:solidFill>
                  <a:srgbClr val="4A4A4A"/>
                </a:solidFill>
                <a:latin typeface="Inter" pitchFamily="34" charset="0"/>
                <a:ea typeface="Inter" pitchFamily="34" charset="-122"/>
                <a:cs typeface="Inter" pitchFamily="34" charset="-120"/>
              </a:rPr>
              <a:t>A single global model has to handle a 30× length range. We </a:t>
            </a:r>
            <a:r>
              <a:rPr lang="en-US" sz="1400" dirty="0">
                <a:solidFill>
                  <a:srgbClr val="1A1A1A"/>
                </a:solidFill>
                <a:latin typeface="Inter" pitchFamily="34" charset="0"/>
                <a:ea typeface="Inter" pitchFamily="34" charset="-122"/>
                <a:cs typeface="Inter" pitchFamily="34" charset="-120"/>
              </a:rPr>
              <a:t>did not cap </a:t>
            </a:r>
            <a:r>
              <a:rPr lang="en-US" sz="1400" dirty="0">
                <a:solidFill>
                  <a:srgbClr val="4A4A4A"/>
                </a:solidFill>
                <a:latin typeface="Inter" pitchFamily="34" charset="0"/>
                <a:ea typeface="Inter" pitchFamily="34" charset="-122"/>
                <a:cs typeface="Inter" pitchFamily="34" charset="-120"/>
              </a:rPr>
              <a:t>long routes — instead we let the tree-based models partition on length, and we engineered the </a:t>
            </a:r>
            <a:r>
              <a:rPr lang="en-US" sz="1400" i="1" dirty="0">
                <a:solidFill>
                  <a:srgbClr val="4A4A4A"/>
                </a:solidFill>
                <a:latin typeface="Inter" pitchFamily="34" charset="0"/>
                <a:ea typeface="Inter" pitchFamily="34" charset="-122"/>
                <a:cs typeface="Inter" pitchFamily="34" charset="-120"/>
              </a:rPr>
              <a:t>hour × length </a:t>
            </a:r>
            <a:r>
              <a:rPr lang="en-US" sz="1400" dirty="0">
                <a:solidFill>
                  <a:srgbClr val="4A4A4A"/>
                </a:solidFill>
                <a:latin typeface="Inter" pitchFamily="34" charset="0"/>
                <a:ea typeface="Inter" pitchFamily="34" charset="-122"/>
                <a:cs typeface="Inter" pitchFamily="34" charset="-120"/>
              </a:rPr>
              <a:t>probability feature to exploit the night-time intercity lift.</a:t>
            </a:r>
            <a:endParaRPr lang="en-US" sz="1400" dirty="0"/>
          </a:p>
        </p:txBody>
      </p:sp>
      <p:sp>
        <p:nvSpPr>
          <p:cNvPr id="45" name="Text 16">
            <a:extLst>
              <a:ext uri="{FF2B5EF4-FFF2-40B4-BE49-F238E27FC236}">
                <a16:creationId xmlns:a16="http://schemas.microsoft.com/office/drawing/2014/main" id="{D1461720-E4B5-382A-9042-32A7AAA3993D}"/>
              </a:ext>
            </a:extLst>
          </p:cNvPr>
          <p:cNvSpPr/>
          <p:nvPr/>
        </p:nvSpPr>
        <p:spPr>
          <a:xfrm>
            <a:off x="266700" y="9410700"/>
            <a:ext cx="1628775" cy="342900"/>
          </a:xfrm>
          <a:prstGeom prst="rect">
            <a:avLst/>
          </a:prstGeom>
          <a:noFill/>
          <a:ln/>
        </p:spPr>
        <p:txBody>
          <a:bodyPr wrap="square" lIns="25400" tIns="25400" rIns="25400" bIns="25400" rtlCol="0" anchor="t">
            <a:noAutofit/>
          </a:bodyPr>
          <a:lstStyle/>
          <a:p>
            <a:pPr>
              <a:lnSpc>
                <a:spcPct val="160000"/>
              </a:lnSpc>
            </a:pPr>
            <a:r>
              <a:rPr lang="en-US" sz="1400" b="1" kern="0" spc="105" dirty="0">
                <a:solidFill>
                  <a:srgbClr val="1A1A1A"/>
                </a:solidFill>
                <a:latin typeface="JetBrains Mono" pitchFamily="34" charset="0"/>
                <a:ea typeface="JetBrains Mono" pitchFamily="34" charset="-122"/>
                <a:cs typeface="JetBrains Mono" pitchFamily="34" charset="-120"/>
              </a:rPr>
              <a:t>09 / 34</a:t>
            </a:r>
            <a:endParaRPr lang="en-US" sz="1400" dirty="0"/>
          </a:p>
        </p:txBody>
      </p:sp>
      <p:sp>
        <p:nvSpPr>
          <p:cNvPr id="46" name="Text 4">
            <a:extLst>
              <a:ext uri="{FF2B5EF4-FFF2-40B4-BE49-F238E27FC236}">
                <a16:creationId xmlns:a16="http://schemas.microsoft.com/office/drawing/2014/main" id="{12D46999-40A9-D238-4EF8-468291B468A9}"/>
              </a:ext>
            </a:extLst>
          </p:cNvPr>
          <p:cNvSpPr/>
          <p:nvPr/>
        </p:nvSpPr>
        <p:spPr>
          <a:xfrm>
            <a:off x="228063" y="1524367"/>
            <a:ext cx="372012" cy="200025"/>
          </a:xfrm>
          <a:prstGeom prst="rect">
            <a:avLst/>
          </a:prstGeom>
          <a:noFill/>
          <a:ln/>
        </p:spPr>
        <p:txBody>
          <a:bodyPr wrap="square" lIns="25400" tIns="25400" rIns="25400" bIns="25400" rtlCol="0" anchor="t">
            <a:noAutofit/>
          </a:bodyPr>
          <a:lstStyle/>
          <a:p>
            <a:pPr marL="0" indent="0" algn="l">
              <a:lnSpc>
                <a:spcPct val="130000"/>
              </a:lnSpc>
              <a:buNone/>
            </a:pPr>
            <a:r>
              <a:rPr lang="en-US" sz="1400" kern="0" spc="21" dirty="0">
                <a:solidFill>
                  <a:srgbClr val="888080"/>
                </a:solidFill>
                <a:latin typeface="Inter" pitchFamily="34" charset="0"/>
                <a:ea typeface="Inter" pitchFamily="34" charset="-122"/>
              </a:rPr>
              <a:t>01</a:t>
            </a:r>
          </a:p>
        </p:txBody>
      </p:sp>
      <p:sp>
        <p:nvSpPr>
          <p:cNvPr id="47" name="Text 5">
            <a:extLst>
              <a:ext uri="{FF2B5EF4-FFF2-40B4-BE49-F238E27FC236}">
                <a16:creationId xmlns:a16="http://schemas.microsoft.com/office/drawing/2014/main" id="{073474C6-AE45-00DC-F3C5-F98862799529}"/>
              </a:ext>
            </a:extLst>
          </p:cNvPr>
          <p:cNvSpPr/>
          <p:nvPr/>
        </p:nvSpPr>
        <p:spPr>
          <a:xfrm>
            <a:off x="523875" y="1522975"/>
            <a:ext cx="876300" cy="476251"/>
          </a:xfrm>
          <a:prstGeom prst="rect">
            <a:avLst/>
          </a:prstGeom>
          <a:noFill/>
          <a:ln/>
        </p:spPr>
        <p:txBody>
          <a:bodyPr wrap="square" lIns="25400" tIns="25400" rIns="25400" bIns="25400" rtlCol="0" anchor="t">
            <a:normAutofit/>
          </a:bodyPr>
          <a:lstStyle/>
          <a:p>
            <a:pPr marL="0" indent="0" algn="l">
              <a:lnSpc>
                <a:spcPct val="130000"/>
              </a:lnSpc>
              <a:buNone/>
            </a:pPr>
            <a:r>
              <a:rPr lang="en-US" sz="1400" kern="0" spc="21" dirty="0">
                <a:solidFill>
                  <a:srgbClr val="888080"/>
                </a:solidFill>
                <a:latin typeface="Inter" pitchFamily="34" charset="0"/>
                <a:ea typeface="Inter" pitchFamily="34" charset="-122"/>
              </a:rPr>
              <a:t>Agenda</a:t>
            </a:r>
          </a:p>
        </p:txBody>
      </p:sp>
      <p:sp>
        <p:nvSpPr>
          <p:cNvPr id="48" name="Text 6">
            <a:extLst>
              <a:ext uri="{FF2B5EF4-FFF2-40B4-BE49-F238E27FC236}">
                <a16:creationId xmlns:a16="http://schemas.microsoft.com/office/drawing/2014/main" id="{D92D4939-09D3-AD06-B1FA-4F91A4CE8F85}"/>
              </a:ext>
            </a:extLst>
          </p:cNvPr>
          <p:cNvSpPr/>
          <p:nvPr/>
        </p:nvSpPr>
        <p:spPr>
          <a:xfrm>
            <a:off x="228063" y="1830953"/>
            <a:ext cx="372010" cy="194877"/>
          </a:xfrm>
          <a:prstGeom prst="rect">
            <a:avLst/>
          </a:prstGeom>
          <a:noFill/>
          <a:ln/>
        </p:spPr>
        <p:txBody>
          <a:bodyPr wrap="square" lIns="25400" tIns="25400" rIns="25400" bIns="25400" rtlCol="0" anchor="t">
            <a:noAutofit/>
          </a:bodyPr>
          <a:lstStyle/>
          <a:p>
            <a:pPr marL="0" indent="0" algn="l">
              <a:lnSpc>
                <a:spcPct val="130000"/>
              </a:lnSpc>
              <a:buNone/>
            </a:pPr>
            <a:r>
              <a:rPr lang="en-US" sz="1400" kern="0" spc="21" dirty="0">
                <a:solidFill>
                  <a:srgbClr val="888080"/>
                </a:solidFill>
                <a:latin typeface="Inter" pitchFamily="34" charset="0"/>
                <a:ea typeface="Inter" pitchFamily="34" charset="-122"/>
              </a:rPr>
              <a:t>02</a:t>
            </a:r>
          </a:p>
        </p:txBody>
      </p:sp>
      <p:sp>
        <p:nvSpPr>
          <p:cNvPr id="49" name="Text 8">
            <a:extLst>
              <a:ext uri="{FF2B5EF4-FFF2-40B4-BE49-F238E27FC236}">
                <a16:creationId xmlns:a16="http://schemas.microsoft.com/office/drawing/2014/main" id="{68CF4759-D846-EA5C-C55C-03D351C234CB}"/>
              </a:ext>
            </a:extLst>
          </p:cNvPr>
          <p:cNvSpPr/>
          <p:nvPr/>
        </p:nvSpPr>
        <p:spPr>
          <a:xfrm>
            <a:off x="230504" y="2152895"/>
            <a:ext cx="302895" cy="141422"/>
          </a:xfrm>
          <a:prstGeom prst="rect">
            <a:avLst/>
          </a:prstGeom>
          <a:noFill/>
          <a:ln/>
        </p:spPr>
        <p:txBody>
          <a:bodyPr wrap="square" lIns="25400" tIns="25400" rIns="25400" bIns="25400" rtlCol="0" anchor="t">
            <a:noAutofit/>
          </a:bodyPr>
          <a:lstStyle/>
          <a:p>
            <a:pPr marL="0" indent="0" algn="l">
              <a:lnSpc>
                <a:spcPct val="130000"/>
              </a:lnSpc>
              <a:buNone/>
            </a:pPr>
            <a:r>
              <a:rPr lang="en-US" sz="1400" b="1" kern="0" spc="21" dirty="0">
                <a:solidFill>
                  <a:srgbClr val="C25A2A"/>
                </a:solidFill>
                <a:latin typeface="JetBrains Mono" pitchFamily="34" charset="0"/>
                <a:ea typeface="JetBrains Mono" pitchFamily="34" charset="-122"/>
              </a:rPr>
              <a:t>03</a:t>
            </a:r>
          </a:p>
        </p:txBody>
      </p:sp>
      <p:sp>
        <p:nvSpPr>
          <p:cNvPr id="50" name="Text 9">
            <a:extLst>
              <a:ext uri="{FF2B5EF4-FFF2-40B4-BE49-F238E27FC236}">
                <a16:creationId xmlns:a16="http://schemas.microsoft.com/office/drawing/2014/main" id="{02F36F8B-2D38-053A-9EB3-BE12776FE192}"/>
              </a:ext>
            </a:extLst>
          </p:cNvPr>
          <p:cNvSpPr/>
          <p:nvPr/>
        </p:nvSpPr>
        <p:spPr>
          <a:xfrm>
            <a:off x="531240" y="2145027"/>
            <a:ext cx="1185416" cy="342476"/>
          </a:xfrm>
          <a:prstGeom prst="rect">
            <a:avLst/>
          </a:prstGeom>
          <a:noFill/>
          <a:ln/>
        </p:spPr>
        <p:txBody>
          <a:bodyPr wrap="square" lIns="25400" tIns="25400" rIns="25400" bIns="25400" rtlCol="0" anchor="t">
            <a:normAutofit/>
          </a:bodyPr>
          <a:lstStyle/>
          <a:p>
            <a:pPr marL="0" indent="0" algn="l">
              <a:lnSpc>
                <a:spcPct val="130000"/>
              </a:lnSpc>
              <a:buNone/>
            </a:pPr>
            <a:r>
              <a:rPr lang="en-US" sz="1400" kern="0" spc="21" dirty="0">
                <a:solidFill>
                  <a:srgbClr val="1A1A1A"/>
                </a:solidFill>
                <a:latin typeface="Inter" pitchFamily="34" charset="0"/>
                <a:ea typeface="Inter" pitchFamily="34" charset="-122"/>
              </a:rPr>
              <a:t>EDA</a:t>
            </a:r>
          </a:p>
        </p:txBody>
      </p:sp>
      <p:sp>
        <p:nvSpPr>
          <p:cNvPr id="51" name="Text 10">
            <a:extLst>
              <a:ext uri="{FF2B5EF4-FFF2-40B4-BE49-F238E27FC236}">
                <a16:creationId xmlns:a16="http://schemas.microsoft.com/office/drawing/2014/main" id="{C0BD88ED-DC08-60ED-59CE-3313C54FB831}"/>
              </a:ext>
            </a:extLst>
          </p:cNvPr>
          <p:cNvSpPr/>
          <p:nvPr/>
        </p:nvSpPr>
        <p:spPr>
          <a:xfrm>
            <a:off x="228062" y="2444125"/>
            <a:ext cx="305337" cy="172132"/>
          </a:xfrm>
          <a:prstGeom prst="rect">
            <a:avLst/>
          </a:prstGeom>
          <a:noFill/>
          <a:ln/>
        </p:spPr>
        <p:txBody>
          <a:bodyPr wrap="square" lIns="25400" tIns="25400" rIns="25400" bIns="25400" rtlCol="0" anchor="t">
            <a:noAutofit/>
          </a:bodyPr>
          <a:lstStyle/>
          <a:p>
            <a:pPr marL="0" indent="0" algn="l">
              <a:lnSpc>
                <a:spcPct val="130000"/>
              </a:lnSpc>
              <a:buNone/>
            </a:pPr>
            <a:r>
              <a:rPr lang="en-US" sz="1400" kern="0" spc="21" dirty="0">
                <a:solidFill>
                  <a:srgbClr val="888080"/>
                </a:solidFill>
                <a:latin typeface="JetBrains Mono" pitchFamily="34" charset="0"/>
                <a:ea typeface="JetBrains Mono" pitchFamily="34" charset="-122"/>
                <a:cs typeface="JetBrains Mono" pitchFamily="34" charset="-120"/>
              </a:rPr>
              <a:t>04</a:t>
            </a:r>
            <a:endParaRPr lang="en-US" sz="1400" dirty="0"/>
          </a:p>
        </p:txBody>
      </p:sp>
      <p:sp>
        <p:nvSpPr>
          <p:cNvPr id="52" name="Text 12">
            <a:extLst>
              <a:ext uri="{FF2B5EF4-FFF2-40B4-BE49-F238E27FC236}">
                <a16:creationId xmlns:a16="http://schemas.microsoft.com/office/drawing/2014/main" id="{3046A077-8FA5-3CBA-9123-535642ADF9C3}"/>
              </a:ext>
            </a:extLst>
          </p:cNvPr>
          <p:cNvSpPr/>
          <p:nvPr/>
        </p:nvSpPr>
        <p:spPr>
          <a:xfrm>
            <a:off x="228062" y="2750711"/>
            <a:ext cx="372011" cy="158880"/>
          </a:xfrm>
          <a:prstGeom prst="rect">
            <a:avLst/>
          </a:prstGeom>
          <a:noFill/>
          <a:ln/>
        </p:spPr>
        <p:txBody>
          <a:bodyPr wrap="square" lIns="25400" tIns="25400" rIns="25400" bIns="25400" rtlCol="0" anchor="t">
            <a:noAutofit/>
          </a:bodyPr>
          <a:lstStyle/>
          <a:p>
            <a:pPr marL="0" indent="0" algn="l">
              <a:lnSpc>
                <a:spcPct val="130000"/>
              </a:lnSpc>
              <a:buNone/>
            </a:pPr>
            <a:r>
              <a:rPr lang="en-US" sz="1400" kern="0" spc="21" dirty="0">
                <a:solidFill>
                  <a:srgbClr val="888080"/>
                </a:solidFill>
                <a:latin typeface="JetBrains Mono" pitchFamily="34" charset="0"/>
                <a:ea typeface="JetBrains Mono" pitchFamily="34" charset="-122"/>
                <a:cs typeface="JetBrains Mono" pitchFamily="34" charset="-120"/>
              </a:rPr>
              <a:t>05</a:t>
            </a:r>
            <a:endParaRPr lang="en-US" sz="1400" dirty="0"/>
          </a:p>
        </p:txBody>
      </p:sp>
      <p:sp>
        <p:nvSpPr>
          <p:cNvPr id="53" name="Text 13">
            <a:extLst>
              <a:ext uri="{FF2B5EF4-FFF2-40B4-BE49-F238E27FC236}">
                <a16:creationId xmlns:a16="http://schemas.microsoft.com/office/drawing/2014/main" id="{73685539-46B6-93B7-B06A-618B62F6A91C}"/>
              </a:ext>
            </a:extLst>
          </p:cNvPr>
          <p:cNvSpPr/>
          <p:nvPr/>
        </p:nvSpPr>
        <p:spPr>
          <a:xfrm>
            <a:off x="533399" y="2725489"/>
            <a:ext cx="948333" cy="761256"/>
          </a:xfrm>
          <a:prstGeom prst="rect">
            <a:avLst/>
          </a:prstGeom>
          <a:noFill/>
          <a:ln/>
        </p:spPr>
        <p:txBody>
          <a:bodyPr wrap="square" lIns="25400" tIns="25400" rIns="25400" bIns="25400" rtlCol="0" anchor="t">
            <a:normAutofit/>
          </a:bodyPr>
          <a:lstStyle/>
          <a:p>
            <a:pPr marL="0" indent="0" algn="l">
              <a:lnSpc>
                <a:spcPct val="130000"/>
              </a:lnSpc>
              <a:buNone/>
            </a:pPr>
            <a:r>
              <a:rPr lang="en-US" sz="1400" kern="0" spc="21" dirty="0">
                <a:solidFill>
                  <a:srgbClr val="888080"/>
                </a:solidFill>
                <a:latin typeface="Inter" pitchFamily="34" charset="0"/>
                <a:ea typeface="Inter" pitchFamily="34" charset="-122"/>
                <a:cs typeface="Inter" pitchFamily="34" charset="-120"/>
              </a:rPr>
              <a:t>Modeling</a:t>
            </a:r>
            <a:endParaRPr lang="en-US" sz="1400" dirty="0"/>
          </a:p>
        </p:txBody>
      </p:sp>
      <p:sp>
        <p:nvSpPr>
          <p:cNvPr id="54" name="Text 14">
            <a:extLst>
              <a:ext uri="{FF2B5EF4-FFF2-40B4-BE49-F238E27FC236}">
                <a16:creationId xmlns:a16="http://schemas.microsoft.com/office/drawing/2014/main" id="{5FFA78C1-F348-7328-A679-E40C6A11159B}"/>
              </a:ext>
            </a:extLst>
          </p:cNvPr>
          <p:cNvSpPr/>
          <p:nvPr/>
        </p:nvSpPr>
        <p:spPr>
          <a:xfrm>
            <a:off x="235683" y="3042056"/>
            <a:ext cx="372010" cy="191463"/>
          </a:xfrm>
          <a:prstGeom prst="rect">
            <a:avLst/>
          </a:prstGeom>
          <a:noFill/>
          <a:ln/>
        </p:spPr>
        <p:txBody>
          <a:bodyPr wrap="square" lIns="25400" tIns="25400" rIns="25400" bIns="25400" rtlCol="0" anchor="t">
            <a:noAutofit/>
          </a:bodyPr>
          <a:lstStyle/>
          <a:p>
            <a:pPr marL="0" indent="0" algn="l">
              <a:lnSpc>
                <a:spcPct val="130000"/>
              </a:lnSpc>
              <a:buNone/>
            </a:pPr>
            <a:r>
              <a:rPr lang="en-US" sz="1400" kern="0" spc="21" dirty="0">
                <a:solidFill>
                  <a:srgbClr val="888080"/>
                </a:solidFill>
                <a:latin typeface="JetBrains Mono" pitchFamily="34" charset="0"/>
                <a:ea typeface="JetBrains Mono" pitchFamily="34" charset="-122"/>
                <a:cs typeface="JetBrains Mono" pitchFamily="34" charset="-120"/>
              </a:rPr>
              <a:t>06</a:t>
            </a:r>
            <a:endParaRPr lang="en-US" sz="1400" dirty="0"/>
          </a:p>
        </p:txBody>
      </p:sp>
      <p:sp>
        <p:nvSpPr>
          <p:cNvPr id="55" name="Text 15">
            <a:extLst>
              <a:ext uri="{FF2B5EF4-FFF2-40B4-BE49-F238E27FC236}">
                <a16:creationId xmlns:a16="http://schemas.microsoft.com/office/drawing/2014/main" id="{7A0B98CC-C835-FA72-1C98-B620E8FCD5A0}"/>
              </a:ext>
            </a:extLst>
          </p:cNvPr>
          <p:cNvSpPr/>
          <p:nvPr/>
        </p:nvSpPr>
        <p:spPr>
          <a:xfrm>
            <a:off x="533400" y="3032075"/>
            <a:ext cx="1185416" cy="626120"/>
          </a:xfrm>
          <a:prstGeom prst="rect">
            <a:avLst/>
          </a:prstGeom>
          <a:noFill/>
          <a:ln/>
        </p:spPr>
        <p:txBody>
          <a:bodyPr wrap="square" lIns="25400" tIns="25400" rIns="25400" bIns="25400" rtlCol="0" anchor="t">
            <a:normAutofit/>
          </a:bodyPr>
          <a:lstStyle/>
          <a:p>
            <a:pPr marL="0" indent="0" algn="l">
              <a:lnSpc>
                <a:spcPct val="130000"/>
              </a:lnSpc>
              <a:buNone/>
            </a:pPr>
            <a:r>
              <a:rPr lang="en-US" sz="1400" kern="0" spc="21" dirty="0">
                <a:solidFill>
                  <a:srgbClr val="888080"/>
                </a:solidFill>
                <a:latin typeface="Inter" pitchFamily="34" charset="0"/>
                <a:ea typeface="Inter" pitchFamily="34" charset="-122"/>
                <a:cs typeface="Inter" pitchFamily="34" charset="-120"/>
              </a:rPr>
              <a:t>Conclusions</a:t>
            </a:r>
            <a:endParaRPr lang="en-US" sz="1400" dirty="0"/>
          </a:p>
        </p:txBody>
      </p:sp>
      <p:sp>
        <p:nvSpPr>
          <p:cNvPr id="56" name="Text 9">
            <a:extLst>
              <a:ext uri="{FF2B5EF4-FFF2-40B4-BE49-F238E27FC236}">
                <a16:creationId xmlns:a16="http://schemas.microsoft.com/office/drawing/2014/main" id="{8BF36C8F-F279-E0C7-4E88-D84AF0321341}"/>
              </a:ext>
            </a:extLst>
          </p:cNvPr>
          <p:cNvSpPr/>
          <p:nvPr/>
        </p:nvSpPr>
        <p:spPr>
          <a:xfrm>
            <a:off x="538609" y="2426180"/>
            <a:ext cx="1185416" cy="342476"/>
          </a:xfrm>
          <a:prstGeom prst="rect">
            <a:avLst/>
          </a:prstGeom>
          <a:noFill/>
          <a:ln/>
        </p:spPr>
        <p:txBody>
          <a:bodyPr wrap="square" lIns="25400" tIns="25400" rIns="25400" bIns="25400" rtlCol="0" anchor="t">
            <a:normAutofit/>
          </a:bodyPr>
          <a:lstStyle/>
          <a:p>
            <a:pPr marL="0" indent="0" algn="l">
              <a:lnSpc>
                <a:spcPct val="130000"/>
              </a:lnSpc>
              <a:buNone/>
            </a:pPr>
            <a:r>
              <a:rPr lang="en-US" sz="1400" kern="0" spc="21" dirty="0">
                <a:solidFill>
                  <a:srgbClr val="888080"/>
                </a:solidFill>
                <a:latin typeface="Inter" pitchFamily="34" charset="0"/>
                <a:ea typeface="Inter" pitchFamily="34" charset="-122"/>
                <a:cs typeface="Inter" pitchFamily="34" charset="-120"/>
              </a:rPr>
              <a:t>Pipeline</a:t>
            </a:r>
            <a:endParaRPr lang="en-US" sz="1400" dirty="0"/>
          </a:p>
        </p:txBody>
      </p:sp>
      <p:sp>
        <p:nvSpPr>
          <p:cNvPr id="57" name="Text 7">
            <a:extLst>
              <a:ext uri="{FF2B5EF4-FFF2-40B4-BE49-F238E27FC236}">
                <a16:creationId xmlns:a16="http://schemas.microsoft.com/office/drawing/2014/main" id="{336D296D-549F-BC01-E3AD-0C3D4AE616A9}"/>
              </a:ext>
            </a:extLst>
          </p:cNvPr>
          <p:cNvSpPr/>
          <p:nvPr/>
        </p:nvSpPr>
        <p:spPr>
          <a:xfrm>
            <a:off x="523875" y="1826620"/>
            <a:ext cx="1325700" cy="467696"/>
          </a:xfrm>
          <a:prstGeom prst="rect">
            <a:avLst/>
          </a:prstGeom>
          <a:noFill/>
          <a:ln/>
        </p:spPr>
        <p:txBody>
          <a:bodyPr wrap="square" lIns="25400" tIns="25400" rIns="25400" bIns="25400" rtlCol="0" anchor="t">
            <a:noAutofit/>
          </a:bodyPr>
          <a:lstStyle/>
          <a:p>
            <a:pPr marL="0" indent="0" algn="l">
              <a:lnSpc>
                <a:spcPct val="130000"/>
              </a:lnSpc>
              <a:buNone/>
            </a:pPr>
            <a:r>
              <a:rPr lang="en-US" sz="1400" kern="0" spc="21" dirty="0">
                <a:solidFill>
                  <a:srgbClr val="888080"/>
                </a:solidFill>
                <a:latin typeface="Inter" pitchFamily="34" charset="0"/>
                <a:ea typeface="Inter" pitchFamily="34" charset="-122"/>
              </a:rPr>
              <a:t>Data &amp; target</a:t>
            </a:r>
          </a:p>
        </p:txBody>
      </p:sp>
      <p:sp>
        <p:nvSpPr>
          <p:cNvPr id="58" name="Text 1">
            <a:extLst>
              <a:ext uri="{FF2B5EF4-FFF2-40B4-BE49-F238E27FC236}">
                <a16:creationId xmlns:a16="http://schemas.microsoft.com/office/drawing/2014/main" id="{46C9A702-F705-79D4-62AD-46E6F9194EFB}"/>
              </a:ext>
            </a:extLst>
          </p:cNvPr>
          <p:cNvSpPr/>
          <p:nvPr/>
        </p:nvSpPr>
        <p:spPr>
          <a:xfrm>
            <a:off x="261138" y="379598"/>
            <a:ext cx="1778457" cy="447678"/>
          </a:xfrm>
          <a:prstGeom prst="rect">
            <a:avLst/>
          </a:prstGeom>
          <a:noFill/>
          <a:ln/>
        </p:spPr>
        <p:txBody>
          <a:bodyPr wrap="square" lIns="25400" tIns="25400" rIns="25400" bIns="25400" rtlCol="0" anchor="t">
            <a:noAutofit/>
          </a:bodyPr>
          <a:lstStyle/>
          <a:p>
            <a:pPr marL="0" indent="0">
              <a:buNone/>
            </a:pPr>
            <a:r>
              <a:rPr lang="en-US" sz="1400" kern="0" spc="116" dirty="0">
                <a:solidFill>
                  <a:srgbClr val="888080"/>
                </a:solidFill>
                <a:latin typeface="JetBrains Mono" pitchFamily="34" charset="0"/>
                <a:ea typeface="JetBrains Mono" pitchFamily="34" charset="-122"/>
                <a:cs typeface="JetBrains Mono" pitchFamily="34" charset="-120"/>
              </a:rPr>
              <a:t>DS22 - Bar Ilan</a:t>
            </a:r>
            <a:br>
              <a:rPr lang="en-US" sz="1400" kern="0" spc="116" dirty="0">
                <a:solidFill>
                  <a:srgbClr val="888080"/>
                </a:solidFill>
                <a:latin typeface="JetBrains Mono" pitchFamily="34" charset="0"/>
                <a:ea typeface="JetBrains Mono" pitchFamily="34" charset="-122"/>
                <a:cs typeface="JetBrains Mono" pitchFamily="34" charset="-120"/>
              </a:rPr>
            </a:br>
            <a:r>
              <a:rPr lang="en-US" sz="1400" kern="0" spc="116" dirty="0">
                <a:solidFill>
                  <a:srgbClr val="888080"/>
                </a:solidFill>
                <a:latin typeface="JetBrains Mono" pitchFamily="34" charset="0"/>
                <a:ea typeface="JetBrains Mono" pitchFamily="34" charset="-122"/>
                <a:cs typeface="JetBrains Mono" pitchFamily="34" charset="-120"/>
              </a:rPr>
              <a:t>ML PROJECT</a:t>
            </a:r>
          </a:p>
          <a:p>
            <a:pPr marL="0" indent="0">
              <a:buNone/>
            </a:pPr>
            <a:r>
              <a:rPr lang="en-US" sz="1400" kern="0" spc="116" dirty="0">
                <a:solidFill>
                  <a:srgbClr val="888080"/>
                </a:solidFill>
                <a:latin typeface="JetBrains Mono" pitchFamily="34" charset="0"/>
                <a:ea typeface="JetBrains Mono" pitchFamily="34" charset="-122"/>
                <a:cs typeface="JetBrains Mono" pitchFamily="34" charset="-120"/>
              </a:rPr>
              <a:t>MAY 2026</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4">
    <p:bg>
      <p:bgPr>
        <a:solidFill>
          <a:srgbClr val="F5F1E8"/>
        </a:solidFill>
        <a:effectLst/>
      </p:bgPr>
    </p:bg>
    <p:spTree>
      <p:nvGrpSpPr>
        <p:cNvPr id="1" name=""/>
        <p:cNvGrpSpPr/>
        <p:nvPr/>
      </p:nvGrpSpPr>
      <p:grpSpPr>
        <a:xfrm>
          <a:off x="0" y="0"/>
          <a:ext cx="0" cy="0"/>
          <a:chOff x="0" y="0"/>
          <a:chExt cx="0" cy="0"/>
        </a:xfrm>
      </p:grpSpPr>
      <p:sp>
        <p:nvSpPr>
          <p:cNvPr id="2" name="Shape 0"/>
          <p:cNvSpPr/>
          <p:nvPr/>
        </p:nvSpPr>
        <p:spPr>
          <a:xfrm>
            <a:off x="0" y="0"/>
            <a:ext cx="2095500" cy="10287000"/>
          </a:xfrm>
          <a:prstGeom prst="rect">
            <a:avLst/>
          </a:prstGeom>
          <a:solidFill>
            <a:srgbClr val="EBE5D6"/>
          </a:solidFill>
          <a:ln/>
        </p:spPr>
        <p:txBody>
          <a:bodyPr/>
          <a:lstStyle/>
          <a:p>
            <a:endParaRPr lang="he-IL"/>
          </a:p>
        </p:txBody>
      </p:sp>
      <p:sp>
        <p:nvSpPr>
          <p:cNvPr id="3" name="Shape 1"/>
          <p:cNvSpPr/>
          <p:nvPr/>
        </p:nvSpPr>
        <p:spPr>
          <a:xfrm>
            <a:off x="2085975" y="0"/>
            <a:ext cx="9525" cy="10287000"/>
          </a:xfrm>
          <a:prstGeom prst="rect">
            <a:avLst/>
          </a:prstGeom>
          <a:solidFill>
            <a:srgbClr val="D4CDBC"/>
          </a:solidFill>
          <a:ln/>
        </p:spPr>
        <p:txBody>
          <a:bodyPr/>
          <a:lstStyle/>
          <a:p>
            <a:endParaRPr lang="he-IL"/>
          </a:p>
        </p:txBody>
      </p:sp>
      <p:sp>
        <p:nvSpPr>
          <p:cNvPr id="19" name="Text 17"/>
          <p:cNvSpPr/>
          <p:nvPr/>
        </p:nvSpPr>
        <p:spPr>
          <a:xfrm>
            <a:off x="2781300" y="571500"/>
            <a:ext cx="15187041" cy="171450"/>
          </a:xfrm>
          <a:prstGeom prst="rect">
            <a:avLst/>
          </a:prstGeom>
          <a:noFill/>
          <a:ln/>
        </p:spPr>
        <p:txBody>
          <a:bodyPr wrap="square" lIns="25400" tIns="25400" rIns="25400" bIns="25400" rtlCol="0" anchor="ctr">
            <a:noAutofit/>
          </a:bodyPr>
          <a:lstStyle/>
          <a:p>
            <a:pPr marL="0" indent="0" algn="l">
              <a:buNone/>
            </a:pPr>
            <a:r>
              <a:rPr lang="en-US" sz="1400" kern="0" spc="182" dirty="0">
                <a:solidFill>
                  <a:srgbClr val="888080"/>
                </a:solidFill>
                <a:latin typeface="JetBrains Mono" pitchFamily="34" charset="0"/>
                <a:ea typeface="JetBrains Mono" pitchFamily="34" charset="-122"/>
                <a:cs typeface="JetBrains Mono" pitchFamily="34" charset="-120"/>
              </a:rPr>
              <a:t>EDA · VOLUME VS. SPEED</a:t>
            </a:r>
            <a:endParaRPr lang="en-US" sz="1400" dirty="0"/>
          </a:p>
        </p:txBody>
      </p:sp>
      <p:sp>
        <p:nvSpPr>
          <p:cNvPr id="20" name="Text 18"/>
          <p:cNvSpPr/>
          <p:nvPr/>
        </p:nvSpPr>
        <p:spPr>
          <a:xfrm>
            <a:off x="2781300" y="914400"/>
            <a:ext cx="15187041" cy="643830"/>
          </a:xfrm>
          <a:prstGeom prst="rect">
            <a:avLst/>
          </a:prstGeom>
          <a:noFill/>
          <a:ln/>
        </p:spPr>
        <p:txBody>
          <a:bodyPr wrap="square" lIns="25400" tIns="25400" rIns="25400" bIns="25400" rtlCol="0" anchor="t">
            <a:normAutofit fontScale="92500" lnSpcReduction="20000"/>
          </a:bodyPr>
          <a:lstStyle/>
          <a:p>
            <a:pPr marL="0" indent="0" algn="l">
              <a:lnSpc>
                <a:spcPct val="106000"/>
              </a:lnSpc>
              <a:buNone/>
            </a:pPr>
            <a:r>
              <a:rPr lang="en-US" sz="4500" kern="0" spc="-81" dirty="0">
                <a:solidFill>
                  <a:srgbClr val="1A1A1A"/>
                </a:solidFill>
                <a:latin typeface="Instrument Serif" pitchFamily="34" charset="0"/>
                <a:ea typeface="Instrument Serif" pitchFamily="34" charset="-122"/>
                <a:cs typeface="Instrument Serif" pitchFamily="34" charset="-120"/>
              </a:rPr>
              <a:t>Volume up, </a:t>
            </a:r>
            <a:r>
              <a:rPr lang="en-US" sz="4500" i="1" kern="0" spc="-81" dirty="0">
                <a:solidFill>
                  <a:srgbClr val="C25A2A"/>
                </a:solidFill>
                <a:latin typeface="Instrument Serif" pitchFamily="34" charset="0"/>
                <a:ea typeface="Instrument Serif" pitchFamily="34" charset="-122"/>
                <a:cs typeface="Instrument Serif" pitchFamily="34" charset="-120"/>
              </a:rPr>
              <a:t>speed down.</a:t>
            </a:r>
            <a:endParaRPr lang="en-US" sz="4500" dirty="0"/>
          </a:p>
        </p:txBody>
      </p:sp>
      <p:sp>
        <p:nvSpPr>
          <p:cNvPr id="21" name="Text 19"/>
          <p:cNvSpPr/>
          <p:nvPr/>
        </p:nvSpPr>
        <p:spPr>
          <a:xfrm>
            <a:off x="2781300" y="1596330"/>
            <a:ext cx="12918046" cy="507504"/>
          </a:xfrm>
          <a:prstGeom prst="rect">
            <a:avLst/>
          </a:prstGeom>
          <a:noFill/>
          <a:ln/>
        </p:spPr>
        <p:txBody>
          <a:bodyPr wrap="square" lIns="25400" tIns="25400" rIns="25400" bIns="25400" rtlCol="0" anchor="t">
            <a:noAutofit/>
          </a:bodyPr>
          <a:lstStyle/>
          <a:p>
            <a:pPr marL="0" indent="0" algn="l">
              <a:lnSpc>
                <a:spcPct val="145000"/>
              </a:lnSpc>
              <a:buNone/>
            </a:pPr>
            <a:r>
              <a:rPr lang="en-US" sz="1400" dirty="0">
                <a:solidFill>
                  <a:srgbClr val="4A4A4A"/>
                </a:solidFill>
                <a:latin typeface="Inter" pitchFamily="34" charset="0"/>
                <a:ea typeface="Inter" pitchFamily="34" charset="-122"/>
                <a:cs typeface="Inter" pitchFamily="34" charset="-120"/>
              </a:rPr>
              <a:t>Trip volume peaks at 06:00–08:00 (~6,800 trips/hr). At those same hours actual speed collapses 8–10 km/h below planned - exactly the gap the model learns.</a:t>
            </a:r>
            <a:endParaRPr lang="en-US" sz="1400" dirty="0"/>
          </a:p>
        </p:txBody>
      </p:sp>
      <p:sp>
        <p:nvSpPr>
          <p:cNvPr id="22" name="Shape 20"/>
          <p:cNvSpPr/>
          <p:nvPr/>
        </p:nvSpPr>
        <p:spPr>
          <a:xfrm>
            <a:off x="2781300" y="2199084"/>
            <a:ext cx="7286625" cy="4786363"/>
          </a:xfrm>
          <a:prstGeom prst="rect">
            <a:avLst/>
          </a:prstGeom>
          <a:solidFill>
            <a:srgbClr val="FFFFFF"/>
          </a:solidFill>
          <a:ln w="9525">
            <a:solidFill>
              <a:srgbClr val="D4CDBC"/>
            </a:solidFill>
            <a:prstDash val="solid"/>
          </a:ln>
        </p:spPr>
        <p:txBody>
          <a:bodyPr/>
          <a:lstStyle/>
          <a:p>
            <a:endParaRPr lang="he-IL"/>
          </a:p>
        </p:txBody>
      </p:sp>
      <p:sp>
        <p:nvSpPr>
          <p:cNvPr id="23" name="Text 21"/>
          <p:cNvSpPr/>
          <p:nvPr/>
        </p:nvSpPr>
        <p:spPr>
          <a:xfrm>
            <a:off x="2905125" y="2322909"/>
            <a:ext cx="1451670" cy="161925"/>
          </a:xfrm>
          <a:prstGeom prst="rect">
            <a:avLst/>
          </a:prstGeom>
          <a:noFill/>
          <a:ln/>
        </p:spPr>
        <p:txBody>
          <a:bodyPr wrap="square" lIns="25400" tIns="25400" rIns="25400" bIns="25400" rtlCol="0" anchor="t">
            <a:normAutofit lnSpcReduction="10000"/>
          </a:bodyPr>
          <a:lstStyle/>
          <a:p>
            <a:pPr marL="0" indent="0" algn="l">
              <a:buNone/>
            </a:pPr>
            <a:r>
              <a:rPr lang="en-US" sz="750" kern="0" spc="120" dirty="0">
                <a:solidFill>
                  <a:srgbClr val="888080"/>
                </a:solidFill>
                <a:latin typeface="JetBrains Mono" pitchFamily="34" charset="0"/>
                <a:ea typeface="JetBrains Mono" pitchFamily="34" charset="-122"/>
                <a:cs typeface="JetBrains Mono" pitchFamily="34" charset="-120"/>
              </a:rPr>
              <a:t>FIG · TRIPS BY HOUR</a:t>
            </a:r>
            <a:endParaRPr lang="en-US" sz="750" dirty="0"/>
          </a:p>
        </p:txBody>
      </p:sp>
      <p:sp>
        <p:nvSpPr>
          <p:cNvPr id="24" name="Text 22"/>
          <p:cNvSpPr/>
          <p:nvPr/>
        </p:nvSpPr>
        <p:spPr>
          <a:xfrm>
            <a:off x="9220200" y="2322909"/>
            <a:ext cx="800100" cy="161925"/>
          </a:xfrm>
          <a:prstGeom prst="rect">
            <a:avLst/>
          </a:prstGeom>
          <a:noFill/>
          <a:ln/>
        </p:spPr>
        <p:txBody>
          <a:bodyPr wrap="square" lIns="25400" tIns="25400" rIns="25400" bIns="25400" rtlCol="0" anchor="t">
            <a:normAutofit lnSpcReduction="10000"/>
          </a:bodyPr>
          <a:lstStyle/>
          <a:p>
            <a:pPr marL="0" indent="0" algn="l">
              <a:buNone/>
            </a:pPr>
            <a:r>
              <a:rPr lang="en-US" sz="750" kern="0" spc="120" dirty="0">
                <a:solidFill>
                  <a:srgbClr val="888080"/>
                </a:solidFill>
                <a:latin typeface="JetBrains Mono" pitchFamily="34" charset="0"/>
                <a:ea typeface="JetBrains Mono" pitchFamily="34" charset="-122"/>
                <a:cs typeface="JetBrains Mono" pitchFamily="34" charset="-120"/>
              </a:rPr>
              <a:t>N = 90,881</a:t>
            </a:r>
            <a:endParaRPr lang="en-US" sz="750" dirty="0"/>
          </a:p>
        </p:txBody>
      </p:sp>
      <p:sp>
        <p:nvSpPr>
          <p:cNvPr id="25" name="Shape 23"/>
          <p:cNvSpPr/>
          <p:nvPr/>
        </p:nvSpPr>
        <p:spPr>
          <a:xfrm>
            <a:off x="2905125" y="2522934"/>
            <a:ext cx="7038975" cy="4462513"/>
          </a:xfrm>
          <a:prstGeom prst="rect">
            <a:avLst/>
          </a:prstGeom>
          <a:solidFill>
            <a:srgbClr val="FFFFFF"/>
          </a:solidFill>
          <a:ln/>
        </p:spPr>
        <p:txBody>
          <a:bodyPr/>
          <a:lstStyle/>
          <a:p>
            <a:endParaRPr lang="he-IL"/>
          </a:p>
        </p:txBody>
      </p:sp>
      <p:pic>
        <p:nvPicPr>
          <p:cNvPr id="26" name="Image 0" descr="preencoded.png"/>
          <p:cNvPicPr>
            <a:picLocks noChangeAspect="1"/>
          </p:cNvPicPr>
          <p:nvPr/>
        </p:nvPicPr>
        <p:blipFill>
          <a:blip r:embed="rId3"/>
          <a:srcRect/>
          <a:stretch/>
        </p:blipFill>
        <p:spPr>
          <a:xfrm>
            <a:off x="2905125" y="2522934"/>
            <a:ext cx="7038975" cy="4367263"/>
          </a:xfrm>
          <a:prstGeom prst="rect">
            <a:avLst/>
          </a:prstGeom>
        </p:spPr>
      </p:pic>
      <p:sp>
        <p:nvSpPr>
          <p:cNvPr id="27" name="Shape 24"/>
          <p:cNvSpPr/>
          <p:nvPr/>
        </p:nvSpPr>
        <p:spPr>
          <a:xfrm>
            <a:off x="10239375" y="2199084"/>
            <a:ext cx="7286625" cy="4786363"/>
          </a:xfrm>
          <a:prstGeom prst="rect">
            <a:avLst/>
          </a:prstGeom>
          <a:solidFill>
            <a:srgbClr val="FFFFFF"/>
          </a:solidFill>
          <a:ln w="9525">
            <a:solidFill>
              <a:srgbClr val="D4CDBC"/>
            </a:solidFill>
            <a:prstDash val="solid"/>
          </a:ln>
        </p:spPr>
        <p:txBody>
          <a:bodyPr/>
          <a:lstStyle/>
          <a:p>
            <a:endParaRPr lang="he-IL"/>
          </a:p>
        </p:txBody>
      </p:sp>
      <p:sp>
        <p:nvSpPr>
          <p:cNvPr id="28" name="Text 25"/>
          <p:cNvSpPr/>
          <p:nvPr/>
        </p:nvSpPr>
        <p:spPr>
          <a:xfrm>
            <a:off x="10363200" y="2322909"/>
            <a:ext cx="2609850" cy="161925"/>
          </a:xfrm>
          <a:prstGeom prst="rect">
            <a:avLst/>
          </a:prstGeom>
          <a:noFill/>
          <a:ln/>
        </p:spPr>
        <p:txBody>
          <a:bodyPr wrap="square" lIns="25400" tIns="25400" rIns="25400" bIns="25400" rtlCol="0" anchor="t">
            <a:normAutofit lnSpcReduction="10000"/>
          </a:bodyPr>
          <a:lstStyle/>
          <a:p>
            <a:pPr marL="0" indent="0" algn="l">
              <a:buNone/>
            </a:pPr>
            <a:r>
              <a:rPr lang="en-US" sz="750" kern="0" spc="120" dirty="0">
                <a:solidFill>
                  <a:srgbClr val="888080"/>
                </a:solidFill>
                <a:latin typeface="JetBrains Mono" pitchFamily="34" charset="0"/>
                <a:ea typeface="JetBrains Mono" pitchFamily="34" charset="-122"/>
                <a:cs typeface="JetBrains Mono" pitchFamily="34" charset="-120"/>
              </a:rPr>
              <a:t>FIG · AVG SPEED · PLANNED VS ACTUAL</a:t>
            </a:r>
            <a:endParaRPr lang="en-US" sz="750" dirty="0"/>
          </a:p>
        </p:txBody>
      </p:sp>
      <p:sp>
        <p:nvSpPr>
          <p:cNvPr id="29" name="Text 26"/>
          <p:cNvSpPr/>
          <p:nvPr/>
        </p:nvSpPr>
        <p:spPr>
          <a:xfrm>
            <a:off x="17112555" y="2322909"/>
            <a:ext cx="365820" cy="161925"/>
          </a:xfrm>
          <a:prstGeom prst="rect">
            <a:avLst/>
          </a:prstGeom>
          <a:noFill/>
          <a:ln/>
        </p:spPr>
        <p:txBody>
          <a:bodyPr wrap="square" lIns="25400" tIns="25400" rIns="25400" bIns="25400" rtlCol="0" anchor="t">
            <a:normAutofit lnSpcReduction="10000"/>
          </a:bodyPr>
          <a:lstStyle/>
          <a:p>
            <a:pPr marL="0" indent="0" algn="l">
              <a:buNone/>
            </a:pPr>
            <a:r>
              <a:rPr lang="en-US" sz="750" kern="0" spc="120" dirty="0">
                <a:solidFill>
                  <a:srgbClr val="888080"/>
                </a:solidFill>
                <a:latin typeface="JetBrains Mono" pitchFamily="34" charset="0"/>
                <a:ea typeface="JetBrains Mono" pitchFamily="34" charset="-122"/>
                <a:cs typeface="JetBrains Mono" pitchFamily="34" charset="-120"/>
              </a:rPr>
              <a:t>KM/H</a:t>
            </a:r>
            <a:endParaRPr lang="en-US" sz="750" dirty="0"/>
          </a:p>
        </p:txBody>
      </p:sp>
      <p:sp>
        <p:nvSpPr>
          <p:cNvPr id="30" name="Shape 27"/>
          <p:cNvSpPr/>
          <p:nvPr/>
        </p:nvSpPr>
        <p:spPr>
          <a:xfrm>
            <a:off x="10363200" y="2522934"/>
            <a:ext cx="7038975" cy="4462513"/>
          </a:xfrm>
          <a:prstGeom prst="rect">
            <a:avLst/>
          </a:prstGeom>
          <a:solidFill>
            <a:srgbClr val="FFFFFF"/>
          </a:solidFill>
          <a:ln/>
        </p:spPr>
        <p:txBody>
          <a:bodyPr/>
          <a:lstStyle/>
          <a:p>
            <a:endParaRPr lang="he-IL"/>
          </a:p>
        </p:txBody>
      </p:sp>
      <p:pic>
        <p:nvPicPr>
          <p:cNvPr id="31" name="Image 1" descr="preencoded.png"/>
          <p:cNvPicPr>
            <a:picLocks noChangeAspect="1"/>
          </p:cNvPicPr>
          <p:nvPr/>
        </p:nvPicPr>
        <p:blipFill>
          <a:blip r:embed="rId4"/>
          <a:srcRect/>
          <a:stretch/>
        </p:blipFill>
        <p:spPr>
          <a:xfrm>
            <a:off x="10363200" y="2522934"/>
            <a:ext cx="7038975" cy="4367263"/>
          </a:xfrm>
          <a:prstGeom prst="rect">
            <a:avLst/>
          </a:prstGeom>
        </p:spPr>
      </p:pic>
      <p:sp>
        <p:nvSpPr>
          <p:cNvPr id="32" name="Text 16">
            <a:extLst>
              <a:ext uri="{FF2B5EF4-FFF2-40B4-BE49-F238E27FC236}">
                <a16:creationId xmlns:a16="http://schemas.microsoft.com/office/drawing/2014/main" id="{3E219859-1DAD-151E-5496-C8F7E050403B}"/>
              </a:ext>
            </a:extLst>
          </p:cNvPr>
          <p:cNvSpPr/>
          <p:nvPr/>
        </p:nvSpPr>
        <p:spPr>
          <a:xfrm>
            <a:off x="266700" y="9410700"/>
            <a:ext cx="1628775" cy="342900"/>
          </a:xfrm>
          <a:prstGeom prst="rect">
            <a:avLst/>
          </a:prstGeom>
          <a:noFill/>
          <a:ln/>
        </p:spPr>
        <p:txBody>
          <a:bodyPr wrap="square" lIns="25400" tIns="25400" rIns="25400" bIns="25400" rtlCol="0" anchor="t">
            <a:noAutofit/>
          </a:bodyPr>
          <a:lstStyle/>
          <a:p>
            <a:pPr>
              <a:lnSpc>
                <a:spcPct val="160000"/>
              </a:lnSpc>
            </a:pPr>
            <a:r>
              <a:rPr lang="en-US" sz="1400" b="1" kern="0" spc="105" dirty="0">
                <a:solidFill>
                  <a:srgbClr val="1A1A1A"/>
                </a:solidFill>
                <a:latin typeface="JetBrains Mono" pitchFamily="34" charset="0"/>
                <a:ea typeface="JetBrains Mono" pitchFamily="34" charset="-122"/>
                <a:cs typeface="JetBrains Mono" pitchFamily="34" charset="-120"/>
              </a:rPr>
              <a:t>10 / 34</a:t>
            </a:r>
            <a:endParaRPr lang="en-US" sz="1400" dirty="0"/>
          </a:p>
        </p:txBody>
      </p:sp>
      <p:sp>
        <p:nvSpPr>
          <p:cNvPr id="33" name="Text 4">
            <a:extLst>
              <a:ext uri="{FF2B5EF4-FFF2-40B4-BE49-F238E27FC236}">
                <a16:creationId xmlns:a16="http://schemas.microsoft.com/office/drawing/2014/main" id="{07142B14-26BC-BC1F-692D-930536902810}"/>
              </a:ext>
            </a:extLst>
          </p:cNvPr>
          <p:cNvSpPr/>
          <p:nvPr/>
        </p:nvSpPr>
        <p:spPr>
          <a:xfrm>
            <a:off x="228063" y="1524367"/>
            <a:ext cx="372012" cy="200025"/>
          </a:xfrm>
          <a:prstGeom prst="rect">
            <a:avLst/>
          </a:prstGeom>
          <a:noFill/>
          <a:ln/>
        </p:spPr>
        <p:txBody>
          <a:bodyPr wrap="square" lIns="25400" tIns="25400" rIns="25400" bIns="25400" rtlCol="0" anchor="t">
            <a:noAutofit/>
          </a:bodyPr>
          <a:lstStyle/>
          <a:p>
            <a:pPr marL="0" indent="0" algn="l">
              <a:lnSpc>
                <a:spcPct val="130000"/>
              </a:lnSpc>
              <a:buNone/>
            </a:pPr>
            <a:r>
              <a:rPr lang="en-US" sz="1400" kern="0" spc="21" dirty="0">
                <a:solidFill>
                  <a:srgbClr val="888080"/>
                </a:solidFill>
                <a:latin typeface="Inter" pitchFamily="34" charset="0"/>
                <a:ea typeface="Inter" pitchFamily="34" charset="-122"/>
              </a:rPr>
              <a:t>01</a:t>
            </a:r>
          </a:p>
        </p:txBody>
      </p:sp>
      <p:sp>
        <p:nvSpPr>
          <p:cNvPr id="34" name="Text 5">
            <a:extLst>
              <a:ext uri="{FF2B5EF4-FFF2-40B4-BE49-F238E27FC236}">
                <a16:creationId xmlns:a16="http://schemas.microsoft.com/office/drawing/2014/main" id="{7C38B47E-E823-3F8A-7A4D-8E0E7B126639}"/>
              </a:ext>
            </a:extLst>
          </p:cNvPr>
          <p:cNvSpPr/>
          <p:nvPr/>
        </p:nvSpPr>
        <p:spPr>
          <a:xfrm>
            <a:off x="523875" y="1522975"/>
            <a:ext cx="876300" cy="476251"/>
          </a:xfrm>
          <a:prstGeom prst="rect">
            <a:avLst/>
          </a:prstGeom>
          <a:noFill/>
          <a:ln/>
        </p:spPr>
        <p:txBody>
          <a:bodyPr wrap="square" lIns="25400" tIns="25400" rIns="25400" bIns="25400" rtlCol="0" anchor="t">
            <a:normAutofit/>
          </a:bodyPr>
          <a:lstStyle/>
          <a:p>
            <a:pPr marL="0" indent="0" algn="l">
              <a:lnSpc>
                <a:spcPct val="130000"/>
              </a:lnSpc>
              <a:buNone/>
            </a:pPr>
            <a:r>
              <a:rPr lang="en-US" sz="1400" kern="0" spc="21" dirty="0">
                <a:solidFill>
                  <a:srgbClr val="888080"/>
                </a:solidFill>
                <a:latin typeface="Inter" pitchFamily="34" charset="0"/>
                <a:ea typeface="Inter" pitchFamily="34" charset="-122"/>
              </a:rPr>
              <a:t>Agenda</a:t>
            </a:r>
          </a:p>
        </p:txBody>
      </p:sp>
      <p:sp>
        <p:nvSpPr>
          <p:cNvPr id="35" name="Text 6">
            <a:extLst>
              <a:ext uri="{FF2B5EF4-FFF2-40B4-BE49-F238E27FC236}">
                <a16:creationId xmlns:a16="http://schemas.microsoft.com/office/drawing/2014/main" id="{DAD94E95-54E1-1567-7A14-9A70C5427EC5}"/>
              </a:ext>
            </a:extLst>
          </p:cNvPr>
          <p:cNvSpPr/>
          <p:nvPr/>
        </p:nvSpPr>
        <p:spPr>
          <a:xfrm>
            <a:off x="228063" y="1830953"/>
            <a:ext cx="372010" cy="194877"/>
          </a:xfrm>
          <a:prstGeom prst="rect">
            <a:avLst/>
          </a:prstGeom>
          <a:noFill/>
          <a:ln/>
        </p:spPr>
        <p:txBody>
          <a:bodyPr wrap="square" lIns="25400" tIns="25400" rIns="25400" bIns="25400" rtlCol="0" anchor="t">
            <a:noAutofit/>
          </a:bodyPr>
          <a:lstStyle/>
          <a:p>
            <a:pPr marL="0" indent="0" algn="l">
              <a:lnSpc>
                <a:spcPct val="130000"/>
              </a:lnSpc>
              <a:buNone/>
            </a:pPr>
            <a:r>
              <a:rPr lang="en-US" sz="1400" kern="0" spc="21" dirty="0">
                <a:solidFill>
                  <a:srgbClr val="888080"/>
                </a:solidFill>
                <a:latin typeface="Inter" pitchFamily="34" charset="0"/>
                <a:ea typeface="Inter" pitchFamily="34" charset="-122"/>
              </a:rPr>
              <a:t>02</a:t>
            </a:r>
          </a:p>
        </p:txBody>
      </p:sp>
      <p:sp>
        <p:nvSpPr>
          <p:cNvPr id="36" name="Text 8">
            <a:extLst>
              <a:ext uri="{FF2B5EF4-FFF2-40B4-BE49-F238E27FC236}">
                <a16:creationId xmlns:a16="http://schemas.microsoft.com/office/drawing/2014/main" id="{E6F4EE86-B29D-F866-0DE0-7CE7A7CD210A}"/>
              </a:ext>
            </a:extLst>
          </p:cNvPr>
          <p:cNvSpPr/>
          <p:nvPr/>
        </p:nvSpPr>
        <p:spPr>
          <a:xfrm>
            <a:off x="230504" y="2152895"/>
            <a:ext cx="302895" cy="141422"/>
          </a:xfrm>
          <a:prstGeom prst="rect">
            <a:avLst/>
          </a:prstGeom>
          <a:noFill/>
          <a:ln/>
        </p:spPr>
        <p:txBody>
          <a:bodyPr wrap="square" lIns="25400" tIns="25400" rIns="25400" bIns="25400" rtlCol="0" anchor="t">
            <a:noAutofit/>
          </a:bodyPr>
          <a:lstStyle/>
          <a:p>
            <a:pPr marL="0" indent="0" algn="l">
              <a:lnSpc>
                <a:spcPct val="130000"/>
              </a:lnSpc>
              <a:buNone/>
            </a:pPr>
            <a:r>
              <a:rPr lang="en-US" sz="1400" b="1" kern="0" spc="21" dirty="0">
                <a:solidFill>
                  <a:srgbClr val="C25A2A"/>
                </a:solidFill>
                <a:latin typeface="JetBrains Mono" pitchFamily="34" charset="0"/>
                <a:ea typeface="JetBrains Mono" pitchFamily="34" charset="-122"/>
              </a:rPr>
              <a:t>03</a:t>
            </a:r>
          </a:p>
        </p:txBody>
      </p:sp>
      <p:sp>
        <p:nvSpPr>
          <p:cNvPr id="37" name="Text 9">
            <a:extLst>
              <a:ext uri="{FF2B5EF4-FFF2-40B4-BE49-F238E27FC236}">
                <a16:creationId xmlns:a16="http://schemas.microsoft.com/office/drawing/2014/main" id="{6115E780-241E-74DB-AC79-0DC607539222}"/>
              </a:ext>
            </a:extLst>
          </p:cNvPr>
          <p:cNvSpPr/>
          <p:nvPr/>
        </p:nvSpPr>
        <p:spPr>
          <a:xfrm>
            <a:off x="531240" y="2145027"/>
            <a:ext cx="1185416" cy="342476"/>
          </a:xfrm>
          <a:prstGeom prst="rect">
            <a:avLst/>
          </a:prstGeom>
          <a:noFill/>
          <a:ln/>
        </p:spPr>
        <p:txBody>
          <a:bodyPr wrap="square" lIns="25400" tIns="25400" rIns="25400" bIns="25400" rtlCol="0" anchor="t">
            <a:normAutofit/>
          </a:bodyPr>
          <a:lstStyle/>
          <a:p>
            <a:pPr marL="0" indent="0" algn="l">
              <a:lnSpc>
                <a:spcPct val="130000"/>
              </a:lnSpc>
              <a:buNone/>
            </a:pPr>
            <a:r>
              <a:rPr lang="en-US" sz="1400" kern="0" spc="21" dirty="0">
                <a:solidFill>
                  <a:srgbClr val="1A1A1A"/>
                </a:solidFill>
                <a:latin typeface="Inter" pitchFamily="34" charset="0"/>
                <a:ea typeface="Inter" pitchFamily="34" charset="-122"/>
              </a:rPr>
              <a:t>EDA</a:t>
            </a:r>
          </a:p>
        </p:txBody>
      </p:sp>
      <p:sp>
        <p:nvSpPr>
          <p:cNvPr id="38" name="Text 10">
            <a:extLst>
              <a:ext uri="{FF2B5EF4-FFF2-40B4-BE49-F238E27FC236}">
                <a16:creationId xmlns:a16="http://schemas.microsoft.com/office/drawing/2014/main" id="{C43F8FFF-98F1-8F9F-77E0-685A1074BD11}"/>
              </a:ext>
            </a:extLst>
          </p:cNvPr>
          <p:cNvSpPr/>
          <p:nvPr/>
        </p:nvSpPr>
        <p:spPr>
          <a:xfrm>
            <a:off x="228062" y="2444125"/>
            <a:ext cx="305337" cy="172132"/>
          </a:xfrm>
          <a:prstGeom prst="rect">
            <a:avLst/>
          </a:prstGeom>
          <a:noFill/>
          <a:ln/>
        </p:spPr>
        <p:txBody>
          <a:bodyPr wrap="square" lIns="25400" tIns="25400" rIns="25400" bIns="25400" rtlCol="0" anchor="t">
            <a:noAutofit/>
          </a:bodyPr>
          <a:lstStyle/>
          <a:p>
            <a:pPr marL="0" indent="0" algn="l">
              <a:lnSpc>
                <a:spcPct val="130000"/>
              </a:lnSpc>
              <a:buNone/>
            </a:pPr>
            <a:r>
              <a:rPr lang="en-US" sz="1400" kern="0" spc="21" dirty="0">
                <a:solidFill>
                  <a:srgbClr val="888080"/>
                </a:solidFill>
                <a:latin typeface="JetBrains Mono" pitchFamily="34" charset="0"/>
                <a:ea typeface="JetBrains Mono" pitchFamily="34" charset="-122"/>
                <a:cs typeface="JetBrains Mono" pitchFamily="34" charset="-120"/>
              </a:rPr>
              <a:t>04</a:t>
            </a:r>
            <a:endParaRPr lang="en-US" sz="1400" dirty="0"/>
          </a:p>
        </p:txBody>
      </p:sp>
      <p:sp>
        <p:nvSpPr>
          <p:cNvPr id="39" name="Text 12">
            <a:extLst>
              <a:ext uri="{FF2B5EF4-FFF2-40B4-BE49-F238E27FC236}">
                <a16:creationId xmlns:a16="http://schemas.microsoft.com/office/drawing/2014/main" id="{DD3D6965-830D-0675-6A27-AA0DE56D4A18}"/>
              </a:ext>
            </a:extLst>
          </p:cNvPr>
          <p:cNvSpPr/>
          <p:nvPr/>
        </p:nvSpPr>
        <p:spPr>
          <a:xfrm>
            <a:off x="228062" y="2750711"/>
            <a:ext cx="372011" cy="158880"/>
          </a:xfrm>
          <a:prstGeom prst="rect">
            <a:avLst/>
          </a:prstGeom>
          <a:noFill/>
          <a:ln/>
        </p:spPr>
        <p:txBody>
          <a:bodyPr wrap="square" lIns="25400" tIns="25400" rIns="25400" bIns="25400" rtlCol="0" anchor="t">
            <a:noAutofit/>
          </a:bodyPr>
          <a:lstStyle/>
          <a:p>
            <a:pPr marL="0" indent="0" algn="l">
              <a:lnSpc>
                <a:spcPct val="130000"/>
              </a:lnSpc>
              <a:buNone/>
            </a:pPr>
            <a:r>
              <a:rPr lang="en-US" sz="1400" kern="0" spc="21" dirty="0">
                <a:solidFill>
                  <a:srgbClr val="888080"/>
                </a:solidFill>
                <a:latin typeface="JetBrains Mono" pitchFamily="34" charset="0"/>
                <a:ea typeface="JetBrains Mono" pitchFamily="34" charset="-122"/>
                <a:cs typeface="JetBrains Mono" pitchFamily="34" charset="-120"/>
              </a:rPr>
              <a:t>05</a:t>
            </a:r>
            <a:endParaRPr lang="en-US" sz="1400" dirty="0"/>
          </a:p>
        </p:txBody>
      </p:sp>
      <p:sp>
        <p:nvSpPr>
          <p:cNvPr id="40" name="Text 13">
            <a:extLst>
              <a:ext uri="{FF2B5EF4-FFF2-40B4-BE49-F238E27FC236}">
                <a16:creationId xmlns:a16="http://schemas.microsoft.com/office/drawing/2014/main" id="{32FA3CD3-6C2F-480B-7978-4726DA26BC53}"/>
              </a:ext>
            </a:extLst>
          </p:cNvPr>
          <p:cNvSpPr/>
          <p:nvPr/>
        </p:nvSpPr>
        <p:spPr>
          <a:xfrm>
            <a:off x="533399" y="2725489"/>
            <a:ext cx="948333" cy="761256"/>
          </a:xfrm>
          <a:prstGeom prst="rect">
            <a:avLst/>
          </a:prstGeom>
          <a:noFill/>
          <a:ln/>
        </p:spPr>
        <p:txBody>
          <a:bodyPr wrap="square" lIns="25400" tIns="25400" rIns="25400" bIns="25400" rtlCol="0" anchor="t">
            <a:normAutofit/>
          </a:bodyPr>
          <a:lstStyle/>
          <a:p>
            <a:pPr marL="0" indent="0" algn="l">
              <a:lnSpc>
                <a:spcPct val="130000"/>
              </a:lnSpc>
              <a:buNone/>
            </a:pPr>
            <a:r>
              <a:rPr lang="en-US" sz="1400" kern="0" spc="21" dirty="0">
                <a:solidFill>
                  <a:srgbClr val="888080"/>
                </a:solidFill>
                <a:latin typeface="Inter" pitchFamily="34" charset="0"/>
                <a:ea typeface="Inter" pitchFamily="34" charset="-122"/>
                <a:cs typeface="Inter" pitchFamily="34" charset="-120"/>
              </a:rPr>
              <a:t>Modeling</a:t>
            </a:r>
            <a:endParaRPr lang="en-US" sz="1400" dirty="0"/>
          </a:p>
        </p:txBody>
      </p:sp>
      <p:sp>
        <p:nvSpPr>
          <p:cNvPr id="41" name="Text 14">
            <a:extLst>
              <a:ext uri="{FF2B5EF4-FFF2-40B4-BE49-F238E27FC236}">
                <a16:creationId xmlns:a16="http://schemas.microsoft.com/office/drawing/2014/main" id="{B388BBBC-56C6-0643-8A6D-41D2E9875637}"/>
              </a:ext>
            </a:extLst>
          </p:cNvPr>
          <p:cNvSpPr/>
          <p:nvPr/>
        </p:nvSpPr>
        <p:spPr>
          <a:xfrm>
            <a:off x="235683" y="3042056"/>
            <a:ext cx="372010" cy="191463"/>
          </a:xfrm>
          <a:prstGeom prst="rect">
            <a:avLst/>
          </a:prstGeom>
          <a:noFill/>
          <a:ln/>
        </p:spPr>
        <p:txBody>
          <a:bodyPr wrap="square" lIns="25400" tIns="25400" rIns="25400" bIns="25400" rtlCol="0" anchor="t">
            <a:noAutofit/>
          </a:bodyPr>
          <a:lstStyle/>
          <a:p>
            <a:pPr marL="0" indent="0" algn="l">
              <a:lnSpc>
                <a:spcPct val="130000"/>
              </a:lnSpc>
              <a:buNone/>
            </a:pPr>
            <a:r>
              <a:rPr lang="en-US" sz="1400" kern="0" spc="21" dirty="0">
                <a:solidFill>
                  <a:srgbClr val="888080"/>
                </a:solidFill>
                <a:latin typeface="JetBrains Mono" pitchFamily="34" charset="0"/>
                <a:ea typeface="JetBrains Mono" pitchFamily="34" charset="-122"/>
                <a:cs typeface="JetBrains Mono" pitchFamily="34" charset="-120"/>
              </a:rPr>
              <a:t>06</a:t>
            </a:r>
            <a:endParaRPr lang="en-US" sz="1400" dirty="0"/>
          </a:p>
        </p:txBody>
      </p:sp>
      <p:sp>
        <p:nvSpPr>
          <p:cNvPr id="42" name="Text 15">
            <a:extLst>
              <a:ext uri="{FF2B5EF4-FFF2-40B4-BE49-F238E27FC236}">
                <a16:creationId xmlns:a16="http://schemas.microsoft.com/office/drawing/2014/main" id="{BB3D7BC0-3E8E-47F6-1B52-8941CC471145}"/>
              </a:ext>
            </a:extLst>
          </p:cNvPr>
          <p:cNvSpPr/>
          <p:nvPr/>
        </p:nvSpPr>
        <p:spPr>
          <a:xfrm>
            <a:off x="533400" y="3032075"/>
            <a:ext cx="1185416" cy="626120"/>
          </a:xfrm>
          <a:prstGeom prst="rect">
            <a:avLst/>
          </a:prstGeom>
          <a:noFill/>
          <a:ln/>
        </p:spPr>
        <p:txBody>
          <a:bodyPr wrap="square" lIns="25400" tIns="25400" rIns="25400" bIns="25400" rtlCol="0" anchor="t">
            <a:normAutofit/>
          </a:bodyPr>
          <a:lstStyle/>
          <a:p>
            <a:pPr marL="0" indent="0" algn="l">
              <a:lnSpc>
                <a:spcPct val="130000"/>
              </a:lnSpc>
              <a:buNone/>
            </a:pPr>
            <a:r>
              <a:rPr lang="en-US" sz="1400" kern="0" spc="21" dirty="0">
                <a:solidFill>
                  <a:srgbClr val="888080"/>
                </a:solidFill>
                <a:latin typeface="Inter" pitchFamily="34" charset="0"/>
                <a:ea typeface="Inter" pitchFamily="34" charset="-122"/>
                <a:cs typeface="Inter" pitchFamily="34" charset="-120"/>
              </a:rPr>
              <a:t>Conclusions</a:t>
            </a:r>
            <a:endParaRPr lang="en-US" sz="1400" dirty="0"/>
          </a:p>
        </p:txBody>
      </p:sp>
      <p:sp>
        <p:nvSpPr>
          <p:cNvPr id="43" name="Text 9">
            <a:extLst>
              <a:ext uri="{FF2B5EF4-FFF2-40B4-BE49-F238E27FC236}">
                <a16:creationId xmlns:a16="http://schemas.microsoft.com/office/drawing/2014/main" id="{2F650865-AE10-DF14-84E3-687147D820E6}"/>
              </a:ext>
            </a:extLst>
          </p:cNvPr>
          <p:cNvSpPr/>
          <p:nvPr/>
        </p:nvSpPr>
        <p:spPr>
          <a:xfrm>
            <a:off x="538609" y="2426180"/>
            <a:ext cx="1185416" cy="342476"/>
          </a:xfrm>
          <a:prstGeom prst="rect">
            <a:avLst/>
          </a:prstGeom>
          <a:noFill/>
          <a:ln/>
        </p:spPr>
        <p:txBody>
          <a:bodyPr wrap="square" lIns="25400" tIns="25400" rIns="25400" bIns="25400" rtlCol="0" anchor="t">
            <a:normAutofit/>
          </a:bodyPr>
          <a:lstStyle/>
          <a:p>
            <a:pPr marL="0" indent="0" algn="l">
              <a:lnSpc>
                <a:spcPct val="130000"/>
              </a:lnSpc>
              <a:buNone/>
            </a:pPr>
            <a:r>
              <a:rPr lang="en-US" sz="1400" kern="0" spc="21" dirty="0">
                <a:solidFill>
                  <a:srgbClr val="888080"/>
                </a:solidFill>
                <a:latin typeface="Inter" pitchFamily="34" charset="0"/>
                <a:ea typeface="Inter" pitchFamily="34" charset="-122"/>
                <a:cs typeface="Inter" pitchFamily="34" charset="-120"/>
              </a:rPr>
              <a:t>Pipeline</a:t>
            </a:r>
            <a:endParaRPr lang="en-US" sz="1400" dirty="0"/>
          </a:p>
        </p:txBody>
      </p:sp>
      <p:sp>
        <p:nvSpPr>
          <p:cNvPr id="44" name="Text 7">
            <a:extLst>
              <a:ext uri="{FF2B5EF4-FFF2-40B4-BE49-F238E27FC236}">
                <a16:creationId xmlns:a16="http://schemas.microsoft.com/office/drawing/2014/main" id="{DD45EDB7-F9D2-DFDA-F27C-2F104E61387C}"/>
              </a:ext>
            </a:extLst>
          </p:cNvPr>
          <p:cNvSpPr/>
          <p:nvPr/>
        </p:nvSpPr>
        <p:spPr>
          <a:xfrm>
            <a:off x="523875" y="1826620"/>
            <a:ext cx="1325700" cy="467696"/>
          </a:xfrm>
          <a:prstGeom prst="rect">
            <a:avLst/>
          </a:prstGeom>
          <a:noFill/>
          <a:ln/>
        </p:spPr>
        <p:txBody>
          <a:bodyPr wrap="square" lIns="25400" tIns="25400" rIns="25400" bIns="25400" rtlCol="0" anchor="t">
            <a:noAutofit/>
          </a:bodyPr>
          <a:lstStyle/>
          <a:p>
            <a:pPr marL="0" indent="0" algn="l">
              <a:lnSpc>
                <a:spcPct val="130000"/>
              </a:lnSpc>
              <a:buNone/>
            </a:pPr>
            <a:r>
              <a:rPr lang="en-US" sz="1400" kern="0" spc="21" dirty="0">
                <a:solidFill>
                  <a:srgbClr val="888080"/>
                </a:solidFill>
                <a:latin typeface="Inter" pitchFamily="34" charset="0"/>
                <a:ea typeface="Inter" pitchFamily="34" charset="-122"/>
              </a:rPr>
              <a:t>Data &amp; target</a:t>
            </a:r>
          </a:p>
        </p:txBody>
      </p:sp>
      <p:sp>
        <p:nvSpPr>
          <p:cNvPr id="45" name="Text 1">
            <a:extLst>
              <a:ext uri="{FF2B5EF4-FFF2-40B4-BE49-F238E27FC236}">
                <a16:creationId xmlns:a16="http://schemas.microsoft.com/office/drawing/2014/main" id="{5BDFB03D-4E80-572F-4AFE-CA01FAAD28D4}"/>
              </a:ext>
            </a:extLst>
          </p:cNvPr>
          <p:cNvSpPr/>
          <p:nvPr/>
        </p:nvSpPr>
        <p:spPr>
          <a:xfrm>
            <a:off x="261138" y="379598"/>
            <a:ext cx="1778457" cy="447678"/>
          </a:xfrm>
          <a:prstGeom prst="rect">
            <a:avLst/>
          </a:prstGeom>
          <a:noFill/>
          <a:ln/>
        </p:spPr>
        <p:txBody>
          <a:bodyPr wrap="square" lIns="25400" tIns="25400" rIns="25400" bIns="25400" rtlCol="0" anchor="t">
            <a:noAutofit/>
          </a:bodyPr>
          <a:lstStyle/>
          <a:p>
            <a:pPr marL="0" indent="0">
              <a:buNone/>
            </a:pPr>
            <a:r>
              <a:rPr lang="en-US" sz="1400" kern="0" spc="116" dirty="0">
                <a:solidFill>
                  <a:srgbClr val="888080"/>
                </a:solidFill>
                <a:latin typeface="JetBrains Mono" pitchFamily="34" charset="0"/>
                <a:ea typeface="JetBrains Mono" pitchFamily="34" charset="-122"/>
                <a:cs typeface="JetBrains Mono" pitchFamily="34" charset="-120"/>
              </a:rPr>
              <a:t>DS22 - Bar Ilan</a:t>
            </a:r>
            <a:br>
              <a:rPr lang="en-US" sz="1400" kern="0" spc="116" dirty="0">
                <a:solidFill>
                  <a:srgbClr val="888080"/>
                </a:solidFill>
                <a:latin typeface="JetBrains Mono" pitchFamily="34" charset="0"/>
                <a:ea typeface="JetBrains Mono" pitchFamily="34" charset="-122"/>
                <a:cs typeface="JetBrains Mono" pitchFamily="34" charset="-120"/>
              </a:rPr>
            </a:br>
            <a:r>
              <a:rPr lang="en-US" sz="1400" kern="0" spc="116" dirty="0">
                <a:solidFill>
                  <a:srgbClr val="888080"/>
                </a:solidFill>
                <a:latin typeface="JetBrains Mono" pitchFamily="34" charset="0"/>
                <a:ea typeface="JetBrains Mono" pitchFamily="34" charset="-122"/>
                <a:cs typeface="JetBrains Mono" pitchFamily="34" charset="-120"/>
              </a:rPr>
              <a:t>ML PROJECT</a:t>
            </a:r>
          </a:p>
          <a:p>
            <a:pPr marL="0" indent="0">
              <a:buNone/>
            </a:pPr>
            <a:r>
              <a:rPr lang="en-US" sz="1400" kern="0" spc="116" dirty="0">
                <a:solidFill>
                  <a:srgbClr val="888080"/>
                </a:solidFill>
                <a:latin typeface="JetBrains Mono" pitchFamily="34" charset="0"/>
                <a:ea typeface="JetBrains Mono" pitchFamily="34" charset="-122"/>
                <a:cs typeface="JetBrains Mono" pitchFamily="34" charset="-120"/>
              </a:rPr>
              <a:t>MAY 2026</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3">
    <p:bg>
      <p:bgPr>
        <a:solidFill>
          <a:srgbClr val="F5F1E8"/>
        </a:solidFill>
        <a:effectLst/>
      </p:bgPr>
    </p:bg>
    <p:spTree>
      <p:nvGrpSpPr>
        <p:cNvPr id="1" name=""/>
        <p:cNvGrpSpPr/>
        <p:nvPr/>
      </p:nvGrpSpPr>
      <p:grpSpPr>
        <a:xfrm>
          <a:off x="0" y="0"/>
          <a:ext cx="0" cy="0"/>
          <a:chOff x="0" y="0"/>
          <a:chExt cx="0" cy="0"/>
        </a:xfrm>
      </p:grpSpPr>
      <p:sp>
        <p:nvSpPr>
          <p:cNvPr id="2" name="Shape 0"/>
          <p:cNvSpPr/>
          <p:nvPr/>
        </p:nvSpPr>
        <p:spPr>
          <a:xfrm>
            <a:off x="0" y="0"/>
            <a:ext cx="2095500" cy="10287000"/>
          </a:xfrm>
          <a:prstGeom prst="rect">
            <a:avLst/>
          </a:prstGeom>
          <a:solidFill>
            <a:srgbClr val="EBE5D6"/>
          </a:solidFill>
          <a:ln/>
        </p:spPr>
        <p:txBody>
          <a:bodyPr/>
          <a:lstStyle/>
          <a:p>
            <a:endParaRPr lang="he-IL"/>
          </a:p>
        </p:txBody>
      </p:sp>
      <p:sp>
        <p:nvSpPr>
          <p:cNvPr id="3" name="Shape 1"/>
          <p:cNvSpPr/>
          <p:nvPr/>
        </p:nvSpPr>
        <p:spPr>
          <a:xfrm>
            <a:off x="2085975" y="0"/>
            <a:ext cx="9525" cy="10287000"/>
          </a:xfrm>
          <a:prstGeom prst="rect">
            <a:avLst/>
          </a:prstGeom>
          <a:solidFill>
            <a:srgbClr val="D4CDBC"/>
          </a:solidFill>
          <a:ln/>
        </p:spPr>
        <p:txBody>
          <a:bodyPr/>
          <a:lstStyle/>
          <a:p>
            <a:endParaRPr lang="he-IL"/>
          </a:p>
        </p:txBody>
      </p:sp>
      <p:sp>
        <p:nvSpPr>
          <p:cNvPr id="19" name="Text 17"/>
          <p:cNvSpPr/>
          <p:nvPr/>
        </p:nvSpPr>
        <p:spPr>
          <a:xfrm>
            <a:off x="2781300" y="571500"/>
            <a:ext cx="15187041" cy="171450"/>
          </a:xfrm>
          <a:prstGeom prst="rect">
            <a:avLst/>
          </a:prstGeom>
          <a:noFill/>
          <a:ln/>
        </p:spPr>
        <p:txBody>
          <a:bodyPr wrap="square" lIns="25400" tIns="25400" rIns="25400" bIns="25400" rtlCol="0" anchor="ctr">
            <a:noAutofit/>
          </a:bodyPr>
          <a:lstStyle/>
          <a:p>
            <a:pPr marL="0" indent="0" algn="l">
              <a:buNone/>
            </a:pPr>
            <a:r>
              <a:rPr lang="en-US" sz="1400" kern="0" spc="182" dirty="0">
                <a:solidFill>
                  <a:srgbClr val="888080"/>
                </a:solidFill>
                <a:latin typeface="JetBrains Mono" pitchFamily="34" charset="0"/>
                <a:ea typeface="JetBrains Mono" pitchFamily="34" charset="-122"/>
                <a:cs typeface="JetBrains Mono" pitchFamily="34" charset="-120"/>
              </a:rPr>
              <a:t>EDA · TEMPORAL PATTERNS</a:t>
            </a:r>
            <a:endParaRPr lang="en-US" sz="1400" dirty="0"/>
          </a:p>
        </p:txBody>
      </p:sp>
      <p:sp>
        <p:nvSpPr>
          <p:cNvPr id="20" name="Text 18"/>
          <p:cNvSpPr/>
          <p:nvPr/>
        </p:nvSpPr>
        <p:spPr>
          <a:xfrm>
            <a:off x="2781300" y="914400"/>
            <a:ext cx="15187041" cy="643830"/>
          </a:xfrm>
          <a:prstGeom prst="rect">
            <a:avLst/>
          </a:prstGeom>
          <a:noFill/>
          <a:ln/>
        </p:spPr>
        <p:txBody>
          <a:bodyPr wrap="square" lIns="25400" tIns="25400" rIns="25400" bIns="25400" rtlCol="0" anchor="t">
            <a:normAutofit fontScale="92500" lnSpcReduction="20000"/>
          </a:bodyPr>
          <a:lstStyle/>
          <a:p>
            <a:pPr marL="0" indent="0" algn="l">
              <a:lnSpc>
                <a:spcPct val="106000"/>
              </a:lnSpc>
              <a:buNone/>
            </a:pPr>
            <a:r>
              <a:rPr lang="en-US" sz="4500" kern="0" spc="-81" dirty="0">
                <a:solidFill>
                  <a:srgbClr val="1A1A1A"/>
                </a:solidFill>
                <a:latin typeface="Instrument Serif" pitchFamily="34" charset="0"/>
                <a:ea typeface="Instrument Serif" pitchFamily="34" charset="-122"/>
                <a:cs typeface="Instrument Serif" pitchFamily="34" charset="-120"/>
              </a:rPr>
              <a:t>Average delay by </a:t>
            </a:r>
            <a:r>
              <a:rPr lang="en-US" sz="4500" i="1" kern="0" spc="-81" dirty="0">
                <a:solidFill>
                  <a:srgbClr val="C25A2A"/>
                </a:solidFill>
                <a:latin typeface="Instrument Serif" pitchFamily="34" charset="0"/>
                <a:ea typeface="Instrument Serif" pitchFamily="34" charset="-122"/>
                <a:cs typeface="Instrument Serif" pitchFamily="34" charset="-120"/>
              </a:rPr>
              <a:t>day &amp; hour.</a:t>
            </a:r>
            <a:endParaRPr lang="en-US" sz="4500" dirty="0"/>
          </a:p>
        </p:txBody>
      </p:sp>
      <p:sp>
        <p:nvSpPr>
          <p:cNvPr id="21" name="Shape 19"/>
          <p:cNvSpPr/>
          <p:nvPr/>
        </p:nvSpPr>
        <p:spPr>
          <a:xfrm>
            <a:off x="2781300" y="1710630"/>
            <a:ext cx="14744700" cy="6455866"/>
          </a:xfrm>
          <a:prstGeom prst="rect">
            <a:avLst/>
          </a:prstGeom>
          <a:solidFill>
            <a:srgbClr val="FFFFFF"/>
          </a:solidFill>
          <a:ln w="9525">
            <a:solidFill>
              <a:srgbClr val="D4CDBC"/>
            </a:solidFill>
            <a:prstDash val="solid"/>
          </a:ln>
        </p:spPr>
        <p:txBody>
          <a:bodyPr/>
          <a:lstStyle/>
          <a:p>
            <a:endParaRPr lang="he-IL"/>
          </a:p>
        </p:txBody>
      </p:sp>
      <p:sp>
        <p:nvSpPr>
          <p:cNvPr id="22" name="Text 20"/>
          <p:cNvSpPr/>
          <p:nvPr/>
        </p:nvSpPr>
        <p:spPr>
          <a:xfrm>
            <a:off x="2905125" y="1834455"/>
            <a:ext cx="3131622" cy="161925"/>
          </a:xfrm>
          <a:prstGeom prst="rect">
            <a:avLst/>
          </a:prstGeom>
          <a:noFill/>
          <a:ln/>
        </p:spPr>
        <p:txBody>
          <a:bodyPr wrap="square" lIns="25400" tIns="25400" rIns="25400" bIns="25400" rtlCol="0" anchor="t">
            <a:normAutofit lnSpcReduction="10000"/>
          </a:bodyPr>
          <a:lstStyle/>
          <a:p>
            <a:pPr marL="0" indent="0" algn="l">
              <a:buNone/>
            </a:pPr>
            <a:r>
              <a:rPr lang="en-US" sz="750" kern="0" spc="120" dirty="0">
                <a:solidFill>
                  <a:srgbClr val="888080"/>
                </a:solidFill>
                <a:latin typeface="JetBrains Mono" pitchFamily="34" charset="0"/>
                <a:ea typeface="JetBrains Mono" pitchFamily="34" charset="-122"/>
                <a:cs typeface="JetBrains Mono" pitchFamily="34" charset="-120"/>
              </a:rPr>
              <a:t>FIG · AVERAGE DELAY (MINUTES) · DAY × HOUR</a:t>
            </a:r>
            <a:endParaRPr lang="en-US" sz="750" dirty="0"/>
          </a:p>
        </p:txBody>
      </p:sp>
      <p:sp>
        <p:nvSpPr>
          <p:cNvPr id="23" name="Text 21"/>
          <p:cNvSpPr/>
          <p:nvPr/>
        </p:nvSpPr>
        <p:spPr>
          <a:xfrm>
            <a:off x="15519946" y="1834455"/>
            <a:ext cx="1958429" cy="161925"/>
          </a:xfrm>
          <a:prstGeom prst="rect">
            <a:avLst/>
          </a:prstGeom>
          <a:noFill/>
          <a:ln/>
        </p:spPr>
        <p:txBody>
          <a:bodyPr wrap="square" lIns="25400" tIns="25400" rIns="25400" bIns="25400" rtlCol="0" anchor="t">
            <a:normAutofit lnSpcReduction="10000"/>
          </a:bodyPr>
          <a:lstStyle/>
          <a:p>
            <a:pPr marL="0" indent="0" algn="l">
              <a:buNone/>
            </a:pPr>
            <a:r>
              <a:rPr lang="en-US" sz="750" kern="0" spc="120" dirty="0">
                <a:solidFill>
                  <a:srgbClr val="888080"/>
                </a:solidFill>
                <a:latin typeface="JetBrains Mono" pitchFamily="34" charset="0"/>
                <a:ea typeface="JetBrains Mono" pitchFamily="34" charset="-122"/>
                <a:cs typeface="JetBrains Mono" pitchFamily="34" charset="-120"/>
              </a:rPr>
              <a:t>RED = LATE · GREEN = EARLY</a:t>
            </a:r>
            <a:endParaRPr lang="en-US" sz="750" dirty="0"/>
          </a:p>
        </p:txBody>
      </p:sp>
      <p:sp>
        <p:nvSpPr>
          <p:cNvPr id="24" name="Shape 22"/>
          <p:cNvSpPr/>
          <p:nvPr/>
        </p:nvSpPr>
        <p:spPr>
          <a:xfrm>
            <a:off x="2905125" y="2034480"/>
            <a:ext cx="14497050" cy="6008191"/>
          </a:xfrm>
          <a:prstGeom prst="rect">
            <a:avLst/>
          </a:prstGeom>
          <a:solidFill>
            <a:srgbClr val="FFFFFF"/>
          </a:solidFill>
          <a:ln/>
        </p:spPr>
        <p:txBody>
          <a:bodyPr/>
          <a:lstStyle/>
          <a:p>
            <a:endParaRPr lang="he-IL"/>
          </a:p>
        </p:txBody>
      </p:sp>
      <p:pic>
        <p:nvPicPr>
          <p:cNvPr id="25" name="Image 0" descr="preencoded.png"/>
          <p:cNvPicPr>
            <a:picLocks noChangeAspect="1"/>
          </p:cNvPicPr>
          <p:nvPr/>
        </p:nvPicPr>
        <p:blipFill>
          <a:blip r:embed="rId3"/>
          <a:srcRect/>
          <a:stretch/>
        </p:blipFill>
        <p:spPr>
          <a:xfrm>
            <a:off x="2905125" y="2034480"/>
            <a:ext cx="14497050" cy="6008191"/>
          </a:xfrm>
          <a:prstGeom prst="rect">
            <a:avLst/>
          </a:prstGeom>
        </p:spPr>
      </p:pic>
      <p:sp>
        <p:nvSpPr>
          <p:cNvPr id="26" name="Shape 23"/>
          <p:cNvSpPr/>
          <p:nvPr/>
        </p:nvSpPr>
        <p:spPr>
          <a:xfrm>
            <a:off x="2781300" y="8337947"/>
            <a:ext cx="4813250" cy="1415653"/>
          </a:xfrm>
          <a:prstGeom prst="rect">
            <a:avLst/>
          </a:prstGeom>
          <a:solidFill>
            <a:srgbClr val="FFFFFF"/>
          </a:solidFill>
          <a:ln w="9525">
            <a:solidFill>
              <a:srgbClr val="D4CDBC"/>
            </a:solidFill>
            <a:prstDash val="solid"/>
          </a:ln>
        </p:spPr>
        <p:txBody>
          <a:bodyPr/>
          <a:lstStyle/>
          <a:p>
            <a:endParaRPr lang="he-IL"/>
          </a:p>
        </p:txBody>
      </p:sp>
      <p:sp>
        <p:nvSpPr>
          <p:cNvPr id="27" name="Text 24"/>
          <p:cNvSpPr/>
          <p:nvPr/>
        </p:nvSpPr>
        <p:spPr>
          <a:xfrm>
            <a:off x="3019425" y="8453990"/>
            <a:ext cx="4467110" cy="161925"/>
          </a:xfrm>
          <a:prstGeom prst="rect">
            <a:avLst/>
          </a:prstGeom>
          <a:noFill/>
          <a:ln/>
        </p:spPr>
        <p:txBody>
          <a:bodyPr wrap="square" lIns="25400" tIns="25400" rIns="25400" bIns="25400" rtlCol="0" anchor="t">
            <a:noAutofit/>
          </a:bodyPr>
          <a:lstStyle/>
          <a:p>
            <a:pPr marL="0" indent="0" algn="l">
              <a:buNone/>
            </a:pPr>
            <a:r>
              <a:rPr lang="en-US" sz="1400" b="1" kern="0" spc="135" dirty="0">
                <a:solidFill>
                  <a:srgbClr val="C25A2A"/>
                </a:solidFill>
                <a:latin typeface="JetBrains Mono" pitchFamily="34" charset="0"/>
                <a:ea typeface="JetBrains Mono" pitchFamily="34" charset="-122"/>
                <a:cs typeface="JetBrains Mono" pitchFamily="34" charset="-120"/>
              </a:rPr>
              <a:t>PEAK LATE</a:t>
            </a:r>
            <a:endParaRPr lang="en-US" sz="1400" dirty="0"/>
          </a:p>
        </p:txBody>
      </p:sp>
      <p:sp>
        <p:nvSpPr>
          <p:cNvPr id="28" name="Text 25"/>
          <p:cNvSpPr/>
          <p:nvPr/>
        </p:nvSpPr>
        <p:spPr>
          <a:xfrm>
            <a:off x="3019425" y="8776097"/>
            <a:ext cx="4467110" cy="272653"/>
          </a:xfrm>
          <a:prstGeom prst="rect">
            <a:avLst/>
          </a:prstGeom>
          <a:noFill/>
          <a:ln/>
        </p:spPr>
        <p:txBody>
          <a:bodyPr wrap="square" lIns="25400" tIns="25400" rIns="25400" bIns="25400" rtlCol="0" anchor="t">
            <a:normAutofit fontScale="92500" lnSpcReduction="20000"/>
          </a:bodyPr>
          <a:lstStyle/>
          <a:p>
            <a:pPr marL="0" indent="0" algn="l">
              <a:lnSpc>
                <a:spcPct val="112000"/>
              </a:lnSpc>
              <a:buNone/>
            </a:pPr>
            <a:r>
              <a:rPr lang="en-US" sz="1650" kern="0" spc="-13" dirty="0">
                <a:solidFill>
                  <a:srgbClr val="1A1A1A"/>
                </a:solidFill>
                <a:latin typeface="Instrument Serif" pitchFamily="34" charset="0"/>
                <a:ea typeface="Instrument Serif" pitchFamily="34" charset="-122"/>
                <a:cs typeface="Instrument Serif" pitchFamily="34" charset="-120"/>
              </a:rPr>
              <a:t>Thursday 15:00 · </a:t>
            </a:r>
            <a:r>
              <a:rPr lang="en-US" sz="1650" b="1" kern="0" spc="-13" dirty="0">
                <a:solidFill>
                  <a:srgbClr val="B73A3A"/>
                </a:solidFill>
                <a:latin typeface="Instrument Serif" pitchFamily="34" charset="0"/>
                <a:ea typeface="Instrument Serif" pitchFamily="34" charset="-122"/>
                <a:cs typeface="Instrument Serif" pitchFamily="34" charset="-120"/>
              </a:rPr>
              <a:t>+31.4 min</a:t>
            </a:r>
            <a:endParaRPr lang="en-US" sz="1650" dirty="0"/>
          </a:p>
        </p:txBody>
      </p:sp>
      <p:sp>
        <p:nvSpPr>
          <p:cNvPr id="29" name="Text 26"/>
          <p:cNvSpPr/>
          <p:nvPr/>
        </p:nvSpPr>
        <p:spPr>
          <a:xfrm>
            <a:off x="3019425" y="9105900"/>
            <a:ext cx="4467110" cy="252413"/>
          </a:xfrm>
          <a:prstGeom prst="rect">
            <a:avLst/>
          </a:prstGeom>
          <a:noFill/>
          <a:ln/>
        </p:spPr>
        <p:txBody>
          <a:bodyPr wrap="square" lIns="25400" tIns="25400" rIns="25400" bIns="25400" rtlCol="0" anchor="t">
            <a:normAutofit fontScale="77500" lnSpcReduction="20000"/>
          </a:bodyPr>
          <a:lstStyle/>
          <a:p>
            <a:pPr marL="0" indent="0" algn="l">
              <a:lnSpc>
                <a:spcPct val="150000"/>
              </a:lnSpc>
              <a:buNone/>
            </a:pPr>
            <a:r>
              <a:rPr lang="en-US" sz="1400" dirty="0">
                <a:solidFill>
                  <a:srgbClr val="4A4A4A"/>
                </a:solidFill>
                <a:latin typeface="Inter" pitchFamily="34" charset="0"/>
                <a:ea typeface="Inter" pitchFamily="34" charset="-122"/>
                <a:cs typeface="Inter" pitchFamily="34" charset="-120"/>
              </a:rPr>
              <a:t>Late afternoon Thursdays are the worst slot of the week.</a:t>
            </a:r>
            <a:endParaRPr lang="en-US" sz="1125" dirty="0"/>
          </a:p>
        </p:txBody>
      </p:sp>
      <p:sp>
        <p:nvSpPr>
          <p:cNvPr id="30" name="Shape 27"/>
          <p:cNvSpPr/>
          <p:nvPr/>
        </p:nvSpPr>
        <p:spPr>
          <a:xfrm>
            <a:off x="7746950" y="8337947"/>
            <a:ext cx="4813250" cy="1415653"/>
          </a:xfrm>
          <a:prstGeom prst="rect">
            <a:avLst/>
          </a:prstGeom>
          <a:solidFill>
            <a:srgbClr val="FFFFFF"/>
          </a:solidFill>
          <a:ln w="9525">
            <a:solidFill>
              <a:srgbClr val="D4CDBC"/>
            </a:solidFill>
            <a:prstDash val="solid"/>
          </a:ln>
        </p:spPr>
        <p:txBody>
          <a:bodyPr/>
          <a:lstStyle/>
          <a:p>
            <a:endParaRPr lang="he-IL"/>
          </a:p>
        </p:txBody>
      </p:sp>
      <p:sp>
        <p:nvSpPr>
          <p:cNvPr id="31" name="Text 28"/>
          <p:cNvSpPr/>
          <p:nvPr/>
        </p:nvSpPr>
        <p:spPr>
          <a:xfrm>
            <a:off x="7985075" y="8453990"/>
            <a:ext cx="4467110" cy="161925"/>
          </a:xfrm>
          <a:prstGeom prst="rect">
            <a:avLst/>
          </a:prstGeom>
          <a:noFill/>
          <a:ln/>
        </p:spPr>
        <p:txBody>
          <a:bodyPr wrap="square" lIns="25400" tIns="25400" rIns="25400" bIns="25400" rtlCol="0" anchor="t">
            <a:noAutofit/>
          </a:bodyPr>
          <a:lstStyle/>
          <a:p>
            <a:pPr marL="0" indent="0" algn="l">
              <a:buNone/>
            </a:pPr>
            <a:r>
              <a:rPr lang="en-US" sz="1400" b="1" kern="0" spc="135" dirty="0">
                <a:solidFill>
                  <a:srgbClr val="C25A2A"/>
                </a:solidFill>
                <a:latin typeface="JetBrains Mono" pitchFamily="34" charset="0"/>
                <a:ea typeface="JetBrains Mono" pitchFamily="34" charset="-122"/>
                <a:cs typeface="JetBrains Mono" pitchFamily="34" charset="-120"/>
              </a:rPr>
              <a:t>PEAK EARLY</a:t>
            </a:r>
            <a:endParaRPr lang="en-US" sz="1400" dirty="0"/>
          </a:p>
        </p:txBody>
      </p:sp>
      <p:sp>
        <p:nvSpPr>
          <p:cNvPr id="32" name="Text 29"/>
          <p:cNvSpPr/>
          <p:nvPr/>
        </p:nvSpPr>
        <p:spPr>
          <a:xfrm>
            <a:off x="7985075" y="8776097"/>
            <a:ext cx="4467110" cy="272653"/>
          </a:xfrm>
          <a:prstGeom prst="rect">
            <a:avLst/>
          </a:prstGeom>
          <a:noFill/>
          <a:ln/>
        </p:spPr>
        <p:txBody>
          <a:bodyPr wrap="square" lIns="25400" tIns="25400" rIns="25400" bIns="25400" rtlCol="0" anchor="t">
            <a:normAutofit fontScale="92500" lnSpcReduction="20000"/>
          </a:bodyPr>
          <a:lstStyle/>
          <a:p>
            <a:pPr marL="0" indent="0" algn="l">
              <a:lnSpc>
                <a:spcPct val="112000"/>
              </a:lnSpc>
              <a:buNone/>
            </a:pPr>
            <a:r>
              <a:rPr lang="en-US" sz="1650" kern="0" spc="-13" dirty="0">
                <a:solidFill>
                  <a:srgbClr val="1A1A1A"/>
                </a:solidFill>
                <a:latin typeface="Instrument Serif" pitchFamily="34" charset="0"/>
                <a:ea typeface="Instrument Serif" pitchFamily="34" charset="-122"/>
                <a:cs typeface="Instrument Serif" pitchFamily="34" charset="-120"/>
              </a:rPr>
              <a:t>Tuesday 02:00 · </a:t>
            </a:r>
            <a:r>
              <a:rPr lang="en-US" sz="1650" b="1" kern="0" spc="-13" dirty="0">
                <a:solidFill>
                  <a:srgbClr val="2A6FB8"/>
                </a:solidFill>
                <a:latin typeface="Instrument Serif" pitchFamily="34" charset="0"/>
                <a:ea typeface="Instrument Serif" pitchFamily="34" charset="-122"/>
                <a:cs typeface="Instrument Serif" pitchFamily="34" charset="-120"/>
              </a:rPr>
              <a:t>−24.5 min</a:t>
            </a:r>
            <a:endParaRPr lang="en-US" sz="1650" dirty="0"/>
          </a:p>
        </p:txBody>
      </p:sp>
      <p:sp>
        <p:nvSpPr>
          <p:cNvPr id="33" name="Text 30"/>
          <p:cNvSpPr/>
          <p:nvPr/>
        </p:nvSpPr>
        <p:spPr>
          <a:xfrm>
            <a:off x="7985075" y="9105900"/>
            <a:ext cx="4467110" cy="252413"/>
          </a:xfrm>
          <a:prstGeom prst="rect">
            <a:avLst/>
          </a:prstGeom>
          <a:noFill/>
          <a:ln/>
        </p:spPr>
        <p:txBody>
          <a:bodyPr wrap="square" lIns="25400" tIns="25400" rIns="25400" bIns="25400" rtlCol="0" anchor="t">
            <a:normAutofit fontScale="77500" lnSpcReduction="20000"/>
          </a:bodyPr>
          <a:lstStyle/>
          <a:p>
            <a:pPr marL="0" indent="0" algn="l">
              <a:lnSpc>
                <a:spcPct val="150000"/>
              </a:lnSpc>
              <a:buNone/>
            </a:pPr>
            <a:r>
              <a:rPr lang="en-US" sz="1400" dirty="0">
                <a:solidFill>
                  <a:srgbClr val="4A4A4A"/>
                </a:solidFill>
                <a:latin typeface="Inter" pitchFamily="34" charset="0"/>
                <a:ea typeface="Inter" pitchFamily="34" charset="-122"/>
                <a:cs typeface="Inter" pitchFamily="34" charset="-120"/>
              </a:rPr>
              <a:t>Pre-dawn weekdays consistently run far ahead of schedule.</a:t>
            </a:r>
            <a:endParaRPr lang="en-US" sz="1125" dirty="0"/>
          </a:p>
        </p:txBody>
      </p:sp>
      <p:sp>
        <p:nvSpPr>
          <p:cNvPr id="34" name="Shape 31"/>
          <p:cNvSpPr/>
          <p:nvPr/>
        </p:nvSpPr>
        <p:spPr>
          <a:xfrm>
            <a:off x="12712601" y="8337947"/>
            <a:ext cx="4813399" cy="1415653"/>
          </a:xfrm>
          <a:prstGeom prst="rect">
            <a:avLst/>
          </a:prstGeom>
          <a:solidFill>
            <a:srgbClr val="FFFFFF"/>
          </a:solidFill>
          <a:ln w="9525">
            <a:solidFill>
              <a:srgbClr val="D4CDBC"/>
            </a:solidFill>
            <a:prstDash val="solid"/>
          </a:ln>
        </p:spPr>
        <p:txBody>
          <a:bodyPr/>
          <a:lstStyle/>
          <a:p>
            <a:endParaRPr lang="he-IL"/>
          </a:p>
        </p:txBody>
      </p:sp>
      <p:sp>
        <p:nvSpPr>
          <p:cNvPr id="35" name="Text 32"/>
          <p:cNvSpPr/>
          <p:nvPr/>
        </p:nvSpPr>
        <p:spPr>
          <a:xfrm>
            <a:off x="12950726" y="8453990"/>
            <a:ext cx="4467264" cy="161925"/>
          </a:xfrm>
          <a:prstGeom prst="rect">
            <a:avLst/>
          </a:prstGeom>
          <a:noFill/>
          <a:ln/>
        </p:spPr>
        <p:txBody>
          <a:bodyPr wrap="square" lIns="25400" tIns="25400" rIns="25400" bIns="25400" rtlCol="0" anchor="t">
            <a:noAutofit/>
          </a:bodyPr>
          <a:lstStyle/>
          <a:p>
            <a:pPr marL="0" indent="0" algn="l">
              <a:buNone/>
            </a:pPr>
            <a:r>
              <a:rPr lang="en-US" sz="1400" b="1" kern="0" spc="135" dirty="0">
                <a:solidFill>
                  <a:srgbClr val="C25A2A"/>
                </a:solidFill>
                <a:latin typeface="JetBrains Mono" pitchFamily="34" charset="0"/>
                <a:ea typeface="JetBrains Mono" pitchFamily="34" charset="-122"/>
                <a:cs typeface="JetBrains Mono" pitchFamily="34" charset="-120"/>
              </a:rPr>
              <a:t>SHABBAT</a:t>
            </a:r>
            <a:endParaRPr lang="en-US" sz="1400" dirty="0"/>
          </a:p>
        </p:txBody>
      </p:sp>
      <p:sp>
        <p:nvSpPr>
          <p:cNvPr id="36" name="Text 33"/>
          <p:cNvSpPr/>
          <p:nvPr/>
        </p:nvSpPr>
        <p:spPr>
          <a:xfrm>
            <a:off x="12950726" y="8776097"/>
            <a:ext cx="4467264" cy="272653"/>
          </a:xfrm>
          <a:prstGeom prst="rect">
            <a:avLst/>
          </a:prstGeom>
          <a:noFill/>
          <a:ln/>
        </p:spPr>
        <p:txBody>
          <a:bodyPr wrap="square" lIns="25400" tIns="25400" rIns="25400" bIns="25400" rtlCol="0" anchor="t">
            <a:normAutofit fontScale="92500" lnSpcReduction="20000"/>
          </a:bodyPr>
          <a:lstStyle/>
          <a:p>
            <a:pPr marL="0" indent="0" algn="l">
              <a:lnSpc>
                <a:spcPct val="112000"/>
              </a:lnSpc>
              <a:buNone/>
            </a:pPr>
            <a:r>
              <a:rPr lang="en-US" sz="1650" kern="0" spc="-13" dirty="0">
                <a:solidFill>
                  <a:srgbClr val="1A1A1A"/>
                </a:solidFill>
                <a:latin typeface="Instrument Serif" pitchFamily="34" charset="0"/>
                <a:ea typeface="Instrument Serif" pitchFamily="34" charset="-122"/>
                <a:cs typeface="Instrument Serif" pitchFamily="34" charset="-120"/>
              </a:rPr>
              <a:t>Saturday · partial service</a:t>
            </a:r>
            <a:endParaRPr lang="en-US" sz="1650" dirty="0"/>
          </a:p>
        </p:txBody>
      </p:sp>
      <p:sp>
        <p:nvSpPr>
          <p:cNvPr id="37" name="Text 34"/>
          <p:cNvSpPr/>
          <p:nvPr/>
        </p:nvSpPr>
        <p:spPr>
          <a:xfrm>
            <a:off x="12950726" y="9105900"/>
            <a:ext cx="4467264" cy="466725"/>
          </a:xfrm>
          <a:prstGeom prst="rect">
            <a:avLst/>
          </a:prstGeom>
          <a:noFill/>
          <a:ln/>
        </p:spPr>
        <p:txBody>
          <a:bodyPr wrap="square" lIns="25400" tIns="25400" rIns="25400" bIns="25400" rtlCol="0" anchor="t">
            <a:normAutofit fontScale="77500" lnSpcReduction="20000"/>
          </a:bodyPr>
          <a:lstStyle/>
          <a:p>
            <a:pPr marL="0" indent="0" algn="l">
              <a:lnSpc>
                <a:spcPct val="150000"/>
              </a:lnSpc>
              <a:buNone/>
            </a:pPr>
            <a:r>
              <a:rPr lang="en-US" sz="1400" dirty="0">
                <a:solidFill>
                  <a:srgbClr val="4A4A4A"/>
                </a:solidFill>
                <a:latin typeface="Inter" pitchFamily="34" charset="0"/>
                <a:ea typeface="Inter" pitchFamily="34" charset="-122"/>
                <a:cs typeface="Inter" pitchFamily="34" charset="-120"/>
              </a:rPr>
              <a:t>Service starts at 15:00 - limited fleet, near-zero average deviation.</a:t>
            </a:r>
            <a:endParaRPr lang="en-US" sz="1125" dirty="0"/>
          </a:p>
        </p:txBody>
      </p:sp>
      <p:sp>
        <p:nvSpPr>
          <p:cNvPr id="38" name="Text 16">
            <a:extLst>
              <a:ext uri="{FF2B5EF4-FFF2-40B4-BE49-F238E27FC236}">
                <a16:creationId xmlns:a16="http://schemas.microsoft.com/office/drawing/2014/main" id="{9D77349E-5BD9-A7AA-AD9C-73C64E30852F}"/>
              </a:ext>
            </a:extLst>
          </p:cNvPr>
          <p:cNvSpPr/>
          <p:nvPr/>
        </p:nvSpPr>
        <p:spPr>
          <a:xfrm>
            <a:off x="266700" y="9410700"/>
            <a:ext cx="1628775" cy="342900"/>
          </a:xfrm>
          <a:prstGeom prst="rect">
            <a:avLst/>
          </a:prstGeom>
          <a:noFill/>
          <a:ln/>
        </p:spPr>
        <p:txBody>
          <a:bodyPr wrap="square" lIns="25400" tIns="25400" rIns="25400" bIns="25400" rtlCol="0" anchor="t">
            <a:noAutofit/>
          </a:bodyPr>
          <a:lstStyle/>
          <a:p>
            <a:pPr>
              <a:lnSpc>
                <a:spcPct val="160000"/>
              </a:lnSpc>
            </a:pPr>
            <a:r>
              <a:rPr lang="en-US" sz="1400" b="1" kern="0" spc="105" dirty="0">
                <a:solidFill>
                  <a:srgbClr val="1A1A1A"/>
                </a:solidFill>
                <a:latin typeface="JetBrains Mono" pitchFamily="34" charset="0"/>
                <a:ea typeface="JetBrains Mono" pitchFamily="34" charset="-122"/>
                <a:cs typeface="JetBrains Mono" pitchFamily="34" charset="-120"/>
              </a:rPr>
              <a:t>11 / 34</a:t>
            </a:r>
            <a:endParaRPr lang="en-US" sz="1400" dirty="0"/>
          </a:p>
        </p:txBody>
      </p:sp>
      <p:sp>
        <p:nvSpPr>
          <p:cNvPr id="39" name="Text 4">
            <a:extLst>
              <a:ext uri="{FF2B5EF4-FFF2-40B4-BE49-F238E27FC236}">
                <a16:creationId xmlns:a16="http://schemas.microsoft.com/office/drawing/2014/main" id="{519500BA-267A-952D-7B0E-43AA5A52E160}"/>
              </a:ext>
            </a:extLst>
          </p:cNvPr>
          <p:cNvSpPr/>
          <p:nvPr/>
        </p:nvSpPr>
        <p:spPr>
          <a:xfrm>
            <a:off x="228063" y="1524367"/>
            <a:ext cx="372012" cy="200025"/>
          </a:xfrm>
          <a:prstGeom prst="rect">
            <a:avLst/>
          </a:prstGeom>
          <a:noFill/>
          <a:ln/>
        </p:spPr>
        <p:txBody>
          <a:bodyPr wrap="square" lIns="25400" tIns="25400" rIns="25400" bIns="25400" rtlCol="0" anchor="t">
            <a:noAutofit/>
          </a:bodyPr>
          <a:lstStyle/>
          <a:p>
            <a:pPr marL="0" indent="0" algn="l">
              <a:lnSpc>
                <a:spcPct val="130000"/>
              </a:lnSpc>
              <a:buNone/>
            </a:pPr>
            <a:r>
              <a:rPr lang="en-US" sz="1400" kern="0" spc="21" dirty="0">
                <a:solidFill>
                  <a:srgbClr val="888080"/>
                </a:solidFill>
                <a:latin typeface="Inter" pitchFamily="34" charset="0"/>
                <a:ea typeface="Inter" pitchFamily="34" charset="-122"/>
              </a:rPr>
              <a:t>01</a:t>
            </a:r>
          </a:p>
        </p:txBody>
      </p:sp>
      <p:sp>
        <p:nvSpPr>
          <p:cNvPr id="40" name="Text 5">
            <a:extLst>
              <a:ext uri="{FF2B5EF4-FFF2-40B4-BE49-F238E27FC236}">
                <a16:creationId xmlns:a16="http://schemas.microsoft.com/office/drawing/2014/main" id="{13ACC995-0F89-0D8F-71A1-31995C1A47BB}"/>
              </a:ext>
            </a:extLst>
          </p:cNvPr>
          <p:cNvSpPr/>
          <p:nvPr/>
        </p:nvSpPr>
        <p:spPr>
          <a:xfrm>
            <a:off x="523875" y="1522975"/>
            <a:ext cx="876300" cy="476251"/>
          </a:xfrm>
          <a:prstGeom prst="rect">
            <a:avLst/>
          </a:prstGeom>
          <a:noFill/>
          <a:ln/>
        </p:spPr>
        <p:txBody>
          <a:bodyPr wrap="square" lIns="25400" tIns="25400" rIns="25400" bIns="25400" rtlCol="0" anchor="t">
            <a:normAutofit/>
          </a:bodyPr>
          <a:lstStyle/>
          <a:p>
            <a:pPr marL="0" indent="0" algn="l">
              <a:lnSpc>
                <a:spcPct val="130000"/>
              </a:lnSpc>
              <a:buNone/>
            </a:pPr>
            <a:r>
              <a:rPr lang="en-US" sz="1400" kern="0" spc="21" dirty="0">
                <a:solidFill>
                  <a:srgbClr val="888080"/>
                </a:solidFill>
                <a:latin typeface="Inter" pitchFamily="34" charset="0"/>
                <a:ea typeface="Inter" pitchFamily="34" charset="-122"/>
              </a:rPr>
              <a:t>Agenda</a:t>
            </a:r>
          </a:p>
        </p:txBody>
      </p:sp>
      <p:sp>
        <p:nvSpPr>
          <p:cNvPr id="41" name="Text 6">
            <a:extLst>
              <a:ext uri="{FF2B5EF4-FFF2-40B4-BE49-F238E27FC236}">
                <a16:creationId xmlns:a16="http://schemas.microsoft.com/office/drawing/2014/main" id="{5AE05827-12F1-5FCC-0578-5B87CAFDE200}"/>
              </a:ext>
            </a:extLst>
          </p:cNvPr>
          <p:cNvSpPr/>
          <p:nvPr/>
        </p:nvSpPr>
        <p:spPr>
          <a:xfrm>
            <a:off x="228063" y="1830953"/>
            <a:ext cx="372010" cy="194877"/>
          </a:xfrm>
          <a:prstGeom prst="rect">
            <a:avLst/>
          </a:prstGeom>
          <a:noFill/>
          <a:ln/>
        </p:spPr>
        <p:txBody>
          <a:bodyPr wrap="square" lIns="25400" tIns="25400" rIns="25400" bIns="25400" rtlCol="0" anchor="t">
            <a:noAutofit/>
          </a:bodyPr>
          <a:lstStyle/>
          <a:p>
            <a:pPr marL="0" indent="0" algn="l">
              <a:lnSpc>
                <a:spcPct val="130000"/>
              </a:lnSpc>
              <a:buNone/>
            </a:pPr>
            <a:r>
              <a:rPr lang="en-US" sz="1400" kern="0" spc="21" dirty="0">
                <a:solidFill>
                  <a:srgbClr val="888080"/>
                </a:solidFill>
                <a:latin typeface="Inter" pitchFamily="34" charset="0"/>
                <a:ea typeface="Inter" pitchFamily="34" charset="-122"/>
              </a:rPr>
              <a:t>02</a:t>
            </a:r>
          </a:p>
        </p:txBody>
      </p:sp>
      <p:sp>
        <p:nvSpPr>
          <p:cNvPr id="42" name="Text 8">
            <a:extLst>
              <a:ext uri="{FF2B5EF4-FFF2-40B4-BE49-F238E27FC236}">
                <a16:creationId xmlns:a16="http://schemas.microsoft.com/office/drawing/2014/main" id="{5AFFE2B2-5688-8CAE-CB36-FC00D49ACC9D}"/>
              </a:ext>
            </a:extLst>
          </p:cNvPr>
          <p:cNvSpPr/>
          <p:nvPr/>
        </p:nvSpPr>
        <p:spPr>
          <a:xfrm>
            <a:off x="230504" y="2152895"/>
            <a:ext cx="302895" cy="141422"/>
          </a:xfrm>
          <a:prstGeom prst="rect">
            <a:avLst/>
          </a:prstGeom>
          <a:noFill/>
          <a:ln/>
        </p:spPr>
        <p:txBody>
          <a:bodyPr wrap="square" lIns="25400" tIns="25400" rIns="25400" bIns="25400" rtlCol="0" anchor="t">
            <a:noAutofit/>
          </a:bodyPr>
          <a:lstStyle/>
          <a:p>
            <a:pPr marL="0" indent="0" algn="l">
              <a:lnSpc>
                <a:spcPct val="130000"/>
              </a:lnSpc>
              <a:buNone/>
            </a:pPr>
            <a:r>
              <a:rPr lang="en-US" sz="1400" b="1" kern="0" spc="21" dirty="0">
                <a:solidFill>
                  <a:srgbClr val="C25A2A"/>
                </a:solidFill>
                <a:latin typeface="JetBrains Mono" pitchFamily="34" charset="0"/>
                <a:ea typeface="JetBrains Mono" pitchFamily="34" charset="-122"/>
              </a:rPr>
              <a:t>03</a:t>
            </a:r>
          </a:p>
        </p:txBody>
      </p:sp>
      <p:sp>
        <p:nvSpPr>
          <p:cNvPr id="43" name="Text 9">
            <a:extLst>
              <a:ext uri="{FF2B5EF4-FFF2-40B4-BE49-F238E27FC236}">
                <a16:creationId xmlns:a16="http://schemas.microsoft.com/office/drawing/2014/main" id="{BFFDD2B6-2F56-00E0-B108-5BED4B805628}"/>
              </a:ext>
            </a:extLst>
          </p:cNvPr>
          <p:cNvSpPr/>
          <p:nvPr/>
        </p:nvSpPr>
        <p:spPr>
          <a:xfrm>
            <a:off x="531240" y="2145027"/>
            <a:ext cx="1185416" cy="342476"/>
          </a:xfrm>
          <a:prstGeom prst="rect">
            <a:avLst/>
          </a:prstGeom>
          <a:noFill/>
          <a:ln/>
        </p:spPr>
        <p:txBody>
          <a:bodyPr wrap="square" lIns="25400" tIns="25400" rIns="25400" bIns="25400" rtlCol="0" anchor="t">
            <a:normAutofit/>
          </a:bodyPr>
          <a:lstStyle/>
          <a:p>
            <a:pPr marL="0" indent="0" algn="l">
              <a:lnSpc>
                <a:spcPct val="130000"/>
              </a:lnSpc>
              <a:buNone/>
            </a:pPr>
            <a:r>
              <a:rPr lang="en-US" sz="1400" kern="0" spc="21" dirty="0">
                <a:solidFill>
                  <a:srgbClr val="1A1A1A"/>
                </a:solidFill>
                <a:latin typeface="Inter" pitchFamily="34" charset="0"/>
                <a:ea typeface="Inter" pitchFamily="34" charset="-122"/>
              </a:rPr>
              <a:t>EDA</a:t>
            </a:r>
          </a:p>
        </p:txBody>
      </p:sp>
      <p:sp>
        <p:nvSpPr>
          <p:cNvPr id="44" name="Text 10">
            <a:extLst>
              <a:ext uri="{FF2B5EF4-FFF2-40B4-BE49-F238E27FC236}">
                <a16:creationId xmlns:a16="http://schemas.microsoft.com/office/drawing/2014/main" id="{ABB15B77-7334-2D5B-59DD-AC22DB865BB2}"/>
              </a:ext>
            </a:extLst>
          </p:cNvPr>
          <p:cNvSpPr/>
          <p:nvPr/>
        </p:nvSpPr>
        <p:spPr>
          <a:xfrm>
            <a:off x="228062" y="2444125"/>
            <a:ext cx="305337" cy="172132"/>
          </a:xfrm>
          <a:prstGeom prst="rect">
            <a:avLst/>
          </a:prstGeom>
          <a:noFill/>
          <a:ln/>
        </p:spPr>
        <p:txBody>
          <a:bodyPr wrap="square" lIns="25400" tIns="25400" rIns="25400" bIns="25400" rtlCol="0" anchor="t">
            <a:noAutofit/>
          </a:bodyPr>
          <a:lstStyle/>
          <a:p>
            <a:pPr marL="0" indent="0" algn="l">
              <a:lnSpc>
                <a:spcPct val="130000"/>
              </a:lnSpc>
              <a:buNone/>
            </a:pPr>
            <a:r>
              <a:rPr lang="en-US" sz="1400" kern="0" spc="21" dirty="0">
                <a:solidFill>
                  <a:srgbClr val="888080"/>
                </a:solidFill>
                <a:latin typeface="JetBrains Mono" pitchFamily="34" charset="0"/>
                <a:ea typeface="JetBrains Mono" pitchFamily="34" charset="-122"/>
                <a:cs typeface="JetBrains Mono" pitchFamily="34" charset="-120"/>
              </a:rPr>
              <a:t>04</a:t>
            </a:r>
            <a:endParaRPr lang="en-US" sz="1400" dirty="0"/>
          </a:p>
        </p:txBody>
      </p:sp>
      <p:sp>
        <p:nvSpPr>
          <p:cNvPr id="45" name="Text 12">
            <a:extLst>
              <a:ext uri="{FF2B5EF4-FFF2-40B4-BE49-F238E27FC236}">
                <a16:creationId xmlns:a16="http://schemas.microsoft.com/office/drawing/2014/main" id="{9715630B-67B5-70F2-99CC-21F769C8A5B2}"/>
              </a:ext>
            </a:extLst>
          </p:cNvPr>
          <p:cNvSpPr/>
          <p:nvPr/>
        </p:nvSpPr>
        <p:spPr>
          <a:xfrm>
            <a:off x="228062" y="2750711"/>
            <a:ext cx="372011" cy="158880"/>
          </a:xfrm>
          <a:prstGeom prst="rect">
            <a:avLst/>
          </a:prstGeom>
          <a:noFill/>
          <a:ln/>
        </p:spPr>
        <p:txBody>
          <a:bodyPr wrap="square" lIns="25400" tIns="25400" rIns="25400" bIns="25400" rtlCol="0" anchor="t">
            <a:noAutofit/>
          </a:bodyPr>
          <a:lstStyle/>
          <a:p>
            <a:pPr marL="0" indent="0" algn="l">
              <a:lnSpc>
                <a:spcPct val="130000"/>
              </a:lnSpc>
              <a:buNone/>
            </a:pPr>
            <a:r>
              <a:rPr lang="en-US" sz="1400" kern="0" spc="21" dirty="0">
                <a:solidFill>
                  <a:srgbClr val="888080"/>
                </a:solidFill>
                <a:latin typeface="JetBrains Mono" pitchFamily="34" charset="0"/>
                <a:ea typeface="JetBrains Mono" pitchFamily="34" charset="-122"/>
                <a:cs typeface="JetBrains Mono" pitchFamily="34" charset="-120"/>
              </a:rPr>
              <a:t>05</a:t>
            </a:r>
            <a:endParaRPr lang="en-US" sz="1400" dirty="0"/>
          </a:p>
        </p:txBody>
      </p:sp>
      <p:sp>
        <p:nvSpPr>
          <p:cNvPr id="46" name="Text 13">
            <a:extLst>
              <a:ext uri="{FF2B5EF4-FFF2-40B4-BE49-F238E27FC236}">
                <a16:creationId xmlns:a16="http://schemas.microsoft.com/office/drawing/2014/main" id="{1397AC07-5776-36CB-7768-A1873FB9A971}"/>
              </a:ext>
            </a:extLst>
          </p:cNvPr>
          <p:cNvSpPr/>
          <p:nvPr/>
        </p:nvSpPr>
        <p:spPr>
          <a:xfrm>
            <a:off x="533399" y="2725489"/>
            <a:ext cx="948333" cy="761256"/>
          </a:xfrm>
          <a:prstGeom prst="rect">
            <a:avLst/>
          </a:prstGeom>
          <a:noFill/>
          <a:ln/>
        </p:spPr>
        <p:txBody>
          <a:bodyPr wrap="square" lIns="25400" tIns="25400" rIns="25400" bIns="25400" rtlCol="0" anchor="t">
            <a:normAutofit/>
          </a:bodyPr>
          <a:lstStyle/>
          <a:p>
            <a:pPr marL="0" indent="0" algn="l">
              <a:lnSpc>
                <a:spcPct val="130000"/>
              </a:lnSpc>
              <a:buNone/>
            </a:pPr>
            <a:r>
              <a:rPr lang="en-US" sz="1400" kern="0" spc="21" dirty="0">
                <a:solidFill>
                  <a:srgbClr val="888080"/>
                </a:solidFill>
                <a:latin typeface="Inter" pitchFamily="34" charset="0"/>
                <a:ea typeface="Inter" pitchFamily="34" charset="-122"/>
                <a:cs typeface="Inter" pitchFamily="34" charset="-120"/>
              </a:rPr>
              <a:t>Modeling</a:t>
            </a:r>
            <a:endParaRPr lang="en-US" sz="1400" dirty="0"/>
          </a:p>
        </p:txBody>
      </p:sp>
      <p:sp>
        <p:nvSpPr>
          <p:cNvPr id="47" name="Text 14">
            <a:extLst>
              <a:ext uri="{FF2B5EF4-FFF2-40B4-BE49-F238E27FC236}">
                <a16:creationId xmlns:a16="http://schemas.microsoft.com/office/drawing/2014/main" id="{11CB9B5C-192F-A5CB-2F11-20F1C6848382}"/>
              </a:ext>
            </a:extLst>
          </p:cNvPr>
          <p:cNvSpPr/>
          <p:nvPr/>
        </p:nvSpPr>
        <p:spPr>
          <a:xfrm>
            <a:off x="235683" y="3042056"/>
            <a:ext cx="372010" cy="191463"/>
          </a:xfrm>
          <a:prstGeom prst="rect">
            <a:avLst/>
          </a:prstGeom>
          <a:noFill/>
          <a:ln/>
        </p:spPr>
        <p:txBody>
          <a:bodyPr wrap="square" lIns="25400" tIns="25400" rIns="25400" bIns="25400" rtlCol="0" anchor="t">
            <a:noAutofit/>
          </a:bodyPr>
          <a:lstStyle/>
          <a:p>
            <a:pPr marL="0" indent="0" algn="l">
              <a:lnSpc>
                <a:spcPct val="130000"/>
              </a:lnSpc>
              <a:buNone/>
            </a:pPr>
            <a:r>
              <a:rPr lang="en-US" sz="1400" kern="0" spc="21" dirty="0">
                <a:solidFill>
                  <a:srgbClr val="888080"/>
                </a:solidFill>
                <a:latin typeface="JetBrains Mono" pitchFamily="34" charset="0"/>
                <a:ea typeface="JetBrains Mono" pitchFamily="34" charset="-122"/>
                <a:cs typeface="JetBrains Mono" pitchFamily="34" charset="-120"/>
              </a:rPr>
              <a:t>06</a:t>
            </a:r>
            <a:endParaRPr lang="en-US" sz="1400" dirty="0"/>
          </a:p>
        </p:txBody>
      </p:sp>
      <p:sp>
        <p:nvSpPr>
          <p:cNvPr id="48" name="Text 15">
            <a:extLst>
              <a:ext uri="{FF2B5EF4-FFF2-40B4-BE49-F238E27FC236}">
                <a16:creationId xmlns:a16="http://schemas.microsoft.com/office/drawing/2014/main" id="{D981497E-8DD0-B0B0-1054-13B8399EB6C4}"/>
              </a:ext>
            </a:extLst>
          </p:cNvPr>
          <p:cNvSpPr/>
          <p:nvPr/>
        </p:nvSpPr>
        <p:spPr>
          <a:xfrm>
            <a:off x="533400" y="3032075"/>
            <a:ext cx="1185416" cy="626120"/>
          </a:xfrm>
          <a:prstGeom prst="rect">
            <a:avLst/>
          </a:prstGeom>
          <a:noFill/>
          <a:ln/>
        </p:spPr>
        <p:txBody>
          <a:bodyPr wrap="square" lIns="25400" tIns="25400" rIns="25400" bIns="25400" rtlCol="0" anchor="t">
            <a:normAutofit/>
          </a:bodyPr>
          <a:lstStyle/>
          <a:p>
            <a:pPr marL="0" indent="0" algn="l">
              <a:lnSpc>
                <a:spcPct val="130000"/>
              </a:lnSpc>
              <a:buNone/>
            </a:pPr>
            <a:r>
              <a:rPr lang="en-US" sz="1400" kern="0" spc="21" dirty="0">
                <a:solidFill>
                  <a:srgbClr val="888080"/>
                </a:solidFill>
                <a:latin typeface="Inter" pitchFamily="34" charset="0"/>
                <a:ea typeface="Inter" pitchFamily="34" charset="-122"/>
                <a:cs typeface="Inter" pitchFamily="34" charset="-120"/>
              </a:rPr>
              <a:t>Conclusions</a:t>
            </a:r>
            <a:endParaRPr lang="en-US" sz="1400" dirty="0"/>
          </a:p>
        </p:txBody>
      </p:sp>
      <p:sp>
        <p:nvSpPr>
          <p:cNvPr id="49" name="Text 9">
            <a:extLst>
              <a:ext uri="{FF2B5EF4-FFF2-40B4-BE49-F238E27FC236}">
                <a16:creationId xmlns:a16="http://schemas.microsoft.com/office/drawing/2014/main" id="{C873EBD4-9E70-EE18-B03E-E5FD2BF74A10}"/>
              </a:ext>
            </a:extLst>
          </p:cNvPr>
          <p:cNvSpPr/>
          <p:nvPr/>
        </p:nvSpPr>
        <p:spPr>
          <a:xfrm>
            <a:off x="538609" y="2426180"/>
            <a:ext cx="1185416" cy="342476"/>
          </a:xfrm>
          <a:prstGeom prst="rect">
            <a:avLst/>
          </a:prstGeom>
          <a:noFill/>
          <a:ln/>
        </p:spPr>
        <p:txBody>
          <a:bodyPr wrap="square" lIns="25400" tIns="25400" rIns="25400" bIns="25400" rtlCol="0" anchor="t">
            <a:normAutofit/>
          </a:bodyPr>
          <a:lstStyle/>
          <a:p>
            <a:pPr marL="0" indent="0" algn="l">
              <a:lnSpc>
                <a:spcPct val="130000"/>
              </a:lnSpc>
              <a:buNone/>
            </a:pPr>
            <a:r>
              <a:rPr lang="en-US" sz="1400" kern="0" spc="21" dirty="0">
                <a:solidFill>
                  <a:srgbClr val="888080"/>
                </a:solidFill>
                <a:latin typeface="Inter" pitchFamily="34" charset="0"/>
                <a:ea typeface="Inter" pitchFamily="34" charset="-122"/>
                <a:cs typeface="Inter" pitchFamily="34" charset="-120"/>
              </a:rPr>
              <a:t>Pipeline</a:t>
            </a:r>
            <a:endParaRPr lang="en-US" sz="1400" dirty="0"/>
          </a:p>
        </p:txBody>
      </p:sp>
      <p:sp>
        <p:nvSpPr>
          <p:cNvPr id="50" name="Text 7">
            <a:extLst>
              <a:ext uri="{FF2B5EF4-FFF2-40B4-BE49-F238E27FC236}">
                <a16:creationId xmlns:a16="http://schemas.microsoft.com/office/drawing/2014/main" id="{961B60AE-90B5-2288-F6B7-02B406EA6A4E}"/>
              </a:ext>
            </a:extLst>
          </p:cNvPr>
          <p:cNvSpPr/>
          <p:nvPr/>
        </p:nvSpPr>
        <p:spPr>
          <a:xfrm>
            <a:off x="523875" y="1826620"/>
            <a:ext cx="1325700" cy="467696"/>
          </a:xfrm>
          <a:prstGeom prst="rect">
            <a:avLst/>
          </a:prstGeom>
          <a:noFill/>
          <a:ln/>
        </p:spPr>
        <p:txBody>
          <a:bodyPr wrap="square" lIns="25400" tIns="25400" rIns="25400" bIns="25400" rtlCol="0" anchor="t">
            <a:noAutofit/>
          </a:bodyPr>
          <a:lstStyle/>
          <a:p>
            <a:pPr marL="0" indent="0" algn="l">
              <a:lnSpc>
                <a:spcPct val="130000"/>
              </a:lnSpc>
              <a:buNone/>
            </a:pPr>
            <a:r>
              <a:rPr lang="en-US" sz="1400" kern="0" spc="21" dirty="0">
                <a:solidFill>
                  <a:srgbClr val="888080"/>
                </a:solidFill>
                <a:latin typeface="Inter" pitchFamily="34" charset="0"/>
                <a:ea typeface="Inter" pitchFamily="34" charset="-122"/>
              </a:rPr>
              <a:t>Data &amp; target</a:t>
            </a:r>
          </a:p>
        </p:txBody>
      </p:sp>
      <p:sp>
        <p:nvSpPr>
          <p:cNvPr id="51" name="Text 1">
            <a:extLst>
              <a:ext uri="{FF2B5EF4-FFF2-40B4-BE49-F238E27FC236}">
                <a16:creationId xmlns:a16="http://schemas.microsoft.com/office/drawing/2014/main" id="{30BDDC46-D264-E524-55AA-CA8D6690B28C}"/>
              </a:ext>
            </a:extLst>
          </p:cNvPr>
          <p:cNvSpPr/>
          <p:nvPr/>
        </p:nvSpPr>
        <p:spPr>
          <a:xfrm>
            <a:off x="261138" y="379598"/>
            <a:ext cx="1778457" cy="447678"/>
          </a:xfrm>
          <a:prstGeom prst="rect">
            <a:avLst/>
          </a:prstGeom>
          <a:noFill/>
          <a:ln/>
        </p:spPr>
        <p:txBody>
          <a:bodyPr wrap="square" lIns="25400" tIns="25400" rIns="25400" bIns="25400" rtlCol="0" anchor="t">
            <a:noAutofit/>
          </a:bodyPr>
          <a:lstStyle/>
          <a:p>
            <a:pPr marL="0" indent="0">
              <a:buNone/>
            </a:pPr>
            <a:r>
              <a:rPr lang="en-US" sz="1400" kern="0" spc="116" dirty="0">
                <a:solidFill>
                  <a:srgbClr val="888080"/>
                </a:solidFill>
                <a:latin typeface="JetBrains Mono" pitchFamily="34" charset="0"/>
                <a:ea typeface="JetBrains Mono" pitchFamily="34" charset="-122"/>
                <a:cs typeface="JetBrains Mono" pitchFamily="34" charset="-120"/>
              </a:rPr>
              <a:t>DS22 - Bar Ilan</a:t>
            </a:r>
            <a:br>
              <a:rPr lang="en-US" sz="1400" kern="0" spc="116" dirty="0">
                <a:solidFill>
                  <a:srgbClr val="888080"/>
                </a:solidFill>
                <a:latin typeface="JetBrains Mono" pitchFamily="34" charset="0"/>
                <a:ea typeface="JetBrains Mono" pitchFamily="34" charset="-122"/>
                <a:cs typeface="JetBrains Mono" pitchFamily="34" charset="-120"/>
              </a:rPr>
            </a:br>
            <a:r>
              <a:rPr lang="en-US" sz="1400" kern="0" spc="116" dirty="0">
                <a:solidFill>
                  <a:srgbClr val="888080"/>
                </a:solidFill>
                <a:latin typeface="JetBrains Mono" pitchFamily="34" charset="0"/>
                <a:ea typeface="JetBrains Mono" pitchFamily="34" charset="-122"/>
                <a:cs typeface="JetBrains Mono" pitchFamily="34" charset="-120"/>
              </a:rPr>
              <a:t>ML PROJECT</a:t>
            </a:r>
          </a:p>
          <a:p>
            <a:pPr marL="0" indent="0">
              <a:buNone/>
            </a:pPr>
            <a:r>
              <a:rPr lang="en-US" sz="1400" kern="0" spc="116" dirty="0">
                <a:solidFill>
                  <a:srgbClr val="888080"/>
                </a:solidFill>
                <a:latin typeface="JetBrains Mono" pitchFamily="34" charset="0"/>
                <a:ea typeface="JetBrains Mono" pitchFamily="34" charset="-122"/>
                <a:cs typeface="JetBrains Mono" pitchFamily="34" charset="-120"/>
              </a:rPr>
              <a:t>MAY 2026</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9">
    <p:bg>
      <p:bgPr>
        <a:solidFill>
          <a:srgbClr val="F5F1E8"/>
        </a:solidFill>
        <a:effectLst/>
      </p:bgPr>
    </p:bg>
    <p:spTree>
      <p:nvGrpSpPr>
        <p:cNvPr id="1" name=""/>
        <p:cNvGrpSpPr/>
        <p:nvPr/>
      </p:nvGrpSpPr>
      <p:grpSpPr>
        <a:xfrm>
          <a:off x="0" y="0"/>
          <a:ext cx="0" cy="0"/>
          <a:chOff x="0" y="0"/>
          <a:chExt cx="0" cy="0"/>
        </a:xfrm>
      </p:grpSpPr>
      <p:sp>
        <p:nvSpPr>
          <p:cNvPr id="2" name="Shape 0"/>
          <p:cNvSpPr/>
          <p:nvPr/>
        </p:nvSpPr>
        <p:spPr>
          <a:xfrm>
            <a:off x="0" y="0"/>
            <a:ext cx="2095500" cy="10287000"/>
          </a:xfrm>
          <a:prstGeom prst="rect">
            <a:avLst/>
          </a:prstGeom>
          <a:solidFill>
            <a:srgbClr val="EBE5D6"/>
          </a:solidFill>
          <a:ln/>
        </p:spPr>
        <p:txBody>
          <a:bodyPr/>
          <a:lstStyle/>
          <a:p>
            <a:endParaRPr lang="he-IL"/>
          </a:p>
        </p:txBody>
      </p:sp>
      <p:sp>
        <p:nvSpPr>
          <p:cNvPr id="3" name="Shape 1"/>
          <p:cNvSpPr/>
          <p:nvPr/>
        </p:nvSpPr>
        <p:spPr>
          <a:xfrm>
            <a:off x="2085975" y="0"/>
            <a:ext cx="9525" cy="10287000"/>
          </a:xfrm>
          <a:prstGeom prst="rect">
            <a:avLst/>
          </a:prstGeom>
          <a:solidFill>
            <a:srgbClr val="D4CDBC"/>
          </a:solidFill>
          <a:ln/>
        </p:spPr>
        <p:txBody>
          <a:bodyPr/>
          <a:lstStyle/>
          <a:p>
            <a:endParaRPr lang="he-IL"/>
          </a:p>
        </p:txBody>
      </p:sp>
      <p:sp>
        <p:nvSpPr>
          <p:cNvPr id="19" name="Text 17"/>
          <p:cNvSpPr/>
          <p:nvPr/>
        </p:nvSpPr>
        <p:spPr>
          <a:xfrm>
            <a:off x="2781300" y="571500"/>
            <a:ext cx="15187041" cy="171450"/>
          </a:xfrm>
          <a:prstGeom prst="rect">
            <a:avLst/>
          </a:prstGeom>
          <a:noFill/>
          <a:ln/>
        </p:spPr>
        <p:txBody>
          <a:bodyPr wrap="square" lIns="25400" tIns="25400" rIns="25400" bIns="25400" rtlCol="0" anchor="ctr">
            <a:noAutofit/>
          </a:bodyPr>
          <a:lstStyle/>
          <a:p>
            <a:pPr marL="0" indent="0" algn="l">
              <a:buNone/>
            </a:pPr>
            <a:r>
              <a:rPr lang="en-US" sz="1400" kern="0" spc="182" dirty="0">
                <a:solidFill>
                  <a:srgbClr val="888080"/>
                </a:solidFill>
                <a:latin typeface="JetBrains Mono" pitchFamily="34" charset="0"/>
                <a:ea typeface="JetBrains Mono" pitchFamily="34" charset="-122"/>
                <a:cs typeface="JetBrains Mono" pitchFamily="34" charset="-120"/>
              </a:rPr>
              <a:t>EDA · SPEARMAN CORRELATION</a:t>
            </a:r>
            <a:endParaRPr lang="en-US" sz="1400" dirty="0"/>
          </a:p>
        </p:txBody>
      </p:sp>
      <p:sp>
        <p:nvSpPr>
          <p:cNvPr id="20" name="Text 18"/>
          <p:cNvSpPr/>
          <p:nvPr/>
        </p:nvSpPr>
        <p:spPr>
          <a:xfrm>
            <a:off x="2781300" y="914400"/>
            <a:ext cx="15187041" cy="643830"/>
          </a:xfrm>
          <a:prstGeom prst="rect">
            <a:avLst/>
          </a:prstGeom>
          <a:noFill/>
          <a:ln/>
        </p:spPr>
        <p:txBody>
          <a:bodyPr wrap="square" lIns="25400" tIns="25400" rIns="25400" bIns="25400" rtlCol="0" anchor="t">
            <a:normAutofit fontScale="92500" lnSpcReduction="20000"/>
          </a:bodyPr>
          <a:lstStyle/>
          <a:p>
            <a:pPr marL="0" indent="0" algn="l">
              <a:lnSpc>
                <a:spcPct val="106000"/>
              </a:lnSpc>
              <a:buNone/>
            </a:pPr>
            <a:r>
              <a:rPr lang="en-US" sz="4500" kern="0" spc="-81" dirty="0">
                <a:solidFill>
                  <a:srgbClr val="1A1A1A"/>
                </a:solidFill>
                <a:latin typeface="Instrument Serif" pitchFamily="34" charset="0"/>
                <a:ea typeface="Instrument Serif" pitchFamily="34" charset="-122"/>
                <a:cs typeface="Instrument Serif" pitchFamily="34" charset="-120"/>
              </a:rPr>
              <a:t>Ranking signals against the </a:t>
            </a:r>
            <a:r>
              <a:rPr lang="en-US" sz="4500" i="1" kern="0" spc="-81" dirty="0">
                <a:solidFill>
                  <a:srgbClr val="C25A2A"/>
                </a:solidFill>
                <a:latin typeface="Instrument Serif" pitchFamily="34" charset="0"/>
                <a:ea typeface="Instrument Serif" pitchFamily="34" charset="-122"/>
                <a:cs typeface="Instrument Serif" pitchFamily="34" charset="-120"/>
              </a:rPr>
              <a:t>target.</a:t>
            </a:r>
            <a:endParaRPr lang="en-US" sz="4500" dirty="0"/>
          </a:p>
        </p:txBody>
      </p:sp>
      <p:sp>
        <p:nvSpPr>
          <p:cNvPr id="21" name="Shape 19"/>
          <p:cNvSpPr/>
          <p:nvPr/>
        </p:nvSpPr>
        <p:spPr>
          <a:xfrm>
            <a:off x="2781300" y="1748730"/>
            <a:ext cx="8663880" cy="4651921"/>
          </a:xfrm>
          <a:prstGeom prst="rect">
            <a:avLst/>
          </a:prstGeom>
          <a:solidFill>
            <a:srgbClr val="FFFFFF"/>
          </a:solidFill>
          <a:ln w="9525">
            <a:solidFill>
              <a:srgbClr val="D4CDBC"/>
            </a:solidFill>
            <a:prstDash val="solid"/>
          </a:ln>
        </p:spPr>
        <p:txBody>
          <a:bodyPr/>
          <a:lstStyle/>
          <a:p>
            <a:endParaRPr lang="he-IL"/>
          </a:p>
        </p:txBody>
      </p:sp>
      <p:sp>
        <p:nvSpPr>
          <p:cNvPr id="22" name="Text 20"/>
          <p:cNvSpPr/>
          <p:nvPr/>
        </p:nvSpPr>
        <p:spPr>
          <a:xfrm>
            <a:off x="2905125" y="1872555"/>
            <a:ext cx="3131622" cy="161925"/>
          </a:xfrm>
          <a:prstGeom prst="rect">
            <a:avLst/>
          </a:prstGeom>
          <a:noFill/>
          <a:ln/>
        </p:spPr>
        <p:txBody>
          <a:bodyPr wrap="square" lIns="25400" tIns="25400" rIns="25400" bIns="25400" rtlCol="0" anchor="t">
            <a:normAutofit lnSpcReduction="10000"/>
          </a:bodyPr>
          <a:lstStyle/>
          <a:p>
            <a:pPr marL="0" indent="0" algn="l">
              <a:buNone/>
            </a:pPr>
            <a:r>
              <a:rPr lang="en-US" sz="750" kern="0" spc="120" dirty="0">
                <a:solidFill>
                  <a:srgbClr val="888080"/>
                </a:solidFill>
                <a:latin typeface="JetBrains Mono" pitchFamily="34" charset="0"/>
                <a:ea typeface="JetBrains Mono" pitchFamily="34" charset="-122"/>
                <a:cs typeface="JetBrains Mono" pitchFamily="34" charset="-120"/>
              </a:rPr>
              <a:t>FIG · SPEARMAN CORRELATION WITH Δ-DURATION</a:t>
            </a:r>
            <a:endParaRPr lang="en-US" sz="750" dirty="0"/>
          </a:p>
        </p:txBody>
      </p:sp>
      <p:sp>
        <p:nvSpPr>
          <p:cNvPr id="23" name="Text 21"/>
          <p:cNvSpPr/>
          <p:nvPr/>
        </p:nvSpPr>
        <p:spPr>
          <a:xfrm>
            <a:off x="9801076" y="1872555"/>
            <a:ext cx="1596479" cy="161925"/>
          </a:xfrm>
          <a:prstGeom prst="rect">
            <a:avLst/>
          </a:prstGeom>
          <a:noFill/>
          <a:ln/>
        </p:spPr>
        <p:txBody>
          <a:bodyPr wrap="square" lIns="25400" tIns="25400" rIns="25400" bIns="25400" rtlCol="0" anchor="t">
            <a:normAutofit fontScale="92500"/>
          </a:bodyPr>
          <a:lstStyle/>
          <a:p>
            <a:pPr marL="0" indent="0" algn="l">
              <a:buNone/>
            </a:pPr>
            <a:r>
              <a:rPr lang="en-US" sz="750" kern="0" spc="120" dirty="0">
                <a:solidFill>
                  <a:srgbClr val="888080"/>
                </a:solidFill>
                <a:latin typeface="JetBrains Mono" pitchFamily="34" charset="0"/>
                <a:ea typeface="JetBrains Mono" pitchFamily="34" charset="-122"/>
                <a:cs typeface="JetBrains Mono" pitchFamily="34" charset="-120"/>
              </a:rPr>
              <a:t>NUMERIC FEATURES ONLY</a:t>
            </a:r>
            <a:endParaRPr lang="en-US" sz="750" dirty="0"/>
          </a:p>
        </p:txBody>
      </p:sp>
      <p:sp>
        <p:nvSpPr>
          <p:cNvPr id="24" name="Shape 22"/>
          <p:cNvSpPr/>
          <p:nvPr/>
        </p:nvSpPr>
        <p:spPr>
          <a:xfrm>
            <a:off x="2905125" y="2072580"/>
            <a:ext cx="8416230" cy="4204246"/>
          </a:xfrm>
          <a:prstGeom prst="rect">
            <a:avLst/>
          </a:prstGeom>
          <a:solidFill>
            <a:srgbClr val="FFFFFF"/>
          </a:solidFill>
          <a:ln/>
        </p:spPr>
        <p:txBody>
          <a:bodyPr/>
          <a:lstStyle/>
          <a:p>
            <a:endParaRPr lang="he-IL"/>
          </a:p>
        </p:txBody>
      </p:sp>
      <p:pic>
        <p:nvPicPr>
          <p:cNvPr id="25" name="Image 0" descr="preencoded.png"/>
          <p:cNvPicPr>
            <a:picLocks noChangeAspect="1"/>
          </p:cNvPicPr>
          <p:nvPr/>
        </p:nvPicPr>
        <p:blipFill>
          <a:blip r:embed="rId3"/>
          <a:srcRect/>
          <a:stretch/>
        </p:blipFill>
        <p:spPr>
          <a:xfrm>
            <a:off x="2905125" y="2072580"/>
            <a:ext cx="8416230" cy="4204246"/>
          </a:xfrm>
          <a:prstGeom prst="rect">
            <a:avLst/>
          </a:prstGeom>
        </p:spPr>
      </p:pic>
      <p:sp>
        <p:nvSpPr>
          <p:cNvPr id="26" name="Shape 23"/>
          <p:cNvSpPr/>
          <p:nvPr/>
        </p:nvSpPr>
        <p:spPr>
          <a:xfrm>
            <a:off x="11749980" y="1748730"/>
            <a:ext cx="5776020" cy="2243995"/>
          </a:xfrm>
          <a:prstGeom prst="rect">
            <a:avLst/>
          </a:prstGeom>
          <a:solidFill>
            <a:srgbClr val="FFFFFF"/>
          </a:solidFill>
          <a:ln w="9525">
            <a:solidFill>
              <a:srgbClr val="D4CDBC"/>
            </a:solidFill>
            <a:prstDash val="solid"/>
          </a:ln>
        </p:spPr>
        <p:txBody>
          <a:bodyPr/>
          <a:lstStyle/>
          <a:p>
            <a:endParaRPr lang="he-IL" sz="1400"/>
          </a:p>
        </p:txBody>
      </p:sp>
      <p:sp>
        <p:nvSpPr>
          <p:cNvPr id="27" name="Text 24"/>
          <p:cNvSpPr/>
          <p:nvPr/>
        </p:nvSpPr>
        <p:spPr>
          <a:xfrm>
            <a:off x="11988105" y="1967805"/>
            <a:ext cx="5458763" cy="161925"/>
          </a:xfrm>
          <a:prstGeom prst="rect">
            <a:avLst/>
          </a:prstGeom>
          <a:noFill/>
          <a:ln/>
        </p:spPr>
        <p:txBody>
          <a:bodyPr wrap="square" lIns="25400" tIns="25400" rIns="25400" bIns="25400" rtlCol="0" anchor="t">
            <a:noAutofit/>
          </a:bodyPr>
          <a:lstStyle/>
          <a:p>
            <a:pPr marL="0" indent="0" algn="l">
              <a:buNone/>
            </a:pPr>
            <a:r>
              <a:rPr lang="en-US" sz="1400" b="1" kern="0" spc="135" dirty="0">
                <a:solidFill>
                  <a:srgbClr val="C25A2A"/>
                </a:solidFill>
                <a:latin typeface="JetBrains Mono" pitchFamily="34" charset="0"/>
                <a:ea typeface="JetBrains Mono" pitchFamily="34" charset="-122"/>
                <a:cs typeface="JetBrains Mono" pitchFamily="34" charset="-120"/>
              </a:rPr>
              <a:t>POSITIVE · DRIVERS OF DELAY</a:t>
            </a:r>
            <a:endParaRPr lang="en-US" sz="1400" dirty="0"/>
          </a:p>
        </p:txBody>
      </p:sp>
      <p:sp>
        <p:nvSpPr>
          <p:cNvPr id="28" name="Text 25"/>
          <p:cNvSpPr/>
          <p:nvPr/>
        </p:nvSpPr>
        <p:spPr>
          <a:xfrm>
            <a:off x="12159555" y="2186880"/>
            <a:ext cx="5287313" cy="403279"/>
          </a:xfrm>
          <a:prstGeom prst="rect">
            <a:avLst/>
          </a:prstGeom>
          <a:noFill/>
          <a:ln/>
        </p:spPr>
        <p:txBody>
          <a:bodyPr wrap="square" lIns="25400" tIns="25400" rIns="25400" bIns="25400" rtlCol="0" anchor="t">
            <a:noAutofit/>
          </a:bodyPr>
          <a:lstStyle/>
          <a:p>
            <a:pPr marL="0" indent="0" algn="l">
              <a:lnSpc>
                <a:spcPct val="150000"/>
              </a:lnSpc>
              <a:buNone/>
            </a:pPr>
            <a:r>
              <a:rPr lang="en-US" sz="1400" dirty="0">
                <a:solidFill>
                  <a:srgbClr val="1A1A1A"/>
                </a:solidFill>
                <a:latin typeface="Inter" pitchFamily="34" charset="0"/>
                <a:ea typeface="Inter"/>
                <a:cs typeface="Inter" pitchFamily="34" charset="-120"/>
              </a:rPr>
              <a:t>Total_Passengers </a:t>
            </a:r>
            <a:r>
              <a:rPr lang="en-US" sz="1400" dirty="0">
                <a:solidFill>
                  <a:srgbClr val="4A4A4A"/>
                </a:solidFill>
                <a:latin typeface="Inter" pitchFamily="34" charset="0"/>
                <a:ea typeface="Inter"/>
                <a:cs typeface="Inter" pitchFamily="34" charset="-120"/>
              </a:rPr>
              <a:t>· </a:t>
            </a:r>
            <a:r>
              <a:rPr lang="en-US" sz="1400" dirty="0">
                <a:solidFill>
                  <a:srgbClr val="4A4A4A"/>
                </a:solidFill>
                <a:latin typeface="JetBrains Mono" pitchFamily="34" charset="0"/>
                <a:ea typeface="Inter"/>
                <a:cs typeface="JetBrains Mono" pitchFamily="34" charset="-120"/>
              </a:rPr>
              <a:t>+0.46</a:t>
            </a:r>
            <a:r>
              <a:rPr lang="en-US" sz="1400" dirty="0">
                <a:solidFill>
                  <a:srgbClr val="4A4A4A"/>
                </a:solidFill>
                <a:latin typeface="Inter" pitchFamily="34" charset="0"/>
                <a:ea typeface="Inter"/>
                <a:cs typeface="Inter" pitchFamily="34" charset="-120"/>
              </a:rPr>
              <a:t>— by far the strongest. Confirms the t-test.</a:t>
            </a:r>
            <a:endParaRPr lang="en-US" sz="1400" dirty="0">
              <a:ea typeface="Inter"/>
            </a:endParaRPr>
          </a:p>
        </p:txBody>
      </p:sp>
      <p:sp>
        <p:nvSpPr>
          <p:cNvPr id="29" name="Text 26"/>
          <p:cNvSpPr/>
          <p:nvPr/>
        </p:nvSpPr>
        <p:spPr>
          <a:xfrm>
            <a:off x="12159555" y="2764750"/>
            <a:ext cx="5287313" cy="252413"/>
          </a:xfrm>
          <a:prstGeom prst="rect">
            <a:avLst/>
          </a:prstGeom>
          <a:noFill/>
          <a:ln/>
        </p:spPr>
        <p:txBody>
          <a:bodyPr wrap="square" lIns="25400" tIns="25400" rIns="25400" bIns="25400" rtlCol="0" anchor="t">
            <a:noAutofit/>
          </a:bodyPr>
          <a:lstStyle/>
          <a:p>
            <a:pPr marL="0" indent="0" algn="l">
              <a:lnSpc>
                <a:spcPct val="150000"/>
              </a:lnSpc>
              <a:buNone/>
            </a:pPr>
            <a:r>
              <a:rPr lang="en-US" sz="1400" dirty="0">
                <a:solidFill>
                  <a:srgbClr val="1A1A1A"/>
                </a:solidFill>
                <a:latin typeface="Inter" pitchFamily="34" charset="0"/>
                <a:ea typeface="Inter"/>
                <a:cs typeface="Inter" pitchFamily="34" charset="-120"/>
              </a:rPr>
              <a:t>number_of_stops </a:t>
            </a:r>
            <a:r>
              <a:rPr lang="en-US" sz="1400" dirty="0">
                <a:solidFill>
                  <a:srgbClr val="4A4A4A"/>
                </a:solidFill>
                <a:latin typeface="Inter" pitchFamily="34" charset="0"/>
                <a:ea typeface="Inter"/>
                <a:cs typeface="Inter" pitchFamily="34" charset="-120"/>
              </a:rPr>
              <a:t>· </a:t>
            </a:r>
            <a:r>
              <a:rPr lang="en-US" sz="1400" dirty="0">
                <a:solidFill>
                  <a:srgbClr val="4A4A4A"/>
                </a:solidFill>
                <a:latin typeface="JetBrains Mono" pitchFamily="34" charset="0"/>
                <a:ea typeface="Inter"/>
                <a:cs typeface="JetBrains Mono" pitchFamily="34" charset="-120"/>
              </a:rPr>
              <a:t>+0.15 </a:t>
            </a:r>
            <a:r>
              <a:rPr lang="en-US" sz="1400" dirty="0">
                <a:solidFill>
                  <a:srgbClr val="4A4A4A"/>
                </a:solidFill>
                <a:latin typeface="Inter" pitchFamily="34" charset="0"/>
                <a:ea typeface="Inter"/>
                <a:cs typeface="Inter" pitchFamily="34" charset="-120"/>
              </a:rPr>
              <a:t>— more stops, more dwell.</a:t>
            </a:r>
            <a:endParaRPr lang="en-US" sz="1400" dirty="0">
              <a:ea typeface="Inter"/>
            </a:endParaRPr>
          </a:p>
        </p:txBody>
      </p:sp>
      <p:sp>
        <p:nvSpPr>
          <p:cNvPr id="30" name="Text 27"/>
          <p:cNvSpPr/>
          <p:nvPr/>
        </p:nvSpPr>
        <p:spPr>
          <a:xfrm>
            <a:off x="12159555" y="3040987"/>
            <a:ext cx="5287313" cy="252413"/>
          </a:xfrm>
          <a:prstGeom prst="rect">
            <a:avLst/>
          </a:prstGeom>
          <a:noFill/>
          <a:ln/>
        </p:spPr>
        <p:txBody>
          <a:bodyPr wrap="square" lIns="25400" tIns="25400" rIns="25400" bIns="25400" rtlCol="0" anchor="t">
            <a:noAutofit/>
          </a:bodyPr>
          <a:lstStyle/>
          <a:p>
            <a:pPr marL="0" indent="0" algn="l">
              <a:lnSpc>
                <a:spcPct val="150000"/>
              </a:lnSpc>
              <a:buNone/>
            </a:pPr>
            <a:r>
              <a:rPr lang="en-US" sz="1400" dirty="0">
                <a:solidFill>
                  <a:srgbClr val="1A1A1A"/>
                </a:solidFill>
                <a:latin typeface="Inter" pitchFamily="34" charset="0"/>
                <a:ea typeface="Inter"/>
                <a:cs typeface="Inter" pitchFamily="34" charset="-120"/>
              </a:rPr>
              <a:t>curvity </a:t>
            </a:r>
            <a:r>
              <a:rPr lang="en-US" sz="1400" dirty="0">
                <a:solidFill>
                  <a:srgbClr val="4A4A4A"/>
                </a:solidFill>
                <a:latin typeface="Inter" pitchFamily="34" charset="0"/>
                <a:ea typeface="Inter"/>
                <a:cs typeface="Inter" pitchFamily="34" charset="-120"/>
              </a:rPr>
              <a:t>· </a:t>
            </a:r>
            <a:r>
              <a:rPr lang="en-US" sz="1400" dirty="0">
                <a:solidFill>
                  <a:srgbClr val="4A4A4A"/>
                </a:solidFill>
                <a:latin typeface="JetBrains Mono" pitchFamily="34" charset="0"/>
                <a:ea typeface="Inter"/>
                <a:cs typeface="JetBrains Mono" pitchFamily="34" charset="-120"/>
              </a:rPr>
              <a:t>+0.07 </a:t>
            </a:r>
            <a:r>
              <a:rPr lang="en-US" sz="1400" dirty="0">
                <a:solidFill>
                  <a:srgbClr val="4A4A4A"/>
                </a:solidFill>
                <a:latin typeface="Inter" pitchFamily="34" charset="0"/>
                <a:ea typeface="Inter"/>
                <a:cs typeface="Inter" pitchFamily="34" charset="-120"/>
              </a:rPr>
              <a:t>— winding routes, slightly slower.</a:t>
            </a:r>
            <a:endParaRPr lang="en-US" sz="1400" dirty="0">
              <a:ea typeface="Inter"/>
            </a:endParaRPr>
          </a:p>
        </p:txBody>
      </p:sp>
      <p:sp>
        <p:nvSpPr>
          <p:cNvPr id="31" name="Text 28"/>
          <p:cNvSpPr/>
          <p:nvPr/>
        </p:nvSpPr>
        <p:spPr>
          <a:xfrm>
            <a:off x="12159555" y="3331500"/>
            <a:ext cx="5287313" cy="252413"/>
          </a:xfrm>
          <a:prstGeom prst="rect">
            <a:avLst/>
          </a:prstGeom>
          <a:noFill/>
          <a:ln/>
        </p:spPr>
        <p:txBody>
          <a:bodyPr wrap="square" lIns="25400" tIns="25400" rIns="25400" bIns="25400" rtlCol="0" anchor="t">
            <a:noAutofit/>
          </a:bodyPr>
          <a:lstStyle/>
          <a:p>
            <a:pPr marL="0" indent="0" algn="l">
              <a:lnSpc>
                <a:spcPct val="150000"/>
              </a:lnSpc>
              <a:buNone/>
            </a:pPr>
            <a:r>
              <a:rPr lang="en-US" sz="1400" dirty="0">
                <a:solidFill>
                  <a:srgbClr val="1A1A1A"/>
                </a:solidFill>
                <a:latin typeface="Inter" pitchFamily="34" charset="0"/>
                <a:ea typeface="Inter"/>
                <a:cs typeface="Inter" pitchFamily="34" charset="-120"/>
              </a:rPr>
              <a:t>full_hour </a:t>
            </a:r>
            <a:r>
              <a:rPr lang="en-US" sz="1400" dirty="0">
                <a:solidFill>
                  <a:srgbClr val="4A4A4A"/>
                </a:solidFill>
                <a:latin typeface="Inter" pitchFamily="34" charset="0"/>
                <a:ea typeface="Inter"/>
                <a:cs typeface="Inter" pitchFamily="34" charset="-120"/>
              </a:rPr>
              <a:t>· </a:t>
            </a:r>
            <a:r>
              <a:rPr lang="en-US" sz="1400" dirty="0">
                <a:solidFill>
                  <a:srgbClr val="4A4A4A"/>
                </a:solidFill>
                <a:latin typeface="JetBrains Mono" pitchFamily="34" charset="0"/>
                <a:ea typeface="Inter"/>
                <a:cs typeface="JetBrains Mono" pitchFamily="34" charset="-120"/>
              </a:rPr>
              <a:t>+0.06 </a:t>
            </a:r>
            <a:r>
              <a:rPr lang="en-US" sz="1400" dirty="0">
                <a:solidFill>
                  <a:srgbClr val="4A4A4A"/>
                </a:solidFill>
                <a:latin typeface="Inter" pitchFamily="34" charset="0"/>
                <a:ea typeface="Inter"/>
                <a:cs typeface="Inter" pitchFamily="34" charset="-120"/>
              </a:rPr>
              <a:t>— small late-day drift.</a:t>
            </a:r>
            <a:endParaRPr lang="en-US" sz="1400" dirty="0">
              <a:ea typeface="Inter"/>
            </a:endParaRPr>
          </a:p>
        </p:txBody>
      </p:sp>
      <p:sp>
        <p:nvSpPr>
          <p:cNvPr id="32" name="Shape 29"/>
          <p:cNvSpPr/>
          <p:nvPr/>
        </p:nvSpPr>
        <p:spPr>
          <a:xfrm>
            <a:off x="11749980" y="4101405"/>
            <a:ext cx="5776020" cy="2416111"/>
          </a:xfrm>
          <a:prstGeom prst="rect">
            <a:avLst/>
          </a:prstGeom>
          <a:solidFill>
            <a:srgbClr val="EBE5D6"/>
          </a:solidFill>
          <a:ln w="9525">
            <a:solidFill>
              <a:srgbClr val="D4CDBC"/>
            </a:solidFill>
            <a:prstDash val="solid"/>
          </a:ln>
        </p:spPr>
        <p:txBody>
          <a:bodyPr/>
          <a:lstStyle/>
          <a:p>
            <a:endParaRPr lang="he-IL" sz="1400"/>
          </a:p>
        </p:txBody>
      </p:sp>
      <p:sp>
        <p:nvSpPr>
          <p:cNvPr id="33" name="Text 30"/>
          <p:cNvSpPr/>
          <p:nvPr/>
        </p:nvSpPr>
        <p:spPr>
          <a:xfrm>
            <a:off x="11988105" y="4320480"/>
            <a:ext cx="5458763" cy="161925"/>
          </a:xfrm>
          <a:prstGeom prst="rect">
            <a:avLst/>
          </a:prstGeom>
          <a:noFill/>
          <a:ln/>
        </p:spPr>
        <p:txBody>
          <a:bodyPr wrap="square" lIns="25400" tIns="25400" rIns="25400" bIns="25400" rtlCol="0" anchor="t">
            <a:noAutofit/>
          </a:bodyPr>
          <a:lstStyle/>
          <a:p>
            <a:pPr marL="0" indent="0" algn="l">
              <a:buNone/>
            </a:pPr>
            <a:r>
              <a:rPr lang="en-US" sz="1400" b="1" kern="0" spc="135" dirty="0">
                <a:solidFill>
                  <a:srgbClr val="C25A2A"/>
                </a:solidFill>
                <a:latin typeface="JetBrains Mono" pitchFamily="34" charset="0"/>
                <a:ea typeface="JetBrains Mono" pitchFamily="34" charset="-122"/>
                <a:cs typeface="JetBrains Mono" pitchFamily="34" charset="-120"/>
              </a:rPr>
              <a:t>NEGATIVE · ANTI-DELAY</a:t>
            </a:r>
            <a:endParaRPr lang="en-US" sz="1400" dirty="0"/>
          </a:p>
        </p:txBody>
      </p:sp>
      <p:sp>
        <p:nvSpPr>
          <p:cNvPr id="34" name="Text 31"/>
          <p:cNvSpPr/>
          <p:nvPr/>
        </p:nvSpPr>
        <p:spPr>
          <a:xfrm>
            <a:off x="12159555" y="4539555"/>
            <a:ext cx="5287313" cy="252413"/>
          </a:xfrm>
          <a:prstGeom prst="rect">
            <a:avLst/>
          </a:prstGeom>
          <a:noFill/>
          <a:ln/>
        </p:spPr>
        <p:txBody>
          <a:bodyPr wrap="square" lIns="25400" tIns="25400" rIns="25400" bIns="25400" rtlCol="0" anchor="t">
            <a:noAutofit/>
          </a:bodyPr>
          <a:lstStyle/>
          <a:p>
            <a:pPr marL="0" indent="0" algn="l">
              <a:lnSpc>
                <a:spcPct val="150000"/>
              </a:lnSpc>
              <a:buNone/>
            </a:pPr>
            <a:r>
              <a:rPr lang="en-US" sz="1400" dirty="0">
                <a:solidFill>
                  <a:srgbClr val="1A1A1A"/>
                </a:solidFill>
                <a:latin typeface="Inter" pitchFamily="34" charset="0"/>
                <a:ea typeface="Inter" pitchFamily="34" charset="-122"/>
                <a:cs typeface="Inter" pitchFamily="34" charset="-120"/>
              </a:rPr>
              <a:t>speed_kmh_planned </a:t>
            </a:r>
            <a:r>
              <a:rPr lang="en-US" sz="1400" dirty="0">
                <a:solidFill>
                  <a:srgbClr val="4A4A4A"/>
                </a:solidFill>
                <a:latin typeface="Inter" pitchFamily="34" charset="0"/>
                <a:ea typeface="Inter" pitchFamily="34" charset="-122"/>
                <a:cs typeface="Inter" pitchFamily="34" charset="-120"/>
              </a:rPr>
              <a:t>· </a:t>
            </a:r>
            <a:r>
              <a:rPr lang="en-US" sz="1400" dirty="0">
                <a:solidFill>
                  <a:srgbClr val="4A4A4A"/>
                </a:solidFill>
                <a:latin typeface="JetBrains Mono" pitchFamily="34" charset="0"/>
                <a:ea typeface="JetBrains Mono" pitchFamily="34" charset="-122"/>
                <a:cs typeface="JetBrains Mono" pitchFamily="34" charset="-120"/>
              </a:rPr>
              <a:t>−0.14 </a:t>
            </a:r>
            <a:r>
              <a:rPr lang="en-US" sz="1400" dirty="0">
                <a:solidFill>
                  <a:srgbClr val="4A4A4A"/>
                </a:solidFill>
                <a:latin typeface="Inter" pitchFamily="34" charset="0"/>
                <a:ea typeface="Inter" pitchFamily="34" charset="-122"/>
                <a:cs typeface="Inter" pitchFamily="34" charset="-120"/>
              </a:rPr>
              <a:t>— faster-scheduled routes have more slack.</a:t>
            </a:r>
            <a:endParaRPr lang="en-US" sz="1400" dirty="0"/>
          </a:p>
        </p:txBody>
      </p:sp>
      <p:sp>
        <p:nvSpPr>
          <p:cNvPr id="35" name="Text 32"/>
          <p:cNvSpPr/>
          <p:nvPr/>
        </p:nvSpPr>
        <p:spPr>
          <a:xfrm>
            <a:off x="12156738" y="5257944"/>
            <a:ext cx="5287313" cy="942975"/>
          </a:xfrm>
          <a:prstGeom prst="rect">
            <a:avLst/>
          </a:prstGeom>
          <a:noFill/>
          <a:ln/>
        </p:spPr>
        <p:txBody>
          <a:bodyPr wrap="square" lIns="25400" tIns="25400" rIns="25400" bIns="25400" rtlCol="0" anchor="t">
            <a:noAutofit/>
          </a:bodyPr>
          <a:lstStyle/>
          <a:p>
            <a:pPr marL="0" indent="0" algn="l">
              <a:lnSpc>
                <a:spcPct val="150000"/>
              </a:lnSpc>
              <a:buNone/>
            </a:pPr>
            <a:r>
              <a:rPr lang="en-US" sz="1400" dirty="0">
                <a:solidFill>
                  <a:srgbClr val="1A1A1A"/>
                </a:solidFill>
                <a:latin typeface="Inter" pitchFamily="34" charset="0"/>
                <a:ea typeface="Inter" pitchFamily="34" charset="-122"/>
                <a:cs typeface="Inter" pitchFamily="34" charset="-120"/>
              </a:rPr>
              <a:t>route_length_km </a:t>
            </a:r>
            <a:r>
              <a:rPr lang="en-US" sz="1400" dirty="0">
                <a:solidFill>
                  <a:srgbClr val="4A4A4A"/>
                </a:solidFill>
                <a:latin typeface="Inter" pitchFamily="34" charset="0"/>
                <a:ea typeface="Inter" pitchFamily="34" charset="-122"/>
                <a:cs typeface="Inter" pitchFamily="34" charset="-120"/>
              </a:rPr>
              <a:t>· </a:t>
            </a:r>
            <a:r>
              <a:rPr lang="en-US" sz="1400" dirty="0">
                <a:solidFill>
                  <a:srgbClr val="4A4A4A"/>
                </a:solidFill>
                <a:latin typeface="JetBrains Mono" pitchFamily="34" charset="0"/>
                <a:ea typeface="JetBrains Mono" pitchFamily="34" charset="-122"/>
                <a:cs typeface="JetBrains Mono" pitchFamily="34" charset="-120"/>
              </a:rPr>
              <a:t>−0.13 </a:t>
            </a:r>
            <a:r>
              <a:rPr lang="en-US" sz="1400" dirty="0">
                <a:solidFill>
                  <a:srgbClr val="4A4A4A"/>
                </a:solidFill>
                <a:latin typeface="Inter" pitchFamily="34" charset="0"/>
                <a:ea typeface="Inter" pitchFamily="34" charset="-122"/>
                <a:cs typeface="Inter" pitchFamily="34" charset="-120"/>
              </a:rPr>
              <a:t>— long routes have generous timetables.</a:t>
            </a:r>
            <a:endParaRPr lang="en-US" sz="1400" dirty="0"/>
          </a:p>
        </p:txBody>
      </p:sp>
      <p:sp>
        <p:nvSpPr>
          <p:cNvPr id="36" name="Text 33"/>
          <p:cNvSpPr/>
          <p:nvPr/>
        </p:nvSpPr>
        <p:spPr>
          <a:xfrm>
            <a:off x="12172434" y="5666757"/>
            <a:ext cx="5287313" cy="252413"/>
          </a:xfrm>
          <a:prstGeom prst="rect">
            <a:avLst/>
          </a:prstGeom>
          <a:noFill/>
          <a:ln/>
        </p:spPr>
        <p:txBody>
          <a:bodyPr wrap="square" lIns="25400" tIns="25400" rIns="25400" bIns="25400" rtlCol="0" anchor="t">
            <a:noAutofit/>
          </a:bodyPr>
          <a:lstStyle/>
          <a:p>
            <a:pPr marL="0" indent="0" algn="l">
              <a:lnSpc>
                <a:spcPct val="150000"/>
              </a:lnSpc>
              <a:buNone/>
            </a:pPr>
            <a:r>
              <a:rPr lang="en-US" sz="1400" dirty="0">
                <a:solidFill>
                  <a:srgbClr val="4A4A4A"/>
                </a:solidFill>
                <a:latin typeface="Inter" pitchFamily="34" charset="0"/>
                <a:ea typeface="Inter" pitchFamily="34" charset="-122"/>
                <a:cs typeface="Inter" pitchFamily="34" charset="-120"/>
              </a:rPr>
              <a:t>rainfall_mm · </a:t>
            </a:r>
            <a:r>
              <a:rPr lang="en-US" sz="1400" dirty="0">
                <a:solidFill>
                  <a:srgbClr val="4A4A4A"/>
                </a:solidFill>
                <a:latin typeface="JetBrains Mono" pitchFamily="34" charset="0"/>
                <a:ea typeface="JetBrains Mono" pitchFamily="34" charset="-122"/>
                <a:cs typeface="JetBrains Mono" pitchFamily="34" charset="-120"/>
              </a:rPr>
              <a:t>0.02 </a:t>
            </a:r>
            <a:r>
              <a:rPr lang="en-US" sz="1400" dirty="0">
                <a:solidFill>
                  <a:srgbClr val="4A4A4A"/>
                </a:solidFill>
                <a:latin typeface="Inter" pitchFamily="34" charset="0"/>
                <a:ea typeface="Inter" pitchFamily="34" charset="-122"/>
                <a:cs typeface="Inter" pitchFamily="34" charset="-120"/>
              </a:rPr>
              <a:t>— surprisingly weak.</a:t>
            </a:r>
            <a:endParaRPr lang="en-US" sz="1400" dirty="0"/>
          </a:p>
        </p:txBody>
      </p:sp>
      <p:sp>
        <p:nvSpPr>
          <p:cNvPr id="37" name="Shape 0">
            <a:extLst>
              <a:ext uri="{FF2B5EF4-FFF2-40B4-BE49-F238E27FC236}">
                <a16:creationId xmlns:a16="http://schemas.microsoft.com/office/drawing/2014/main" id="{4728CDB7-BECE-32F9-9933-49F0BBBC792E}"/>
              </a:ext>
            </a:extLst>
          </p:cNvPr>
          <p:cNvSpPr/>
          <p:nvPr/>
        </p:nvSpPr>
        <p:spPr>
          <a:xfrm>
            <a:off x="0" y="0"/>
            <a:ext cx="2095500" cy="10287000"/>
          </a:xfrm>
          <a:prstGeom prst="rect">
            <a:avLst/>
          </a:prstGeom>
          <a:solidFill>
            <a:srgbClr val="EBE5D6"/>
          </a:solidFill>
          <a:ln/>
        </p:spPr>
        <p:txBody>
          <a:bodyPr/>
          <a:lstStyle/>
          <a:p>
            <a:endParaRPr lang="he-IL"/>
          </a:p>
        </p:txBody>
      </p:sp>
      <p:sp>
        <p:nvSpPr>
          <p:cNvPr id="38" name="Shape 1">
            <a:extLst>
              <a:ext uri="{FF2B5EF4-FFF2-40B4-BE49-F238E27FC236}">
                <a16:creationId xmlns:a16="http://schemas.microsoft.com/office/drawing/2014/main" id="{C49B0908-5321-4CFD-F7BC-7D38B52510B8}"/>
              </a:ext>
            </a:extLst>
          </p:cNvPr>
          <p:cNvSpPr/>
          <p:nvPr/>
        </p:nvSpPr>
        <p:spPr>
          <a:xfrm>
            <a:off x="2085975" y="0"/>
            <a:ext cx="9525" cy="10287000"/>
          </a:xfrm>
          <a:prstGeom prst="rect">
            <a:avLst/>
          </a:prstGeom>
          <a:solidFill>
            <a:srgbClr val="D4CDBC"/>
          </a:solidFill>
          <a:ln/>
        </p:spPr>
        <p:txBody>
          <a:bodyPr/>
          <a:lstStyle/>
          <a:p>
            <a:endParaRPr lang="he-IL"/>
          </a:p>
        </p:txBody>
      </p:sp>
      <p:sp>
        <p:nvSpPr>
          <p:cNvPr id="39" name="Text 16">
            <a:extLst>
              <a:ext uri="{FF2B5EF4-FFF2-40B4-BE49-F238E27FC236}">
                <a16:creationId xmlns:a16="http://schemas.microsoft.com/office/drawing/2014/main" id="{68070295-509B-8BBD-6080-849558B2EA84}"/>
              </a:ext>
            </a:extLst>
          </p:cNvPr>
          <p:cNvSpPr/>
          <p:nvPr/>
        </p:nvSpPr>
        <p:spPr>
          <a:xfrm>
            <a:off x="266700" y="9410700"/>
            <a:ext cx="1628775" cy="342900"/>
          </a:xfrm>
          <a:prstGeom prst="rect">
            <a:avLst/>
          </a:prstGeom>
          <a:noFill/>
          <a:ln/>
        </p:spPr>
        <p:txBody>
          <a:bodyPr wrap="square" lIns="25400" tIns="25400" rIns="25400" bIns="25400" rtlCol="0" anchor="t">
            <a:noAutofit/>
          </a:bodyPr>
          <a:lstStyle/>
          <a:p>
            <a:pPr>
              <a:lnSpc>
                <a:spcPct val="160000"/>
              </a:lnSpc>
            </a:pPr>
            <a:r>
              <a:rPr lang="en-US" sz="1400" b="1" kern="0" spc="105" dirty="0">
                <a:solidFill>
                  <a:srgbClr val="1A1A1A"/>
                </a:solidFill>
                <a:latin typeface="JetBrains Mono" pitchFamily="34" charset="0"/>
                <a:ea typeface="JetBrains Mono" pitchFamily="34" charset="-122"/>
                <a:cs typeface="JetBrains Mono" pitchFamily="34" charset="-120"/>
              </a:rPr>
              <a:t>11 / 34</a:t>
            </a:r>
            <a:endParaRPr lang="en-US" sz="1400" dirty="0"/>
          </a:p>
        </p:txBody>
      </p:sp>
      <p:sp>
        <p:nvSpPr>
          <p:cNvPr id="40" name="Text 4">
            <a:extLst>
              <a:ext uri="{FF2B5EF4-FFF2-40B4-BE49-F238E27FC236}">
                <a16:creationId xmlns:a16="http://schemas.microsoft.com/office/drawing/2014/main" id="{158E6F6F-7828-E8E3-D152-C2B60FD385DC}"/>
              </a:ext>
            </a:extLst>
          </p:cNvPr>
          <p:cNvSpPr/>
          <p:nvPr/>
        </p:nvSpPr>
        <p:spPr>
          <a:xfrm>
            <a:off x="228063" y="1524367"/>
            <a:ext cx="372012" cy="200025"/>
          </a:xfrm>
          <a:prstGeom prst="rect">
            <a:avLst/>
          </a:prstGeom>
          <a:noFill/>
          <a:ln/>
        </p:spPr>
        <p:txBody>
          <a:bodyPr wrap="square" lIns="25400" tIns="25400" rIns="25400" bIns="25400" rtlCol="0" anchor="t">
            <a:noAutofit/>
          </a:bodyPr>
          <a:lstStyle/>
          <a:p>
            <a:pPr marL="0" indent="0" algn="l">
              <a:lnSpc>
                <a:spcPct val="130000"/>
              </a:lnSpc>
              <a:buNone/>
            </a:pPr>
            <a:r>
              <a:rPr lang="en-US" sz="1400" kern="0" spc="21" dirty="0">
                <a:solidFill>
                  <a:srgbClr val="888080"/>
                </a:solidFill>
                <a:latin typeface="Inter" pitchFamily="34" charset="0"/>
                <a:ea typeface="Inter" pitchFamily="34" charset="-122"/>
              </a:rPr>
              <a:t>01</a:t>
            </a:r>
          </a:p>
        </p:txBody>
      </p:sp>
      <p:sp>
        <p:nvSpPr>
          <p:cNvPr id="41" name="Text 5">
            <a:extLst>
              <a:ext uri="{FF2B5EF4-FFF2-40B4-BE49-F238E27FC236}">
                <a16:creationId xmlns:a16="http://schemas.microsoft.com/office/drawing/2014/main" id="{9BB64029-3F07-B2C1-DA62-D96D85BED33A}"/>
              </a:ext>
            </a:extLst>
          </p:cNvPr>
          <p:cNvSpPr/>
          <p:nvPr/>
        </p:nvSpPr>
        <p:spPr>
          <a:xfrm>
            <a:off x="523875" y="1522975"/>
            <a:ext cx="876300" cy="476251"/>
          </a:xfrm>
          <a:prstGeom prst="rect">
            <a:avLst/>
          </a:prstGeom>
          <a:noFill/>
          <a:ln/>
        </p:spPr>
        <p:txBody>
          <a:bodyPr wrap="square" lIns="25400" tIns="25400" rIns="25400" bIns="25400" rtlCol="0" anchor="t">
            <a:normAutofit/>
          </a:bodyPr>
          <a:lstStyle/>
          <a:p>
            <a:pPr marL="0" indent="0" algn="l">
              <a:lnSpc>
                <a:spcPct val="130000"/>
              </a:lnSpc>
              <a:buNone/>
            </a:pPr>
            <a:r>
              <a:rPr lang="en-US" sz="1400" kern="0" spc="21" dirty="0">
                <a:solidFill>
                  <a:srgbClr val="888080"/>
                </a:solidFill>
                <a:latin typeface="Inter" pitchFamily="34" charset="0"/>
                <a:ea typeface="Inter" pitchFamily="34" charset="-122"/>
              </a:rPr>
              <a:t>Agenda</a:t>
            </a:r>
          </a:p>
        </p:txBody>
      </p:sp>
      <p:sp>
        <p:nvSpPr>
          <p:cNvPr id="42" name="Text 6">
            <a:extLst>
              <a:ext uri="{FF2B5EF4-FFF2-40B4-BE49-F238E27FC236}">
                <a16:creationId xmlns:a16="http://schemas.microsoft.com/office/drawing/2014/main" id="{69F2F720-8C7F-8297-2DB5-8080E494F455}"/>
              </a:ext>
            </a:extLst>
          </p:cNvPr>
          <p:cNvSpPr/>
          <p:nvPr/>
        </p:nvSpPr>
        <p:spPr>
          <a:xfrm>
            <a:off x="228063" y="1830953"/>
            <a:ext cx="372010" cy="194877"/>
          </a:xfrm>
          <a:prstGeom prst="rect">
            <a:avLst/>
          </a:prstGeom>
          <a:noFill/>
          <a:ln/>
        </p:spPr>
        <p:txBody>
          <a:bodyPr wrap="square" lIns="25400" tIns="25400" rIns="25400" bIns="25400" rtlCol="0" anchor="t">
            <a:noAutofit/>
          </a:bodyPr>
          <a:lstStyle/>
          <a:p>
            <a:pPr marL="0" indent="0" algn="l">
              <a:lnSpc>
                <a:spcPct val="130000"/>
              </a:lnSpc>
              <a:buNone/>
            </a:pPr>
            <a:r>
              <a:rPr lang="en-US" sz="1400" kern="0" spc="21" dirty="0">
                <a:solidFill>
                  <a:srgbClr val="888080"/>
                </a:solidFill>
                <a:latin typeface="Inter" pitchFamily="34" charset="0"/>
                <a:ea typeface="Inter" pitchFamily="34" charset="-122"/>
              </a:rPr>
              <a:t>02</a:t>
            </a:r>
          </a:p>
        </p:txBody>
      </p:sp>
      <p:sp>
        <p:nvSpPr>
          <p:cNvPr id="43" name="Text 8">
            <a:extLst>
              <a:ext uri="{FF2B5EF4-FFF2-40B4-BE49-F238E27FC236}">
                <a16:creationId xmlns:a16="http://schemas.microsoft.com/office/drawing/2014/main" id="{A2CE7497-0DA6-D984-283A-187EBB7A8743}"/>
              </a:ext>
            </a:extLst>
          </p:cNvPr>
          <p:cNvSpPr/>
          <p:nvPr/>
        </p:nvSpPr>
        <p:spPr>
          <a:xfrm>
            <a:off x="230504" y="2152895"/>
            <a:ext cx="302895" cy="141422"/>
          </a:xfrm>
          <a:prstGeom prst="rect">
            <a:avLst/>
          </a:prstGeom>
          <a:noFill/>
          <a:ln/>
        </p:spPr>
        <p:txBody>
          <a:bodyPr wrap="square" lIns="25400" tIns="25400" rIns="25400" bIns="25400" rtlCol="0" anchor="t">
            <a:noAutofit/>
          </a:bodyPr>
          <a:lstStyle/>
          <a:p>
            <a:pPr marL="0" indent="0" algn="l">
              <a:lnSpc>
                <a:spcPct val="130000"/>
              </a:lnSpc>
              <a:buNone/>
            </a:pPr>
            <a:r>
              <a:rPr lang="en-US" sz="1400" b="1" kern="0" spc="21" dirty="0">
                <a:solidFill>
                  <a:srgbClr val="C25A2A"/>
                </a:solidFill>
                <a:latin typeface="JetBrains Mono" pitchFamily="34" charset="0"/>
                <a:ea typeface="JetBrains Mono" pitchFamily="34" charset="-122"/>
              </a:rPr>
              <a:t>03</a:t>
            </a:r>
          </a:p>
        </p:txBody>
      </p:sp>
      <p:sp>
        <p:nvSpPr>
          <p:cNvPr id="44" name="Text 9">
            <a:extLst>
              <a:ext uri="{FF2B5EF4-FFF2-40B4-BE49-F238E27FC236}">
                <a16:creationId xmlns:a16="http://schemas.microsoft.com/office/drawing/2014/main" id="{AA1D9D5E-A524-8E15-8DD0-19C7A7A89129}"/>
              </a:ext>
            </a:extLst>
          </p:cNvPr>
          <p:cNvSpPr/>
          <p:nvPr/>
        </p:nvSpPr>
        <p:spPr>
          <a:xfrm>
            <a:off x="531240" y="2145027"/>
            <a:ext cx="1185416" cy="342476"/>
          </a:xfrm>
          <a:prstGeom prst="rect">
            <a:avLst/>
          </a:prstGeom>
          <a:noFill/>
          <a:ln/>
        </p:spPr>
        <p:txBody>
          <a:bodyPr wrap="square" lIns="25400" tIns="25400" rIns="25400" bIns="25400" rtlCol="0" anchor="t">
            <a:normAutofit/>
          </a:bodyPr>
          <a:lstStyle/>
          <a:p>
            <a:pPr marL="0" indent="0" algn="l">
              <a:lnSpc>
                <a:spcPct val="130000"/>
              </a:lnSpc>
              <a:buNone/>
            </a:pPr>
            <a:r>
              <a:rPr lang="en-US" sz="1400" kern="0" spc="21" dirty="0">
                <a:solidFill>
                  <a:srgbClr val="1A1A1A"/>
                </a:solidFill>
                <a:latin typeface="Inter" pitchFamily="34" charset="0"/>
                <a:ea typeface="Inter" pitchFamily="34" charset="-122"/>
              </a:rPr>
              <a:t>EDA</a:t>
            </a:r>
          </a:p>
        </p:txBody>
      </p:sp>
      <p:sp>
        <p:nvSpPr>
          <p:cNvPr id="45" name="Text 10">
            <a:extLst>
              <a:ext uri="{FF2B5EF4-FFF2-40B4-BE49-F238E27FC236}">
                <a16:creationId xmlns:a16="http://schemas.microsoft.com/office/drawing/2014/main" id="{8905F742-EF96-C109-8116-0332B0E994EA}"/>
              </a:ext>
            </a:extLst>
          </p:cNvPr>
          <p:cNvSpPr/>
          <p:nvPr/>
        </p:nvSpPr>
        <p:spPr>
          <a:xfrm>
            <a:off x="228062" y="2444125"/>
            <a:ext cx="305337" cy="172132"/>
          </a:xfrm>
          <a:prstGeom prst="rect">
            <a:avLst/>
          </a:prstGeom>
          <a:noFill/>
          <a:ln/>
        </p:spPr>
        <p:txBody>
          <a:bodyPr wrap="square" lIns="25400" tIns="25400" rIns="25400" bIns="25400" rtlCol="0" anchor="t">
            <a:noAutofit/>
          </a:bodyPr>
          <a:lstStyle/>
          <a:p>
            <a:pPr marL="0" indent="0" algn="l">
              <a:lnSpc>
                <a:spcPct val="130000"/>
              </a:lnSpc>
              <a:buNone/>
            </a:pPr>
            <a:r>
              <a:rPr lang="en-US" sz="1400" kern="0" spc="21" dirty="0">
                <a:solidFill>
                  <a:srgbClr val="888080"/>
                </a:solidFill>
                <a:latin typeface="JetBrains Mono" pitchFamily="34" charset="0"/>
                <a:ea typeface="JetBrains Mono" pitchFamily="34" charset="-122"/>
                <a:cs typeface="JetBrains Mono" pitchFamily="34" charset="-120"/>
              </a:rPr>
              <a:t>04</a:t>
            </a:r>
            <a:endParaRPr lang="en-US" sz="1400" dirty="0"/>
          </a:p>
        </p:txBody>
      </p:sp>
      <p:sp>
        <p:nvSpPr>
          <p:cNvPr id="46" name="Text 12">
            <a:extLst>
              <a:ext uri="{FF2B5EF4-FFF2-40B4-BE49-F238E27FC236}">
                <a16:creationId xmlns:a16="http://schemas.microsoft.com/office/drawing/2014/main" id="{8221D934-B870-D923-A11D-99F28A4B9EBD}"/>
              </a:ext>
            </a:extLst>
          </p:cNvPr>
          <p:cNvSpPr/>
          <p:nvPr/>
        </p:nvSpPr>
        <p:spPr>
          <a:xfrm>
            <a:off x="228062" y="2750711"/>
            <a:ext cx="372011" cy="158880"/>
          </a:xfrm>
          <a:prstGeom prst="rect">
            <a:avLst/>
          </a:prstGeom>
          <a:noFill/>
          <a:ln/>
        </p:spPr>
        <p:txBody>
          <a:bodyPr wrap="square" lIns="25400" tIns="25400" rIns="25400" bIns="25400" rtlCol="0" anchor="t">
            <a:noAutofit/>
          </a:bodyPr>
          <a:lstStyle/>
          <a:p>
            <a:pPr marL="0" indent="0" algn="l">
              <a:lnSpc>
                <a:spcPct val="130000"/>
              </a:lnSpc>
              <a:buNone/>
            </a:pPr>
            <a:r>
              <a:rPr lang="en-US" sz="1400" kern="0" spc="21" dirty="0">
                <a:solidFill>
                  <a:srgbClr val="888080"/>
                </a:solidFill>
                <a:latin typeface="JetBrains Mono" pitchFamily="34" charset="0"/>
                <a:ea typeface="JetBrains Mono" pitchFamily="34" charset="-122"/>
                <a:cs typeface="JetBrains Mono" pitchFamily="34" charset="-120"/>
              </a:rPr>
              <a:t>05</a:t>
            </a:r>
            <a:endParaRPr lang="en-US" sz="1400" dirty="0"/>
          </a:p>
        </p:txBody>
      </p:sp>
      <p:sp>
        <p:nvSpPr>
          <p:cNvPr id="47" name="Text 13">
            <a:extLst>
              <a:ext uri="{FF2B5EF4-FFF2-40B4-BE49-F238E27FC236}">
                <a16:creationId xmlns:a16="http://schemas.microsoft.com/office/drawing/2014/main" id="{169AAAB2-D7A6-C4FA-FEFE-541CEA89E98A}"/>
              </a:ext>
            </a:extLst>
          </p:cNvPr>
          <p:cNvSpPr/>
          <p:nvPr/>
        </p:nvSpPr>
        <p:spPr>
          <a:xfrm>
            <a:off x="533399" y="2725489"/>
            <a:ext cx="948333" cy="761256"/>
          </a:xfrm>
          <a:prstGeom prst="rect">
            <a:avLst/>
          </a:prstGeom>
          <a:noFill/>
          <a:ln/>
        </p:spPr>
        <p:txBody>
          <a:bodyPr wrap="square" lIns="25400" tIns="25400" rIns="25400" bIns="25400" rtlCol="0" anchor="t">
            <a:normAutofit/>
          </a:bodyPr>
          <a:lstStyle/>
          <a:p>
            <a:pPr marL="0" indent="0" algn="l">
              <a:lnSpc>
                <a:spcPct val="130000"/>
              </a:lnSpc>
              <a:buNone/>
            </a:pPr>
            <a:r>
              <a:rPr lang="en-US" sz="1400" kern="0" spc="21" dirty="0">
                <a:solidFill>
                  <a:srgbClr val="888080"/>
                </a:solidFill>
                <a:latin typeface="Inter" pitchFamily="34" charset="0"/>
                <a:ea typeface="Inter" pitchFamily="34" charset="-122"/>
                <a:cs typeface="Inter" pitchFamily="34" charset="-120"/>
              </a:rPr>
              <a:t>Modeling</a:t>
            </a:r>
            <a:endParaRPr lang="en-US" sz="1400" dirty="0"/>
          </a:p>
        </p:txBody>
      </p:sp>
      <p:sp>
        <p:nvSpPr>
          <p:cNvPr id="48" name="Text 14">
            <a:extLst>
              <a:ext uri="{FF2B5EF4-FFF2-40B4-BE49-F238E27FC236}">
                <a16:creationId xmlns:a16="http://schemas.microsoft.com/office/drawing/2014/main" id="{360B70AC-86E4-7478-91B4-2828A2F6312D}"/>
              </a:ext>
            </a:extLst>
          </p:cNvPr>
          <p:cNvSpPr/>
          <p:nvPr/>
        </p:nvSpPr>
        <p:spPr>
          <a:xfrm>
            <a:off x="235683" y="3042056"/>
            <a:ext cx="372010" cy="191463"/>
          </a:xfrm>
          <a:prstGeom prst="rect">
            <a:avLst/>
          </a:prstGeom>
          <a:noFill/>
          <a:ln/>
        </p:spPr>
        <p:txBody>
          <a:bodyPr wrap="square" lIns="25400" tIns="25400" rIns="25400" bIns="25400" rtlCol="0" anchor="t">
            <a:noAutofit/>
          </a:bodyPr>
          <a:lstStyle/>
          <a:p>
            <a:pPr marL="0" indent="0" algn="l">
              <a:lnSpc>
                <a:spcPct val="130000"/>
              </a:lnSpc>
              <a:buNone/>
            </a:pPr>
            <a:r>
              <a:rPr lang="en-US" sz="1400" kern="0" spc="21" dirty="0">
                <a:solidFill>
                  <a:srgbClr val="888080"/>
                </a:solidFill>
                <a:latin typeface="JetBrains Mono" pitchFamily="34" charset="0"/>
                <a:ea typeface="JetBrains Mono" pitchFamily="34" charset="-122"/>
                <a:cs typeface="JetBrains Mono" pitchFamily="34" charset="-120"/>
              </a:rPr>
              <a:t>06</a:t>
            </a:r>
            <a:endParaRPr lang="en-US" sz="1400" dirty="0"/>
          </a:p>
        </p:txBody>
      </p:sp>
      <p:sp>
        <p:nvSpPr>
          <p:cNvPr id="49" name="Text 15">
            <a:extLst>
              <a:ext uri="{FF2B5EF4-FFF2-40B4-BE49-F238E27FC236}">
                <a16:creationId xmlns:a16="http://schemas.microsoft.com/office/drawing/2014/main" id="{C49270F9-CDCD-0DF7-7105-54618A4F5834}"/>
              </a:ext>
            </a:extLst>
          </p:cNvPr>
          <p:cNvSpPr/>
          <p:nvPr/>
        </p:nvSpPr>
        <p:spPr>
          <a:xfrm>
            <a:off x="533400" y="3032075"/>
            <a:ext cx="1185416" cy="626120"/>
          </a:xfrm>
          <a:prstGeom prst="rect">
            <a:avLst/>
          </a:prstGeom>
          <a:noFill/>
          <a:ln/>
        </p:spPr>
        <p:txBody>
          <a:bodyPr wrap="square" lIns="25400" tIns="25400" rIns="25400" bIns="25400" rtlCol="0" anchor="t">
            <a:normAutofit/>
          </a:bodyPr>
          <a:lstStyle/>
          <a:p>
            <a:pPr marL="0" indent="0" algn="l">
              <a:lnSpc>
                <a:spcPct val="130000"/>
              </a:lnSpc>
              <a:buNone/>
            </a:pPr>
            <a:r>
              <a:rPr lang="en-US" sz="1400" kern="0" spc="21" dirty="0">
                <a:solidFill>
                  <a:srgbClr val="888080"/>
                </a:solidFill>
                <a:latin typeface="Inter" pitchFamily="34" charset="0"/>
                <a:ea typeface="Inter" pitchFamily="34" charset="-122"/>
                <a:cs typeface="Inter" pitchFamily="34" charset="-120"/>
              </a:rPr>
              <a:t>Conclusions</a:t>
            </a:r>
            <a:endParaRPr lang="en-US" sz="1400" dirty="0"/>
          </a:p>
        </p:txBody>
      </p:sp>
      <p:sp>
        <p:nvSpPr>
          <p:cNvPr id="50" name="Text 9">
            <a:extLst>
              <a:ext uri="{FF2B5EF4-FFF2-40B4-BE49-F238E27FC236}">
                <a16:creationId xmlns:a16="http://schemas.microsoft.com/office/drawing/2014/main" id="{4B738D78-108B-7645-C632-544EDB1C9C42}"/>
              </a:ext>
            </a:extLst>
          </p:cNvPr>
          <p:cNvSpPr/>
          <p:nvPr/>
        </p:nvSpPr>
        <p:spPr>
          <a:xfrm>
            <a:off x="538609" y="2426180"/>
            <a:ext cx="1185416" cy="342476"/>
          </a:xfrm>
          <a:prstGeom prst="rect">
            <a:avLst/>
          </a:prstGeom>
          <a:noFill/>
          <a:ln/>
        </p:spPr>
        <p:txBody>
          <a:bodyPr wrap="square" lIns="25400" tIns="25400" rIns="25400" bIns="25400" rtlCol="0" anchor="t">
            <a:normAutofit/>
          </a:bodyPr>
          <a:lstStyle/>
          <a:p>
            <a:pPr marL="0" indent="0" algn="l">
              <a:lnSpc>
                <a:spcPct val="130000"/>
              </a:lnSpc>
              <a:buNone/>
            </a:pPr>
            <a:r>
              <a:rPr lang="en-US" sz="1400" kern="0" spc="21" dirty="0">
                <a:solidFill>
                  <a:srgbClr val="888080"/>
                </a:solidFill>
                <a:latin typeface="Inter" pitchFamily="34" charset="0"/>
                <a:ea typeface="Inter" pitchFamily="34" charset="-122"/>
                <a:cs typeface="Inter" pitchFamily="34" charset="-120"/>
              </a:rPr>
              <a:t>Pipeline</a:t>
            </a:r>
            <a:endParaRPr lang="en-US" sz="1400" dirty="0"/>
          </a:p>
        </p:txBody>
      </p:sp>
      <p:sp>
        <p:nvSpPr>
          <p:cNvPr id="51" name="Text 7">
            <a:extLst>
              <a:ext uri="{FF2B5EF4-FFF2-40B4-BE49-F238E27FC236}">
                <a16:creationId xmlns:a16="http://schemas.microsoft.com/office/drawing/2014/main" id="{8EB91CAD-0CC8-6052-EEC0-145D2B3E1E88}"/>
              </a:ext>
            </a:extLst>
          </p:cNvPr>
          <p:cNvSpPr/>
          <p:nvPr/>
        </p:nvSpPr>
        <p:spPr>
          <a:xfrm>
            <a:off x="523875" y="1826620"/>
            <a:ext cx="1325700" cy="467696"/>
          </a:xfrm>
          <a:prstGeom prst="rect">
            <a:avLst/>
          </a:prstGeom>
          <a:noFill/>
          <a:ln/>
        </p:spPr>
        <p:txBody>
          <a:bodyPr wrap="square" lIns="25400" tIns="25400" rIns="25400" bIns="25400" rtlCol="0" anchor="t">
            <a:noAutofit/>
          </a:bodyPr>
          <a:lstStyle/>
          <a:p>
            <a:pPr marL="0" indent="0" algn="l">
              <a:lnSpc>
                <a:spcPct val="130000"/>
              </a:lnSpc>
              <a:buNone/>
            </a:pPr>
            <a:r>
              <a:rPr lang="en-US" sz="1400" kern="0" spc="21" dirty="0">
                <a:solidFill>
                  <a:srgbClr val="888080"/>
                </a:solidFill>
                <a:latin typeface="Inter" pitchFamily="34" charset="0"/>
                <a:ea typeface="Inter" pitchFamily="34" charset="-122"/>
              </a:rPr>
              <a:t>Data &amp; target</a:t>
            </a:r>
          </a:p>
        </p:txBody>
      </p:sp>
      <p:sp>
        <p:nvSpPr>
          <p:cNvPr id="52" name="Text 1">
            <a:extLst>
              <a:ext uri="{FF2B5EF4-FFF2-40B4-BE49-F238E27FC236}">
                <a16:creationId xmlns:a16="http://schemas.microsoft.com/office/drawing/2014/main" id="{FF2234BE-D623-1A10-28DC-E08641B15533}"/>
              </a:ext>
            </a:extLst>
          </p:cNvPr>
          <p:cNvSpPr/>
          <p:nvPr/>
        </p:nvSpPr>
        <p:spPr>
          <a:xfrm>
            <a:off x="261138" y="379598"/>
            <a:ext cx="1778457" cy="447678"/>
          </a:xfrm>
          <a:prstGeom prst="rect">
            <a:avLst/>
          </a:prstGeom>
          <a:noFill/>
          <a:ln/>
        </p:spPr>
        <p:txBody>
          <a:bodyPr wrap="square" lIns="25400" tIns="25400" rIns="25400" bIns="25400" rtlCol="0" anchor="t">
            <a:noAutofit/>
          </a:bodyPr>
          <a:lstStyle/>
          <a:p>
            <a:pPr marL="0" indent="0">
              <a:buNone/>
            </a:pPr>
            <a:r>
              <a:rPr lang="en-US" sz="1400" kern="0" spc="116" dirty="0">
                <a:solidFill>
                  <a:srgbClr val="888080"/>
                </a:solidFill>
                <a:latin typeface="JetBrains Mono" pitchFamily="34" charset="0"/>
                <a:ea typeface="JetBrains Mono" pitchFamily="34" charset="-122"/>
                <a:cs typeface="JetBrains Mono" pitchFamily="34" charset="-120"/>
              </a:rPr>
              <a:t>DS22 - Bar Ilan</a:t>
            </a:r>
            <a:br>
              <a:rPr lang="en-US" sz="1400" kern="0" spc="116" dirty="0">
                <a:solidFill>
                  <a:srgbClr val="888080"/>
                </a:solidFill>
                <a:latin typeface="JetBrains Mono" pitchFamily="34" charset="0"/>
                <a:ea typeface="JetBrains Mono" pitchFamily="34" charset="-122"/>
                <a:cs typeface="JetBrains Mono" pitchFamily="34" charset="-120"/>
              </a:rPr>
            </a:br>
            <a:r>
              <a:rPr lang="en-US" sz="1400" kern="0" spc="116" dirty="0">
                <a:solidFill>
                  <a:srgbClr val="888080"/>
                </a:solidFill>
                <a:latin typeface="JetBrains Mono" pitchFamily="34" charset="0"/>
                <a:ea typeface="JetBrains Mono" pitchFamily="34" charset="-122"/>
                <a:cs typeface="JetBrains Mono" pitchFamily="34" charset="-120"/>
              </a:rPr>
              <a:t>ML PROJECT</a:t>
            </a:r>
          </a:p>
          <a:p>
            <a:pPr marL="0" indent="0">
              <a:buNone/>
            </a:pPr>
            <a:r>
              <a:rPr lang="en-US" sz="1400" kern="0" spc="116" dirty="0">
                <a:solidFill>
                  <a:srgbClr val="888080"/>
                </a:solidFill>
                <a:latin typeface="JetBrains Mono" pitchFamily="34" charset="0"/>
                <a:ea typeface="JetBrains Mono" pitchFamily="34" charset="-122"/>
                <a:cs typeface="JetBrains Mono" pitchFamily="34" charset="-120"/>
              </a:rPr>
              <a:t>MAY 2026</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0">
    <p:bg>
      <p:bgPr>
        <a:solidFill>
          <a:srgbClr val="F5F1E8"/>
        </a:solidFill>
        <a:effectLst/>
      </p:bgPr>
    </p:bg>
    <p:spTree>
      <p:nvGrpSpPr>
        <p:cNvPr id="1" name=""/>
        <p:cNvGrpSpPr/>
        <p:nvPr/>
      </p:nvGrpSpPr>
      <p:grpSpPr>
        <a:xfrm>
          <a:off x="0" y="0"/>
          <a:ext cx="0" cy="0"/>
          <a:chOff x="0" y="0"/>
          <a:chExt cx="0" cy="0"/>
        </a:xfrm>
      </p:grpSpPr>
      <p:sp>
        <p:nvSpPr>
          <p:cNvPr id="2" name="Shape 0"/>
          <p:cNvSpPr/>
          <p:nvPr/>
        </p:nvSpPr>
        <p:spPr>
          <a:xfrm>
            <a:off x="0" y="0"/>
            <a:ext cx="2095500" cy="10287000"/>
          </a:xfrm>
          <a:prstGeom prst="rect">
            <a:avLst/>
          </a:prstGeom>
          <a:solidFill>
            <a:srgbClr val="EBE5D6"/>
          </a:solidFill>
          <a:ln/>
        </p:spPr>
        <p:txBody>
          <a:bodyPr/>
          <a:lstStyle/>
          <a:p>
            <a:endParaRPr lang="he-IL"/>
          </a:p>
        </p:txBody>
      </p:sp>
      <p:sp>
        <p:nvSpPr>
          <p:cNvPr id="3" name="Shape 1"/>
          <p:cNvSpPr/>
          <p:nvPr/>
        </p:nvSpPr>
        <p:spPr>
          <a:xfrm>
            <a:off x="2085975" y="0"/>
            <a:ext cx="9525" cy="10287000"/>
          </a:xfrm>
          <a:prstGeom prst="rect">
            <a:avLst/>
          </a:prstGeom>
          <a:solidFill>
            <a:srgbClr val="D4CDBC"/>
          </a:solidFill>
          <a:ln/>
        </p:spPr>
        <p:txBody>
          <a:bodyPr/>
          <a:lstStyle/>
          <a:p>
            <a:endParaRPr lang="he-IL"/>
          </a:p>
        </p:txBody>
      </p:sp>
      <p:sp>
        <p:nvSpPr>
          <p:cNvPr id="19" name="Text 17"/>
          <p:cNvSpPr/>
          <p:nvPr/>
        </p:nvSpPr>
        <p:spPr>
          <a:xfrm>
            <a:off x="2781300" y="571500"/>
            <a:ext cx="15187041" cy="171450"/>
          </a:xfrm>
          <a:prstGeom prst="rect">
            <a:avLst/>
          </a:prstGeom>
          <a:noFill/>
          <a:ln/>
        </p:spPr>
        <p:txBody>
          <a:bodyPr wrap="square" lIns="25400" tIns="25400" rIns="25400" bIns="25400" rtlCol="0" anchor="ctr">
            <a:noAutofit/>
          </a:bodyPr>
          <a:lstStyle/>
          <a:p>
            <a:pPr marL="0" indent="0" algn="l">
              <a:buNone/>
            </a:pPr>
            <a:r>
              <a:rPr lang="en-US" sz="1400" kern="0" spc="182" dirty="0">
                <a:solidFill>
                  <a:srgbClr val="888080"/>
                </a:solidFill>
                <a:latin typeface="JetBrains Mono" pitchFamily="34" charset="0"/>
                <a:ea typeface="JetBrains Mono" pitchFamily="34" charset="-122"/>
                <a:cs typeface="JetBrains Mono" pitchFamily="34" charset="-120"/>
              </a:rPr>
              <a:t>EDA · TARGET × HOUR × ROUTE LENGTH</a:t>
            </a:r>
            <a:endParaRPr lang="en-US" sz="1400" dirty="0"/>
          </a:p>
        </p:txBody>
      </p:sp>
      <p:sp>
        <p:nvSpPr>
          <p:cNvPr id="20" name="Text 18"/>
          <p:cNvSpPr/>
          <p:nvPr/>
        </p:nvSpPr>
        <p:spPr>
          <a:xfrm>
            <a:off x="2781300" y="914400"/>
            <a:ext cx="15187041" cy="643830"/>
          </a:xfrm>
          <a:prstGeom prst="rect">
            <a:avLst/>
          </a:prstGeom>
          <a:noFill/>
          <a:ln/>
        </p:spPr>
        <p:txBody>
          <a:bodyPr wrap="square" lIns="25400" tIns="25400" rIns="25400" bIns="25400" rtlCol="0" anchor="t">
            <a:normAutofit fontScale="92500" lnSpcReduction="20000"/>
          </a:bodyPr>
          <a:lstStyle/>
          <a:p>
            <a:pPr marL="0" indent="0" algn="l">
              <a:lnSpc>
                <a:spcPct val="106000"/>
              </a:lnSpc>
              <a:buNone/>
            </a:pPr>
            <a:r>
              <a:rPr lang="en-US" sz="4500" kern="0" spc="-81" dirty="0">
                <a:solidFill>
                  <a:srgbClr val="1A1A1A"/>
                </a:solidFill>
                <a:latin typeface="Instrument Serif" pitchFamily="34" charset="0"/>
                <a:ea typeface="Instrument Serif" pitchFamily="34" charset="-122"/>
                <a:cs typeface="Instrument Serif" pitchFamily="34" charset="-120"/>
              </a:rPr>
              <a:t>The long-route </a:t>
            </a:r>
            <a:r>
              <a:rPr lang="en-US" sz="4500" i="1" kern="0" spc="-81" dirty="0">
                <a:solidFill>
                  <a:srgbClr val="C25A2A"/>
                </a:solidFill>
                <a:latin typeface="Instrument Serif" pitchFamily="34" charset="0"/>
                <a:ea typeface="Instrument Serif" pitchFamily="34" charset="-122"/>
                <a:cs typeface="Instrument Serif" pitchFamily="34" charset="-120"/>
              </a:rPr>
              <a:t>night flip.</a:t>
            </a:r>
            <a:endParaRPr lang="en-US" sz="4500" dirty="0"/>
          </a:p>
        </p:txBody>
      </p:sp>
      <p:sp>
        <p:nvSpPr>
          <p:cNvPr id="21" name="Shape 19"/>
          <p:cNvSpPr/>
          <p:nvPr/>
        </p:nvSpPr>
        <p:spPr>
          <a:xfrm>
            <a:off x="2781300" y="1748729"/>
            <a:ext cx="12753975" cy="4356341"/>
          </a:xfrm>
          <a:prstGeom prst="rect">
            <a:avLst/>
          </a:prstGeom>
          <a:solidFill>
            <a:srgbClr val="FFFFFF"/>
          </a:solidFill>
          <a:ln w="9525">
            <a:solidFill>
              <a:srgbClr val="D4CDBC"/>
            </a:solidFill>
            <a:prstDash val="solid"/>
          </a:ln>
        </p:spPr>
        <p:txBody>
          <a:bodyPr/>
          <a:lstStyle/>
          <a:p>
            <a:endParaRPr lang="he-IL"/>
          </a:p>
        </p:txBody>
      </p:sp>
      <p:sp>
        <p:nvSpPr>
          <p:cNvPr id="22" name="Text 20"/>
          <p:cNvSpPr/>
          <p:nvPr/>
        </p:nvSpPr>
        <p:spPr>
          <a:xfrm>
            <a:off x="2905125" y="1872555"/>
            <a:ext cx="3504431" cy="161925"/>
          </a:xfrm>
          <a:prstGeom prst="rect">
            <a:avLst/>
          </a:prstGeom>
          <a:noFill/>
          <a:ln/>
        </p:spPr>
        <p:txBody>
          <a:bodyPr wrap="square" lIns="25400" tIns="25400" rIns="25400" bIns="25400" rtlCol="0" anchor="t">
            <a:normAutofit lnSpcReduction="10000"/>
          </a:bodyPr>
          <a:lstStyle/>
          <a:p>
            <a:pPr marL="0" indent="0" algn="l">
              <a:buNone/>
            </a:pPr>
            <a:r>
              <a:rPr lang="en-US" sz="750" kern="0" spc="120" dirty="0">
                <a:solidFill>
                  <a:srgbClr val="888080"/>
                </a:solidFill>
                <a:latin typeface="JetBrains Mono" pitchFamily="34" charset="0"/>
                <a:ea typeface="JetBrains Mono" pitchFamily="34" charset="-122"/>
                <a:cs typeface="JetBrains Mono" pitchFamily="34" charset="-120"/>
              </a:rPr>
              <a:t>FIG · TARGET DISTRIBUTION BY HOUR · LONG ROUTES</a:t>
            </a:r>
            <a:endParaRPr lang="en-US" sz="750" dirty="0"/>
          </a:p>
        </p:txBody>
      </p:sp>
      <p:sp>
        <p:nvSpPr>
          <p:cNvPr id="23" name="Text 21"/>
          <p:cNvSpPr/>
          <p:nvPr/>
        </p:nvSpPr>
        <p:spPr>
          <a:xfrm>
            <a:off x="10891986" y="1872555"/>
            <a:ext cx="727770" cy="161925"/>
          </a:xfrm>
          <a:prstGeom prst="rect">
            <a:avLst/>
          </a:prstGeom>
          <a:noFill/>
          <a:ln/>
        </p:spPr>
        <p:txBody>
          <a:bodyPr wrap="square" lIns="25400" tIns="25400" rIns="25400" bIns="25400" rtlCol="0" anchor="t">
            <a:normAutofit lnSpcReduction="10000"/>
          </a:bodyPr>
          <a:lstStyle/>
          <a:p>
            <a:pPr marL="0" indent="0" algn="l">
              <a:buNone/>
            </a:pPr>
            <a:r>
              <a:rPr lang="en-US" sz="750" kern="0" spc="120" dirty="0">
                <a:solidFill>
                  <a:srgbClr val="888080"/>
                </a:solidFill>
                <a:latin typeface="JetBrains Mono" pitchFamily="34" charset="0"/>
                <a:ea typeface="JetBrains Mono" pitchFamily="34" charset="-122"/>
                <a:cs typeface="JetBrains Mono" pitchFamily="34" charset="-120"/>
              </a:rPr>
              <a:t>STACKED %</a:t>
            </a:r>
            <a:endParaRPr lang="en-US" sz="750" dirty="0"/>
          </a:p>
        </p:txBody>
      </p:sp>
      <p:sp>
        <p:nvSpPr>
          <p:cNvPr id="24" name="Shape 22"/>
          <p:cNvSpPr/>
          <p:nvPr/>
        </p:nvSpPr>
        <p:spPr>
          <a:xfrm>
            <a:off x="2905126" y="2072580"/>
            <a:ext cx="12471790" cy="3922209"/>
          </a:xfrm>
          <a:prstGeom prst="rect">
            <a:avLst/>
          </a:prstGeom>
          <a:solidFill>
            <a:srgbClr val="FFFFFF"/>
          </a:solidFill>
          <a:ln/>
        </p:spPr>
        <p:txBody>
          <a:bodyPr/>
          <a:lstStyle/>
          <a:p>
            <a:endParaRPr lang="he-IL"/>
          </a:p>
        </p:txBody>
      </p:sp>
      <p:pic>
        <p:nvPicPr>
          <p:cNvPr id="25" name="Image 0" descr="preencoded.png"/>
          <p:cNvPicPr>
            <a:picLocks noChangeAspect="1"/>
          </p:cNvPicPr>
          <p:nvPr/>
        </p:nvPicPr>
        <p:blipFill>
          <a:blip r:embed="rId3"/>
          <a:srcRect l="739" t="1480" r="305" b="2349"/>
          <a:stretch>
            <a:fillRect/>
          </a:stretch>
        </p:blipFill>
        <p:spPr>
          <a:xfrm>
            <a:off x="2905125" y="2065157"/>
            <a:ext cx="12347966" cy="3993348"/>
          </a:xfrm>
          <a:prstGeom prst="rect">
            <a:avLst/>
          </a:prstGeom>
        </p:spPr>
      </p:pic>
      <p:sp>
        <p:nvSpPr>
          <p:cNvPr id="26" name="Shape 23"/>
          <p:cNvSpPr/>
          <p:nvPr/>
        </p:nvSpPr>
        <p:spPr>
          <a:xfrm>
            <a:off x="2781300" y="6330792"/>
            <a:ext cx="4751306" cy="1286917"/>
          </a:xfrm>
          <a:prstGeom prst="rect">
            <a:avLst/>
          </a:prstGeom>
          <a:solidFill>
            <a:srgbClr val="FFFFFF"/>
          </a:solidFill>
          <a:ln w="9525">
            <a:solidFill>
              <a:srgbClr val="D4CDBC"/>
            </a:solidFill>
            <a:prstDash val="solid"/>
          </a:ln>
        </p:spPr>
        <p:txBody>
          <a:bodyPr/>
          <a:lstStyle/>
          <a:p>
            <a:endParaRPr lang="he-IL"/>
          </a:p>
        </p:txBody>
      </p:sp>
      <p:sp>
        <p:nvSpPr>
          <p:cNvPr id="27" name="Text 24"/>
          <p:cNvSpPr/>
          <p:nvPr/>
        </p:nvSpPr>
        <p:spPr>
          <a:xfrm>
            <a:off x="3019424" y="6485472"/>
            <a:ext cx="5229896" cy="161925"/>
          </a:xfrm>
          <a:prstGeom prst="rect">
            <a:avLst/>
          </a:prstGeom>
          <a:noFill/>
          <a:ln/>
        </p:spPr>
        <p:txBody>
          <a:bodyPr wrap="square" lIns="25400" tIns="25400" rIns="25400" bIns="25400" rtlCol="0" anchor="t">
            <a:noAutofit/>
          </a:bodyPr>
          <a:lstStyle/>
          <a:p>
            <a:pPr marL="0" indent="0" algn="l">
              <a:buNone/>
            </a:pPr>
            <a:r>
              <a:rPr lang="en-US" sz="1400" b="1" kern="0" spc="135" dirty="0">
                <a:solidFill>
                  <a:srgbClr val="C25A2A"/>
                </a:solidFill>
                <a:latin typeface="JetBrains Mono" pitchFamily="34" charset="0"/>
                <a:ea typeface="JetBrains Mono" pitchFamily="34" charset="-122"/>
                <a:cs typeface="JetBrains Mono" pitchFamily="34" charset="-120"/>
              </a:rPr>
              <a:t>3 AM</a:t>
            </a:r>
            <a:endParaRPr lang="en-US" sz="1400" dirty="0"/>
          </a:p>
        </p:txBody>
      </p:sp>
      <p:sp>
        <p:nvSpPr>
          <p:cNvPr id="28" name="Text 25"/>
          <p:cNvSpPr/>
          <p:nvPr/>
        </p:nvSpPr>
        <p:spPr>
          <a:xfrm>
            <a:off x="3019424" y="6768942"/>
            <a:ext cx="5229896" cy="315367"/>
          </a:xfrm>
          <a:prstGeom prst="rect">
            <a:avLst/>
          </a:prstGeom>
          <a:noFill/>
          <a:ln/>
        </p:spPr>
        <p:txBody>
          <a:bodyPr wrap="square" lIns="25400" tIns="25400" rIns="25400" bIns="25400" rtlCol="0" anchor="t">
            <a:normAutofit fontScale="92500" lnSpcReduction="20000"/>
          </a:bodyPr>
          <a:lstStyle/>
          <a:p>
            <a:pPr marL="0" indent="0" algn="l">
              <a:lnSpc>
                <a:spcPct val="112000"/>
              </a:lnSpc>
              <a:buNone/>
            </a:pPr>
            <a:r>
              <a:rPr lang="en-US" sz="1950" kern="0" spc="-16" dirty="0">
                <a:solidFill>
                  <a:srgbClr val="1A1A1A"/>
                </a:solidFill>
                <a:latin typeface="Instrument Serif" pitchFamily="34" charset="0"/>
                <a:ea typeface="Instrument Serif" pitchFamily="34" charset="-122"/>
                <a:cs typeface="Instrument Serif" pitchFamily="34" charset="-120"/>
              </a:rPr>
              <a:t>Empty roads, generous schedules.</a:t>
            </a:r>
            <a:endParaRPr lang="en-US" sz="1950" dirty="0"/>
          </a:p>
        </p:txBody>
      </p:sp>
      <p:sp>
        <p:nvSpPr>
          <p:cNvPr id="29" name="Text 26"/>
          <p:cNvSpPr/>
          <p:nvPr/>
        </p:nvSpPr>
        <p:spPr>
          <a:xfrm>
            <a:off x="3019424" y="7141459"/>
            <a:ext cx="5229896" cy="295275"/>
          </a:xfrm>
          <a:prstGeom prst="rect">
            <a:avLst/>
          </a:prstGeom>
          <a:noFill/>
          <a:ln/>
        </p:spPr>
        <p:txBody>
          <a:bodyPr wrap="square" lIns="25400" tIns="25400" rIns="25400" bIns="25400" rtlCol="0" anchor="t">
            <a:normAutofit fontScale="92500" lnSpcReduction="20000"/>
          </a:bodyPr>
          <a:lstStyle/>
          <a:p>
            <a:pPr marL="0" indent="0" algn="l">
              <a:lnSpc>
                <a:spcPct val="150000"/>
              </a:lnSpc>
              <a:buNone/>
            </a:pPr>
            <a:r>
              <a:rPr lang="en-US" sz="750" dirty="0">
                <a:solidFill>
                  <a:srgbClr val="FFFFFF"/>
                </a:solidFill>
                <a:highlight>
                  <a:srgbClr val="2A6FB8"/>
                </a:highlight>
                <a:latin typeface="JetBrains Mono" pitchFamily="34" charset="0"/>
                <a:ea typeface="JetBrains Mono" pitchFamily="34" charset="-122"/>
                <a:cs typeface="JetBrains Mono" pitchFamily="34" charset="-120"/>
              </a:rPr>
              <a:t>EARLY </a:t>
            </a:r>
            <a:r>
              <a:rPr lang="en-US" sz="1400" dirty="0">
                <a:solidFill>
                  <a:srgbClr val="4A4A4A"/>
                </a:solidFill>
                <a:latin typeface="Inter" pitchFamily="34" charset="0"/>
                <a:ea typeface="Inter" pitchFamily="34" charset="-122"/>
                <a:cs typeface="Inter" pitchFamily="34" charset="-120"/>
              </a:rPr>
              <a:t>63.3%</a:t>
            </a:r>
            <a:endParaRPr lang="en-US" sz="1200" dirty="0"/>
          </a:p>
        </p:txBody>
      </p:sp>
      <p:sp>
        <p:nvSpPr>
          <p:cNvPr id="30" name="Shape 27"/>
          <p:cNvSpPr/>
          <p:nvPr/>
        </p:nvSpPr>
        <p:spPr>
          <a:xfrm>
            <a:off x="7682640" y="6343195"/>
            <a:ext cx="4264796" cy="1286917"/>
          </a:xfrm>
          <a:prstGeom prst="rect">
            <a:avLst/>
          </a:prstGeom>
          <a:solidFill>
            <a:srgbClr val="FFFFFF"/>
          </a:solidFill>
          <a:ln w="9525">
            <a:solidFill>
              <a:srgbClr val="D4CDBC"/>
            </a:solidFill>
            <a:prstDash val="solid"/>
          </a:ln>
        </p:spPr>
        <p:txBody>
          <a:bodyPr/>
          <a:lstStyle/>
          <a:p>
            <a:endParaRPr lang="he-IL"/>
          </a:p>
        </p:txBody>
      </p:sp>
      <p:sp>
        <p:nvSpPr>
          <p:cNvPr id="31" name="Text 28"/>
          <p:cNvSpPr/>
          <p:nvPr/>
        </p:nvSpPr>
        <p:spPr>
          <a:xfrm>
            <a:off x="7920764" y="6497875"/>
            <a:ext cx="5229896" cy="161925"/>
          </a:xfrm>
          <a:prstGeom prst="rect">
            <a:avLst/>
          </a:prstGeom>
          <a:noFill/>
          <a:ln/>
        </p:spPr>
        <p:txBody>
          <a:bodyPr wrap="square" lIns="25400" tIns="25400" rIns="25400" bIns="25400" rtlCol="0" anchor="t">
            <a:noAutofit/>
          </a:bodyPr>
          <a:lstStyle/>
          <a:p>
            <a:pPr marL="0" indent="0" algn="l">
              <a:buNone/>
            </a:pPr>
            <a:r>
              <a:rPr lang="en-US" sz="1400" b="1" kern="0" spc="135" dirty="0">
                <a:solidFill>
                  <a:srgbClr val="C25A2A"/>
                </a:solidFill>
                <a:latin typeface="JetBrains Mono" pitchFamily="34" charset="0"/>
                <a:ea typeface="JetBrains Mono" pitchFamily="34" charset="-122"/>
                <a:cs typeface="JetBrains Mono" pitchFamily="34" charset="-120"/>
              </a:rPr>
              <a:t>3–5 PM</a:t>
            </a:r>
            <a:endParaRPr lang="en-US" sz="1400" dirty="0"/>
          </a:p>
        </p:txBody>
      </p:sp>
      <p:sp>
        <p:nvSpPr>
          <p:cNvPr id="32" name="Text 29"/>
          <p:cNvSpPr/>
          <p:nvPr/>
        </p:nvSpPr>
        <p:spPr>
          <a:xfrm>
            <a:off x="7920764" y="6781345"/>
            <a:ext cx="5229896" cy="315367"/>
          </a:xfrm>
          <a:prstGeom prst="rect">
            <a:avLst/>
          </a:prstGeom>
          <a:noFill/>
          <a:ln/>
        </p:spPr>
        <p:txBody>
          <a:bodyPr wrap="square" lIns="25400" tIns="25400" rIns="25400" bIns="25400" rtlCol="0" anchor="t">
            <a:normAutofit fontScale="92500" lnSpcReduction="20000"/>
          </a:bodyPr>
          <a:lstStyle/>
          <a:p>
            <a:pPr marL="0" indent="0" algn="l">
              <a:lnSpc>
                <a:spcPct val="112000"/>
              </a:lnSpc>
              <a:buNone/>
            </a:pPr>
            <a:r>
              <a:rPr lang="en-US" sz="1950" kern="0" spc="-16" dirty="0">
                <a:solidFill>
                  <a:srgbClr val="1A1A1A"/>
                </a:solidFill>
                <a:latin typeface="Instrument Serif" pitchFamily="34" charset="0"/>
                <a:ea typeface="Instrument Serif" pitchFamily="34" charset="-122"/>
                <a:cs typeface="Instrument Serif" pitchFamily="34" charset="-120"/>
              </a:rPr>
              <a:t>Peak passenger load.</a:t>
            </a:r>
            <a:endParaRPr lang="en-US" sz="1950" dirty="0"/>
          </a:p>
        </p:txBody>
      </p:sp>
      <p:sp>
        <p:nvSpPr>
          <p:cNvPr id="33" name="Text 30"/>
          <p:cNvSpPr/>
          <p:nvPr/>
        </p:nvSpPr>
        <p:spPr>
          <a:xfrm>
            <a:off x="7920764" y="7153862"/>
            <a:ext cx="5229896" cy="295275"/>
          </a:xfrm>
          <a:prstGeom prst="rect">
            <a:avLst/>
          </a:prstGeom>
          <a:noFill/>
          <a:ln/>
        </p:spPr>
        <p:txBody>
          <a:bodyPr wrap="square" lIns="25400" tIns="25400" rIns="25400" bIns="25400" rtlCol="0" anchor="t">
            <a:normAutofit fontScale="92500" lnSpcReduction="20000"/>
          </a:bodyPr>
          <a:lstStyle/>
          <a:p>
            <a:pPr marL="0" indent="0" algn="l">
              <a:lnSpc>
                <a:spcPct val="150000"/>
              </a:lnSpc>
              <a:buNone/>
            </a:pPr>
            <a:r>
              <a:rPr lang="en-US" sz="750" dirty="0">
                <a:solidFill>
                  <a:srgbClr val="FFFFFF"/>
                </a:solidFill>
                <a:highlight>
                  <a:srgbClr val="B73A3A"/>
                </a:highlight>
                <a:latin typeface="JetBrains Mono" pitchFamily="34" charset="0"/>
                <a:ea typeface="JetBrains Mono" pitchFamily="34" charset="-122"/>
                <a:cs typeface="JetBrains Mono" pitchFamily="34" charset="-120"/>
              </a:rPr>
              <a:t>DELAY </a:t>
            </a:r>
            <a:r>
              <a:rPr lang="en-US" sz="1400" dirty="0">
                <a:solidFill>
                  <a:srgbClr val="4A4A4A"/>
                </a:solidFill>
                <a:latin typeface="Inter" pitchFamily="34" charset="0"/>
                <a:ea typeface="Inter" pitchFamily="34" charset="-122"/>
                <a:cs typeface="Inter" pitchFamily="34" charset="-120"/>
              </a:rPr>
              <a:t>79.4 / 79.3 / 74.5%</a:t>
            </a:r>
            <a:endParaRPr lang="en-US" sz="1200" dirty="0"/>
          </a:p>
        </p:txBody>
      </p:sp>
      <p:sp>
        <p:nvSpPr>
          <p:cNvPr id="34" name="Shape 31"/>
          <p:cNvSpPr/>
          <p:nvPr/>
        </p:nvSpPr>
        <p:spPr>
          <a:xfrm>
            <a:off x="12345876" y="6359367"/>
            <a:ext cx="5553819" cy="1258342"/>
          </a:xfrm>
          <a:prstGeom prst="rect">
            <a:avLst/>
          </a:prstGeom>
          <a:solidFill>
            <a:srgbClr val="1A1A1A"/>
          </a:solidFill>
          <a:ln w="9525">
            <a:solidFill>
              <a:srgbClr val="1A1A1A"/>
            </a:solidFill>
            <a:prstDash val="solid"/>
          </a:ln>
        </p:spPr>
        <p:txBody>
          <a:bodyPr/>
          <a:lstStyle/>
          <a:p>
            <a:endParaRPr lang="he-IL"/>
          </a:p>
        </p:txBody>
      </p:sp>
      <p:sp>
        <p:nvSpPr>
          <p:cNvPr id="35" name="Text 32"/>
          <p:cNvSpPr/>
          <p:nvPr/>
        </p:nvSpPr>
        <p:spPr>
          <a:xfrm>
            <a:off x="12584001" y="6514047"/>
            <a:ext cx="5229896" cy="161925"/>
          </a:xfrm>
          <a:prstGeom prst="rect">
            <a:avLst/>
          </a:prstGeom>
          <a:noFill/>
          <a:ln/>
        </p:spPr>
        <p:txBody>
          <a:bodyPr wrap="square" lIns="25400" tIns="25400" rIns="25400" bIns="25400" rtlCol="0" anchor="t">
            <a:noAutofit/>
          </a:bodyPr>
          <a:lstStyle/>
          <a:p>
            <a:pPr marL="0" indent="0" algn="l">
              <a:buNone/>
            </a:pPr>
            <a:r>
              <a:rPr lang="en-US" sz="1400" b="1" kern="0" spc="135" dirty="0">
                <a:solidFill>
                  <a:srgbClr val="C25A2A"/>
                </a:solidFill>
                <a:latin typeface="JetBrains Mono" pitchFamily="34" charset="0"/>
                <a:ea typeface="JetBrains Mono" pitchFamily="34" charset="-122"/>
                <a:cs typeface="JetBrains Mono" pitchFamily="34" charset="-120"/>
              </a:rPr>
              <a:t>INSIGHT</a:t>
            </a:r>
            <a:endParaRPr lang="en-US" sz="1400" dirty="0"/>
          </a:p>
        </p:txBody>
      </p:sp>
      <p:sp>
        <p:nvSpPr>
          <p:cNvPr id="36" name="Text 33"/>
          <p:cNvSpPr/>
          <p:nvPr/>
        </p:nvSpPr>
        <p:spPr>
          <a:xfrm>
            <a:off x="12584000" y="6797517"/>
            <a:ext cx="5420871" cy="414636"/>
          </a:xfrm>
          <a:prstGeom prst="rect">
            <a:avLst/>
          </a:prstGeom>
          <a:noFill/>
          <a:ln/>
        </p:spPr>
        <p:txBody>
          <a:bodyPr wrap="square" lIns="25400" tIns="25400" rIns="25400" bIns="25400" rtlCol="0" anchor="t">
            <a:normAutofit lnSpcReduction="10000"/>
          </a:bodyPr>
          <a:lstStyle/>
          <a:p>
            <a:pPr marL="0" indent="0" algn="l">
              <a:lnSpc>
                <a:spcPct val="112000"/>
              </a:lnSpc>
              <a:buNone/>
            </a:pPr>
            <a:r>
              <a:rPr lang="en-US" sz="1950" kern="0" spc="-16" dirty="0">
                <a:solidFill>
                  <a:srgbClr val="F5F1E8"/>
                </a:solidFill>
                <a:latin typeface="Instrument Serif" pitchFamily="34" charset="0"/>
                <a:ea typeface="Instrument Serif" pitchFamily="34" charset="-122"/>
                <a:cs typeface="Instrument Serif" pitchFamily="34" charset="-120"/>
              </a:rPr>
              <a:t>Lateness isn't a route property — it's </a:t>
            </a:r>
            <a:r>
              <a:rPr lang="en-US" sz="1950" i="1" kern="0" spc="-16" dirty="0">
                <a:solidFill>
                  <a:srgbClr val="C25A2A"/>
                </a:solidFill>
                <a:latin typeface="Instrument Serif" pitchFamily="34" charset="0"/>
                <a:ea typeface="Instrument Serif" pitchFamily="34" charset="-122"/>
                <a:cs typeface="Instrument Serif" pitchFamily="34" charset="-120"/>
              </a:rPr>
              <a:t>route × hour</a:t>
            </a:r>
            <a:endParaRPr lang="en-US" sz="1950" dirty="0"/>
          </a:p>
        </p:txBody>
      </p:sp>
      <p:sp>
        <p:nvSpPr>
          <p:cNvPr id="37" name="Text 34"/>
          <p:cNvSpPr/>
          <p:nvPr/>
        </p:nvSpPr>
        <p:spPr>
          <a:xfrm>
            <a:off x="12585111" y="7174229"/>
            <a:ext cx="5229896" cy="266700"/>
          </a:xfrm>
          <a:prstGeom prst="rect">
            <a:avLst/>
          </a:prstGeom>
          <a:noFill/>
          <a:ln/>
        </p:spPr>
        <p:txBody>
          <a:bodyPr wrap="square" lIns="25400" tIns="25400" rIns="25400" bIns="25400" rtlCol="0" anchor="t">
            <a:noAutofit/>
          </a:bodyPr>
          <a:lstStyle/>
          <a:p>
            <a:pPr marL="0" indent="0" algn="l">
              <a:lnSpc>
                <a:spcPct val="150000"/>
              </a:lnSpc>
              <a:buNone/>
            </a:pPr>
            <a:r>
              <a:rPr lang="en-US" sz="1400" dirty="0">
                <a:solidFill>
                  <a:srgbClr val="FFFFFF">
                    <a:alpha val="78000"/>
                  </a:srgbClr>
                </a:solidFill>
                <a:latin typeface="Inter" pitchFamily="34" charset="0"/>
                <a:ea typeface="Inter" pitchFamily="34" charset="-122"/>
                <a:cs typeface="Inter" pitchFamily="34" charset="-120"/>
              </a:rPr>
              <a:t>63% early to 79% late within 12 hours, on the same routes.</a:t>
            </a:r>
            <a:endParaRPr lang="en-US" sz="1400" dirty="0"/>
          </a:p>
        </p:txBody>
      </p:sp>
      <p:sp>
        <p:nvSpPr>
          <p:cNvPr id="38" name="Text 16">
            <a:extLst>
              <a:ext uri="{FF2B5EF4-FFF2-40B4-BE49-F238E27FC236}">
                <a16:creationId xmlns:a16="http://schemas.microsoft.com/office/drawing/2014/main" id="{5F473C0D-0273-9A82-E96D-3603A83C3A02}"/>
              </a:ext>
            </a:extLst>
          </p:cNvPr>
          <p:cNvSpPr/>
          <p:nvPr/>
        </p:nvSpPr>
        <p:spPr>
          <a:xfrm>
            <a:off x="266700" y="9410700"/>
            <a:ext cx="1628775" cy="342900"/>
          </a:xfrm>
          <a:prstGeom prst="rect">
            <a:avLst/>
          </a:prstGeom>
          <a:noFill/>
          <a:ln/>
        </p:spPr>
        <p:txBody>
          <a:bodyPr wrap="square" lIns="25400" tIns="25400" rIns="25400" bIns="25400" rtlCol="0" anchor="t">
            <a:noAutofit/>
          </a:bodyPr>
          <a:lstStyle/>
          <a:p>
            <a:pPr>
              <a:lnSpc>
                <a:spcPct val="160000"/>
              </a:lnSpc>
            </a:pPr>
            <a:r>
              <a:rPr lang="en-US" sz="1400" b="1" kern="0" spc="105" dirty="0">
                <a:solidFill>
                  <a:srgbClr val="1A1A1A"/>
                </a:solidFill>
                <a:latin typeface="JetBrains Mono" pitchFamily="34" charset="0"/>
                <a:ea typeface="JetBrains Mono" pitchFamily="34" charset="-122"/>
                <a:cs typeface="JetBrains Mono" pitchFamily="34" charset="-120"/>
              </a:rPr>
              <a:t>12 / 34</a:t>
            </a:r>
            <a:endParaRPr lang="en-US" sz="1400" dirty="0"/>
          </a:p>
        </p:txBody>
      </p:sp>
      <p:sp>
        <p:nvSpPr>
          <p:cNvPr id="39" name="Text 4">
            <a:extLst>
              <a:ext uri="{FF2B5EF4-FFF2-40B4-BE49-F238E27FC236}">
                <a16:creationId xmlns:a16="http://schemas.microsoft.com/office/drawing/2014/main" id="{77A3A467-9E2E-3BF4-26A4-3EE8EFEA8A4A}"/>
              </a:ext>
            </a:extLst>
          </p:cNvPr>
          <p:cNvSpPr/>
          <p:nvPr/>
        </p:nvSpPr>
        <p:spPr>
          <a:xfrm>
            <a:off x="228063" y="1524367"/>
            <a:ext cx="372012" cy="200025"/>
          </a:xfrm>
          <a:prstGeom prst="rect">
            <a:avLst/>
          </a:prstGeom>
          <a:noFill/>
          <a:ln/>
        </p:spPr>
        <p:txBody>
          <a:bodyPr wrap="square" lIns="25400" tIns="25400" rIns="25400" bIns="25400" rtlCol="0" anchor="t">
            <a:noAutofit/>
          </a:bodyPr>
          <a:lstStyle/>
          <a:p>
            <a:pPr marL="0" indent="0" algn="l">
              <a:lnSpc>
                <a:spcPct val="130000"/>
              </a:lnSpc>
              <a:buNone/>
            </a:pPr>
            <a:r>
              <a:rPr lang="en-US" sz="1400" kern="0" spc="21" dirty="0">
                <a:solidFill>
                  <a:srgbClr val="888080"/>
                </a:solidFill>
                <a:latin typeface="Inter" pitchFamily="34" charset="0"/>
                <a:ea typeface="Inter" pitchFamily="34" charset="-122"/>
              </a:rPr>
              <a:t>01</a:t>
            </a:r>
          </a:p>
        </p:txBody>
      </p:sp>
      <p:sp>
        <p:nvSpPr>
          <p:cNvPr id="40" name="Text 5">
            <a:extLst>
              <a:ext uri="{FF2B5EF4-FFF2-40B4-BE49-F238E27FC236}">
                <a16:creationId xmlns:a16="http://schemas.microsoft.com/office/drawing/2014/main" id="{B8C94494-8B60-DCA9-F77C-CCB7D28594B5}"/>
              </a:ext>
            </a:extLst>
          </p:cNvPr>
          <p:cNvSpPr/>
          <p:nvPr/>
        </p:nvSpPr>
        <p:spPr>
          <a:xfrm>
            <a:off x="523875" y="1522975"/>
            <a:ext cx="876300" cy="476251"/>
          </a:xfrm>
          <a:prstGeom prst="rect">
            <a:avLst/>
          </a:prstGeom>
          <a:noFill/>
          <a:ln/>
        </p:spPr>
        <p:txBody>
          <a:bodyPr wrap="square" lIns="25400" tIns="25400" rIns="25400" bIns="25400" rtlCol="0" anchor="t">
            <a:normAutofit/>
          </a:bodyPr>
          <a:lstStyle/>
          <a:p>
            <a:pPr marL="0" indent="0" algn="l">
              <a:lnSpc>
                <a:spcPct val="130000"/>
              </a:lnSpc>
              <a:buNone/>
            </a:pPr>
            <a:r>
              <a:rPr lang="en-US" sz="1400" kern="0" spc="21" dirty="0">
                <a:solidFill>
                  <a:srgbClr val="888080"/>
                </a:solidFill>
                <a:latin typeface="Inter" pitchFamily="34" charset="0"/>
                <a:ea typeface="Inter" pitchFamily="34" charset="-122"/>
              </a:rPr>
              <a:t>Agenda</a:t>
            </a:r>
          </a:p>
        </p:txBody>
      </p:sp>
      <p:sp>
        <p:nvSpPr>
          <p:cNvPr id="41" name="Text 6">
            <a:extLst>
              <a:ext uri="{FF2B5EF4-FFF2-40B4-BE49-F238E27FC236}">
                <a16:creationId xmlns:a16="http://schemas.microsoft.com/office/drawing/2014/main" id="{68CEAB59-93C5-DA48-BABD-802C866878BD}"/>
              </a:ext>
            </a:extLst>
          </p:cNvPr>
          <p:cNvSpPr/>
          <p:nvPr/>
        </p:nvSpPr>
        <p:spPr>
          <a:xfrm>
            <a:off x="228063" y="1830953"/>
            <a:ext cx="372010" cy="194877"/>
          </a:xfrm>
          <a:prstGeom prst="rect">
            <a:avLst/>
          </a:prstGeom>
          <a:noFill/>
          <a:ln/>
        </p:spPr>
        <p:txBody>
          <a:bodyPr wrap="square" lIns="25400" tIns="25400" rIns="25400" bIns="25400" rtlCol="0" anchor="t">
            <a:noAutofit/>
          </a:bodyPr>
          <a:lstStyle/>
          <a:p>
            <a:pPr marL="0" indent="0" algn="l">
              <a:lnSpc>
                <a:spcPct val="130000"/>
              </a:lnSpc>
              <a:buNone/>
            </a:pPr>
            <a:r>
              <a:rPr lang="en-US" sz="1400" kern="0" spc="21" dirty="0">
                <a:solidFill>
                  <a:srgbClr val="888080"/>
                </a:solidFill>
                <a:latin typeface="Inter" pitchFamily="34" charset="0"/>
                <a:ea typeface="Inter" pitchFamily="34" charset="-122"/>
              </a:rPr>
              <a:t>02</a:t>
            </a:r>
          </a:p>
        </p:txBody>
      </p:sp>
      <p:sp>
        <p:nvSpPr>
          <p:cNvPr id="42" name="Text 8">
            <a:extLst>
              <a:ext uri="{FF2B5EF4-FFF2-40B4-BE49-F238E27FC236}">
                <a16:creationId xmlns:a16="http://schemas.microsoft.com/office/drawing/2014/main" id="{458BC3C8-2C68-08CC-63BF-260B11352B6C}"/>
              </a:ext>
            </a:extLst>
          </p:cNvPr>
          <p:cNvSpPr/>
          <p:nvPr/>
        </p:nvSpPr>
        <p:spPr>
          <a:xfrm>
            <a:off x="230504" y="2152895"/>
            <a:ext cx="302895" cy="141422"/>
          </a:xfrm>
          <a:prstGeom prst="rect">
            <a:avLst/>
          </a:prstGeom>
          <a:noFill/>
          <a:ln/>
        </p:spPr>
        <p:txBody>
          <a:bodyPr wrap="square" lIns="25400" tIns="25400" rIns="25400" bIns="25400" rtlCol="0" anchor="t">
            <a:noAutofit/>
          </a:bodyPr>
          <a:lstStyle/>
          <a:p>
            <a:pPr marL="0" indent="0" algn="l">
              <a:lnSpc>
                <a:spcPct val="130000"/>
              </a:lnSpc>
              <a:buNone/>
            </a:pPr>
            <a:r>
              <a:rPr lang="en-US" sz="1400" b="1" kern="0" spc="21" dirty="0">
                <a:solidFill>
                  <a:srgbClr val="C25A2A"/>
                </a:solidFill>
                <a:latin typeface="JetBrains Mono" pitchFamily="34" charset="0"/>
                <a:ea typeface="JetBrains Mono" pitchFamily="34" charset="-122"/>
              </a:rPr>
              <a:t>03</a:t>
            </a:r>
          </a:p>
        </p:txBody>
      </p:sp>
      <p:sp>
        <p:nvSpPr>
          <p:cNvPr id="43" name="Text 9">
            <a:extLst>
              <a:ext uri="{FF2B5EF4-FFF2-40B4-BE49-F238E27FC236}">
                <a16:creationId xmlns:a16="http://schemas.microsoft.com/office/drawing/2014/main" id="{4A71D28E-4D3F-8166-CF80-FC249BF1E89E}"/>
              </a:ext>
            </a:extLst>
          </p:cNvPr>
          <p:cNvSpPr/>
          <p:nvPr/>
        </p:nvSpPr>
        <p:spPr>
          <a:xfrm>
            <a:off x="531240" y="2145027"/>
            <a:ext cx="1185416" cy="342476"/>
          </a:xfrm>
          <a:prstGeom prst="rect">
            <a:avLst/>
          </a:prstGeom>
          <a:noFill/>
          <a:ln/>
        </p:spPr>
        <p:txBody>
          <a:bodyPr wrap="square" lIns="25400" tIns="25400" rIns="25400" bIns="25400" rtlCol="0" anchor="t">
            <a:normAutofit/>
          </a:bodyPr>
          <a:lstStyle/>
          <a:p>
            <a:pPr marL="0" indent="0" algn="l">
              <a:lnSpc>
                <a:spcPct val="130000"/>
              </a:lnSpc>
              <a:buNone/>
            </a:pPr>
            <a:r>
              <a:rPr lang="en-US" sz="1400" kern="0" spc="21" dirty="0">
                <a:solidFill>
                  <a:srgbClr val="1A1A1A"/>
                </a:solidFill>
                <a:latin typeface="Inter" pitchFamily="34" charset="0"/>
                <a:ea typeface="Inter" pitchFamily="34" charset="-122"/>
              </a:rPr>
              <a:t>EDA</a:t>
            </a:r>
          </a:p>
        </p:txBody>
      </p:sp>
      <p:sp>
        <p:nvSpPr>
          <p:cNvPr id="44" name="Text 10">
            <a:extLst>
              <a:ext uri="{FF2B5EF4-FFF2-40B4-BE49-F238E27FC236}">
                <a16:creationId xmlns:a16="http://schemas.microsoft.com/office/drawing/2014/main" id="{E37CB72A-FDD3-4717-6749-F8E69F3B630D}"/>
              </a:ext>
            </a:extLst>
          </p:cNvPr>
          <p:cNvSpPr/>
          <p:nvPr/>
        </p:nvSpPr>
        <p:spPr>
          <a:xfrm>
            <a:off x="228062" y="2444125"/>
            <a:ext cx="305337" cy="172132"/>
          </a:xfrm>
          <a:prstGeom prst="rect">
            <a:avLst/>
          </a:prstGeom>
          <a:noFill/>
          <a:ln/>
        </p:spPr>
        <p:txBody>
          <a:bodyPr wrap="square" lIns="25400" tIns="25400" rIns="25400" bIns="25400" rtlCol="0" anchor="t">
            <a:noAutofit/>
          </a:bodyPr>
          <a:lstStyle/>
          <a:p>
            <a:pPr marL="0" indent="0" algn="l">
              <a:lnSpc>
                <a:spcPct val="130000"/>
              </a:lnSpc>
              <a:buNone/>
            </a:pPr>
            <a:r>
              <a:rPr lang="en-US" sz="1400" kern="0" spc="21" dirty="0">
                <a:solidFill>
                  <a:srgbClr val="888080"/>
                </a:solidFill>
                <a:latin typeface="JetBrains Mono" pitchFamily="34" charset="0"/>
                <a:ea typeface="JetBrains Mono" pitchFamily="34" charset="-122"/>
                <a:cs typeface="JetBrains Mono" pitchFamily="34" charset="-120"/>
              </a:rPr>
              <a:t>04</a:t>
            </a:r>
            <a:endParaRPr lang="en-US" sz="1400" dirty="0"/>
          </a:p>
        </p:txBody>
      </p:sp>
      <p:sp>
        <p:nvSpPr>
          <p:cNvPr id="45" name="Text 12">
            <a:extLst>
              <a:ext uri="{FF2B5EF4-FFF2-40B4-BE49-F238E27FC236}">
                <a16:creationId xmlns:a16="http://schemas.microsoft.com/office/drawing/2014/main" id="{89EA0A79-A284-BFC1-2CA0-EA9835639DA3}"/>
              </a:ext>
            </a:extLst>
          </p:cNvPr>
          <p:cNvSpPr/>
          <p:nvPr/>
        </p:nvSpPr>
        <p:spPr>
          <a:xfrm>
            <a:off x="228062" y="2750711"/>
            <a:ext cx="372011" cy="158880"/>
          </a:xfrm>
          <a:prstGeom prst="rect">
            <a:avLst/>
          </a:prstGeom>
          <a:noFill/>
          <a:ln/>
        </p:spPr>
        <p:txBody>
          <a:bodyPr wrap="square" lIns="25400" tIns="25400" rIns="25400" bIns="25400" rtlCol="0" anchor="t">
            <a:noAutofit/>
          </a:bodyPr>
          <a:lstStyle/>
          <a:p>
            <a:pPr marL="0" indent="0" algn="l">
              <a:lnSpc>
                <a:spcPct val="130000"/>
              </a:lnSpc>
              <a:buNone/>
            </a:pPr>
            <a:r>
              <a:rPr lang="en-US" sz="1400" kern="0" spc="21" dirty="0">
                <a:solidFill>
                  <a:srgbClr val="888080"/>
                </a:solidFill>
                <a:latin typeface="JetBrains Mono" pitchFamily="34" charset="0"/>
                <a:ea typeface="JetBrains Mono" pitchFamily="34" charset="-122"/>
                <a:cs typeface="JetBrains Mono" pitchFamily="34" charset="-120"/>
              </a:rPr>
              <a:t>05</a:t>
            </a:r>
            <a:endParaRPr lang="en-US" sz="1400" dirty="0"/>
          </a:p>
        </p:txBody>
      </p:sp>
      <p:sp>
        <p:nvSpPr>
          <p:cNvPr id="46" name="Text 13">
            <a:extLst>
              <a:ext uri="{FF2B5EF4-FFF2-40B4-BE49-F238E27FC236}">
                <a16:creationId xmlns:a16="http://schemas.microsoft.com/office/drawing/2014/main" id="{CD798525-06C1-8802-A63F-04C72D977F22}"/>
              </a:ext>
            </a:extLst>
          </p:cNvPr>
          <p:cNvSpPr/>
          <p:nvPr/>
        </p:nvSpPr>
        <p:spPr>
          <a:xfrm>
            <a:off x="533399" y="2725489"/>
            <a:ext cx="948333" cy="761256"/>
          </a:xfrm>
          <a:prstGeom prst="rect">
            <a:avLst/>
          </a:prstGeom>
          <a:noFill/>
          <a:ln/>
        </p:spPr>
        <p:txBody>
          <a:bodyPr wrap="square" lIns="25400" tIns="25400" rIns="25400" bIns="25400" rtlCol="0" anchor="t">
            <a:normAutofit/>
          </a:bodyPr>
          <a:lstStyle/>
          <a:p>
            <a:pPr marL="0" indent="0" algn="l">
              <a:lnSpc>
                <a:spcPct val="130000"/>
              </a:lnSpc>
              <a:buNone/>
            </a:pPr>
            <a:r>
              <a:rPr lang="en-US" sz="1400" kern="0" spc="21" dirty="0">
                <a:solidFill>
                  <a:srgbClr val="888080"/>
                </a:solidFill>
                <a:latin typeface="Inter" pitchFamily="34" charset="0"/>
                <a:ea typeface="Inter" pitchFamily="34" charset="-122"/>
                <a:cs typeface="Inter" pitchFamily="34" charset="-120"/>
              </a:rPr>
              <a:t>Modeling</a:t>
            </a:r>
            <a:endParaRPr lang="en-US" sz="1400" dirty="0"/>
          </a:p>
        </p:txBody>
      </p:sp>
      <p:sp>
        <p:nvSpPr>
          <p:cNvPr id="47" name="Text 14">
            <a:extLst>
              <a:ext uri="{FF2B5EF4-FFF2-40B4-BE49-F238E27FC236}">
                <a16:creationId xmlns:a16="http://schemas.microsoft.com/office/drawing/2014/main" id="{987A3520-CBCD-FE3C-F961-CBF5B281F0A5}"/>
              </a:ext>
            </a:extLst>
          </p:cNvPr>
          <p:cNvSpPr/>
          <p:nvPr/>
        </p:nvSpPr>
        <p:spPr>
          <a:xfrm>
            <a:off x="235683" y="3042056"/>
            <a:ext cx="372010" cy="191463"/>
          </a:xfrm>
          <a:prstGeom prst="rect">
            <a:avLst/>
          </a:prstGeom>
          <a:noFill/>
          <a:ln/>
        </p:spPr>
        <p:txBody>
          <a:bodyPr wrap="square" lIns="25400" tIns="25400" rIns="25400" bIns="25400" rtlCol="0" anchor="t">
            <a:noAutofit/>
          </a:bodyPr>
          <a:lstStyle/>
          <a:p>
            <a:pPr marL="0" indent="0" algn="l">
              <a:lnSpc>
                <a:spcPct val="130000"/>
              </a:lnSpc>
              <a:buNone/>
            </a:pPr>
            <a:r>
              <a:rPr lang="en-US" sz="1400" kern="0" spc="21" dirty="0">
                <a:solidFill>
                  <a:srgbClr val="888080"/>
                </a:solidFill>
                <a:latin typeface="JetBrains Mono" pitchFamily="34" charset="0"/>
                <a:ea typeface="JetBrains Mono" pitchFamily="34" charset="-122"/>
                <a:cs typeface="JetBrains Mono" pitchFamily="34" charset="-120"/>
              </a:rPr>
              <a:t>06</a:t>
            </a:r>
            <a:endParaRPr lang="en-US" sz="1400" dirty="0"/>
          </a:p>
        </p:txBody>
      </p:sp>
      <p:sp>
        <p:nvSpPr>
          <p:cNvPr id="48" name="Text 15">
            <a:extLst>
              <a:ext uri="{FF2B5EF4-FFF2-40B4-BE49-F238E27FC236}">
                <a16:creationId xmlns:a16="http://schemas.microsoft.com/office/drawing/2014/main" id="{D077171D-DB68-E276-3003-FA0883B1FC93}"/>
              </a:ext>
            </a:extLst>
          </p:cNvPr>
          <p:cNvSpPr/>
          <p:nvPr/>
        </p:nvSpPr>
        <p:spPr>
          <a:xfrm>
            <a:off x="533400" y="3032075"/>
            <a:ext cx="1185416" cy="626120"/>
          </a:xfrm>
          <a:prstGeom prst="rect">
            <a:avLst/>
          </a:prstGeom>
          <a:noFill/>
          <a:ln/>
        </p:spPr>
        <p:txBody>
          <a:bodyPr wrap="square" lIns="25400" tIns="25400" rIns="25400" bIns="25400" rtlCol="0" anchor="t">
            <a:normAutofit/>
          </a:bodyPr>
          <a:lstStyle/>
          <a:p>
            <a:pPr marL="0" indent="0" algn="l">
              <a:lnSpc>
                <a:spcPct val="130000"/>
              </a:lnSpc>
              <a:buNone/>
            </a:pPr>
            <a:r>
              <a:rPr lang="en-US" sz="1400" kern="0" spc="21" dirty="0">
                <a:solidFill>
                  <a:srgbClr val="888080"/>
                </a:solidFill>
                <a:latin typeface="Inter" pitchFamily="34" charset="0"/>
                <a:ea typeface="Inter" pitchFamily="34" charset="-122"/>
                <a:cs typeface="Inter" pitchFamily="34" charset="-120"/>
              </a:rPr>
              <a:t>Conclusions</a:t>
            </a:r>
            <a:endParaRPr lang="en-US" sz="1400" dirty="0"/>
          </a:p>
        </p:txBody>
      </p:sp>
      <p:sp>
        <p:nvSpPr>
          <p:cNvPr id="49" name="Text 9">
            <a:extLst>
              <a:ext uri="{FF2B5EF4-FFF2-40B4-BE49-F238E27FC236}">
                <a16:creationId xmlns:a16="http://schemas.microsoft.com/office/drawing/2014/main" id="{B1FE82BB-698D-6AD6-371C-B3DD893ED160}"/>
              </a:ext>
            </a:extLst>
          </p:cNvPr>
          <p:cNvSpPr/>
          <p:nvPr/>
        </p:nvSpPr>
        <p:spPr>
          <a:xfrm>
            <a:off x="538609" y="2426180"/>
            <a:ext cx="1185416" cy="342476"/>
          </a:xfrm>
          <a:prstGeom prst="rect">
            <a:avLst/>
          </a:prstGeom>
          <a:noFill/>
          <a:ln/>
        </p:spPr>
        <p:txBody>
          <a:bodyPr wrap="square" lIns="25400" tIns="25400" rIns="25400" bIns="25400" rtlCol="0" anchor="t">
            <a:normAutofit/>
          </a:bodyPr>
          <a:lstStyle/>
          <a:p>
            <a:pPr marL="0" indent="0" algn="l">
              <a:lnSpc>
                <a:spcPct val="130000"/>
              </a:lnSpc>
              <a:buNone/>
            </a:pPr>
            <a:r>
              <a:rPr lang="en-US" sz="1400" kern="0" spc="21" dirty="0">
                <a:solidFill>
                  <a:srgbClr val="888080"/>
                </a:solidFill>
                <a:latin typeface="Inter" pitchFamily="34" charset="0"/>
                <a:ea typeface="Inter" pitchFamily="34" charset="-122"/>
                <a:cs typeface="Inter" pitchFamily="34" charset="-120"/>
              </a:rPr>
              <a:t>Pipeline</a:t>
            </a:r>
            <a:endParaRPr lang="en-US" sz="1400" dirty="0"/>
          </a:p>
        </p:txBody>
      </p:sp>
      <p:sp>
        <p:nvSpPr>
          <p:cNvPr id="50" name="Text 7">
            <a:extLst>
              <a:ext uri="{FF2B5EF4-FFF2-40B4-BE49-F238E27FC236}">
                <a16:creationId xmlns:a16="http://schemas.microsoft.com/office/drawing/2014/main" id="{0AE897F2-5E1B-E9A4-C03D-B976FAB49C82}"/>
              </a:ext>
            </a:extLst>
          </p:cNvPr>
          <p:cNvSpPr/>
          <p:nvPr/>
        </p:nvSpPr>
        <p:spPr>
          <a:xfrm>
            <a:off x="523875" y="1826620"/>
            <a:ext cx="1325700" cy="467696"/>
          </a:xfrm>
          <a:prstGeom prst="rect">
            <a:avLst/>
          </a:prstGeom>
          <a:noFill/>
          <a:ln/>
        </p:spPr>
        <p:txBody>
          <a:bodyPr wrap="square" lIns="25400" tIns="25400" rIns="25400" bIns="25400" rtlCol="0" anchor="t">
            <a:noAutofit/>
          </a:bodyPr>
          <a:lstStyle/>
          <a:p>
            <a:pPr marL="0" indent="0" algn="l">
              <a:lnSpc>
                <a:spcPct val="130000"/>
              </a:lnSpc>
              <a:buNone/>
            </a:pPr>
            <a:r>
              <a:rPr lang="en-US" sz="1400" kern="0" spc="21" dirty="0">
                <a:solidFill>
                  <a:srgbClr val="888080"/>
                </a:solidFill>
                <a:latin typeface="Inter" pitchFamily="34" charset="0"/>
                <a:ea typeface="Inter" pitchFamily="34" charset="-122"/>
              </a:rPr>
              <a:t>Data &amp; target</a:t>
            </a:r>
          </a:p>
        </p:txBody>
      </p:sp>
      <p:sp>
        <p:nvSpPr>
          <p:cNvPr id="51" name="Text 1">
            <a:extLst>
              <a:ext uri="{FF2B5EF4-FFF2-40B4-BE49-F238E27FC236}">
                <a16:creationId xmlns:a16="http://schemas.microsoft.com/office/drawing/2014/main" id="{28C0CB90-AF9E-255F-6C14-3F651AE27793}"/>
              </a:ext>
            </a:extLst>
          </p:cNvPr>
          <p:cNvSpPr/>
          <p:nvPr/>
        </p:nvSpPr>
        <p:spPr>
          <a:xfrm>
            <a:off x="261138" y="379598"/>
            <a:ext cx="1778457" cy="447678"/>
          </a:xfrm>
          <a:prstGeom prst="rect">
            <a:avLst/>
          </a:prstGeom>
          <a:noFill/>
          <a:ln/>
        </p:spPr>
        <p:txBody>
          <a:bodyPr wrap="square" lIns="25400" tIns="25400" rIns="25400" bIns="25400" rtlCol="0" anchor="t">
            <a:noAutofit/>
          </a:bodyPr>
          <a:lstStyle/>
          <a:p>
            <a:pPr marL="0" indent="0">
              <a:buNone/>
            </a:pPr>
            <a:r>
              <a:rPr lang="en-US" sz="1400" kern="0" spc="116" dirty="0">
                <a:solidFill>
                  <a:srgbClr val="888080"/>
                </a:solidFill>
                <a:latin typeface="JetBrains Mono" pitchFamily="34" charset="0"/>
                <a:ea typeface="JetBrains Mono" pitchFamily="34" charset="-122"/>
                <a:cs typeface="JetBrains Mono" pitchFamily="34" charset="-120"/>
              </a:rPr>
              <a:t>DS22 - Bar Ilan</a:t>
            </a:r>
            <a:br>
              <a:rPr lang="en-US" sz="1400" kern="0" spc="116" dirty="0">
                <a:solidFill>
                  <a:srgbClr val="888080"/>
                </a:solidFill>
                <a:latin typeface="JetBrains Mono" pitchFamily="34" charset="0"/>
                <a:ea typeface="JetBrains Mono" pitchFamily="34" charset="-122"/>
                <a:cs typeface="JetBrains Mono" pitchFamily="34" charset="-120"/>
              </a:rPr>
            </a:br>
            <a:r>
              <a:rPr lang="en-US" sz="1400" kern="0" spc="116" dirty="0">
                <a:solidFill>
                  <a:srgbClr val="888080"/>
                </a:solidFill>
                <a:latin typeface="JetBrains Mono" pitchFamily="34" charset="0"/>
                <a:ea typeface="JetBrains Mono" pitchFamily="34" charset="-122"/>
                <a:cs typeface="JetBrains Mono" pitchFamily="34" charset="-120"/>
              </a:rPr>
              <a:t>ML PROJECT</a:t>
            </a:r>
          </a:p>
          <a:p>
            <a:pPr marL="0" indent="0">
              <a:buNone/>
            </a:pPr>
            <a:r>
              <a:rPr lang="en-US" sz="1400" kern="0" spc="116" dirty="0">
                <a:solidFill>
                  <a:srgbClr val="888080"/>
                </a:solidFill>
                <a:latin typeface="JetBrains Mono" pitchFamily="34" charset="0"/>
                <a:ea typeface="JetBrains Mono" pitchFamily="34" charset="-122"/>
                <a:cs typeface="JetBrains Mono" pitchFamily="34" charset="-120"/>
              </a:rPr>
              <a:t>MAY 2026</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1">
    <p:bg>
      <p:bgPr>
        <a:solidFill>
          <a:srgbClr val="F5F1E8"/>
        </a:solidFill>
        <a:effectLst/>
      </p:bgPr>
    </p:bg>
    <p:spTree>
      <p:nvGrpSpPr>
        <p:cNvPr id="1" name=""/>
        <p:cNvGrpSpPr/>
        <p:nvPr/>
      </p:nvGrpSpPr>
      <p:grpSpPr>
        <a:xfrm>
          <a:off x="0" y="0"/>
          <a:ext cx="0" cy="0"/>
          <a:chOff x="0" y="0"/>
          <a:chExt cx="0" cy="0"/>
        </a:xfrm>
      </p:grpSpPr>
      <p:sp>
        <p:nvSpPr>
          <p:cNvPr id="2" name="Shape 0"/>
          <p:cNvSpPr/>
          <p:nvPr/>
        </p:nvSpPr>
        <p:spPr>
          <a:xfrm>
            <a:off x="0" y="0"/>
            <a:ext cx="2095500" cy="10287000"/>
          </a:xfrm>
          <a:prstGeom prst="rect">
            <a:avLst/>
          </a:prstGeom>
          <a:solidFill>
            <a:srgbClr val="EBE5D6"/>
          </a:solidFill>
          <a:ln/>
        </p:spPr>
        <p:txBody>
          <a:bodyPr/>
          <a:lstStyle/>
          <a:p>
            <a:endParaRPr lang="he-IL"/>
          </a:p>
        </p:txBody>
      </p:sp>
      <p:sp>
        <p:nvSpPr>
          <p:cNvPr id="3" name="Shape 1"/>
          <p:cNvSpPr/>
          <p:nvPr/>
        </p:nvSpPr>
        <p:spPr>
          <a:xfrm>
            <a:off x="2085975" y="0"/>
            <a:ext cx="9525" cy="10287000"/>
          </a:xfrm>
          <a:prstGeom prst="rect">
            <a:avLst/>
          </a:prstGeom>
          <a:solidFill>
            <a:srgbClr val="D4CDBC"/>
          </a:solidFill>
          <a:ln/>
        </p:spPr>
        <p:txBody>
          <a:bodyPr/>
          <a:lstStyle/>
          <a:p>
            <a:endParaRPr lang="he-IL"/>
          </a:p>
        </p:txBody>
      </p:sp>
      <p:sp>
        <p:nvSpPr>
          <p:cNvPr id="19" name="Text 17"/>
          <p:cNvSpPr/>
          <p:nvPr/>
        </p:nvSpPr>
        <p:spPr>
          <a:xfrm>
            <a:off x="2781300" y="571500"/>
            <a:ext cx="15187041" cy="171450"/>
          </a:xfrm>
          <a:prstGeom prst="rect">
            <a:avLst/>
          </a:prstGeom>
          <a:noFill/>
          <a:ln/>
        </p:spPr>
        <p:txBody>
          <a:bodyPr wrap="square" lIns="25400" tIns="25400" rIns="25400" bIns="25400" rtlCol="0" anchor="ctr">
            <a:noAutofit/>
          </a:bodyPr>
          <a:lstStyle/>
          <a:p>
            <a:pPr marL="0" indent="0" algn="l">
              <a:buNone/>
            </a:pPr>
            <a:r>
              <a:rPr lang="en-US" sz="1400" kern="0" spc="182" dirty="0">
                <a:solidFill>
                  <a:srgbClr val="888080"/>
                </a:solidFill>
                <a:latin typeface="JetBrains Mono" pitchFamily="34" charset="0"/>
                <a:ea typeface="JetBrains Mono" pitchFamily="34" charset="-122"/>
                <a:cs typeface="JetBrains Mono" pitchFamily="34" charset="-120"/>
              </a:rPr>
              <a:t>EDA · INTERACTION EFFECTS</a:t>
            </a:r>
            <a:endParaRPr lang="en-US" sz="1400" dirty="0"/>
          </a:p>
        </p:txBody>
      </p:sp>
      <p:sp>
        <p:nvSpPr>
          <p:cNvPr id="20" name="Text 18"/>
          <p:cNvSpPr/>
          <p:nvPr/>
        </p:nvSpPr>
        <p:spPr>
          <a:xfrm>
            <a:off x="2781300" y="914400"/>
            <a:ext cx="15187041" cy="643830"/>
          </a:xfrm>
          <a:prstGeom prst="rect">
            <a:avLst/>
          </a:prstGeom>
          <a:noFill/>
          <a:ln/>
        </p:spPr>
        <p:txBody>
          <a:bodyPr wrap="square" lIns="25400" tIns="25400" rIns="25400" bIns="25400" rtlCol="0" anchor="t">
            <a:normAutofit fontScale="92500" lnSpcReduction="20000"/>
          </a:bodyPr>
          <a:lstStyle/>
          <a:p>
            <a:pPr marL="0" indent="0" algn="l">
              <a:lnSpc>
                <a:spcPct val="106000"/>
              </a:lnSpc>
              <a:buNone/>
            </a:pPr>
            <a:r>
              <a:rPr lang="en-US" sz="4500" kern="0" spc="-81" dirty="0">
                <a:solidFill>
                  <a:srgbClr val="1A1A1A"/>
                </a:solidFill>
                <a:latin typeface="Instrument Serif" pitchFamily="34" charset="0"/>
                <a:ea typeface="Instrument Serif" pitchFamily="34" charset="-122"/>
                <a:cs typeface="Instrument Serif" pitchFamily="34" charset="-120"/>
              </a:rPr>
              <a:t>Hour × route length, conditional on </a:t>
            </a:r>
            <a:r>
              <a:rPr lang="en-US" sz="4500" i="1" kern="0" spc="-81" dirty="0">
                <a:solidFill>
                  <a:srgbClr val="C25A2A"/>
                </a:solidFill>
                <a:latin typeface="Instrument Serif" pitchFamily="34" charset="0"/>
                <a:ea typeface="Instrument Serif" pitchFamily="34" charset="-122"/>
                <a:cs typeface="Instrument Serif" pitchFamily="34" charset="-120"/>
              </a:rPr>
              <a:t>early.</a:t>
            </a:r>
            <a:endParaRPr lang="en-US" sz="4500" dirty="0"/>
          </a:p>
        </p:txBody>
      </p:sp>
      <p:sp>
        <p:nvSpPr>
          <p:cNvPr id="21" name="Shape 19"/>
          <p:cNvSpPr/>
          <p:nvPr/>
        </p:nvSpPr>
        <p:spPr>
          <a:xfrm>
            <a:off x="2781300" y="1748730"/>
            <a:ext cx="8886081" cy="4975027"/>
          </a:xfrm>
          <a:prstGeom prst="rect">
            <a:avLst/>
          </a:prstGeom>
          <a:solidFill>
            <a:srgbClr val="FFFFFF"/>
          </a:solidFill>
          <a:ln w="9525">
            <a:solidFill>
              <a:srgbClr val="D4CDBC"/>
            </a:solidFill>
            <a:prstDash val="solid"/>
          </a:ln>
        </p:spPr>
        <p:txBody>
          <a:bodyPr/>
          <a:lstStyle/>
          <a:p>
            <a:endParaRPr lang="he-IL"/>
          </a:p>
        </p:txBody>
      </p:sp>
      <p:sp>
        <p:nvSpPr>
          <p:cNvPr id="22" name="Text 20"/>
          <p:cNvSpPr/>
          <p:nvPr/>
        </p:nvSpPr>
        <p:spPr>
          <a:xfrm>
            <a:off x="2905125" y="1872555"/>
            <a:ext cx="2609850" cy="161925"/>
          </a:xfrm>
          <a:prstGeom prst="rect">
            <a:avLst/>
          </a:prstGeom>
          <a:noFill/>
          <a:ln/>
        </p:spPr>
        <p:txBody>
          <a:bodyPr wrap="square" lIns="25400" tIns="25400" rIns="25400" bIns="25400" rtlCol="0" anchor="t">
            <a:normAutofit lnSpcReduction="10000"/>
          </a:bodyPr>
          <a:lstStyle/>
          <a:p>
            <a:pPr marL="0" indent="0" algn="l">
              <a:buNone/>
            </a:pPr>
            <a:r>
              <a:rPr lang="en-US" sz="750" kern="0" spc="120" dirty="0">
                <a:solidFill>
                  <a:srgbClr val="888080"/>
                </a:solidFill>
                <a:latin typeface="JetBrains Mono" pitchFamily="34" charset="0"/>
                <a:ea typeface="JetBrains Mono" pitchFamily="34" charset="-122"/>
                <a:cs typeface="JetBrains Mono" pitchFamily="34" charset="-120"/>
              </a:rPr>
              <a:t>FIG · P(EARLY | HOUR, ROUTE LENGTH)</a:t>
            </a:r>
            <a:endParaRPr lang="en-US" sz="750" dirty="0"/>
          </a:p>
        </p:txBody>
      </p:sp>
      <p:sp>
        <p:nvSpPr>
          <p:cNvPr id="23" name="Text 21"/>
          <p:cNvSpPr/>
          <p:nvPr/>
        </p:nvSpPr>
        <p:spPr>
          <a:xfrm>
            <a:off x="9878467" y="1872555"/>
            <a:ext cx="1741289" cy="161925"/>
          </a:xfrm>
          <a:prstGeom prst="rect">
            <a:avLst/>
          </a:prstGeom>
          <a:noFill/>
          <a:ln/>
        </p:spPr>
        <p:txBody>
          <a:bodyPr wrap="square" lIns="25400" tIns="25400" rIns="25400" bIns="25400" rtlCol="0" anchor="t">
            <a:normAutofit lnSpcReduction="10000"/>
          </a:bodyPr>
          <a:lstStyle/>
          <a:p>
            <a:pPr marL="0" indent="0" algn="l">
              <a:buNone/>
            </a:pPr>
            <a:r>
              <a:rPr lang="en-US" sz="750" kern="0" spc="120" dirty="0">
                <a:solidFill>
                  <a:srgbClr val="888080"/>
                </a:solidFill>
                <a:latin typeface="JetBrains Mono" pitchFamily="34" charset="0"/>
                <a:ea typeface="JetBrains Mono" pitchFamily="34" charset="-122"/>
                <a:cs typeface="JetBrains Mono" pitchFamily="34" charset="-120"/>
              </a:rPr>
              <a:t>CONDITIONAL PROBABILITY</a:t>
            </a:r>
            <a:endParaRPr lang="en-US" sz="750" dirty="0"/>
          </a:p>
        </p:txBody>
      </p:sp>
      <p:sp>
        <p:nvSpPr>
          <p:cNvPr id="24" name="Shape 22"/>
          <p:cNvSpPr/>
          <p:nvPr/>
        </p:nvSpPr>
        <p:spPr>
          <a:xfrm>
            <a:off x="2905125" y="2072580"/>
            <a:ext cx="8638431" cy="4527352"/>
          </a:xfrm>
          <a:prstGeom prst="rect">
            <a:avLst/>
          </a:prstGeom>
          <a:solidFill>
            <a:srgbClr val="FFFFFF"/>
          </a:solidFill>
          <a:ln/>
        </p:spPr>
        <p:txBody>
          <a:bodyPr/>
          <a:lstStyle/>
          <a:p>
            <a:endParaRPr lang="he-IL"/>
          </a:p>
        </p:txBody>
      </p:sp>
      <p:pic>
        <p:nvPicPr>
          <p:cNvPr id="25" name="Image 0" descr="preencoded.png"/>
          <p:cNvPicPr>
            <a:picLocks noChangeAspect="1"/>
          </p:cNvPicPr>
          <p:nvPr/>
        </p:nvPicPr>
        <p:blipFill>
          <a:blip r:embed="rId3"/>
          <a:srcRect/>
          <a:stretch/>
        </p:blipFill>
        <p:spPr>
          <a:xfrm>
            <a:off x="2905125" y="2072580"/>
            <a:ext cx="8638431" cy="4527352"/>
          </a:xfrm>
          <a:prstGeom prst="rect">
            <a:avLst/>
          </a:prstGeom>
        </p:spPr>
      </p:pic>
      <p:sp>
        <p:nvSpPr>
          <p:cNvPr id="26" name="Text 23"/>
          <p:cNvSpPr/>
          <p:nvPr/>
        </p:nvSpPr>
        <p:spPr>
          <a:xfrm>
            <a:off x="11972181" y="1748730"/>
            <a:ext cx="5720434" cy="161925"/>
          </a:xfrm>
          <a:prstGeom prst="rect">
            <a:avLst/>
          </a:prstGeom>
          <a:noFill/>
          <a:ln/>
        </p:spPr>
        <p:txBody>
          <a:bodyPr wrap="square" lIns="25400" tIns="25400" rIns="25400" bIns="25400" rtlCol="0" anchor="t">
            <a:noAutofit/>
          </a:bodyPr>
          <a:lstStyle/>
          <a:p>
            <a:pPr marL="0" indent="0" algn="l">
              <a:buNone/>
            </a:pPr>
            <a:r>
              <a:rPr lang="en-US" sz="1400" b="1" kern="0" spc="135" dirty="0">
                <a:solidFill>
                  <a:srgbClr val="C25A2A"/>
                </a:solidFill>
                <a:latin typeface="JetBrains Mono" pitchFamily="34" charset="0"/>
                <a:ea typeface="JetBrains Mono" pitchFamily="34" charset="-122"/>
                <a:cs typeface="JetBrains Mono" pitchFamily="34" charset="-120"/>
              </a:rPr>
              <a:t>READING IT</a:t>
            </a:r>
            <a:endParaRPr lang="en-US" sz="1400" dirty="0"/>
          </a:p>
        </p:txBody>
      </p:sp>
      <p:sp>
        <p:nvSpPr>
          <p:cNvPr id="27" name="Text 24"/>
          <p:cNvSpPr/>
          <p:nvPr/>
        </p:nvSpPr>
        <p:spPr>
          <a:xfrm>
            <a:off x="12143631" y="2033474"/>
            <a:ext cx="5548984" cy="466725"/>
          </a:xfrm>
          <a:prstGeom prst="rect">
            <a:avLst/>
          </a:prstGeom>
          <a:noFill/>
          <a:ln/>
        </p:spPr>
        <p:txBody>
          <a:bodyPr wrap="square" lIns="25400" tIns="25400" rIns="25400" bIns="25400" rtlCol="0" anchor="t">
            <a:noAutofit/>
          </a:bodyPr>
          <a:lstStyle/>
          <a:p>
            <a:pPr marL="0" indent="0" algn="l">
              <a:lnSpc>
                <a:spcPct val="150000"/>
              </a:lnSpc>
              <a:buNone/>
            </a:pPr>
            <a:r>
              <a:rPr lang="en-US" sz="1400" dirty="0">
                <a:solidFill>
                  <a:srgbClr val="1A1A1A"/>
                </a:solidFill>
                <a:latin typeface="Inter" pitchFamily="34" charset="0"/>
                <a:ea typeface="Inter" pitchFamily="34" charset="-122"/>
                <a:cs typeface="Inter" pitchFamily="34" charset="-120"/>
              </a:rPr>
              <a:t>Hot band: hours 1–4, routes ≥ 50km. </a:t>
            </a:r>
            <a:r>
              <a:rPr lang="en-US" sz="1400" dirty="0">
                <a:solidFill>
                  <a:srgbClr val="4A4A4A"/>
                </a:solidFill>
                <a:latin typeface="Inter" pitchFamily="34" charset="0"/>
                <a:ea typeface="Inter" pitchFamily="34" charset="-122"/>
                <a:cs typeface="Inter" pitchFamily="34" charset="-120"/>
              </a:rPr>
              <a:t>Empty roads + long routes = consistently early.</a:t>
            </a:r>
            <a:endParaRPr lang="en-US" sz="1400" dirty="0"/>
          </a:p>
        </p:txBody>
      </p:sp>
      <p:sp>
        <p:nvSpPr>
          <p:cNvPr id="28" name="Text 25"/>
          <p:cNvSpPr/>
          <p:nvPr/>
        </p:nvSpPr>
        <p:spPr>
          <a:xfrm>
            <a:off x="12143631" y="2687328"/>
            <a:ext cx="5824710" cy="318789"/>
          </a:xfrm>
          <a:prstGeom prst="rect">
            <a:avLst/>
          </a:prstGeom>
          <a:noFill/>
          <a:ln/>
        </p:spPr>
        <p:txBody>
          <a:bodyPr wrap="square" lIns="25400" tIns="25400" rIns="25400" bIns="25400" rtlCol="0" anchor="t">
            <a:noAutofit/>
          </a:bodyPr>
          <a:lstStyle/>
          <a:p>
            <a:pPr marL="0" indent="0" algn="l">
              <a:lnSpc>
                <a:spcPct val="150000"/>
              </a:lnSpc>
              <a:buNone/>
            </a:pPr>
            <a:r>
              <a:rPr lang="en-US" sz="1400" dirty="0">
                <a:solidFill>
                  <a:srgbClr val="1A1A1A"/>
                </a:solidFill>
                <a:latin typeface="Inter" pitchFamily="34" charset="0"/>
                <a:ea typeface="Inter" pitchFamily="34" charset="-122"/>
                <a:cs typeface="Inter" pitchFamily="34" charset="-120"/>
              </a:rPr>
              <a:t>Cool ocean: hours 7–22. </a:t>
            </a:r>
            <a:r>
              <a:rPr lang="en-US" sz="1400" dirty="0">
                <a:solidFill>
                  <a:srgbClr val="4A4A4A"/>
                </a:solidFill>
                <a:latin typeface="Inter" pitchFamily="34" charset="0"/>
                <a:ea typeface="Inter" pitchFamily="34" charset="-122"/>
                <a:cs typeface="Inter" pitchFamily="34" charset="-120"/>
              </a:rPr>
              <a:t>P(early) ≈ 0 for all route lengths during the active day.</a:t>
            </a:r>
            <a:endParaRPr lang="en-US" sz="1400" dirty="0"/>
          </a:p>
        </p:txBody>
      </p:sp>
      <p:sp>
        <p:nvSpPr>
          <p:cNvPr id="29" name="Text 26"/>
          <p:cNvSpPr/>
          <p:nvPr/>
        </p:nvSpPr>
        <p:spPr>
          <a:xfrm>
            <a:off x="12143631" y="3379698"/>
            <a:ext cx="5548984" cy="466725"/>
          </a:xfrm>
          <a:prstGeom prst="rect">
            <a:avLst/>
          </a:prstGeom>
          <a:noFill/>
          <a:ln/>
        </p:spPr>
        <p:txBody>
          <a:bodyPr wrap="square" lIns="25400" tIns="25400" rIns="25400" bIns="25400" rtlCol="0" anchor="t">
            <a:noAutofit/>
          </a:bodyPr>
          <a:lstStyle/>
          <a:p>
            <a:pPr marL="0" indent="0" algn="l">
              <a:lnSpc>
                <a:spcPct val="150000"/>
              </a:lnSpc>
              <a:buNone/>
            </a:pPr>
            <a:r>
              <a:rPr lang="en-US" sz="1400" dirty="0">
                <a:solidFill>
                  <a:srgbClr val="1A1A1A"/>
                </a:solidFill>
                <a:latin typeface="Inter" pitchFamily="34" charset="0"/>
                <a:ea typeface="Inter" pitchFamily="34" charset="-122"/>
                <a:cs typeface="Inter" pitchFamily="34" charset="-120"/>
              </a:rPr>
              <a:t>Right-edge spike (100 km+). </a:t>
            </a:r>
            <a:r>
              <a:rPr lang="en-US" sz="1400" dirty="0">
                <a:solidFill>
                  <a:srgbClr val="4A4A4A"/>
                </a:solidFill>
                <a:latin typeface="Inter" pitchFamily="34" charset="0"/>
                <a:ea typeface="Inter" pitchFamily="34" charset="-122"/>
                <a:cs typeface="Inter" pitchFamily="34" charset="-120"/>
              </a:rPr>
              <a:t>Intercity lines have generous schedules and high variance.</a:t>
            </a:r>
            <a:endParaRPr lang="en-US" sz="1400" dirty="0"/>
          </a:p>
        </p:txBody>
      </p:sp>
      <p:sp>
        <p:nvSpPr>
          <p:cNvPr id="30" name="Shape 27"/>
          <p:cNvSpPr/>
          <p:nvPr/>
        </p:nvSpPr>
        <p:spPr>
          <a:xfrm>
            <a:off x="12055488" y="4442668"/>
            <a:ext cx="5553819" cy="1401663"/>
          </a:xfrm>
          <a:prstGeom prst="rect">
            <a:avLst/>
          </a:prstGeom>
          <a:solidFill>
            <a:srgbClr val="EBE5D6"/>
          </a:solidFill>
          <a:ln w="9525">
            <a:solidFill>
              <a:srgbClr val="D4CDBC"/>
            </a:solidFill>
            <a:prstDash val="solid"/>
          </a:ln>
        </p:spPr>
        <p:txBody>
          <a:bodyPr/>
          <a:lstStyle/>
          <a:p>
            <a:endParaRPr lang="he-IL" sz="1400"/>
          </a:p>
        </p:txBody>
      </p:sp>
      <p:sp>
        <p:nvSpPr>
          <p:cNvPr id="31" name="Text 28"/>
          <p:cNvSpPr/>
          <p:nvPr/>
        </p:nvSpPr>
        <p:spPr>
          <a:xfrm>
            <a:off x="12293613" y="4661743"/>
            <a:ext cx="5229896" cy="161925"/>
          </a:xfrm>
          <a:prstGeom prst="rect">
            <a:avLst/>
          </a:prstGeom>
          <a:noFill/>
          <a:ln/>
        </p:spPr>
        <p:txBody>
          <a:bodyPr wrap="square" lIns="25400" tIns="25400" rIns="25400" bIns="25400" rtlCol="0" anchor="t">
            <a:noAutofit/>
          </a:bodyPr>
          <a:lstStyle/>
          <a:p>
            <a:pPr marL="0" indent="0" algn="l">
              <a:buNone/>
            </a:pPr>
            <a:r>
              <a:rPr lang="en-US" sz="1400" b="1" kern="0" spc="135" dirty="0">
                <a:solidFill>
                  <a:srgbClr val="C25A2A"/>
                </a:solidFill>
                <a:latin typeface="JetBrains Mono" pitchFamily="34" charset="0"/>
                <a:ea typeface="JetBrains Mono" pitchFamily="34" charset="-122"/>
                <a:cs typeface="JetBrains Mono" pitchFamily="34" charset="-120"/>
              </a:rPr>
              <a:t>ENGINEERED FEATURE</a:t>
            </a:r>
            <a:endParaRPr lang="en-US" sz="1400" dirty="0"/>
          </a:p>
        </p:txBody>
      </p:sp>
      <p:sp>
        <p:nvSpPr>
          <p:cNvPr id="32" name="Text 29"/>
          <p:cNvSpPr/>
          <p:nvPr/>
        </p:nvSpPr>
        <p:spPr>
          <a:xfrm>
            <a:off x="12293613" y="4880818"/>
            <a:ext cx="5229896" cy="230088"/>
          </a:xfrm>
          <a:prstGeom prst="rect">
            <a:avLst/>
          </a:prstGeom>
          <a:noFill/>
          <a:ln/>
        </p:spPr>
        <p:txBody>
          <a:bodyPr wrap="square" lIns="25400" tIns="25400" rIns="25400" bIns="25400" rtlCol="0" anchor="t">
            <a:noAutofit/>
          </a:bodyPr>
          <a:lstStyle/>
          <a:p>
            <a:pPr marL="0" indent="0" algn="l">
              <a:lnSpc>
                <a:spcPct val="112000"/>
              </a:lnSpc>
              <a:buNone/>
            </a:pPr>
            <a:r>
              <a:rPr lang="en-US" sz="1400" kern="0" spc="-11" dirty="0">
                <a:solidFill>
                  <a:srgbClr val="1A1A1A"/>
                </a:solidFill>
                <a:latin typeface="Instrument Serif" pitchFamily="34" charset="0"/>
                <a:ea typeface="Instrument Serif" pitchFamily="34" charset="-122"/>
                <a:cs typeface="Instrument Serif" pitchFamily="34" charset="-120"/>
              </a:rPr>
              <a:t>early_by_hour_length_proba</a:t>
            </a:r>
            <a:endParaRPr lang="en-US" sz="1400" dirty="0"/>
          </a:p>
        </p:txBody>
      </p:sp>
      <p:sp>
        <p:nvSpPr>
          <p:cNvPr id="33" name="Text 30"/>
          <p:cNvSpPr/>
          <p:nvPr/>
        </p:nvSpPr>
        <p:spPr>
          <a:xfrm>
            <a:off x="12293613" y="5168056"/>
            <a:ext cx="5229896" cy="495300"/>
          </a:xfrm>
          <a:prstGeom prst="rect">
            <a:avLst/>
          </a:prstGeom>
          <a:noFill/>
          <a:ln/>
        </p:spPr>
        <p:txBody>
          <a:bodyPr wrap="square" lIns="25400" tIns="25400" rIns="25400" bIns="25400" rtlCol="0" anchor="t">
            <a:noAutofit/>
          </a:bodyPr>
          <a:lstStyle/>
          <a:p>
            <a:pPr marL="0" indent="0" algn="l">
              <a:lnSpc>
                <a:spcPct val="150000"/>
              </a:lnSpc>
              <a:buNone/>
            </a:pPr>
            <a:r>
              <a:rPr lang="en-US" sz="1400" dirty="0">
                <a:solidFill>
                  <a:srgbClr val="4A4A4A"/>
                </a:solidFill>
                <a:latin typeface="Inter" pitchFamily="34" charset="0"/>
                <a:ea typeface="Inter" pitchFamily="34" charset="-122"/>
                <a:cs typeface="Inter" pitchFamily="34" charset="-120"/>
              </a:rPr>
              <a:t>Direct lift from this heatmap. Becomes the </a:t>
            </a:r>
            <a:r>
              <a:rPr lang="en-US" sz="1400" dirty="0">
                <a:solidFill>
                  <a:srgbClr val="1A1A1A"/>
                </a:solidFill>
                <a:latin typeface="Inter" pitchFamily="34" charset="0"/>
                <a:ea typeface="Inter" pitchFamily="34" charset="-122"/>
                <a:cs typeface="Inter" pitchFamily="34" charset="-120"/>
              </a:rPr>
              <a:t>#1 SHAP driver for the early class </a:t>
            </a:r>
            <a:r>
              <a:rPr lang="en-US" sz="1400" dirty="0">
                <a:solidFill>
                  <a:srgbClr val="4A4A4A"/>
                </a:solidFill>
                <a:latin typeface="Inter" pitchFamily="34" charset="0"/>
                <a:ea typeface="Inter" pitchFamily="34" charset="-122"/>
                <a:cs typeface="Inter" pitchFamily="34" charset="-120"/>
              </a:rPr>
              <a:t>, #2 for delay.</a:t>
            </a:r>
            <a:endParaRPr lang="en-US" sz="1400" dirty="0"/>
          </a:p>
        </p:txBody>
      </p:sp>
      <p:sp>
        <p:nvSpPr>
          <p:cNvPr id="34" name="Text 16">
            <a:extLst>
              <a:ext uri="{FF2B5EF4-FFF2-40B4-BE49-F238E27FC236}">
                <a16:creationId xmlns:a16="http://schemas.microsoft.com/office/drawing/2014/main" id="{0984EF86-F525-4A5A-6798-DECD6523A37D}"/>
              </a:ext>
            </a:extLst>
          </p:cNvPr>
          <p:cNvSpPr/>
          <p:nvPr/>
        </p:nvSpPr>
        <p:spPr>
          <a:xfrm>
            <a:off x="266700" y="9410700"/>
            <a:ext cx="1628775" cy="342900"/>
          </a:xfrm>
          <a:prstGeom prst="rect">
            <a:avLst/>
          </a:prstGeom>
          <a:noFill/>
          <a:ln/>
        </p:spPr>
        <p:txBody>
          <a:bodyPr wrap="square" lIns="25400" tIns="25400" rIns="25400" bIns="25400" rtlCol="0" anchor="t">
            <a:noAutofit/>
          </a:bodyPr>
          <a:lstStyle/>
          <a:p>
            <a:pPr>
              <a:lnSpc>
                <a:spcPct val="160000"/>
              </a:lnSpc>
            </a:pPr>
            <a:r>
              <a:rPr lang="en-US" sz="1400" b="1" kern="0" spc="105" dirty="0">
                <a:solidFill>
                  <a:srgbClr val="1A1A1A"/>
                </a:solidFill>
                <a:latin typeface="JetBrains Mono" pitchFamily="34" charset="0"/>
                <a:ea typeface="JetBrains Mono" pitchFamily="34" charset="-122"/>
                <a:cs typeface="JetBrains Mono" pitchFamily="34" charset="-120"/>
              </a:rPr>
              <a:t>13 / 34</a:t>
            </a:r>
            <a:endParaRPr lang="en-US" sz="1400" dirty="0"/>
          </a:p>
        </p:txBody>
      </p:sp>
      <p:sp>
        <p:nvSpPr>
          <p:cNvPr id="35" name="Text 4">
            <a:extLst>
              <a:ext uri="{FF2B5EF4-FFF2-40B4-BE49-F238E27FC236}">
                <a16:creationId xmlns:a16="http://schemas.microsoft.com/office/drawing/2014/main" id="{4888188C-ADB8-FECE-8A1A-79FD0445FE51}"/>
              </a:ext>
            </a:extLst>
          </p:cNvPr>
          <p:cNvSpPr/>
          <p:nvPr/>
        </p:nvSpPr>
        <p:spPr>
          <a:xfrm>
            <a:off x="228063" y="1524367"/>
            <a:ext cx="372012" cy="200025"/>
          </a:xfrm>
          <a:prstGeom prst="rect">
            <a:avLst/>
          </a:prstGeom>
          <a:noFill/>
          <a:ln/>
        </p:spPr>
        <p:txBody>
          <a:bodyPr wrap="square" lIns="25400" tIns="25400" rIns="25400" bIns="25400" rtlCol="0" anchor="t">
            <a:noAutofit/>
          </a:bodyPr>
          <a:lstStyle/>
          <a:p>
            <a:pPr marL="0" indent="0" algn="l">
              <a:lnSpc>
                <a:spcPct val="130000"/>
              </a:lnSpc>
              <a:buNone/>
            </a:pPr>
            <a:r>
              <a:rPr lang="en-US" sz="1400" kern="0" spc="21" dirty="0">
                <a:solidFill>
                  <a:srgbClr val="888080"/>
                </a:solidFill>
                <a:latin typeface="Inter" pitchFamily="34" charset="0"/>
                <a:ea typeface="Inter" pitchFamily="34" charset="-122"/>
              </a:rPr>
              <a:t>01</a:t>
            </a:r>
          </a:p>
        </p:txBody>
      </p:sp>
      <p:sp>
        <p:nvSpPr>
          <p:cNvPr id="36" name="Text 5">
            <a:extLst>
              <a:ext uri="{FF2B5EF4-FFF2-40B4-BE49-F238E27FC236}">
                <a16:creationId xmlns:a16="http://schemas.microsoft.com/office/drawing/2014/main" id="{799B9103-3385-B22C-E32D-FB146095CE08}"/>
              </a:ext>
            </a:extLst>
          </p:cNvPr>
          <p:cNvSpPr/>
          <p:nvPr/>
        </p:nvSpPr>
        <p:spPr>
          <a:xfrm>
            <a:off x="523875" y="1522975"/>
            <a:ext cx="876300" cy="476251"/>
          </a:xfrm>
          <a:prstGeom prst="rect">
            <a:avLst/>
          </a:prstGeom>
          <a:noFill/>
          <a:ln/>
        </p:spPr>
        <p:txBody>
          <a:bodyPr wrap="square" lIns="25400" tIns="25400" rIns="25400" bIns="25400" rtlCol="0" anchor="t">
            <a:normAutofit/>
          </a:bodyPr>
          <a:lstStyle/>
          <a:p>
            <a:pPr marL="0" indent="0" algn="l">
              <a:lnSpc>
                <a:spcPct val="130000"/>
              </a:lnSpc>
              <a:buNone/>
            </a:pPr>
            <a:r>
              <a:rPr lang="en-US" sz="1400" kern="0" spc="21" dirty="0">
                <a:solidFill>
                  <a:srgbClr val="888080"/>
                </a:solidFill>
                <a:latin typeface="Inter" pitchFamily="34" charset="0"/>
                <a:ea typeface="Inter" pitchFamily="34" charset="-122"/>
              </a:rPr>
              <a:t>Agenda</a:t>
            </a:r>
          </a:p>
        </p:txBody>
      </p:sp>
      <p:sp>
        <p:nvSpPr>
          <p:cNvPr id="37" name="Text 6">
            <a:extLst>
              <a:ext uri="{FF2B5EF4-FFF2-40B4-BE49-F238E27FC236}">
                <a16:creationId xmlns:a16="http://schemas.microsoft.com/office/drawing/2014/main" id="{3F9EA90A-3B84-4606-A792-A6AB5DCF23D0}"/>
              </a:ext>
            </a:extLst>
          </p:cNvPr>
          <p:cNvSpPr/>
          <p:nvPr/>
        </p:nvSpPr>
        <p:spPr>
          <a:xfrm>
            <a:off x="228063" y="1830953"/>
            <a:ext cx="372010" cy="194877"/>
          </a:xfrm>
          <a:prstGeom prst="rect">
            <a:avLst/>
          </a:prstGeom>
          <a:noFill/>
          <a:ln/>
        </p:spPr>
        <p:txBody>
          <a:bodyPr wrap="square" lIns="25400" tIns="25400" rIns="25400" bIns="25400" rtlCol="0" anchor="t">
            <a:noAutofit/>
          </a:bodyPr>
          <a:lstStyle/>
          <a:p>
            <a:pPr marL="0" indent="0" algn="l">
              <a:lnSpc>
                <a:spcPct val="130000"/>
              </a:lnSpc>
              <a:buNone/>
            </a:pPr>
            <a:r>
              <a:rPr lang="en-US" sz="1400" kern="0" spc="21" dirty="0">
                <a:solidFill>
                  <a:srgbClr val="888080"/>
                </a:solidFill>
                <a:latin typeface="Inter" pitchFamily="34" charset="0"/>
                <a:ea typeface="Inter" pitchFamily="34" charset="-122"/>
              </a:rPr>
              <a:t>02</a:t>
            </a:r>
          </a:p>
        </p:txBody>
      </p:sp>
      <p:sp>
        <p:nvSpPr>
          <p:cNvPr id="38" name="Text 8">
            <a:extLst>
              <a:ext uri="{FF2B5EF4-FFF2-40B4-BE49-F238E27FC236}">
                <a16:creationId xmlns:a16="http://schemas.microsoft.com/office/drawing/2014/main" id="{7B857872-C10B-A369-4EC9-E5CD111EA6C9}"/>
              </a:ext>
            </a:extLst>
          </p:cNvPr>
          <p:cNvSpPr/>
          <p:nvPr/>
        </p:nvSpPr>
        <p:spPr>
          <a:xfrm>
            <a:off x="230504" y="2152895"/>
            <a:ext cx="302895" cy="141422"/>
          </a:xfrm>
          <a:prstGeom prst="rect">
            <a:avLst/>
          </a:prstGeom>
          <a:noFill/>
          <a:ln/>
        </p:spPr>
        <p:txBody>
          <a:bodyPr wrap="square" lIns="25400" tIns="25400" rIns="25400" bIns="25400" rtlCol="0" anchor="t">
            <a:noAutofit/>
          </a:bodyPr>
          <a:lstStyle/>
          <a:p>
            <a:pPr marL="0" indent="0" algn="l">
              <a:lnSpc>
                <a:spcPct val="130000"/>
              </a:lnSpc>
              <a:buNone/>
            </a:pPr>
            <a:r>
              <a:rPr lang="en-US" sz="1400" b="1" kern="0" spc="21" dirty="0">
                <a:solidFill>
                  <a:srgbClr val="C25A2A"/>
                </a:solidFill>
                <a:latin typeface="JetBrains Mono" pitchFamily="34" charset="0"/>
                <a:ea typeface="JetBrains Mono" pitchFamily="34" charset="-122"/>
              </a:rPr>
              <a:t>03</a:t>
            </a:r>
          </a:p>
        </p:txBody>
      </p:sp>
      <p:sp>
        <p:nvSpPr>
          <p:cNvPr id="39" name="Text 9">
            <a:extLst>
              <a:ext uri="{FF2B5EF4-FFF2-40B4-BE49-F238E27FC236}">
                <a16:creationId xmlns:a16="http://schemas.microsoft.com/office/drawing/2014/main" id="{859AF9A5-D656-7565-75A3-DA5447B69B31}"/>
              </a:ext>
            </a:extLst>
          </p:cNvPr>
          <p:cNvSpPr/>
          <p:nvPr/>
        </p:nvSpPr>
        <p:spPr>
          <a:xfrm>
            <a:off x="531240" y="2145027"/>
            <a:ext cx="1185416" cy="342476"/>
          </a:xfrm>
          <a:prstGeom prst="rect">
            <a:avLst/>
          </a:prstGeom>
          <a:noFill/>
          <a:ln/>
        </p:spPr>
        <p:txBody>
          <a:bodyPr wrap="square" lIns="25400" tIns="25400" rIns="25400" bIns="25400" rtlCol="0" anchor="t">
            <a:normAutofit/>
          </a:bodyPr>
          <a:lstStyle/>
          <a:p>
            <a:pPr marL="0" indent="0" algn="l">
              <a:lnSpc>
                <a:spcPct val="130000"/>
              </a:lnSpc>
              <a:buNone/>
            </a:pPr>
            <a:r>
              <a:rPr lang="en-US" sz="1400" kern="0" spc="21" dirty="0">
                <a:solidFill>
                  <a:srgbClr val="1A1A1A"/>
                </a:solidFill>
                <a:latin typeface="Inter" pitchFamily="34" charset="0"/>
                <a:ea typeface="Inter" pitchFamily="34" charset="-122"/>
              </a:rPr>
              <a:t>EDA</a:t>
            </a:r>
          </a:p>
        </p:txBody>
      </p:sp>
      <p:sp>
        <p:nvSpPr>
          <p:cNvPr id="40" name="Text 10">
            <a:extLst>
              <a:ext uri="{FF2B5EF4-FFF2-40B4-BE49-F238E27FC236}">
                <a16:creationId xmlns:a16="http://schemas.microsoft.com/office/drawing/2014/main" id="{73CC003C-EE4F-6C7B-EBC0-A06EC5CCEEF3}"/>
              </a:ext>
            </a:extLst>
          </p:cNvPr>
          <p:cNvSpPr/>
          <p:nvPr/>
        </p:nvSpPr>
        <p:spPr>
          <a:xfrm>
            <a:off x="228062" y="2444125"/>
            <a:ext cx="305337" cy="172132"/>
          </a:xfrm>
          <a:prstGeom prst="rect">
            <a:avLst/>
          </a:prstGeom>
          <a:noFill/>
          <a:ln/>
        </p:spPr>
        <p:txBody>
          <a:bodyPr wrap="square" lIns="25400" tIns="25400" rIns="25400" bIns="25400" rtlCol="0" anchor="t">
            <a:noAutofit/>
          </a:bodyPr>
          <a:lstStyle/>
          <a:p>
            <a:pPr marL="0" indent="0" algn="l">
              <a:lnSpc>
                <a:spcPct val="130000"/>
              </a:lnSpc>
              <a:buNone/>
            </a:pPr>
            <a:r>
              <a:rPr lang="en-US" sz="1400" kern="0" spc="21" dirty="0">
                <a:solidFill>
                  <a:srgbClr val="888080"/>
                </a:solidFill>
                <a:latin typeface="JetBrains Mono" pitchFamily="34" charset="0"/>
                <a:ea typeface="JetBrains Mono" pitchFamily="34" charset="-122"/>
                <a:cs typeface="JetBrains Mono" pitchFamily="34" charset="-120"/>
              </a:rPr>
              <a:t>04</a:t>
            </a:r>
            <a:endParaRPr lang="en-US" sz="1400" dirty="0"/>
          </a:p>
        </p:txBody>
      </p:sp>
      <p:sp>
        <p:nvSpPr>
          <p:cNvPr id="41" name="Text 12">
            <a:extLst>
              <a:ext uri="{FF2B5EF4-FFF2-40B4-BE49-F238E27FC236}">
                <a16:creationId xmlns:a16="http://schemas.microsoft.com/office/drawing/2014/main" id="{712523C6-D1EA-2932-595A-ACEB24212A3D}"/>
              </a:ext>
            </a:extLst>
          </p:cNvPr>
          <p:cNvSpPr/>
          <p:nvPr/>
        </p:nvSpPr>
        <p:spPr>
          <a:xfrm>
            <a:off x="228062" y="2750711"/>
            <a:ext cx="372011" cy="158880"/>
          </a:xfrm>
          <a:prstGeom prst="rect">
            <a:avLst/>
          </a:prstGeom>
          <a:noFill/>
          <a:ln/>
        </p:spPr>
        <p:txBody>
          <a:bodyPr wrap="square" lIns="25400" tIns="25400" rIns="25400" bIns="25400" rtlCol="0" anchor="t">
            <a:noAutofit/>
          </a:bodyPr>
          <a:lstStyle/>
          <a:p>
            <a:pPr marL="0" indent="0" algn="l">
              <a:lnSpc>
                <a:spcPct val="130000"/>
              </a:lnSpc>
              <a:buNone/>
            </a:pPr>
            <a:r>
              <a:rPr lang="en-US" sz="1400" kern="0" spc="21" dirty="0">
                <a:solidFill>
                  <a:srgbClr val="888080"/>
                </a:solidFill>
                <a:latin typeface="JetBrains Mono" pitchFamily="34" charset="0"/>
                <a:ea typeface="JetBrains Mono" pitchFamily="34" charset="-122"/>
                <a:cs typeface="JetBrains Mono" pitchFamily="34" charset="-120"/>
              </a:rPr>
              <a:t>05</a:t>
            </a:r>
            <a:endParaRPr lang="en-US" sz="1400" dirty="0"/>
          </a:p>
        </p:txBody>
      </p:sp>
      <p:sp>
        <p:nvSpPr>
          <p:cNvPr id="42" name="Text 13">
            <a:extLst>
              <a:ext uri="{FF2B5EF4-FFF2-40B4-BE49-F238E27FC236}">
                <a16:creationId xmlns:a16="http://schemas.microsoft.com/office/drawing/2014/main" id="{7396F035-2D33-CF1A-5DB2-9B3FABE12E0A}"/>
              </a:ext>
            </a:extLst>
          </p:cNvPr>
          <p:cNvSpPr/>
          <p:nvPr/>
        </p:nvSpPr>
        <p:spPr>
          <a:xfrm>
            <a:off x="533399" y="2725489"/>
            <a:ext cx="948333" cy="761256"/>
          </a:xfrm>
          <a:prstGeom prst="rect">
            <a:avLst/>
          </a:prstGeom>
          <a:noFill/>
          <a:ln/>
        </p:spPr>
        <p:txBody>
          <a:bodyPr wrap="square" lIns="25400" tIns="25400" rIns="25400" bIns="25400" rtlCol="0" anchor="t">
            <a:normAutofit/>
          </a:bodyPr>
          <a:lstStyle/>
          <a:p>
            <a:pPr marL="0" indent="0" algn="l">
              <a:lnSpc>
                <a:spcPct val="130000"/>
              </a:lnSpc>
              <a:buNone/>
            </a:pPr>
            <a:r>
              <a:rPr lang="en-US" sz="1400" kern="0" spc="21" dirty="0">
                <a:solidFill>
                  <a:srgbClr val="888080"/>
                </a:solidFill>
                <a:latin typeface="Inter" pitchFamily="34" charset="0"/>
                <a:ea typeface="Inter" pitchFamily="34" charset="-122"/>
                <a:cs typeface="Inter" pitchFamily="34" charset="-120"/>
              </a:rPr>
              <a:t>Modeling</a:t>
            </a:r>
            <a:endParaRPr lang="en-US" sz="1400" dirty="0"/>
          </a:p>
        </p:txBody>
      </p:sp>
      <p:sp>
        <p:nvSpPr>
          <p:cNvPr id="43" name="Text 14">
            <a:extLst>
              <a:ext uri="{FF2B5EF4-FFF2-40B4-BE49-F238E27FC236}">
                <a16:creationId xmlns:a16="http://schemas.microsoft.com/office/drawing/2014/main" id="{82611BBA-70B4-32E9-1844-6D5E27F49432}"/>
              </a:ext>
            </a:extLst>
          </p:cNvPr>
          <p:cNvSpPr/>
          <p:nvPr/>
        </p:nvSpPr>
        <p:spPr>
          <a:xfrm>
            <a:off x="235683" y="3042056"/>
            <a:ext cx="372010" cy="191463"/>
          </a:xfrm>
          <a:prstGeom prst="rect">
            <a:avLst/>
          </a:prstGeom>
          <a:noFill/>
          <a:ln/>
        </p:spPr>
        <p:txBody>
          <a:bodyPr wrap="square" lIns="25400" tIns="25400" rIns="25400" bIns="25400" rtlCol="0" anchor="t">
            <a:noAutofit/>
          </a:bodyPr>
          <a:lstStyle/>
          <a:p>
            <a:pPr marL="0" indent="0" algn="l">
              <a:lnSpc>
                <a:spcPct val="130000"/>
              </a:lnSpc>
              <a:buNone/>
            </a:pPr>
            <a:r>
              <a:rPr lang="en-US" sz="1400" kern="0" spc="21" dirty="0">
                <a:solidFill>
                  <a:srgbClr val="888080"/>
                </a:solidFill>
                <a:latin typeface="JetBrains Mono" pitchFamily="34" charset="0"/>
                <a:ea typeface="JetBrains Mono" pitchFamily="34" charset="-122"/>
                <a:cs typeface="JetBrains Mono" pitchFamily="34" charset="-120"/>
              </a:rPr>
              <a:t>06</a:t>
            </a:r>
            <a:endParaRPr lang="en-US" sz="1400" dirty="0"/>
          </a:p>
        </p:txBody>
      </p:sp>
      <p:sp>
        <p:nvSpPr>
          <p:cNvPr id="44" name="Text 15">
            <a:extLst>
              <a:ext uri="{FF2B5EF4-FFF2-40B4-BE49-F238E27FC236}">
                <a16:creationId xmlns:a16="http://schemas.microsoft.com/office/drawing/2014/main" id="{D3E620CB-9C17-9F5D-52BA-4299BF044A19}"/>
              </a:ext>
            </a:extLst>
          </p:cNvPr>
          <p:cNvSpPr/>
          <p:nvPr/>
        </p:nvSpPr>
        <p:spPr>
          <a:xfrm>
            <a:off x="533400" y="3032075"/>
            <a:ext cx="1185416" cy="626120"/>
          </a:xfrm>
          <a:prstGeom prst="rect">
            <a:avLst/>
          </a:prstGeom>
          <a:noFill/>
          <a:ln/>
        </p:spPr>
        <p:txBody>
          <a:bodyPr wrap="square" lIns="25400" tIns="25400" rIns="25400" bIns="25400" rtlCol="0" anchor="t">
            <a:normAutofit/>
          </a:bodyPr>
          <a:lstStyle/>
          <a:p>
            <a:pPr marL="0" indent="0" algn="l">
              <a:lnSpc>
                <a:spcPct val="130000"/>
              </a:lnSpc>
              <a:buNone/>
            </a:pPr>
            <a:r>
              <a:rPr lang="en-US" sz="1400" kern="0" spc="21" dirty="0">
                <a:solidFill>
                  <a:srgbClr val="888080"/>
                </a:solidFill>
                <a:latin typeface="Inter" pitchFamily="34" charset="0"/>
                <a:ea typeface="Inter" pitchFamily="34" charset="-122"/>
                <a:cs typeface="Inter" pitchFamily="34" charset="-120"/>
              </a:rPr>
              <a:t>Conclusions</a:t>
            </a:r>
            <a:endParaRPr lang="en-US" sz="1400" dirty="0"/>
          </a:p>
        </p:txBody>
      </p:sp>
      <p:sp>
        <p:nvSpPr>
          <p:cNvPr id="45" name="Text 9">
            <a:extLst>
              <a:ext uri="{FF2B5EF4-FFF2-40B4-BE49-F238E27FC236}">
                <a16:creationId xmlns:a16="http://schemas.microsoft.com/office/drawing/2014/main" id="{67B57DDD-860C-AD38-DF44-DF5A77D1B2EA}"/>
              </a:ext>
            </a:extLst>
          </p:cNvPr>
          <p:cNvSpPr/>
          <p:nvPr/>
        </p:nvSpPr>
        <p:spPr>
          <a:xfrm>
            <a:off x="538609" y="2426180"/>
            <a:ext cx="1185416" cy="342476"/>
          </a:xfrm>
          <a:prstGeom prst="rect">
            <a:avLst/>
          </a:prstGeom>
          <a:noFill/>
          <a:ln/>
        </p:spPr>
        <p:txBody>
          <a:bodyPr wrap="square" lIns="25400" tIns="25400" rIns="25400" bIns="25400" rtlCol="0" anchor="t">
            <a:normAutofit/>
          </a:bodyPr>
          <a:lstStyle/>
          <a:p>
            <a:pPr marL="0" indent="0" algn="l">
              <a:lnSpc>
                <a:spcPct val="130000"/>
              </a:lnSpc>
              <a:buNone/>
            </a:pPr>
            <a:r>
              <a:rPr lang="en-US" sz="1400" kern="0" spc="21" dirty="0">
                <a:solidFill>
                  <a:srgbClr val="888080"/>
                </a:solidFill>
                <a:latin typeface="Inter" pitchFamily="34" charset="0"/>
                <a:ea typeface="Inter" pitchFamily="34" charset="-122"/>
                <a:cs typeface="Inter" pitchFamily="34" charset="-120"/>
              </a:rPr>
              <a:t>Pipeline</a:t>
            </a:r>
            <a:endParaRPr lang="en-US" sz="1400" dirty="0"/>
          </a:p>
        </p:txBody>
      </p:sp>
      <p:sp>
        <p:nvSpPr>
          <p:cNvPr id="46" name="Text 7">
            <a:extLst>
              <a:ext uri="{FF2B5EF4-FFF2-40B4-BE49-F238E27FC236}">
                <a16:creationId xmlns:a16="http://schemas.microsoft.com/office/drawing/2014/main" id="{A5860F74-AA8E-82C8-696A-D66396885531}"/>
              </a:ext>
            </a:extLst>
          </p:cNvPr>
          <p:cNvSpPr/>
          <p:nvPr/>
        </p:nvSpPr>
        <p:spPr>
          <a:xfrm>
            <a:off x="523875" y="1826620"/>
            <a:ext cx="1325700" cy="467696"/>
          </a:xfrm>
          <a:prstGeom prst="rect">
            <a:avLst/>
          </a:prstGeom>
          <a:noFill/>
          <a:ln/>
        </p:spPr>
        <p:txBody>
          <a:bodyPr wrap="square" lIns="25400" tIns="25400" rIns="25400" bIns="25400" rtlCol="0" anchor="t">
            <a:noAutofit/>
          </a:bodyPr>
          <a:lstStyle/>
          <a:p>
            <a:pPr marL="0" indent="0" algn="l">
              <a:lnSpc>
                <a:spcPct val="130000"/>
              </a:lnSpc>
              <a:buNone/>
            </a:pPr>
            <a:r>
              <a:rPr lang="en-US" sz="1400" kern="0" spc="21" dirty="0">
                <a:solidFill>
                  <a:srgbClr val="888080"/>
                </a:solidFill>
                <a:latin typeface="Inter" pitchFamily="34" charset="0"/>
                <a:ea typeface="Inter" pitchFamily="34" charset="-122"/>
              </a:rPr>
              <a:t>Data &amp; target</a:t>
            </a:r>
          </a:p>
        </p:txBody>
      </p:sp>
      <p:sp>
        <p:nvSpPr>
          <p:cNvPr id="47" name="Text 1">
            <a:extLst>
              <a:ext uri="{FF2B5EF4-FFF2-40B4-BE49-F238E27FC236}">
                <a16:creationId xmlns:a16="http://schemas.microsoft.com/office/drawing/2014/main" id="{9720671F-9D2A-DAB8-E90C-C5B37C1E53C9}"/>
              </a:ext>
            </a:extLst>
          </p:cNvPr>
          <p:cNvSpPr/>
          <p:nvPr/>
        </p:nvSpPr>
        <p:spPr>
          <a:xfrm>
            <a:off x="261138" y="379598"/>
            <a:ext cx="1778457" cy="447678"/>
          </a:xfrm>
          <a:prstGeom prst="rect">
            <a:avLst/>
          </a:prstGeom>
          <a:noFill/>
          <a:ln/>
        </p:spPr>
        <p:txBody>
          <a:bodyPr wrap="square" lIns="25400" tIns="25400" rIns="25400" bIns="25400" rtlCol="0" anchor="t">
            <a:noAutofit/>
          </a:bodyPr>
          <a:lstStyle/>
          <a:p>
            <a:pPr marL="0" indent="0">
              <a:buNone/>
            </a:pPr>
            <a:r>
              <a:rPr lang="en-US" sz="1400" kern="0" spc="116" dirty="0">
                <a:solidFill>
                  <a:srgbClr val="888080"/>
                </a:solidFill>
                <a:latin typeface="JetBrains Mono" pitchFamily="34" charset="0"/>
                <a:ea typeface="JetBrains Mono" pitchFamily="34" charset="-122"/>
                <a:cs typeface="JetBrains Mono" pitchFamily="34" charset="-120"/>
              </a:rPr>
              <a:t>DS22 - Bar Ilan</a:t>
            </a:r>
            <a:br>
              <a:rPr lang="en-US" sz="1400" kern="0" spc="116" dirty="0">
                <a:solidFill>
                  <a:srgbClr val="888080"/>
                </a:solidFill>
                <a:latin typeface="JetBrains Mono" pitchFamily="34" charset="0"/>
                <a:ea typeface="JetBrains Mono" pitchFamily="34" charset="-122"/>
                <a:cs typeface="JetBrains Mono" pitchFamily="34" charset="-120"/>
              </a:rPr>
            </a:br>
            <a:r>
              <a:rPr lang="en-US" sz="1400" kern="0" spc="116" dirty="0">
                <a:solidFill>
                  <a:srgbClr val="888080"/>
                </a:solidFill>
                <a:latin typeface="JetBrains Mono" pitchFamily="34" charset="0"/>
                <a:ea typeface="JetBrains Mono" pitchFamily="34" charset="-122"/>
                <a:cs typeface="JetBrains Mono" pitchFamily="34" charset="-120"/>
              </a:rPr>
              <a:t>ML PROJECT</a:t>
            </a:r>
          </a:p>
          <a:p>
            <a:pPr marL="0" indent="0">
              <a:buNone/>
            </a:pPr>
            <a:r>
              <a:rPr lang="en-US" sz="1400" kern="0" spc="116" dirty="0">
                <a:solidFill>
                  <a:srgbClr val="888080"/>
                </a:solidFill>
                <a:latin typeface="JetBrains Mono" pitchFamily="34" charset="0"/>
                <a:ea typeface="JetBrains Mono" pitchFamily="34" charset="-122"/>
                <a:cs typeface="JetBrains Mono" pitchFamily="34" charset="-120"/>
              </a:rPr>
              <a:t>MAY 2026</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8">
    <p:bg>
      <p:bgPr>
        <a:solidFill>
          <a:srgbClr val="F5F1E8"/>
        </a:solidFill>
        <a:effectLst/>
      </p:bgPr>
    </p:bg>
    <p:spTree>
      <p:nvGrpSpPr>
        <p:cNvPr id="1" name=""/>
        <p:cNvGrpSpPr/>
        <p:nvPr/>
      </p:nvGrpSpPr>
      <p:grpSpPr>
        <a:xfrm>
          <a:off x="0" y="0"/>
          <a:ext cx="0" cy="0"/>
          <a:chOff x="0" y="0"/>
          <a:chExt cx="0" cy="0"/>
        </a:xfrm>
      </p:grpSpPr>
      <p:sp>
        <p:nvSpPr>
          <p:cNvPr id="2" name="Shape 0"/>
          <p:cNvSpPr/>
          <p:nvPr/>
        </p:nvSpPr>
        <p:spPr>
          <a:xfrm>
            <a:off x="0" y="0"/>
            <a:ext cx="2095500" cy="10287000"/>
          </a:xfrm>
          <a:prstGeom prst="rect">
            <a:avLst/>
          </a:prstGeom>
          <a:solidFill>
            <a:srgbClr val="EBE5D6"/>
          </a:solidFill>
          <a:ln/>
        </p:spPr>
        <p:txBody>
          <a:bodyPr/>
          <a:lstStyle/>
          <a:p>
            <a:endParaRPr lang="he-IL"/>
          </a:p>
        </p:txBody>
      </p:sp>
      <p:sp>
        <p:nvSpPr>
          <p:cNvPr id="3" name="Shape 1"/>
          <p:cNvSpPr/>
          <p:nvPr/>
        </p:nvSpPr>
        <p:spPr>
          <a:xfrm>
            <a:off x="2085975" y="0"/>
            <a:ext cx="9525" cy="10287000"/>
          </a:xfrm>
          <a:prstGeom prst="rect">
            <a:avLst/>
          </a:prstGeom>
          <a:solidFill>
            <a:srgbClr val="D4CDBC"/>
          </a:solidFill>
          <a:ln/>
        </p:spPr>
        <p:txBody>
          <a:bodyPr/>
          <a:lstStyle/>
          <a:p>
            <a:endParaRPr lang="he-IL"/>
          </a:p>
        </p:txBody>
      </p:sp>
      <p:sp>
        <p:nvSpPr>
          <p:cNvPr id="19" name="Text 17"/>
          <p:cNvSpPr/>
          <p:nvPr/>
        </p:nvSpPr>
        <p:spPr>
          <a:xfrm>
            <a:off x="2781300" y="571500"/>
            <a:ext cx="15187041" cy="171450"/>
          </a:xfrm>
          <a:prstGeom prst="rect">
            <a:avLst/>
          </a:prstGeom>
          <a:noFill/>
          <a:ln/>
        </p:spPr>
        <p:txBody>
          <a:bodyPr wrap="square" lIns="25400" tIns="25400" rIns="25400" bIns="25400" rtlCol="0" anchor="ctr">
            <a:noAutofit/>
          </a:bodyPr>
          <a:lstStyle/>
          <a:p>
            <a:pPr marL="0" indent="0" algn="l">
              <a:buNone/>
            </a:pPr>
            <a:r>
              <a:rPr lang="en-US" sz="1400" kern="0" spc="182" dirty="0">
                <a:solidFill>
                  <a:srgbClr val="888080"/>
                </a:solidFill>
                <a:latin typeface="JetBrains Mono" pitchFamily="34" charset="0"/>
                <a:ea typeface="JetBrains Mono" pitchFamily="34" charset="-122"/>
                <a:cs typeface="JetBrains Mono" pitchFamily="34" charset="-120"/>
              </a:rPr>
              <a:t>EDA · PASSENGER LOAD × TARGET</a:t>
            </a:r>
            <a:endParaRPr lang="en-US" sz="1400" dirty="0"/>
          </a:p>
        </p:txBody>
      </p:sp>
      <p:sp>
        <p:nvSpPr>
          <p:cNvPr id="20" name="Text 18"/>
          <p:cNvSpPr/>
          <p:nvPr/>
        </p:nvSpPr>
        <p:spPr>
          <a:xfrm>
            <a:off x="2781300" y="914400"/>
            <a:ext cx="15187041" cy="643830"/>
          </a:xfrm>
          <a:prstGeom prst="rect">
            <a:avLst/>
          </a:prstGeom>
          <a:noFill/>
          <a:ln/>
        </p:spPr>
        <p:txBody>
          <a:bodyPr wrap="square" lIns="25400" tIns="25400" rIns="25400" bIns="25400" rtlCol="0" anchor="t">
            <a:normAutofit fontScale="92500" lnSpcReduction="20000"/>
          </a:bodyPr>
          <a:lstStyle/>
          <a:p>
            <a:pPr marL="0" indent="0" algn="l">
              <a:lnSpc>
                <a:spcPct val="106000"/>
              </a:lnSpc>
              <a:buNone/>
            </a:pPr>
            <a:r>
              <a:rPr lang="en-US" sz="4500" kern="0" spc="-81" dirty="0">
                <a:solidFill>
                  <a:srgbClr val="1A1A1A"/>
                </a:solidFill>
                <a:latin typeface="Instrument Serif" pitchFamily="34" charset="0"/>
                <a:ea typeface="Instrument Serif" pitchFamily="34" charset="-122"/>
                <a:cs typeface="Instrument Serif" pitchFamily="34" charset="-120"/>
              </a:rPr>
              <a:t>Crowded buses run </a:t>
            </a:r>
            <a:r>
              <a:rPr lang="en-US" sz="4500" i="1" kern="0" spc="-81" dirty="0">
                <a:solidFill>
                  <a:srgbClr val="C25A2A"/>
                </a:solidFill>
                <a:latin typeface="Instrument Serif" pitchFamily="34" charset="0"/>
                <a:ea typeface="Instrument Serif" pitchFamily="34" charset="-122"/>
                <a:cs typeface="Instrument Serif" pitchFamily="34" charset="-120"/>
              </a:rPr>
              <a:t>much later.</a:t>
            </a:r>
            <a:endParaRPr lang="en-US" sz="4500" dirty="0"/>
          </a:p>
        </p:txBody>
      </p:sp>
      <p:sp>
        <p:nvSpPr>
          <p:cNvPr id="21" name="Shape 19"/>
          <p:cNvSpPr/>
          <p:nvPr/>
        </p:nvSpPr>
        <p:spPr>
          <a:xfrm>
            <a:off x="2781300" y="1748730"/>
            <a:ext cx="8886081" cy="3797945"/>
          </a:xfrm>
          <a:prstGeom prst="rect">
            <a:avLst/>
          </a:prstGeom>
          <a:solidFill>
            <a:srgbClr val="FFFFFF"/>
          </a:solidFill>
          <a:ln w="9525">
            <a:solidFill>
              <a:srgbClr val="D4CDBC"/>
            </a:solidFill>
            <a:prstDash val="solid"/>
          </a:ln>
        </p:spPr>
        <p:txBody>
          <a:bodyPr/>
          <a:lstStyle/>
          <a:p>
            <a:endParaRPr lang="he-IL"/>
          </a:p>
        </p:txBody>
      </p:sp>
      <p:sp>
        <p:nvSpPr>
          <p:cNvPr id="22" name="Text 20"/>
          <p:cNvSpPr/>
          <p:nvPr/>
        </p:nvSpPr>
        <p:spPr>
          <a:xfrm>
            <a:off x="2905125" y="1872555"/>
            <a:ext cx="3728085" cy="161925"/>
          </a:xfrm>
          <a:prstGeom prst="rect">
            <a:avLst/>
          </a:prstGeom>
          <a:noFill/>
          <a:ln/>
        </p:spPr>
        <p:txBody>
          <a:bodyPr wrap="square" lIns="25400" tIns="25400" rIns="25400" bIns="25400" rtlCol="0" anchor="t">
            <a:normAutofit lnSpcReduction="10000"/>
          </a:bodyPr>
          <a:lstStyle/>
          <a:p>
            <a:pPr marL="0" indent="0" algn="l">
              <a:buNone/>
            </a:pPr>
            <a:r>
              <a:rPr lang="en-US" sz="750" kern="0" spc="120" dirty="0">
                <a:solidFill>
                  <a:srgbClr val="888080"/>
                </a:solidFill>
                <a:latin typeface="JetBrains Mono" pitchFamily="34" charset="0"/>
                <a:ea typeface="JetBrains Mono" pitchFamily="34" charset="-122"/>
                <a:cs typeface="JetBrains Mono" pitchFamily="34" charset="-120"/>
              </a:rPr>
              <a:t>FIG · DISTRIBUTION OF Δ-DURATION BY PASSENGER LOAD</a:t>
            </a:r>
            <a:endParaRPr lang="en-US" sz="750" dirty="0"/>
          </a:p>
        </p:txBody>
      </p:sp>
      <p:sp>
        <p:nvSpPr>
          <p:cNvPr id="23" name="Text 21"/>
          <p:cNvSpPr/>
          <p:nvPr/>
        </p:nvSpPr>
        <p:spPr>
          <a:xfrm>
            <a:off x="10312896" y="1872555"/>
            <a:ext cx="1306860" cy="161925"/>
          </a:xfrm>
          <a:prstGeom prst="rect">
            <a:avLst/>
          </a:prstGeom>
          <a:noFill/>
          <a:ln/>
        </p:spPr>
        <p:txBody>
          <a:bodyPr wrap="square" lIns="25400" tIns="25400" rIns="25400" bIns="25400" rtlCol="0" anchor="t">
            <a:normAutofit lnSpcReduction="10000"/>
          </a:bodyPr>
          <a:lstStyle/>
          <a:p>
            <a:pPr marL="0" indent="0" algn="l">
              <a:buNone/>
            </a:pPr>
            <a:r>
              <a:rPr lang="en-US" sz="750" kern="0" spc="120" dirty="0">
                <a:solidFill>
                  <a:srgbClr val="888080"/>
                </a:solidFill>
                <a:latin typeface="JetBrains Mono" pitchFamily="34" charset="0"/>
                <a:ea typeface="JetBrains Mono" pitchFamily="34" charset="-122"/>
                <a:cs typeface="JetBrains Mono" pitchFamily="34" charset="-120"/>
              </a:rPr>
              <a:t>MEDIAN SPLIT @ 86</a:t>
            </a:r>
            <a:endParaRPr lang="en-US" sz="750" dirty="0"/>
          </a:p>
        </p:txBody>
      </p:sp>
      <p:sp>
        <p:nvSpPr>
          <p:cNvPr id="24" name="Shape 22"/>
          <p:cNvSpPr/>
          <p:nvPr/>
        </p:nvSpPr>
        <p:spPr>
          <a:xfrm>
            <a:off x="2905125" y="2072580"/>
            <a:ext cx="8638431" cy="3350270"/>
          </a:xfrm>
          <a:prstGeom prst="rect">
            <a:avLst/>
          </a:prstGeom>
          <a:solidFill>
            <a:srgbClr val="FFFFFF"/>
          </a:solidFill>
          <a:ln/>
        </p:spPr>
        <p:txBody>
          <a:bodyPr/>
          <a:lstStyle/>
          <a:p>
            <a:endParaRPr lang="he-IL"/>
          </a:p>
        </p:txBody>
      </p:sp>
      <p:pic>
        <p:nvPicPr>
          <p:cNvPr id="25" name="Image 0" descr="preencoded.png"/>
          <p:cNvPicPr>
            <a:picLocks noChangeAspect="1"/>
          </p:cNvPicPr>
          <p:nvPr/>
        </p:nvPicPr>
        <p:blipFill>
          <a:blip r:embed="rId3"/>
          <a:srcRect/>
          <a:stretch/>
        </p:blipFill>
        <p:spPr>
          <a:xfrm>
            <a:off x="2905125" y="2072580"/>
            <a:ext cx="8638431" cy="3350270"/>
          </a:xfrm>
          <a:prstGeom prst="rect">
            <a:avLst/>
          </a:prstGeom>
        </p:spPr>
      </p:pic>
      <p:sp>
        <p:nvSpPr>
          <p:cNvPr id="26" name="Shape 23"/>
          <p:cNvSpPr/>
          <p:nvPr/>
        </p:nvSpPr>
        <p:spPr>
          <a:xfrm>
            <a:off x="11972181" y="1748730"/>
            <a:ext cx="5553819" cy="1973461"/>
          </a:xfrm>
          <a:prstGeom prst="rect">
            <a:avLst/>
          </a:prstGeom>
          <a:solidFill>
            <a:srgbClr val="FFFFFF"/>
          </a:solidFill>
          <a:ln w="9525">
            <a:solidFill>
              <a:srgbClr val="D4CDBC"/>
            </a:solidFill>
            <a:prstDash val="solid"/>
          </a:ln>
        </p:spPr>
        <p:txBody>
          <a:bodyPr/>
          <a:lstStyle/>
          <a:p>
            <a:endParaRPr lang="he-IL"/>
          </a:p>
        </p:txBody>
      </p:sp>
      <p:sp>
        <p:nvSpPr>
          <p:cNvPr id="27" name="Text 24"/>
          <p:cNvSpPr/>
          <p:nvPr/>
        </p:nvSpPr>
        <p:spPr>
          <a:xfrm>
            <a:off x="12210306" y="1916289"/>
            <a:ext cx="5229896" cy="161925"/>
          </a:xfrm>
          <a:prstGeom prst="rect">
            <a:avLst/>
          </a:prstGeom>
          <a:noFill/>
          <a:ln/>
        </p:spPr>
        <p:txBody>
          <a:bodyPr wrap="square" lIns="25400" tIns="25400" rIns="25400" bIns="25400" rtlCol="0" anchor="t">
            <a:noAutofit/>
          </a:bodyPr>
          <a:lstStyle/>
          <a:p>
            <a:pPr marL="0" indent="0" algn="l">
              <a:buNone/>
            </a:pPr>
            <a:r>
              <a:rPr lang="en-US" sz="1400" b="1" kern="0" spc="135" dirty="0">
                <a:solidFill>
                  <a:srgbClr val="888080"/>
                </a:solidFill>
                <a:latin typeface="JetBrains Mono" pitchFamily="34" charset="0"/>
                <a:ea typeface="JetBrains Mono" pitchFamily="34" charset="-122"/>
                <a:cs typeface="JetBrains Mono" pitchFamily="34" charset="-120"/>
              </a:rPr>
              <a:t>TWO-SAMPLE T-TEST</a:t>
            </a:r>
            <a:endParaRPr lang="en-US" sz="1400" dirty="0"/>
          </a:p>
        </p:txBody>
      </p:sp>
      <p:sp>
        <p:nvSpPr>
          <p:cNvPr id="28" name="Text 25"/>
          <p:cNvSpPr/>
          <p:nvPr/>
        </p:nvSpPr>
        <p:spPr>
          <a:xfrm>
            <a:off x="12210306" y="2186880"/>
            <a:ext cx="5229896" cy="739080"/>
          </a:xfrm>
          <a:prstGeom prst="rect">
            <a:avLst/>
          </a:prstGeom>
          <a:noFill/>
          <a:ln/>
        </p:spPr>
        <p:txBody>
          <a:bodyPr wrap="square" lIns="25400" tIns="25400" rIns="25400" bIns="25400" rtlCol="0" anchor="t">
            <a:normAutofit fontScale="92500" lnSpcReduction="20000"/>
          </a:bodyPr>
          <a:lstStyle/>
          <a:p>
            <a:pPr marL="0" indent="0" algn="l">
              <a:lnSpc>
                <a:spcPct val="92000"/>
              </a:lnSpc>
              <a:buNone/>
            </a:pPr>
            <a:r>
              <a:rPr lang="en-US" sz="6000" kern="0" spc="-150" dirty="0">
                <a:solidFill>
                  <a:srgbClr val="C25A2A"/>
                </a:solidFill>
                <a:latin typeface="Instrument Serif" pitchFamily="34" charset="0"/>
                <a:ea typeface="Instrument Serif" pitchFamily="34" charset="-122"/>
                <a:cs typeface="Instrument Serif" pitchFamily="34" charset="-120"/>
              </a:rPr>
              <a:t>56.4</a:t>
            </a:r>
            <a:endParaRPr lang="en-US" sz="6000" dirty="0"/>
          </a:p>
        </p:txBody>
      </p:sp>
      <p:sp>
        <p:nvSpPr>
          <p:cNvPr id="29" name="Text 26"/>
          <p:cNvSpPr/>
          <p:nvPr/>
        </p:nvSpPr>
        <p:spPr>
          <a:xfrm>
            <a:off x="12210306" y="3059311"/>
            <a:ext cx="5229896" cy="161925"/>
          </a:xfrm>
          <a:prstGeom prst="rect">
            <a:avLst/>
          </a:prstGeom>
          <a:noFill/>
          <a:ln/>
        </p:spPr>
        <p:txBody>
          <a:bodyPr wrap="square" lIns="25400" tIns="25400" rIns="25400" bIns="25400" rtlCol="0" anchor="t">
            <a:noAutofit/>
          </a:bodyPr>
          <a:lstStyle/>
          <a:p>
            <a:pPr marL="0" indent="0" algn="l">
              <a:buNone/>
            </a:pPr>
            <a:r>
              <a:rPr lang="en-US" sz="1400" kern="0" spc="135" dirty="0">
                <a:solidFill>
                  <a:srgbClr val="888080"/>
                </a:solidFill>
                <a:latin typeface="JetBrains Mono" pitchFamily="34" charset="0"/>
                <a:ea typeface="JetBrains Mono" pitchFamily="34" charset="-122"/>
                <a:cs typeface="JetBrains Mono" pitchFamily="34" charset="-120"/>
              </a:rPr>
              <a:t>T-STATISTIC</a:t>
            </a:r>
            <a:endParaRPr lang="en-US" sz="1400" dirty="0"/>
          </a:p>
        </p:txBody>
      </p:sp>
      <p:sp>
        <p:nvSpPr>
          <p:cNvPr id="30" name="Text 27"/>
          <p:cNvSpPr/>
          <p:nvPr/>
        </p:nvSpPr>
        <p:spPr>
          <a:xfrm>
            <a:off x="12210306" y="3316486"/>
            <a:ext cx="5229896" cy="224730"/>
          </a:xfrm>
          <a:prstGeom prst="rect">
            <a:avLst/>
          </a:prstGeom>
          <a:noFill/>
          <a:ln/>
        </p:spPr>
        <p:txBody>
          <a:bodyPr wrap="square" lIns="25400" tIns="25400" rIns="25400" bIns="25400" rtlCol="0" anchor="t">
            <a:noAutofit/>
          </a:bodyPr>
          <a:lstStyle/>
          <a:p>
            <a:pPr marL="0" indent="0" algn="l">
              <a:lnSpc>
                <a:spcPct val="140000"/>
              </a:lnSpc>
              <a:buNone/>
            </a:pPr>
            <a:r>
              <a:rPr lang="en-US" sz="1400" dirty="0">
                <a:solidFill>
                  <a:srgbClr val="4A4A4A"/>
                </a:solidFill>
                <a:latin typeface="Inter" pitchFamily="34" charset="0"/>
                <a:ea typeface="Inter" pitchFamily="34" charset="-122"/>
                <a:cs typeface="Inter" pitchFamily="34" charset="-120"/>
              </a:rPr>
              <a:t>High vs. low passenger trips, split at the median (86).</a:t>
            </a:r>
            <a:endParaRPr lang="en-US" sz="1400" dirty="0"/>
          </a:p>
        </p:txBody>
      </p:sp>
      <p:sp>
        <p:nvSpPr>
          <p:cNvPr id="31" name="Shape 28"/>
          <p:cNvSpPr/>
          <p:nvPr/>
        </p:nvSpPr>
        <p:spPr>
          <a:xfrm>
            <a:off x="11972181" y="3893641"/>
            <a:ext cx="5553819" cy="1550938"/>
          </a:xfrm>
          <a:prstGeom prst="rect">
            <a:avLst/>
          </a:prstGeom>
          <a:solidFill>
            <a:srgbClr val="FFFFFF"/>
          </a:solidFill>
          <a:ln w="9525">
            <a:solidFill>
              <a:srgbClr val="D4CDBC"/>
            </a:solidFill>
            <a:prstDash val="solid"/>
          </a:ln>
        </p:spPr>
        <p:txBody>
          <a:bodyPr/>
          <a:lstStyle/>
          <a:p>
            <a:endParaRPr lang="he-IL"/>
          </a:p>
        </p:txBody>
      </p:sp>
      <p:sp>
        <p:nvSpPr>
          <p:cNvPr id="32" name="Text 29"/>
          <p:cNvSpPr/>
          <p:nvPr/>
        </p:nvSpPr>
        <p:spPr>
          <a:xfrm>
            <a:off x="12210306" y="4074079"/>
            <a:ext cx="5229896" cy="161925"/>
          </a:xfrm>
          <a:prstGeom prst="rect">
            <a:avLst/>
          </a:prstGeom>
          <a:noFill/>
          <a:ln/>
        </p:spPr>
        <p:txBody>
          <a:bodyPr wrap="square" lIns="25400" tIns="25400" rIns="25400" bIns="25400" rtlCol="0" anchor="t">
            <a:noAutofit/>
          </a:bodyPr>
          <a:lstStyle/>
          <a:p>
            <a:pPr marL="0" indent="0" algn="l">
              <a:buNone/>
            </a:pPr>
            <a:r>
              <a:rPr lang="en-US" sz="1400" b="1" kern="0" spc="135" dirty="0">
                <a:solidFill>
                  <a:srgbClr val="888080"/>
                </a:solidFill>
                <a:latin typeface="JetBrains Mono" pitchFamily="34" charset="0"/>
                <a:ea typeface="JetBrains Mono" pitchFamily="34" charset="-122"/>
                <a:cs typeface="JetBrains Mono" pitchFamily="34" charset="-120"/>
              </a:rPr>
              <a:t>P-VALUE</a:t>
            </a:r>
            <a:endParaRPr lang="en-US" sz="1400" dirty="0"/>
          </a:p>
        </p:txBody>
      </p:sp>
      <p:sp>
        <p:nvSpPr>
          <p:cNvPr id="33" name="Text 30"/>
          <p:cNvSpPr/>
          <p:nvPr/>
        </p:nvSpPr>
        <p:spPr>
          <a:xfrm>
            <a:off x="12210306" y="4331791"/>
            <a:ext cx="5229896" cy="379363"/>
          </a:xfrm>
          <a:prstGeom prst="rect">
            <a:avLst/>
          </a:prstGeom>
          <a:noFill/>
          <a:ln/>
        </p:spPr>
        <p:txBody>
          <a:bodyPr wrap="square" lIns="25400" tIns="25400" rIns="25400" bIns="25400" rtlCol="0" anchor="t">
            <a:normAutofit fontScale="92500" lnSpcReduction="20000"/>
          </a:bodyPr>
          <a:lstStyle/>
          <a:p>
            <a:pPr marL="0" indent="0" algn="l">
              <a:lnSpc>
                <a:spcPct val="112000"/>
              </a:lnSpc>
              <a:buNone/>
            </a:pPr>
            <a:r>
              <a:rPr lang="en-US" sz="2400" kern="0" spc="-19" dirty="0">
                <a:solidFill>
                  <a:srgbClr val="1A1A1A"/>
                </a:solidFill>
                <a:latin typeface="Instrument Serif" pitchFamily="34" charset="0"/>
                <a:ea typeface="Instrument Serif" pitchFamily="34" charset="-122"/>
                <a:cs typeface="Instrument Serif" pitchFamily="34" charset="-120"/>
              </a:rPr>
              <a:t>&lt; 10⁻¹⁰⁰</a:t>
            </a:r>
            <a:endParaRPr lang="en-US" sz="2400" dirty="0"/>
          </a:p>
        </p:txBody>
      </p:sp>
      <p:sp>
        <p:nvSpPr>
          <p:cNvPr id="34" name="Text 31"/>
          <p:cNvSpPr/>
          <p:nvPr/>
        </p:nvSpPr>
        <p:spPr>
          <a:xfrm>
            <a:off x="12210306" y="4768304"/>
            <a:ext cx="5229896" cy="495300"/>
          </a:xfrm>
          <a:prstGeom prst="rect">
            <a:avLst/>
          </a:prstGeom>
          <a:noFill/>
          <a:ln/>
        </p:spPr>
        <p:txBody>
          <a:bodyPr wrap="square" lIns="25400" tIns="25400" rIns="25400" bIns="25400" rtlCol="0" anchor="t">
            <a:noAutofit/>
          </a:bodyPr>
          <a:lstStyle/>
          <a:p>
            <a:pPr marL="0" indent="0" algn="l">
              <a:lnSpc>
                <a:spcPct val="150000"/>
              </a:lnSpc>
              <a:buNone/>
            </a:pPr>
            <a:r>
              <a:rPr lang="en-US" sz="1400" dirty="0">
                <a:solidFill>
                  <a:srgbClr val="4A4A4A"/>
                </a:solidFill>
                <a:latin typeface="Inter" pitchFamily="34" charset="0"/>
                <a:ea typeface="Inter" pitchFamily="34" charset="-122"/>
                <a:cs typeface="Inter" pitchFamily="34" charset="-120"/>
              </a:rPr>
              <a:t>Effectively zero. The difference between the two distributions is overwhelmingly significant.</a:t>
            </a:r>
            <a:endParaRPr lang="en-US" sz="1400" dirty="0"/>
          </a:p>
        </p:txBody>
      </p:sp>
      <p:sp>
        <p:nvSpPr>
          <p:cNvPr id="35" name="Shape 32"/>
          <p:cNvSpPr/>
          <p:nvPr/>
        </p:nvSpPr>
        <p:spPr>
          <a:xfrm>
            <a:off x="2718795" y="5997030"/>
            <a:ext cx="14807206" cy="1030784"/>
          </a:xfrm>
          <a:prstGeom prst="rect">
            <a:avLst/>
          </a:prstGeom>
          <a:solidFill>
            <a:srgbClr val="1A1A1A"/>
          </a:solidFill>
          <a:ln w="9525">
            <a:solidFill>
              <a:srgbClr val="1A1A1A"/>
            </a:solidFill>
            <a:prstDash val="solid"/>
          </a:ln>
        </p:spPr>
        <p:txBody>
          <a:bodyPr/>
          <a:lstStyle/>
          <a:p>
            <a:endParaRPr lang="he-IL"/>
          </a:p>
        </p:txBody>
      </p:sp>
      <p:sp>
        <p:nvSpPr>
          <p:cNvPr id="36" name="Text 33"/>
          <p:cNvSpPr/>
          <p:nvPr/>
        </p:nvSpPr>
        <p:spPr>
          <a:xfrm>
            <a:off x="3117822" y="6099125"/>
            <a:ext cx="5229896" cy="161925"/>
          </a:xfrm>
          <a:prstGeom prst="rect">
            <a:avLst/>
          </a:prstGeom>
          <a:noFill/>
          <a:ln/>
        </p:spPr>
        <p:txBody>
          <a:bodyPr wrap="square" lIns="25400" tIns="25400" rIns="25400" bIns="25400" rtlCol="0" anchor="t">
            <a:noAutofit/>
          </a:bodyPr>
          <a:lstStyle/>
          <a:p>
            <a:pPr marL="0" indent="0" algn="l">
              <a:buNone/>
            </a:pPr>
            <a:r>
              <a:rPr lang="en-US" sz="1400" b="1" kern="0" spc="135" dirty="0">
                <a:solidFill>
                  <a:srgbClr val="C25A2A"/>
                </a:solidFill>
                <a:latin typeface="JetBrains Mono" pitchFamily="34" charset="0"/>
                <a:ea typeface="JetBrains Mono" pitchFamily="34" charset="-122"/>
                <a:cs typeface="JetBrains Mono" pitchFamily="34" charset="-120"/>
              </a:rPr>
              <a:t>READ THIS WAY</a:t>
            </a:r>
            <a:endParaRPr lang="en-US" sz="1400" dirty="0"/>
          </a:p>
        </p:txBody>
      </p:sp>
      <p:sp>
        <p:nvSpPr>
          <p:cNvPr id="37" name="Text 34"/>
          <p:cNvSpPr/>
          <p:nvPr/>
        </p:nvSpPr>
        <p:spPr>
          <a:xfrm>
            <a:off x="3117822" y="6435179"/>
            <a:ext cx="14322380" cy="592634"/>
          </a:xfrm>
          <a:prstGeom prst="rect">
            <a:avLst/>
          </a:prstGeom>
          <a:noFill/>
          <a:ln/>
        </p:spPr>
        <p:txBody>
          <a:bodyPr wrap="square" lIns="25400" tIns="25400" rIns="25400" bIns="25400" rtlCol="0" anchor="t">
            <a:normAutofit/>
          </a:bodyPr>
          <a:lstStyle/>
          <a:p>
            <a:pPr marL="0" indent="0" algn="l">
              <a:lnSpc>
                <a:spcPct val="112000"/>
              </a:lnSpc>
              <a:buNone/>
            </a:pPr>
            <a:r>
              <a:rPr lang="en-US" sz="1950" i="1" kern="0" spc="-16" dirty="0">
                <a:solidFill>
                  <a:srgbClr val="C25A2A"/>
                </a:solidFill>
                <a:latin typeface="Instrument Serif" pitchFamily="34" charset="0"/>
                <a:ea typeface="Instrument Serif" pitchFamily="34" charset="-122"/>
                <a:cs typeface="Instrument Serif" pitchFamily="34" charset="-120"/>
              </a:rPr>
              <a:t>Crowding causes lateness </a:t>
            </a:r>
            <a:r>
              <a:rPr lang="en-US" sz="1950" kern="0" spc="-16" dirty="0">
                <a:solidFill>
                  <a:srgbClr val="F5F1E8"/>
                </a:solidFill>
                <a:latin typeface="Instrument Serif" pitchFamily="34" charset="0"/>
                <a:ea typeface="Instrument Serif" pitchFamily="34" charset="-122"/>
                <a:cs typeface="Instrument Serif" pitchFamily="34" charset="-120"/>
              </a:rPr>
              <a:t>— the high-load distribution is shifted ~15 min later than the low-load distribution.</a:t>
            </a:r>
            <a:endParaRPr lang="en-US" sz="1950" dirty="0"/>
          </a:p>
        </p:txBody>
      </p:sp>
      <p:sp>
        <p:nvSpPr>
          <p:cNvPr id="38" name="Text 16">
            <a:extLst>
              <a:ext uri="{FF2B5EF4-FFF2-40B4-BE49-F238E27FC236}">
                <a16:creationId xmlns:a16="http://schemas.microsoft.com/office/drawing/2014/main" id="{1FB54CFC-157D-13FE-04F2-317518C12AA0}"/>
              </a:ext>
            </a:extLst>
          </p:cNvPr>
          <p:cNvSpPr/>
          <p:nvPr/>
        </p:nvSpPr>
        <p:spPr>
          <a:xfrm>
            <a:off x="266700" y="9410700"/>
            <a:ext cx="1628775" cy="342900"/>
          </a:xfrm>
          <a:prstGeom prst="rect">
            <a:avLst/>
          </a:prstGeom>
          <a:noFill/>
          <a:ln/>
        </p:spPr>
        <p:txBody>
          <a:bodyPr wrap="square" lIns="25400" tIns="25400" rIns="25400" bIns="25400" rtlCol="0" anchor="t">
            <a:noAutofit/>
          </a:bodyPr>
          <a:lstStyle/>
          <a:p>
            <a:pPr>
              <a:lnSpc>
                <a:spcPct val="160000"/>
              </a:lnSpc>
            </a:pPr>
            <a:r>
              <a:rPr lang="en-US" sz="1400" b="1" kern="0" spc="105" dirty="0">
                <a:solidFill>
                  <a:srgbClr val="1A1A1A"/>
                </a:solidFill>
                <a:latin typeface="JetBrains Mono" pitchFamily="34" charset="0"/>
                <a:ea typeface="JetBrains Mono" pitchFamily="34" charset="-122"/>
                <a:cs typeface="JetBrains Mono" pitchFamily="34" charset="-120"/>
              </a:rPr>
              <a:t>14 / 34</a:t>
            </a:r>
            <a:endParaRPr lang="en-US" sz="1400" dirty="0"/>
          </a:p>
        </p:txBody>
      </p:sp>
      <p:sp>
        <p:nvSpPr>
          <p:cNvPr id="39" name="Text 4">
            <a:extLst>
              <a:ext uri="{FF2B5EF4-FFF2-40B4-BE49-F238E27FC236}">
                <a16:creationId xmlns:a16="http://schemas.microsoft.com/office/drawing/2014/main" id="{080A6F9A-1AD2-8691-FACD-629BBDFFA974}"/>
              </a:ext>
            </a:extLst>
          </p:cNvPr>
          <p:cNvSpPr/>
          <p:nvPr/>
        </p:nvSpPr>
        <p:spPr>
          <a:xfrm>
            <a:off x="228063" y="1524367"/>
            <a:ext cx="372012" cy="200025"/>
          </a:xfrm>
          <a:prstGeom prst="rect">
            <a:avLst/>
          </a:prstGeom>
          <a:noFill/>
          <a:ln/>
        </p:spPr>
        <p:txBody>
          <a:bodyPr wrap="square" lIns="25400" tIns="25400" rIns="25400" bIns="25400" rtlCol="0" anchor="t">
            <a:noAutofit/>
          </a:bodyPr>
          <a:lstStyle/>
          <a:p>
            <a:pPr marL="0" indent="0" algn="l">
              <a:lnSpc>
                <a:spcPct val="130000"/>
              </a:lnSpc>
              <a:buNone/>
            </a:pPr>
            <a:r>
              <a:rPr lang="en-US" sz="1400" kern="0" spc="21" dirty="0">
                <a:solidFill>
                  <a:srgbClr val="888080"/>
                </a:solidFill>
                <a:latin typeface="Inter" pitchFamily="34" charset="0"/>
                <a:ea typeface="Inter" pitchFamily="34" charset="-122"/>
              </a:rPr>
              <a:t>01</a:t>
            </a:r>
          </a:p>
        </p:txBody>
      </p:sp>
      <p:sp>
        <p:nvSpPr>
          <p:cNvPr id="40" name="Text 5">
            <a:extLst>
              <a:ext uri="{FF2B5EF4-FFF2-40B4-BE49-F238E27FC236}">
                <a16:creationId xmlns:a16="http://schemas.microsoft.com/office/drawing/2014/main" id="{20A303DB-6805-2F5C-024E-6EBC6B4CB343}"/>
              </a:ext>
            </a:extLst>
          </p:cNvPr>
          <p:cNvSpPr/>
          <p:nvPr/>
        </p:nvSpPr>
        <p:spPr>
          <a:xfrm>
            <a:off x="523875" y="1522975"/>
            <a:ext cx="876300" cy="476251"/>
          </a:xfrm>
          <a:prstGeom prst="rect">
            <a:avLst/>
          </a:prstGeom>
          <a:noFill/>
          <a:ln/>
        </p:spPr>
        <p:txBody>
          <a:bodyPr wrap="square" lIns="25400" tIns="25400" rIns="25400" bIns="25400" rtlCol="0" anchor="t">
            <a:normAutofit/>
          </a:bodyPr>
          <a:lstStyle/>
          <a:p>
            <a:pPr marL="0" indent="0" algn="l">
              <a:lnSpc>
                <a:spcPct val="130000"/>
              </a:lnSpc>
              <a:buNone/>
            </a:pPr>
            <a:r>
              <a:rPr lang="en-US" sz="1400" kern="0" spc="21" dirty="0">
                <a:solidFill>
                  <a:srgbClr val="888080"/>
                </a:solidFill>
                <a:latin typeface="Inter" pitchFamily="34" charset="0"/>
                <a:ea typeface="Inter" pitchFamily="34" charset="-122"/>
              </a:rPr>
              <a:t>Agenda</a:t>
            </a:r>
          </a:p>
        </p:txBody>
      </p:sp>
      <p:sp>
        <p:nvSpPr>
          <p:cNvPr id="41" name="Text 6">
            <a:extLst>
              <a:ext uri="{FF2B5EF4-FFF2-40B4-BE49-F238E27FC236}">
                <a16:creationId xmlns:a16="http://schemas.microsoft.com/office/drawing/2014/main" id="{F072168F-B5F9-5C0F-A605-8F5A6374E0A1}"/>
              </a:ext>
            </a:extLst>
          </p:cNvPr>
          <p:cNvSpPr/>
          <p:nvPr/>
        </p:nvSpPr>
        <p:spPr>
          <a:xfrm>
            <a:off x="228063" y="1830953"/>
            <a:ext cx="372010" cy="194877"/>
          </a:xfrm>
          <a:prstGeom prst="rect">
            <a:avLst/>
          </a:prstGeom>
          <a:noFill/>
          <a:ln/>
        </p:spPr>
        <p:txBody>
          <a:bodyPr wrap="square" lIns="25400" tIns="25400" rIns="25400" bIns="25400" rtlCol="0" anchor="t">
            <a:noAutofit/>
          </a:bodyPr>
          <a:lstStyle/>
          <a:p>
            <a:pPr marL="0" indent="0" algn="l">
              <a:lnSpc>
                <a:spcPct val="130000"/>
              </a:lnSpc>
              <a:buNone/>
            </a:pPr>
            <a:r>
              <a:rPr lang="en-US" sz="1400" kern="0" spc="21" dirty="0">
                <a:solidFill>
                  <a:srgbClr val="888080"/>
                </a:solidFill>
                <a:latin typeface="Inter" pitchFamily="34" charset="0"/>
                <a:ea typeface="Inter" pitchFamily="34" charset="-122"/>
              </a:rPr>
              <a:t>02</a:t>
            </a:r>
          </a:p>
        </p:txBody>
      </p:sp>
      <p:sp>
        <p:nvSpPr>
          <p:cNvPr id="42" name="Text 8">
            <a:extLst>
              <a:ext uri="{FF2B5EF4-FFF2-40B4-BE49-F238E27FC236}">
                <a16:creationId xmlns:a16="http://schemas.microsoft.com/office/drawing/2014/main" id="{865D92C6-61D8-BEFE-AE13-AA45EA9DD11A}"/>
              </a:ext>
            </a:extLst>
          </p:cNvPr>
          <p:cNvSpPr/>
          <p:nvPr/>
        </p:nvSpPr>
        <p:spPr>
          <a:xfrm>
            <a:off x="230504" y="2152895"/>
            <a:ext cx="302895" cy="141422"/>
          </a:xfrm>
          <a:prstGeom prst="rect">
            <a:avLst/>
          </a:prstGeom>
          <a:noFill/>
          <a:ln/>
        </p:spPr>
        <p:txBody>
          <a:bodyPr wrap="square" lIns="25400" tIns="25400" rIns="25400" bIns="25400" rtlCol="0" anchor="t">
            <a:noAutofit/>
          </a:bodyPr>
          <a:lstStyle/>
          <a:p>
            <a:pPr marL="0" indent="0" algn="l">
              <a:lnSpc>
                <a:spcPct val="130000"/>
              </a:lnSpc>
              <a:buNone/>
            </a:pPr>
            <a:r>
              <a:rPr lang="en-US" sz="1400" b="1" kern="0" spc="21" dirty="0">
                <a:solidFill>
                  <a:srgbClr val="C25A2A"/>
                </a:solidFill>
                <a:latin typeface="JetBrains Mono" pitchFamily="34" charset="0"/>
                <a:ea typeface="JetBrains Mono" pitchFamily="34" charset="-122"/>
              </a:rPr>
              <a:t>03</a:t>
            </a:r>
          </a:p>
        </p:txBody>
      </p:sp>
      <p:sp>
        <p:nvSpPr>
          <p:cNvPr id="43" name="Text 9">
            <a:extLst>
              <a:ext uri="{FF2B5EF4-FFF2-40B4-BE49-F238E27FC236}">
                <a16:creationId xmlns:a16="http://schemas.microsoft.com/office/drawing/2014/main" id="{A23CFF0D-30BF-9A73-EEE9-0D6D52B532CE}"/>
              </a:ext>
            </a:extLst>
          </p:cNvPr>
          <p:cNvSpPr/>
          <p:nvPr/>
        </p:nvSpPr>
        <p:spPr>
          <a:xfrm>
            <a:off x="531240" y="2145027"/>
            <a:ext cx="1185416" cy="342476"/>
          </a:xfrm>
          <a:prstGeom prst="rect">
            <a:avLst/>
          </a:prstGeom>
          <a:noFill/>
          <a:ln/>
        </p:spPr>
        <p:txBody>
          <a:bodyPr wrap="square" lIns="25400" tIns="25400" rIns="25400" bIns="25400" rtlCol="0" anchor="t">
            <a:normAutofit/>
          </a:bodyPr>
          <a:lstStyle/>
          <a:p>
            <a:pPr marL="0" indent="0" algn="l">
              <a:lnSpc>
                <a:spcPct val="130000"/>
              </a:lnSpc>
              <a:buNone/>
            </a:pPr>
            <a:r>
              <a:rPr lang="en-US" sz="1400" kern="0" spc="21" dirty="0">
                <a:solidFill>
                  <a:srgbClr val="1A1A1A"/>
                </a:solidFill>
                <a:latin typeface="Inter" pitchFamily="34" charset="0"/>
                <a:ea typeface="Inter" pitchFamily="34" charset="-122"/>
              </a:rPr>
              <a:t>EDA</a:t>
            </a:r>
          </a:p>
        </p:txBody>
      </p:sp>
      <p:sp>
        <p:nvSpPr>
          <p:cNvPr id="44" name="Text 10">
            <a:extLst>
              <a:ext uri="{FF2B5EF4-FFF2-40B4-BE49-F238E27FC236}">
                <a16:creationId xmlns:a16="http://schemas.microsoft.com/office/drawing/2014/main" id="{7FD7D1AE-9836-21EC-7695-0C8567458D97}"/>
              </a:ext>
            </a:extLst>
          </p:cNvPr>
          <p:cNvSpPr/>
          <p:nvPr/>
        </p:nvSpPr>
        <p:spPr>
          <a:xfrm>
            <a:off x="228062" y="2444125"/>
            <a:ext cx="305337" cy="172132"/>
          </a:xfrm>
          <a:prstGeom prst="rect">
            <a:avLst/>
          </a:prstGeom>
          <a:noFill/>
          <a:ln/>
        </p:spPr>
        <p:txBody>
          <a:bodyPr wrap="square" lIns="25400" tIns="25400" rIns="25400" bIns="25400" rtlCol="0" anchor="t">
            <a:noAutofit/>
          </a:bodyPr>
          <a:lstStyle/>
          <a:p>
            <a:pPr marL="0" indent="0" algn="l">
              <a:lnSpc>
                <a:spcPct val="130000"/>
              </a:lnSpc>
              <a:buNone/>
            </a:pPr>
            <a:r>
              <a:rPr lang="en-US" sz="1400" kern="0" spc="21" dirty="0">
                <a:solidFill>
                  <a:srgbClr val="888080"/>
                </a:solidFill>
                <a:latin typeface="JetBrains Mono" pitchFamily="34" charset="0"/>
                <a:ea typeface="JetBrains Mono" pitchFamily="34" charset="-122"/>
                <a:cs typeface="JetBrains Mono" pitchFamily="34" charset="-120"/>
              </a:rPr>
              <a:t>04</a:t>
            </a:r>
            <a:endParaRPr lang="en-US" sz="1400" dirty="0"/>
          </a:p>
        </p:txBody>
      </p:sp>
      <p:sp>
        <p:nvSpPr>
          <p:cNvPr id="45" name="Text 12">
            <a:extLst>
              <a:ext uri="{FF2B5EF4-FFF2-40B4-BE49-F238E27FC236}">
                <a16:creationId xmlns:a16="http://schemas.microsoft.com/office/drawing/2014/main" id="{0F30C25A-D058-9A44-E2F6-10C94F203DDD}"/>
              </a:ext>
            </a:extLst>
          </p:cNvPr>
          <p:cNvSpPr/>
          <p:nvPr/>
        </p:nvSpPr>
        <p:spPr>
          <a:xfrm>
            <a:off x="228062" y="2750711"/>
            <a:ext cx="372011" cy="158880"/>
          </a:xfrm>
          <a:prstGeom prst="rect">
            <a:avLst/>
          </a:prstGeom>
          <a:noFill/>
          <a:ln/>
        </p:spPr>
        <p:txBody>
          <a:bodyPr wrap="square" lIns="25400" tIns="25400" rIns="25400" bIns="25400" rtlCol="0" anchor="t">
            <a:noAutofit/>
          </a:bodyPr>
          <a:lstStyle/>
          <a:p>
            <a:pPr marL="0" indent="0" algn="l">
              <a:lnSpc>
                <a:spcPct val="130000"/>
              </a:lnSpc>
              <a:buNone/>
            </a:pPr>
            <a:r>
              <a:rPr lang="en-US" sz="1400" kern="0" spc="21" dirty="0">
                <a:solidFill>
                  <a:srgbClr val="888080"/>
                </a:solidFill>
                <a:latin typeface="JetBrains Mono" pitchFamily="34" charset="0"/>
                <a:ea typeface="JetBrains Mono" pitchFamily="34" charset="-122"/>
                <a:cs typeface="JetBrains Mono" pitchFamily="34" charset="-120"/>
              </a:rPr>
              <a:t>05</a:t>
            </a:r>
            <a:endParaRPr lang="en-US" sz="1400" dirty="0"/>
          </a:p>
        </p:txBody>
      </p:sp>
      <p:sp>
        <p:nvSpPr>
          <p:cNvPr id="46" name="Text 13">
            <a:extLst>
              <a:ext uri="{FF2B5EF4-FFF2-40B4-BE49-F238E27FC236}">
                <a16:creationId xmlns:a16="http://schemas.microsoft.com/office/drawing/2014/main" id="{915D3304-FCC4-37E1-5440-BD3A45493A00}"/>
              </a:ext>
            </a:extLst>
          </p:cNvPr>
          <p:cNvSpPr/>
          <p:nvPr/>
        </p:nvSpPr>
        <p:spPr>
          <a:xfrm>
            <a:off x="533399" y="2725489"/>
            <a:ext cx="948333" cy="761256"/>
          </a:xfrm>
          <a:prstGeom prst="rect">
            <a:avLst/>
          </a:prstGeom>
          <a:noFill/>
          <a:ln/>
        </p:spPr>
        <p:txBody>
          <a:bodyPr wrap="square" lIns="25400" tIns="25400" rIns="25400" bIns="25400" rtlCol="0" anchor="t">
            <a:normAutofit/>
          </a:bodyPr>
          <a:lstStyle/>
          <a:p>
            <a:pPr marL="0" indent="0" algn="l">
              <a:lnSpc>
                <a:spcPct val="130000"/>
              </a:lnSpc>
              <a:buNone/>
            </a:pPr>
            <a:r>
              <a:rPr lang="en-US" sz="1400" kern="0" spc="21" dirty="0">
                <a:solidFill>
                  <a:srgbClr val="888080"/>
                </a:solidFill>
                <a:latin typeface="Inter" pitchFamily="34" charset="0"/>
                <a:ea typeface="Inter" pitchFamily="34" charset="-122"/>
                <a:cs typeface="Inter" pitchFamily="34" charset="-120"/>
              </a:rPr>
              <a:t>Modeling</a:t>
            </a:r>
            <a:endParaRPr lang="en-US" sz="1400" dirty="0"/>
          </a:p>
        </p:txBody>
      </p:sp>
      <p:sp>
        <p:nvSpPr>
          <p:cNvPr id="47" name="Text 14">
            <a:extLst>
              <a:ext uri="{FF2B5EF4-FFF2-40B4-BE49-F238E27FC236}">
                <a16:creationId xmlns:a16="http://schemas.microsoft.com/office/drawing/2014/main" id="{5EED100E-68EA-D94D-603A-FD44CD40E002}"/>
              </a:ext>
            </a:extLst>
          </p:cNvPr>
          <p:cNvSpPr/>
          <p:nvPr/>
        </p:nvSpPr>
        <p:spPr>
          <a:xfrm>
            <a:off x="235683" y="3042056"/>
            <a:ext cx="372010" cy="191463"/>
          </a:xfrm>
          <a:prstGeom prst="rect">
            <a:avLst/>
          </a:prstGeom>
          <a:noFill/>
          <a:ln/>
        </p:spPr>
        <p:txBody>
          <a:bodyPr wrap="square" lIns="25400" tIns="25400" rIns="25400" bIns="25400" rtlCol="0" anchor="t">
            <a:noAutofit/>
          </a:bodyPr>
          <a:lstStyle/>
          <a:p>
            <a:pPr marL="0" indent="0" algn="l">
              <a:lnSpc>
                <a:spcPct val="130000"/>
              </a:lnSpc>
              <a:buNone/>
            </a:pPr>
            <a:r>
              <a:rPr lang="en-US" sz="1400" kern="0" spc="21" dirty="0">
                <a:solidFill>
                  <a:srgbClr val="888080"/>
                </a:solidFill>
                <a:latin typeface="JetBrains Mono" pitchFamily="34" charset="0"/>
                <a:ea typeface="JetBrains Mono" pitchFamily="34" charset="-122"/>
                <a:cs typeface="JetBrains Mono" pitchFamily="34" charset="-120"/>
              </a:rPr>
              <a:t>06</a:t>
            </a:r>
            <a:endParaRPr lang="en-US" sz="1400" dirty="0"/>
          </a:p>
        </p:txBody>
      </p:sp>
      <p:sp>
        <p:nvSpPr>
          <p:cNvPr id="48" name="Text 15">
            <a:extLst>
              <a:ext uri="{FF2B5EF4-FFF2-40B4-BE49-F238E27FC236}">
                <a16:creationId xmlns:a16="http://schemas.microsoft.com/office/drawing/2014/main" id="{ABD67239-7A16-F907-CE9A-615F00729491}"/>
              </a:ext>
            </a:extLst>
          </p:cNvPr>
          <p:cNvSpPr/>
          <p:nvPr/>
        </p:nvSpPr>
        <p:spPr>
          <a:xfrm>
            <a:off x="533400" y="3032075"/>
            <a:ext cx="1185416" cy="626120"/>
          </a:xfrm>
          <a:prstGeom prst="rect">
            <a:avLst/>
          </a:prstGeom>
          <a:noFill/>
          <a:ln/>
        </p:spPr>
        <p:txBody>
          <a:bodyPr wrap="square" lIns="25400" tIns="25400" rIns="25400" bIns="25400" rtlCol="0" anchor="t">
            <a:normAutofit/>
          </a:bodyPr>
          <a:lstStyle/>
          <a:p>
            <a:pPr marL="0" indent="0" algn="l">
              <a:lnSpc>
                <a:spcPct val="130000"/>
              </a:lnSpc>
              <a:buNone/>
            </a:pPr>
            <a:r>
              <a:rPr lang="en-US" sz="1400" kern="0" spc="21" dirty="0">
                <a:solidFill>
                  <a:srgbClr val="888080"/>
                </a:solidFill>
                <a:latin typeface="Inter" pitchFamily="34" charset="0"/>
                <a:ea typeface="Inter" pitchFamily="34" charset="-122"/>
                <a:cs typeface="Inter" pitchFamily="34" charset="-120"/>
              </a:rPr>
              <a:t>Conclusions</a:t>
            </a:r>
            <a:endParaRPr lang="en-US" sz="1400" dirty="0"/>
          </a:p>
        </p:txBody>
      </p:sp>
      <p:sp>
        <p:nvSpPr>
          <p:cNvPr id="49" name="Text 9">
            <a:extLst>
              <a:ext uri="{FF2B5EF4-FFF2-40B4-BE49-F238E27FC236}">
                <a16:creationId xmlns:a16="http://schemas.microsoft.com/office/drawing/2014/main" id="{948040B1-88A2-CDBC-BDA3-0EBDDC5E9A8D}"/>
              </a:ext>
            </a:extLst>
          </p:cNvPr>
          <p:cNvSpPr/>
          <p:nvPr/>
        </p:nvSpPr>
        <p:spPr>
          <a:xfrm>
            <a:off x="538609" y="2426180"/>
            <a:ext cx="1185416" cy="342476"/>
          </a:xfrm>
          <a:prstGeom prst="rect">
            <a:avLst/>
          </a:prstGeom>
          <a:noFill/>
          <a:ln/>
        </p:spPr>
        <p:txBody>
          <a:bodyPr wrap="square" lIns="25400" tIns="25400" rIns="25400" bIns="25400" rtlCol="0" anchor="t">
            <a:normAutofit/>
          </a:bodyPr>
          <a:lstStyle/>
          <a:p>
            <a:pPr marL="0" indent="0" algn="l">
              <a:lnSpc>
                <a:spcPct val="130000"/>
              </a:lnSpc>
              <a:buNone/>
            </a:pPr>
            <a:r>
              <a:rPr lang="en-US" sz="1400" kern="0" spc="21" dirty="0">
                <a:solidFill>
                  <a:srgbClr val="888080"/>
                </a:solidFill>
                <a:latin typeface="Inter" pitchFamily="34" charset="0"/>
                <a:ea typeface="Inter" pitchFamily="34" charset="-122"/>
                <a:cs typeface="Inter" pitchFamily="34" charset="-120"/>
              </a:rPr>
              <a:t>Pipeline</a:t>
            </a:r>
            <a:endParaRPr lang="en-US" sz="1400" dirty="0"/>
          </a:p>
        </p:txBody>
      </p:sp>
      <p:sp>
        <p:nvSpPr>
          <p:cNvPr id="50" name="Text 7">
            <a:extLst>
              <a:ext uri="{FF2B5EF4-FFF2-40B4-BE49-F238E27FC236}">
                <a16:creationId xmlns:a16="http://schemas.microsoft.com/office/drawing/2014/main" id="{7234CCCC-AF14-BBFB-092D-D3AC748920FA}"/>
              </a:ext>
            </a:extLst>
          </p:cNvPr>
          <p:cNvSpPr/>
          <p:nvPr/>
        </p:nvSpPr>
        <p:spPr>
          <a:xfrm>
            <a:off x="523875" y="1826620"/>
            <a:ext cx="1325700" cy="467696"/>
          </a:xfrm>
          <a:prstGeom prst="rect">
            <a:avLst/>
          </a:prstGeom>
          <a:noFill/>
          <a:ln/>
        </p:spPr>
        <p:txBody>
          <a:bodyPr wrap="square" lIns="25400" tIns="25400" rIns="25400" bIns="25400" rtlCol="0" anchor="t">
            <a:noAutofit/>
          </a:bodyPr>
          <a:lstStyle/>
          <a:p>
            <a:pPr marL="0" indent="0" algn="l">
              <a:lnSpc>
                <a:spcPct val="130000"/>
              </a:lnSpc>
              <a:buNone/>
            </a:pPr>
            <a:r>
              <a:rPr lang="en-US" sz="1400" kern="0" spc="21" dirty="0">
                <a:solidFill>
                  <a:srgbClr val="888080"/>
                </a:solidFill>
                <a:latin typeface="Inter" pitchFamily="34" charset="0"/>
                <a:ea typeface="Inter" pitchFamily="34" charset="-122"/>
              </a:rPr>
              <a:t>Data &amp; target</a:t>
            </a:r>
          </a:p>
        </p:txBody>
      </p:sp>
      <p:sp>
        <p:nvSpPr>
          <p:cNvPr id="51" name="Text 1">
            <a:extLst>
              <a:ext uri="{FF2B5EF4-FFF2-40B4-BE49-F238E27FC236}">
                <a16:creationId xmlns:a16="http://schemas.microsoft.com/office/drawing/2014/main" id="{C745474D-C7AD-23A3-4A41-CFE91E0EB77D}"/>
              </a:ext>
            </a:extLst>
          </p:cNvPr>
          <p:cNvSpPr/>
          <p:nvPr/>
        </p:nvSpPr>
        <p:spPr>
          <a:xfrm>
            <a:off x="261138" y="379598"/>
            <a:ext cx="1778457" cy="447678"/>
          </a:xfrm>
          <a:prstGeom prst="rect">
            <a:avLst/>
          </a:prstGeom>
          <a:noFill/>
          <a:ln/>
        </p:spPr>
        <p:txBody>
          <a:bodyPr wrap="square" lIns="25400" tIns="25400" rIns="25400" bIns="25400" rtlCol="0" anchor="t">
            <a:noAutofit/>
          </a:bodyPr>
          <a:lstStyle/>
          <a:p>
            <a:pPr marL="0" indent="0">
              <a:buNone/>
            </a:pPr>
            <a:r>
              <a:rPr lang="en-US" sz="1400" kern="0" spc="116" dirty="0">
                <a:solidFill>
                  <a:srgbClr val="888080"/>
                </a:solidFill>
                <a:latin typeface="JetBrains Mono" pitchFamily="34" charset="0"/>
                <a:ea typeface="JetBrains Mono" pitchFamily="34" charset="-122"/>
                <a:cs typeface="JetBrains Mono" pitchFamily="34" charset="-120"/>
              </a:rPr>
              <a:t>DS22 - Bar Ilan</a:t>
            </a:r>
            <a:br>
              <a:rPr lang="en-US" sz="1400" kern="0" spc="116" dirty="0">
                <a:solidFill>
                  <a:srgbClr val="888080"/>
                </a:solidFill>
                <a:latin typeface="JetBrains Mono" pitchFamily="34" charset="0"/>
                <a:ea typeface="JetBrains Mono" pitchFamily="34" charset="-122"/>
                <a:cs typeface="JetBrains Mono" pitchFamily="34" charset="-120"/>
              </a:rPr>
            </a:br>
            <a:r>
              <a:rPr lang="en-US" sz="1400" kern="0" spc="116" dirty="0">
                <a:solidFill>
                  <a:srgbClr val="888080"/>
                </a:solidFill>
                <a:latin typeface="JetBrains Mono" pitchFamily="34" charset="0"/>
                <a:ea typeface="JetBrains Mono" pitchFamily="34" charset="-122"/>
                <a:cs typeface="JetBrains Mono" pitchFamily="34" charset="-120"/>
              </a:rPr>
              <a:t>ML PROJECT</a:t>
            </a:r>
          </a:p>
          <a:p>
            <a:pPr marL="0" indent="0">
              <a:buNone/>
            </a:pPr>
            <a:r>
              <a:rPr lang="en-US" sz="1400" kern="0" spc="116" dirty="0">
                <a:solidFill>
                  <a:srgbClr val="888080"/>
                </a:solidFill>
                <a:latin typeface="JetBrains Mono" pitchFamily="34" charset="0"/>
                <a:ea typeface="JetBrains Mono" pitchFamily="34" charset="-122"/>
                <a:cs typeface="JetBrains Mono" pitchFamily="34" charset="-120"/>
              </a:rPr>
              <a:t>MAY 2026</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1E8"/>
        </a:solidFill>
        <a:effectLst/>
      </p:bgPr>
    </p:bg>
    <p:spTree>
      <p:nvGrpSpPr>
        <p:cNvPr id="1" name=""/>
        <p:cNvGrpSpPr/>
        <p:nvPr/>
      </p:nvGrpSpPr>
      <p:grpSpPr>
        <a:xfrm>
          <a:off x="0" y="0"/>
          <a:ext cx="0" cy="0"/>
          <a:chOff x="0" y="0"/>
          <a:chExt cx="0" cy="0"/>
        </a:xfrm>
      </p:grpSpPr>
      <p:sp>
        <p:nvSpPr>
          <p:cNvPr id="2" name="Shape 0"/>
          <p:cNvSpPr/>
          <p:nvPr/>
        </p:nvSpPr>
        <p:spPr>
          <a:xfrm>
            <a:off x="0" y="0"/>
            <a:ext cx="2095500" cy="10287000"/>
          </a:xfrm>
          <a:prstGeom prst="rect">
            <a:avLst/>
          </a:prstGeom>
          <a:solidFill>
            <a:srgbClr val="EBE5D6"/>
          </a:solidFill>
          <a:ln/>
        </p:spPr>
        <p:txBody>
          <a:bodyPr/>
          <a:lstStyle/>
          <a:p>
            <a:endParaRPr lang="he-IL"/>
          </a:p>
        </p:txBody>
      </p:sp>
      <p:sp>
        <p:nvSpPr>
          <p:cNvPr id="3" name="Shape 1"/>
          <p:cNvSpPr/>
          <p:nvPr/>
        </p:nvSpPr>
        <p:spPr>
          <a:xfrm>
            <a:off x="2085975" y="0"/>
            <a:ext cx="9525" cy="10287000"/>
          </a:xfrm>
          <a:prstGeom prst="rect">
            <a:avLst/>
          </a:prstGeom>
          <a:solidFill>
            <a:srgbClr val="D4CDBC"/>
          </a:solidFill>
          <a:ln/>
        </p:spPr>
        <p:txBody>
          <a:bodyPr/>
          <a:lstStyle/>
          <a:p>
            <a:endParaRPr lang="he-IL"/>
          </a:p>
        </p:txBody>
      </p:sp>
      <p:sp>
        <p:nvSpPr>
          <p:cNvPr id="19" name="Text 17"/>
          <p:cNvSpPr/>
          <p:nvPr/>
        </p:nvSpPr>
        <p:spPr>
          <a:xfrm>
            <a:off x="2781300" y="571500"/>
            <a:ext cx="15187041" cy="171450"/>
          </a:xfrm>
          <a:prstGeom prst="rect">
            <a:avLst/>
          </a:prstGeom>
          <a:noFill/>
          <a:ln/>
        </p:spPr>
        <p:txBody>
          <a:bodyPr wrap="square" lIns="25400" tIns="25400" rIns="25400" bIns="25400" rtlCol="0" anchor="ctr">
            <a:noAutofit/>
          </a:bodyPr>
          <a:lstStyle/>
          <a:p>
            <a:pPr marL="0" indent="0" algn="l">
              <a:buNone/>
            </a:pPr>
            <a:r>
              <a:rPr lang="en-US" sz="1400" kern="0" spc="182" dirty="0">
                <a:solidFill>
                  <a:srgbClr val="888080"/>
                </a:solidFill>
                <a:latin typeface="JetBrains Mono" pitchFamily="34" charset="0"/>
                <a:ea typeface="JetBrains Mono" pitchFamily="34" charset="-122"/>
                <a:cs typeface="JetBrains Mono" pitchFamily="34" charset="-120"/>
              </a:rPr>
              <a:t>PART III · SECTION OPENER</a:t>
            </a:r>
            <a:endParaRPr lang="en-US" sz="1400" dirty="0"/>
          </a:p>
        </p:txBody>
      </p:sp>
      <p:sp>
        <p:nvSpPr>
          <p:cNvPr id="20" name="Text 18"/>
          <p:cNvSpPr/>
          <p:nvPr/>
        </p:nvSpPr>
        <p:spPr>
          <a:xfrm>
            <a:off x="2781300" y="4338638"/>
            <a:ext cx="6204226" cy="171450"/>
          </a:xfrm>
          <a:prstGeom prst="rect">
            <a:avLst/>
          </a:prstGeom>
          <a:noFill/>
          <a:ln/>
        </p:spPr>
        <p:txBody>
          <a:bodyPr wrap="square" lIns="25400" tIns="25400" rIns="25400" bIns="25400" rtlCol="0" anchor="t">
            <a:noAutofit/>
          </a:bodyPr>
          <a:lstStyle/>
          <a:p>
            <a:pPr marL="0" indent="0" algn="l">
              <a:buNone/>
            </a:pPr>
            <a:r>
              <a:rPr lang="en-US" sz="1400" kern="0" spc="149" dirty="0">
                <a:solidFill>
                  <a:srgbClr val="888080"/>
                </a:solidFill>
                <a:latin typeface="JetBrains Mono" pitchFamily="34" charset="0"/>
                <a:ea typeface="JetBrains Mono" pitchFamily="34" charset="-122"/>
                <a:cs typeface="JetBrains Mono" pitchFamily="34" charset="-120"/>
              </a:rPr>
              <a:t>SECTION</a:t>
            </a:r>
            <a:endParaRPr lang="en-US" sz="1400" dirty="0"/>
          </a:p>
        </p:txBody>
      </p:sp>
      <p:sp>
        <p:nvSpPr>
          <p:cNvPr id="21" name="Shape 19"/>
          <p:cNvSpPr/>
          <p:nvPr/>
        </p:nvSpPr>
        <p:spPr>
          <a:xfrm>
            <a:off x="2781300" y="4586288"/>
            <a:ext cx="6023521" cy="9525"/>
          </a:xfrm>
          <a:prstGeom prst="rect">
            <a:avLst/>
          </a:prstGeom>
          <a:solidFill>
            <a:srgbClr val="1A1A1A"/>
          </a:solidFill>
          <a:ln/>
        </p:spPr>
        <p:txBody>
          <a:bodyPr/>
          <a:lstStyle/>
          <a:p>
            <a:endParaRPr lang="he-IL"/>
          </a:p>
        </p:txBody>
      </p:sp>
      <p:sp>
        <p:nvSpPr>
          <p:cNvPr id="22" name="Text 20"/>
          <p:cNvSpPr/>
          <p:nvPr/>
        </p:nvSpPr>
        <p:spPr>
          <a:xfrm>
            <a:off x="2781300" y="4672013"/>
            <a:ext cx="6204226" cy="1924050"/>
          </a:xfrm>
          <a:prstGeom prst="rect">
            <a:avLst/>
          </a:prstGeom>
          <a:noFill/>
          <a:ln/>
        </p:spPr>
        <p:txBody>
          <a:bodyPr wrap="square" lIns="25400" tIns="25400" rIns="25400" bIns="25400" rtlCol="0" anchor="t">
            <a:normAutofit fontScale="92500" lnSpcReduction="20000"/>
          </a:bodyPr>
          <a:lstStyle/>
          <a:p>
            <a:pPr marL="0" indent="0" algn="l">
              <a:lnSpc>
                <a:spcPct val="90000"/>
              </a:lnSpc>
              <a:buNone/>
            </a:pPr>
            <a:r>
              <a:rPr lang="en-US" sz="16500" kern="0" spc="-660" dirty="0">
                <a:solidFill>
                  <a:srgbClr val="C25A2A"/>
                </a:solidFill>
                <a:latin typeface="JetBrains Mono" pitchFamily="34" charset="0"/>
                <a:ea typeface="JetBrains Mono" pitchFamily="34" charset="-122"/>
                <a:cs typeface="JetBrains Mono" pitchFamily="34" charset="-120"/>
              </a:rPr>
              <a:t>03</a:t>
            </a:r>
            <a:endParaRPr lang="en-US" sz="16500" dirty="0"/>
          </a:p>
        </p:txBody>
      </p:sp>
      <p:sp>
        <p:nvSpPr>
          <p:cNvPr id="23" name="Text 21"/>
          <p:cNvSpPr/>
          <p:nvPr/>
        </p:nvSpPr>
        <p:spPr>
          <a:xfrm>
            <a:off x="9376321" y="3938141"/>
            <a:ext cx="8394170" cy="171450"/>
          </a:xfrm>
          <a:prstGeom prst="rect">
            <a:avLst/>
          </a:prstGeom>
          <a:noFill/>
          <a:ln/>
        </p:spPr>
        <p:txBody>
          <a:bodyPr wrap="square" lIns="25400" tIns="25400" rIns="25400" bIns="25400" rtlCol="0" anchor="t">
            <a:noAutofit/>
          </a:bodyPr>
          <a:lstStyle/>
          <a:p>
            <a:pPr marL="0" indent="0" algn="l">
              <a:buNone/>
            </a:pPr>
            <a:r>
              <a:rPr lang="en-US" sz="1400" kern="0" spc="149" dirty="0">
                <a:solidFill>
                  <a:srgbClr val="888080"/>
                </a:solidFill>
                <a:latin typeface="JetBrains Mono" pitchFamily="34" charset="0"/>
                <a:ea typeface="JetBrains Mono" pitchFamily="34" charset="-122"/>
                <a:cs typeface="JetBrains Mono" pitchFamily="34" charset="-120"/>
              </a:rPr>
              <a:t>MANIPULATION &amp; CLEANING</a:t>
            </a:r>
            <a:endParaRPr lang="en-US" sz="1400" dirty="0"/>
          </a:p>
        </p:txBody>
      </p:sp>
      <p:sp>
        <p:nvSpPr>
          <p:cNvPr id="24" name="Text 22"/>
          <p:cNvSpPr/>
          <p:nvPr/>
        </p:nvSpPr>
        <p:spPr>
          <a:xfrm>
            <a:off x="9376321" y="4281041"/>
            <a:ext cx="8394170" cy="19431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7500" kern="0" spc="-187" dirty="0">
                <a:solidFill>
                  <a:srgbClr val="1A1A1A"/>
                </a:solidFill>
                <a:latin typeface="Instrument Serif" pitchFamily="34" charset="0"/>
                <a:ea typeface="Instrument Serif" pitchFamily="34" charset="-122"/>
                <a:cs typeface="Instrument Serif" pitchFamily="34" charset="-120"/>
              </a:rPr>
              <a:t>Manipulation &amp; cleaning </a:t>
            </a:r>
            <a:r>
              <a:rPr lang="en-US" sz="7500" i="1" kern="0" spc="-187" dirty="0">
                <a:solidFill>
                  <a:srgbClr val="C25A2A"/>
                </a:solidFill>
                <a:latin typeface="Instrument Serif" pitchFamily="34" charset="0"/>
                <a:ea typeface="Instrument Serif" pitchFamily="34" charset="-122"/>
              </a:rPr>
              <a:t>pipeline.</a:t>
            </a:r>
          </a:p>
        </p:txBody>
      </p:sp>
      <p:sp>
        <p:nvSpPr>
          <p:cNvPr id="25" name="Text 23"/>
          <p:cNvSpPr/>
          <p:nvPr/>
        </p:nvSpPr>
        <p:spPr>
          <a:xfrm>
            <a:off x="9398822" y="6114157"/>
            <a:ext cx="6867525" cy="562868"/>
          </a:xfrm>
          <a:prstGeom prst="rect">
            <a:avLst/>
          </a:prstGeom>
          <a:noFill/>
          <a:ln/>
        </p:spPr>
        <p:txBody>
          <a:bodyPr wrap="square" lIns="25400" tIns="25400" rIns="25400" bIns="25400" rtlCol="0" anchor="t">
            <a:noAutofit/>
          </a:bodyPr>
          <a:lstStyle/>
          <a:p>
            <a:pPr marL="0" indent="0" algn="l">
              <a:lnSpc>
                <a:spcPct val="145000"/>
              </a:lnSpc>
              <a:buNone/>
            </a:pPr>
            <a:r>
              <a:rPr lang="en-US" sz="1400" dirty="0">
                <a:solidFill>
                  <a:srgbClr val="4A4A4A"/>
                </a:solidFill>
                <a:latin typeface="Inter" pitchFamily="34" charset="0"/>
                <a:ea typeface="Inter" pitchFamily="34" charset="-122"/>
                <a:cs typeface="Inter" pitchFamily="34" charset="-120"/>
              </a:rPr>
              <a:t>Selection runs on train only — the same operations are then frozen and replayed on validation and test.</a:t>
            </a:r>
            <a:endParaRPr lang="en-US" sz="1400" dirty="0"/>
          </a:p>
        </p:txBody>
      </p:sp>
      <p:sp>
        <p:nvSpPr>
          <p:cNvPr id="26" name="Text 16">
            <a:extLst>
              <a:ext uri="{FF2B5EF4-FFF2-40B4-BE49-F238E27FC236}">
                <a16:creationId xmlns:a16="http://schemas.microsoft.com/office/drawing/2014/main" id="{84B7018B-93EF-FA2E-C1B4-B0DFB8C9937E}"/>
              </a:ext>
            </a:extLst>
          </p:cNvPr>
          <p:cNvSpPr/>
          <p:nvPr/>
        </p:nvSpPr>
        <p:spPr>
          <a:xfrm>
            <a:off x="266700" y="9410700"/>
            <a:ext cx="1628775" cy="342900"/>
          </a:xfrm>
          <a:prstGeom prst="rect">
            <a:avLst/>
          </a:prstGeom>
          <a:noFill/>
          <a:ln/>
        </p:spPr>
        <p:txBody>
          <a:bodyPr wrap="square" lIns="25400" tIns="25400" rIns="25400" bIns="25400" rtlCol="0" anchor="t">
            <a:noAutofit/>
          </a:bodyPr>
          <a:lstStyle/>
          <a:p>
            <a:pPr>
              <a:lnSpc>
                <a:spcPct val="160000"/>
              </a:lnSpc>
            </a:pPr>
            <a:r>
              <a:rPr lang="en-US" sz="1400" b="1" kern="0" spc="105" dirty="0">
                <a:solidFill>
                  <a:srgbClr val="1A1A1A"/>
                </a:solidFill>
                <a:latin typeface="JetBrains Mono" pitchFamily="34" charset="0"/>
                <a:ea typeface="JetBrains Mono" pitchFamily="34" charset="-122"/>
                <a:cs typeface="JetBrains Mono" pitchFamily="34" charset="-120"/>
              </a:rPr>
              <a:t>15 / 34</a:t>
            </a:r>
            <a:endParaRPr lang="en-US" sz="1400" dirty="0"/>
          </a:p>
        </p:txBody>
      </p:sp>
      <p:sp>
        <p:nvSpPr>
          <p:cNvPr id="27" name="Text 4">
            <a:extLst>
              <a:ext uri="{FF2B5EF4-FFF2-40B4-BE49-F238E27FC236}">
                <a16:creationId xmlns:a16="http://schemas.microsoft.com/office/drawing/2014/main" id="{050B8806-9A05-A2A0-6EC9-E56D5A47BD3A}"/>
              </a:ext>
            </a:extLst>
          </p:cNvPr>
          <p:cNvSpPr/>
          <p:nvPr/>
        </p:nvSpPr>
        <p:spPr>
          <a:xfrm>
            <a:off x="228063" y="1524367"/>
            <a:ext cx="372012" cy="200025"/>
          </a:xfrm>
          <a:prstGeom prst="rect">
            <a:avLst/>
          </a:prstGeom>
          <a:noFill/>
          <a:ln/>
        </p:spPr>
        <p:txBody>
          <a:bodyPr wrap="square" lIns="25400" tIns="25400" rIns="25400" bIns="25400" rtlCol="0" anchor="t">
            <a:noAutofit/>
          </a:bodyPr>
          <a:lstStyle/>
          <a:p>
            <a:pPr marL="0" indent="0" algn="l">
              <a:lnSpc>
                <a:spcPct val="130000"/>
              </a:lnSpc>
              <a:buNone/>
            </a:pPr>
            <a:r>
              <a:rPr lang="en-US" sz="1400" kern="0" spc="21" dirty="0">
                <a:solidFill>
                  <a:srgbClr val="888080"/>
                </a:solidFill>
                <a:latin typeface="Inter" pitchFamily="34" charset="0"/>
                <a:ea typeface="Inter" pitchFamily="34" charset="-122"/>
              </a:rPr>
              <a:t>01</a:t>
            </a:r>
          </a:p>
        </p:txBody>
      </p:sp>
      <p:sp>
        <p:nvSpPr>
          <p:cNvPr id="28" name="Text 5">
            <a:extLst>
              <a:ext uri="{FF2B5EF4-FFF2-40B4-BE49-F238E27FC236}">
                <a16:creationId xmlns:a16="http://schemas.microsoft.com/office/drawing/2014/main" id="{ED7034BC-071B-7C43-C0DF-380116BD2342}"/>
              </a:ext>
            </a:extLst>
          </p:cNvPr>
          <p:cNvSpPr/>
          <p:nvPr/>
        </p:nvSpPr>
        <p:spPr>
          <a:xfrm>
            <a:off x="523875" y="1522975"/>
            <a:ext cx="876300" cy="476251"/>
          </a:xfrm>
          <a:prstGeom prst="rect">
            <a:avLst/>
          </a:prstGeom>
          <a:noFill/>
          <a:ln/>
        </p:spPr>
        <p:txBody>
          <a:bodyPr wrap="square" lIns="25400" tIns="25400" rIns="25400" bIns="25400" rtlCol="0" anchor="t">
            <a:normAutofit/>
          </a:bodyPr>
          <a:lstStyle/>
          <a:p>
            <a:pPr marL="0" indent="0" algn="l">
              <a:lnSpc>
                <a:spcPct val="130000"/>
              </a:lnSpc>
              <a:buNone/>
            </a:pPr>
            <a:r>
              <a:rPr lang="en-US" sz="1400" kern="0" spc="21" dirty="0">
                <a:solidFill>
                  <a:srgbClr val="888080"/>
                </a:solidFill>
                <a:latin typeface="Inter" pitchFamily="34" charset="0"/>
                <a:ea typeface="Inter" pitchFamily="34" charset="-122"/>
              </a:rPr>
              <a:t>Agenda</a:t>
            </a:r>
          </a:p>
        </p:txBody>
      </p:sp>
      <p:sp>
        <p:nvSpPr>
          <p:cNvPr id="29" name="Text 6">
            <a:extLst>
              <a:ext uri="{FF2B5EF4-FFF2-40B4-BE49-F238E27FC236}">
                <a16:creationId xmlns:a16="http://schemas.microsoft.com/office/drawing/2014/main" id="{8AEE7EDE-5B72-E65C-9D6B-2DAF3B247849}"/>
              </a:ext>
            </a:extLst>
          </p:cNvPr>
          <p:cNvSpPr/>
          <p:nvPr/>
        </p:nvSpPr>
        <p:spPr>
          <a:xfrm>
            <a:off x="228063" y="1830953"/>
            <a:ext cx="372010" cy="194877"/>
          </a:xfrm>
          <a:prstGeom prst="rect">
            <a:avLst/>
          </a:prstGeom>
          <a:noFill/>
          <a:ln/>
        </p:spPr>
        <p:txBody>
          <a:bodyPr wrap="square" lIns="25400" tIns="25400" rIns="25400" bIns="25400" rtlCol="0" anchor="t">
            <a:noAutofit/>
          </a:bodyPr>
          <a:lstStyle/>
          <a:p>
            <a:pPr marL="0" indent="0" algn="l">
              <a:lnSpc>
                <a:spcPct val="130000"/>
              </a:lnSpc>
              <a:buNone/>
            </a:pPr>
            <a:r>
              <a:rPr lang="en-US" sz="1400" kern="0" spc="21" dirty="0">
                <a:solidFill>
                  <a:srgbClr val="888080"/>
                </a:solidFill>
                <a:latin typeface="Inter" pitchFamily="34" charset="0"/>
                <a:ea typeface="Inter" pitchFamily="34" charset="-122"/>
              </a:rPr>
              <a:t>02</a:t>
            </a:r>
          </a:p>
        </p:txBody>
      </p:sp>
      <p:sp>
        <p:nvSpPr>
          <p:cNvPr id="30" name="Text 8">
            <a:extLst>
              <a:ext uri="{FF2B5EF4-FFF2-40B4-BE49-F238E27FC236}">
                <a16:creationId xmlns:a16="http://schemas.microsoft.com/office/drawing/2014/main" id="{A0A6A1A1-C96E-A13F-452E-5488683EDD44}"/>
              </a:ext>
            </a:extLst>
          </p:cNvPr>
          <p:cNvSpPr/>
          <p:nvPr/>
        </p:nvSpPr>
        <p:spPr>
          <a:xfrm>
            <a:off x="230504" y="2152895"/>
            <a:ext cx="302895" cy="141422"/>
          </a:xfrm>
          <a:prstGeom prst="rect">
            <a:avLst/>
          </a:prstGeom>
          <a:noFill/>
          <a:ln/>
        </p:spPr>
        <p:txBody>
          <a:bodyPr wrap="square" lIns="25400" tIns="25400" rIns="25400" bIns="25400" rtlCol="0" anchor="t">
            <a:noAutofit/>
          </a:bodyPr>
          <a:lstStyle/>
          <a:p>
            <a:pPr marL="0" indent="0" algn="l">
              <a:lnSpc>
                <a:spcPct val="130000"/>
              </a:lnSpc>
              <a:buNone/>
            </a:pPr>
            <a:r>
              <a:rPr lang="en-US" sz="1400" kern="0" spc="21" dirty="0">
                <a:solidFill>
                  <a:srgbClr val="888080"/>
                </a:solidFill>
                <a:latin typeface="Inter" pitchFamily="34" charset="0"/>
                <a:ea typeface="Inter" pitchFamily="34" charset="-122"/>
              </a:rPr>
              <a:t>03</a:t>
            </a:r>
          </a:p>
        </p:txBody>
      </p:sp>
      <p:sp>
        <p:nvSpPr>
          <p:cNvPr id="31" name="Text 9">
            <a:extLst>
              <a:ext uri="{FF2B5EF4-FFF2-40B4-BE49-F238E27FC236}">
                <a16:creationId xmlns:a16="http://schemas.microsoft.com/office/drawing/2014/main" id="{ED97ED98-CEC8-2B8E-25B5-B881EC13E59D}"/>
              </a:ext>
            </a:extLst>
          </p:cNvPr>
          <p:cNvSpPr/>
          <p:nvPr/>
        </p:nvSpPr>
        <p:spPr>
          <a:xfrm>
            <a:off x="531240" y="2145027"/>
            <a:ext cx="1185416" cy="342476"/>
          </a:xfrm>
          <a:prstGeom prst="rect">
            <a:avLst/>
          </a:prstGeom>
          <a:noFill/>
          <a:ln/>
        </p:spPr>
        <p:txBody>
          <a:bodyPr wrap="square" lIns="25400" tIns="25400" rIns="25400" bIns="25400" rtlCol="0" anchor="t">
            <a:normAutofit/>
          </a:bodyPr>
          <a:lstStyle/>
          <a:p>
            <a:pPr marL="0" indent="0" algn="l">
              <a:lnSpc>
                <a:spcPct val="130000"/>
              </a:lnSpc>
              <a:buNone/>
            </a:pPr>
            <a:r>
              <a:rPr lang="en-US" sz="1400" kern="0" spc="21" dirty="0">
                <a:solidFill>
                  <a:srgbClr val="888080"/>
                </a:solidFill>
                <a:latin typeface="Inter" pitchFamily="34" charset="0"/>
                <a:ea typeface="Inter" pitchFamily="34" charset="-122"/>
              </a:rPr>
              <a:t>EDA</a:t>
            </a:r>
          </a:p>
        </p:txBody>
      </p:sp>
      <p:sp>
        <p:nvSpPr>
          <p:cNvPr id="32" name="Text 10">
            <a:extLst>
              <a:ext uri="{FF2B5EF4-FFF2-40B4-BE49-F238E27FC236}">
                <a16:creationId xmlns:a16="http://schemas.microsoft.com/office/drawing/2014/main" id="{B2FE5352-6867-08EC-C5E1-E87719770F9B}"/>
              </a:ext>
            </a:extLst>
          </p:cNvPr>
          <p:cNvSpPr/>
          <p:nvPr/>
        </p:nvSpPr>
        <p:spPr>
          <a:xfrm>
            <a:off x="228062" y="2444125"/>
            <a:ext cx="305337" cy="172132"/>
          </a:xfrm>
          <a:prstGeom prst="rect">
            <a:avLst/>
          </a:prstGeom>
          <a:noFill/>
          <a:ln/>
        </p:spPr>
        <p:txBody>
          <a:bodyPr wrap="square" lIns="25400" tIns="25400" rIns="25400" bIns="25400" rtlCol="0" anchor="t">
            <a:noAutofit/>
          </a:bodyPr>
          <a:lstStyle/>
          <a:p>
            <a:pPr marL="0" indent="0" algn="l">
              <a:lnSpc>
                <a:spcPct val="130000"/>
              </a:lnSpc>
              <a:buNone/>
            </a:pPr>
            <a:r>
              <a:rPr lang="en-US" sz="1400" b="1" kern="0" spc="21" dirty="0">
                <a:solidFill>
                  <a:srgbClr val="C25A2A"/>
                </a:solidFill>
                <a:latin typeface="JetBrains Mono" pitchFamily="34" charset="0"/>
                <a:ea typeface="JetBrains Mono" pitchFamily="34" charset="-122"/>
              </a:rPr>
              <a:t>04</a:t>
            </a:r>
          </a:p>
        </p:txBody>
      </p:sp>
      <p:sp>
        <p:nvSpPr>
          <p:cNvPr id="33" name="Text 12">
            <a:extLst>
              <a:ext uri="{FF2B5EF4-FFF2-40B4-BE49-F238E27FC236}">
                <a16:creationId xmlns:a16="http://schemas.microsoft.com/office/drawing/2014/main" id="{28E4F1EB-3CEF-BD7C-0621-F306D2C7AE09}"/>
              </a:ext>
            </a:extLst>
          </p:cNvPr>
          <p:cNvSpPr/>
          <p:nvPr/>
        </p:nvSpPr>
        <p:spPr>
          <a:xfrm>
            <a:off x="228062" y="2750711"/>
            <a:ext cx="372011" cy="158880"/>
          </a:xfrm>
          <a:prstGeom prst="rect">
            <a:avLst/>
          </a:prstGeom>
          <a:noFill/>
          <a:ln/>
        </p:spPr>
        <p:txBody>
          <a:bodyPr wrap="square" lIns="25400" tIns="25400" rIns="25400" bIns="25400" rtlCol="0" anchor="t">
            <a:noAutofit/>
          </a:bodyPr>
          <a:lstStyle/>
          <a:p>
            <a:pPr marL="0" indent="0" algn="l">
              <a:lnSpc>
                <a:spcPct val="130000"/>
              </a:lnSpc>
              <a:buNone/>
            </a:pPr>
            <a:r>
              <a:rPr lang="en-US" sz="1400" kern="0" spc="21" dirty="0">
                <a:solidFill>
                  <a:srgbClr val="888080"/>
                </a:solidFill>
                <a:latin typeface="JetBrains Mono" pitchFamily="34" charset="0"/>
                <a:ea typeface="JetBrains Mono" pitchFamily="34" charset="-122"/>
                <a:cs typeface="JetBrains Mono" pitchFamily="34" charset="-120"/>
              </a:rPr>
              <a:t>05</a:t>
            </a:r>
            <a:endParaRPr lang="en-US" sz="1400" dirty="0"/>
          </a:p>
        </p:txBody>
      </p:sp>
      <p:sp>
        <p:nvSpPr>
          <p:cNvPr id="34" name="Text 13">
            <a:extLst>
              <a:ext uri="{FF2B5EF4-FFF2-40B4-BE49-F238E27FC236}">
                <a16:creationId xmlns:a16="http://schemas.microsoft.com/office/drawing/2014/main" id="{F6F9F0EE-F467-9580-1DCF-9A8EF995A1C0}"/>
              </a:ext>
            </a:extLst>
          </p:cNvPr>
          <p:cNvSpPr/>
          <p:nvPr/>
        </p:nvSpPr>
        <p:spPr>
          <a:xfrm>
            <a:off x="533399" y="2725489"/>
            <a:ext cx="948333" cy="761256"/>
          </a:xfrm>
          <a:prstGeom prst="rect">
            <a:avLst/>
          </a:prstGeom>
          <a:noFill/>
          <a:ln/>
        </p:spPr>
        <p:txBody>
          <a:bodyPr wrap="square" lIns="25400" tIns="25400" rIns="25400" bIns="25400" rtlCol="0" anchor="t">
            <a:normAutofit/>
          </a:bodyPr>
          <a:lstStyle/>
          <a:p>
            <a:pPr marL="0" indent="0" algn="l">
              <a:lnSpc>
                <a:spcPct val="130000"/>
              </a:lnSpc>
              <a:buNone/>
            </a:pPr>
            <a:r>
              <a:rPr lang="en-US" sz="1400" kern="0" spc="21" dirty="0">
                <a:solidFill>
                  <a:srgbClr val="888080"/>
                </a:solidFill>
                <a:latin typeface="Inter" pitchFamily="34" charset="0"/>
                <a:ea typeface="Inter" pitchFamily="34" charset="-122"/>
                <a:cs typeface="Inter" pitchFamily="34" charset="-120"/>
              </a:rPr>
              <a:t>Modeling</a:t>
            </a:r>
            <a:endParaRPr lang="en-US" sz="1400" dirty="0"/>
          </a:p>
        </p:txBody>
      </p:sp>
      <p:sp>
        <p:nvSpPr>
          <p:cNvPr id="35" name="Text 14">
            <a:extLst>
              <a:ext uri="{FF2B5EF4-FFF2-40B4-BE49-F238E27FC236}">
                <a16:creationId xmlns:a16="http://schemas.microsoft.com/office/drawing/2014/main" id="{7B449D01-CD05-4679-58DA-2393BE03C09B}"/>
              </a:ext>
            </a:extLst>
          </p:cNvPr>
          <p:cNvSpPr/>
          <p:nvPr/>
        </p:nvSpPr>
        <p:spPr>
          <a:xfrm>
            <a:off x="235683" y="3042056"/>
            <a:ext cx="372010" cy="191463"/>
          </a:xfrm>
          <a:prstGeom prst="rect">
            <a:avLst/>
          </a:prstGeom>
          <a:noFill/>
          <a:ln/>
        </p:spPr>
        <p:txBody>
          <a:bodyPr wrap="square" lIns="25400" tIns="25400" rIns="25400" bIns="25400" rtlCol="0" anchor="t">
            <a:noAutofit/>
          </a:bodyPr>
          <a:lstStyle/>
          <a:p>
            <a:pPr marL="0" indent="0" algn="l">
              <a:lnSpc>
                <a:spcPct val="130000"/>
              </a:lnSpc>
              <a:buNone/>
            </a:pPr>
            <a:r>
              <a:rPr lang="en-US" sz="1400" kern="0" spc="21" dirty="0">
                <a:solidFill>
                  <a:srgbClr val="888080"/>
                </a:solidFill>
                <a:latin typeface="JetBrains Mono" pitchFamily="34" charset="0"/>
                <a:ea typeface="JetBrains Mono" pitchFamily="34" charset="-122"/>
                <a:cs typeface="JetBrains Mono" pitchFamily="34" charset="-120"/>
              </a:rPr>
              <a:t>06</a:t>
            </a:r>
            <a:endParaRPr lang="en-US" sz="1400" dirty="0"/>
          </a:p>
        </p:txBody>
      </p:sp>
      <p:sp>
        <p:nvSpPr>
          <p:cNvPr id="36" name="Text 15">
            <a:extLst>
              <a:ext uri="{FF2B5EF4-FFF2-40B4-BE49-F238E27FC236}">
                <a16:creationId xmlns:a16="http://schemas.microsoft.com/office/drawing/2014/main" id="{AFF0958E-7B81-2B1D-248E-78FEFCF8179D}"/>
              </a:ext>
            </a:extLst>
          </p:cNvPr>
          <p:cNvSpPr/>
          <p:nvPr/>
        </p:nvSpPr>
        <p:spPr>
          <a:xfrm>
            <a:off x="533400" y="3032075"/>
            <a:ext cx="1185416" cy="626120"/>
          </a:xfrm>
          <a:prstGeom prst="rect">
            <a:avLst/>
          </a:prstGeom>
          <a:noFill/>
          <a:ln/>
        </p:spPr>
        <p:txBody>
          <a:bodyPr wrap="square" lIns="25400" tIns="25400" rIns="25400" bIns="25400" rtlCol="0" anchor="t">
            <a:normAutofit/>
          </a:bodyPr>
          <a:lstStyle/>
          <a:p>
            <a:pPr marL="0" indent="0" algn="l">
              <a:lnSpc>
                <a:spcPct val="130000"/>
              </a:lnSpc>
              <a:buNone/>
            </a:pPr>
            <a:r>
              <a:rPr lang="en-US" sz="1400" kern="0" spc="21" dirty="0">
                <a:solidFill>
                  <a:srgbClr val="888080"/>
                </a:solidFill>
                <a:latin typeface="Inter" pitchFamily="34" charset="0"/>
                <a:ea typeface="Inter" pitchFamily="34" charset="-122"/>
                <a:cs typeface="Inter" pitchFamily="34" charset="-120"/>
              </a:rPr>
              <a:t>Conclusions</a:t>
            </a:r>
            <a:endParaRPr lang="en-US" sz="1400" dirty="0"/>
          </a:p>
        </p:txBody>
      </p:sp>
      <p:sp>
        <p:nvSpPr>
          <p:cNvPr id="37" name="Text 9">
            <a:extLst>
              <a:ext uri="{FF2B5EF4-FFF2-40B4-BE49-F238E27FC236}">
                <a16:creationId xmlns:a16="http://schemas.microsoft.com/office/drawing/2014/main" id="{14C34755-DB80-8BDF-CF10-C6B5346B0165}"/>
              </a:ext>
            </a:extLst>
          </p:cNvPr>
          <p:cNvSpPr/>
          <p:nvPr/>
        </p:nvSpPr>
        <p:spPr>
          <a:xfrm>
            <a:off x="538609" y="2426180"/>
            <a:ext cx="1185416" cy="342476"/>
          </a:xfrm>
          <a:prstGeom prst="rect">
            <a:avLst/>
          </a:prstGeom>
          <a:noFill/>
          <a:ln/>
        </p:spPr>
        <p:txBody>
          <a:bodyPr wrap="square" lIns="25400" tIns="25400" rIns="25400" bIns="25400" rtlCol="0" anchor="t">
            <a:normAutofit/>
          </a:bodyPr>
          <a:lstStyle/>
          <a:p>
            <a:pPr marL="0" indent="0" algn="l">
              <a:lnSpc>
                <a:spcPct val="130000"/>
              </a:lnSpc>
              <a:buNone/>
            </a:pPr>
            <a:r>
              <a:rPr lang="en-US" sz="1400" kern="0" spc="21" dirty="0">
                <a:solidFill>
                  <a:srgbClr val="1A1A1A"/>
                </a:solidFill>
                <a:latin typeface="Inter" pitchFamily="34" charset="0"/>
                <a:ea typeface="Inter" pitchFamily="34" charset="-122"/>
              </a:rPr>
              <a:t>Pipeline</a:t>
            </a:r>
          </a:p>
        </p:txBody>
      </p:sp>
      <p:sp>
        <p:nvSpPr>
          <p:cNvPr id="38" name="Text 7">
            <a:extLst>
              <a:ext uri="{FF2B5EF4-FFF2-40B4-BE49-F238E27FC236}">
                <a16:creationId xmlns:a16="http://schemas.microsoft.com/office/drawing/2014/main" id="{DD918AA8-B637-C2AF-CFCD-68DE7CE1A813}"/>
              </a:ext>
            </a:extLst>
          </p:cNvPr>
          <p:cNvSpPr/>
          <p:nvPr/>
        </p:nvSpPr>
        <p:spPr>
          <a:xfrm>
            <a:off x="523875" y="1826620"/>
            <a:ext cx="1325700" cy="467696"/>
          </a:xfrm>
          <a:prstGeom prst="rect">
            <a:avLst/>
          </a:prstGeom>
          <a:noFill/>
          <a:ln/>
        </p:spPr>
        <p:txBody>
          <a:bodyPr wrap="square" lIns="25400" tIns="25400" rIns="25400" bIns="25400" rtlCol="0" anchor="t">
            <a:noAutofit/>
          </a:bodyPr>
          <a:lstStyle/>
          <a:p>
            <a:pPr marL="0" indent="0" algn="l">
              <a:lnSpc>
                <a:spcPct val="130000"/>
              </a:lnSpc>
              <a:buNone/>
            </a:pPr>
            <a:r>
              <a:rPr lang="en-US" sz="1400" kern="0" spc="21" dirty="0">
                <a:solidFill>
                  <a:srgbClr val="888080"/>
                </a:solidFill>
                <a:latin typeface="Inter" pitchFamily="34" charset="0"/>
                <a:ea typeface="Inter" pitchFamily="34" charset="-122"/>
              </a:rPr>
              <a:t>Data &amp; target</a:t>
            </a:r>
          </a:p>
        </p:txBody>
      </p:sp>
      <p:sp>
        <p:nvSpPr>
          <p:cNvPr id="39" name="Text 1">
            <a:extLst>
              <a:ext uri="{FF2B5EF4-FFF2-40B4-BE49-F238E27FC236}">
                <a16:creationId xmlns:a16="http://schemas.microsoft.com/office/drawing/2014/main" id="{D2F403ED-9184-F427-B3B3-22B40C415137}"/>
              </a:ext>
            </a:extLst>
          </p:cNvPr>
          <p:cNvSpPr/>
          <p:nvPr/>
        </p:nvSpPr>
        <p:spPr>
          <a:xfrm>
            <a:off x="261138" y="379598"/>
            <a:ext cx="1778457" cy="447678"/>
          </a:xfrm>
          <a:prstGeom prst="rect">
            <a:avLst/>
          </a:prstGeom>
          <a:noFill/>
          <a:ln/>
        </p:spPr>
        <p:txBody>
          <a:bodyPr wrap="square" lIns="25400" tIns="25400" rIns="25400" bIns="25400" rtlCol="0" anchor="t">
            <a:noAutofit/>
          </a:bodyPr>
          <a:lstStyle/>
          <a:p>
            <a:pPr marL="0" indent="0">
              <a:buNone/>
            </a:pPr>
            <a:r>
              <a:rPr lang="en-US" sz="1400" kern="0" spc="116" dirty="0">
                <a:solidFill>
                  <a:srgbClr val="888080"/>
                </a:solidFill>
                <a:latin typeface="JetBrains Mono" pitchFamily="34" charset="0"/>
                <a:ea typeface="JetBrains Mono" pitchFamily="34" charset="-122"/>
                <a:cs typeface="JetBrains Mono" pitchFamily="34" charset="-120"/>
              </a:rPr>
              <a:t>DS22 - Bar Ilan</a:t>
            </a:r>
            <a:br>
              <a:rPr lang="en-US" sz="1400" kern="0" spc="116" dirty="0">
                <a:solidFill>
                  <a:srgbClr val="888080"/>
                </a:solidFill>
                <a:latin typeface="JetBrains Mono" pitchFamily="34" charset="0"/>
                <a:ea typeface="JetBrains Mono" pitchFamily="34" charset="-122"/>
                <a:cs typeface="JetBrains Mono" pitchFamily="34" charset="-120"/>
              </a:rPr>
            </a:br>
            <a:r>
              <a:rPr lang="en-US" sz="1400" kern="0" spc="116" dirty="0">
                <a:solidFill>
                  <a:srgbClr val="888080"/>
                </a:solidFill>
                <a:latin typeface="JetBrains Mono" pitchFamily="34" charset="0"/>
                <a:ea typeface="JetBrains Mono" pitchFamily="34" charset="-122"/>
                <a:cs typeface="JetBrains Mono" pitchFamily="34" charset="-120"/>
              </a:rPr>
              <a:t>ML PROJECT</a:t>
            </a:r>
          </a:p>
          <a:p>
            <a:pPr marL="0" indent="0">
              <a:buNone/>
            </a:pPr>
            <a:r>
              <a:rPr lang="en-US" sz="1400" kern="0" spc="116" dirty="0">
                <a:solidFill>
                  <a:srgbClr val="888080"/>
                </a:solidFill>
                <a:latin typeface="JetBrains Mono" pitchFamily="34" charset="0"/>
                <a:ea typeface="JetBrains Mono" pitchFamily="34" charset="-122"/>
                <a:cs typeface="JetBrains Mono" pitchFamily="34" charset="-120"/>
              </a:rPr>
              <a:t>MAY 2026</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5F1E8"/>
        </a:solidFill>
        <a:effectLst/>
      </p:bgPr>
    </p:bg>
    <p:spTree>
      <p:nvGrpSpPr>
        <p:cNvPr id="1" name="">
          <a:extLst>
            <a:ext uri="{FF2B5EF4-FFF2-40B4-BE49-F238E27FC236}">
              <a16:creationId xmlns:a16="http://schemas.microsoft.com/office/drawing/2014/main" id="{8DBEDB8E-4E01-9462-FFBF-36A1194390DE}"/>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B9B5827E-26C6-C998-D40A-EDCFB3528B1E}"/>
              </a:ext>
            </a:extLst>
          </p:cNvPr>
          <p:cNvSpPr/>
          <p:nvPr/>
        </p:nvSpPr>
        <p:spPr>
          <a:xfrm>
            <a:off x="0" y="0"/>
            <a:ext cx="2095500" cy="10287000"/>
          </a:xfrm>
          <a:prstGeom prst="rect">
            <a:avLst/>
          </a:prstGeom>
          <a:solidFill>
            <a:srgbClr val="EBE5D6"/>
          </a:solidFill>
          <a:ln/>
        </p:spPr>
        <p:txBody>
          <a:bodyPr/>
          <a:lstStyle/>
          <a:p>
            <a:endParaRPr lang="he-IL"/>
          </a:p>
        </p:txBody>
      </p:sp>
      <p:sp>
        <p:nvSpPr>
          <p:cNvPr id="3" name="Shape 1">
            <a:extLst>
              <a:ext uri="{FF2B5EF4-FFF2-40B4-BE49-F238E27FC236}">
                <a16:creationId xmlns:a16="http://schemas.microsoft.com/office/drawing/2014/main" id="{B505964A-4351-38E2-4903-9E968AEED783}"/>
              </a:ext>
            </a:extLst>
          </p:cNvPr>
          <p:cNvSpPr/>
          <p:nvPr/>
        </p:nvSpPr>
        <p:spPr>
          <a:xfrm>
            <a:off x="2085975" y="0"/>
            <a:ext cx="9525" cy="10287000"/>
          </a:xfrm>
          <a:prstGeom prst="rect">
            <a:avLst/>
          </a:prstGeom>
          <a:solidFill>
            <a:srgbClr val="D4CDBC"/>
          </a:solidFill>
          <a:ln/>
        </p:spPr>
        <p:txBody>
          <a:bodyPr/>
          <a:lstStyle/>
          <a:p>
            <a:endParaRPr lang="he-IL"/>
          </a:p>
        </p:txBody>
      </p:sp>
      <p:sp>
        <p:nvSpPr>
          <p:cNvPr id="19" name="Text 17">
            <a:extLst>
              <a:ext uri="{FF2B5EF4-FFF2-40B4-BE49-F238E27FC236}">
                <a16:creationId xmlns:a16="http://schemas.microsoft.com/office/drawing/2014/main" id="{27CE64D1-383D-B0C1-E638-833F577BE6A0}"/>
              </a:ext>
            </a:extLst>
          </p:cNvPr>
          <p:cNvSpPr/>
          <p:nvPr/>
        </p:nvSpPr>
        <p:spPr>
          <a:xfrm>
            <a:off x="2781300" y="571500"/>
            <a:ext cx="15187041" cy="171450"/>
          </a:xfrm>
          <a:prstGeom prst="rect">
            <a:avLst/>
          </a:prstGeom>
          <a:noFill/>
          <a:ln/>
        </p:spPr>
        <p:txBody>
          <a:bodyPr wrap="square" lIns="25400" tIns="25400" rIns="25400" bIns="25400" rtlCol="0" anchor="ctr">
            <a:noAutofit/>
          </a:bodyPr>
          <a:lstStyle/>
          <a:p>
            <a:pPr marL="0" indent="0" algn="l">
              <a:buNone/>
            </a:pPr>
            <a:r>
              <a:rPr lang="en-US" sz="1400" kern="0" spc="182" dirty="0">
                <a:solidFill>
                  <a:srgbClr val="888080"/>
                </a:solidFill>
                <a:latin typeface="JetBrains Mono" pitchFamily="34" charset="0"/>
                <a:ea typeface="JetBrains Mono" pitchFamily="34" charset="-122"/>
                <a:cs typeface="JetBrains Mono" pitchFamily="34" charset="-120"/>
              </a:rPr>
              <a:t>PIPELINE · OVERVIEW</a:t>
            </a:r>
            <a:endParaRPr lang="en-US" sz="1400" dirty="0"/>
          </a:p>
        </p:txBody>
      </p:sp>
      <p:sp>
        <p:nvSpPr>
          <p:cNvPr id="20" name="Text 18">
            <a:extLst>
              <a:ext uri="{FF2B5EF4-FFF2-40B4-BE49-F238E27FC236}">
                <a16:creationId xmlns:a16="http://schemas.microsoft.com/office/drawing/2014/main" id="{1FB63101-DA21-69D2-9A7F-F9E46BCEE3E8}"/>
              </a:ext>
            </a:extLst>
          </p:cNvPr>
          <p:cNvSpPr/>
          <p:nvPr/>
        </p:nvSpPr>
        <p:spPr>
          <a:xfrm>
            <a:off x="2781300" y="914400"/>
            <a:ext cx="15187041" cy="643830"/>
          </a:xfrm>
          <a:prstGeom prst="rect">
            <a:avLst/>
          </a:prstGeom>
          <a:noFill/>
          <a:ln/>
        </p:spPr>
        <p:txBody>
          <a:bodyPr wrap="square" lIns="25400" tIns="25400" rIns="25400" bIns="25400" rtlCol="0" anchor="t">
            <a:normAutofit fontScale="92500" lnSpcReduction="20000"/>
          </a:bodyPr>
          <a:lstStyle/>
          <a:p>
            <a:pPr marL="0" indent="0" algn="l">
              <a:lnSpc>
                <a:spcPct val="106000"/>
              </a:lnSpc>
              <a:buNone/>
            </a:pPr>
            <a:r>
              <a:rPr lang="en-US" sz="4500" kern="0" spc="-81" dirty="0">
                <a:solidFill>
                  <a:srgbClr val="1A1A1A"/>
                </a:solidFill>
                <a:latin typeface="Instrument Serif" pitchFamily="34" charset="0"/>
                <a:ea typeface="Instrument Serif" pitchFamily="34" charset="-122"/>
                <a:cs typeface="Instrument Serif" pitchFamily="34" charset="-120"/>
              </a:rPr>
              <a:t>Split Data</a:t>
            </a:r>
            <a:endParaRPr lang="en-US" sz="4500" dirty="0"/>
          </a:p>
        </p:txBody>
      </p:sp>
      <p:sp>
        <p:nvSpPr>
          <p:cNvPr id="49" name="Text 16">
            <a:extLst>
              <a:ext uri="{FF2B5EF4-FFF2-40B4-BE49-F238E27FC236}">
                <a16:creationId xmlns:a16="http://schemas.microsoft.com/office/drawing/2014/main" id="{5A91AB7C-26E1-458F-1D5C-B71ADD2A59DD}"/>
              </a:ext>
            </a:extLst>
          </p:cNvPr>
          <p:cNvSpPr/>
          <p:nvPr/>
        </p:nvSpPr>
        <p:spPr>
          <a:xfrm>
            <a:off x="266700" y="9410700"/>
            <a:ext cx="1628775" cy="342900"/>
          </a:xfrm>
          <a:prstGeom prst="rect">
            <a:avLst/>
          </a:prstGeom>
          <a:noFill/>
          <a:ln/>
        </p:spPr>
        <p:txBody>
          <a:bodyPr wrap="square" lIns="25400" tIns="25400" rIns="25400" bIns="25400" rtlCol="0" anchor="t">
            <a:noAutofit/>
          </a:bodyPr>
          <a:lstStyle/>
          <a:p>
            <a:pPr>
              <a:lnSpc>
                <a:spcPct val="160000"/>
              </a:lnSpc>
            </a:pPr>
            <a:r>
              <a:rPr lang="en-US" sz="1400" b="1" kern="0" spc="105" dirty="0">
                <a:solidFill>
                  <a:srgbClr val="1A1A1A"/>
                </a:solidFill>
                <a:latin typeface="JetBrains Mono" pitchFamily="34" charset="0"/>
                <a:ea typeface="JetBrains Mono" pitchFamily="34" charset="-122"/>
                <a:cs typeface="JetBrains Mono" pitchFamily="34" charset="-120"/>
              </a:rPr>
              <a:t>16 / 34</a:t>
            </a:r>
            <a:endParaRPr lang="en-US" sz="1400" dirty="0"/>
          </a:p>
        </p:txBody>
      </p:sp>
      <p:sp>
        <p:nvSpPr>
          <p:cNvPr id="50" name="Text 4">
            <a:extLst>
              <a:ext uri="{FF2B5EF4-FFF2-40B4-BE49-F238E27FC236}">
                <a16:creationId xmlns:a16="http://schemas.microsoft.com/office/drawing/2014/main" id="{11651D0A-2E36-5747-E1D2-B5CC0444FB13}"/>
              </a:ext>
            </a:extLst>
          </p:cNvPr>
          <p:cNvSpPr/>
          <p:nvPr/>
        </p:nvSpPr>
        <p:spPr>
          <a:xfrm>
            <a:off x="228063" y="1524367"/>
            <a:ext cx="372012" cy="200025"/>
          </a:xfrm>
          <a:prstGeom prst="rect">
            <a:avLst/>
          </a:prstGeom>
          <a:noFill/>
          <a:ln/>
        </p:spPr>
        <p:txBody>
          <a:bodyPr wrap="square" lIns="25400" tIns="25400" rIns="25400" bIns="25400" rtlCol="0" anchor="t">
            <a:noAutofit/>
          </a:bodyPr>
          <a:lstStyle/>
          <a:p>
            <a:pPr marL="0" indent="0" algn="l">
              <a:lnSpc>
                <a:spcPct val="130000"/>
              </a:lnSpc>
              <a:buNone/>
            </a:pPr>
            <a:r>
              <a:rPr lang="en-US" sz="1400" kern="0" spc="21" dirty="0">
                <a:solidFill>
                  <a:srgbClr val="888080"/>
                </a:solidFill>
                <a:latin typeface="Inter" pitchFamily="34" charset="0"/>
                <a:ea typeface="Inter" pitchFamily="34" charset="-122"/>
              </a:rPr>
              <a:t>01</a:t>
            </a:r>
          </a:p>
        </p:txBody>
      </p:sp>
      <p:sp>
        <p:nvSpPr>
          <p:cNvPr id="51" name="Text 5">
            <a:extLst>
              <a:ext uri="{FF2B5EF4-FFF2-40B4-BE49-F238E27FC236}">
                <a16:creationId xmlns:a16="http://schemas.microsoft.com/office/drawing/2014/main" id="{F2926E96-B3AF-D3E1-BE02-F1E681D26FBB}"/>
              </a:ext>
            </a:extLst>
          </p:cNvPr>
          <p:cNvSpPr/>
          <p:nvPr/>
        </p:nvSpPr>
        <p:spPr>
          <a:xfrm>
            <a:off x="523875" y="1522975"/>
            <a:ext cx="876300" cy="476251"/>
          </a:xfrm>
          <a:prstGeom prst="rect">
            <a:avLst/>
          </a:prstGeom>
          <a:noFill/>
          <a:ln/>
        </p:spPr>
        <p:txBody>
          <a:bodyPr wrap="square" lIns="25400" tIns="25400" rIns="25400" bIns="25400" rtlCol="0" anchor="t">
            <a:normAutofit/>
          </a:bodyPr>
          <a:lstStyle/>
          <a:p>
            <a:pPr marL="0" indent="0" algn="l">
              <a:lnSpc>
                <a:spcPct val="130000"/>
              </a:lnSpc>
              <a:buNone/>
            </a:pPr>
            <a:r>
              <a:rPr lang="en-US" sz="1400" kern="0" spc="21" dirty="0">
                <a:solidFill>
                  <a:srgbClr val="888080"/>
                </a:solidFill>
                <a:latin typeface="Inter" pitchFamily="34" charset="0"/>
                <a:ea typeface="Inter" pitchFamily="34" charset="-122"/>
              </a:rPr>
              <a:t>Agenda</a:t>
            </a:r>
          </a:p>
        </p:txBody>
      </p:sp>
      <p:sp>
        <p:nvSpPr>
          <p:cNvPr id="70" name="Text 6">
            <a:extLst>
              <a:ext uri="{FF2B5EF4-FFF2-40B4-BE49-F238E27FC236}">
                <a16:creationId xmlns:a16="http://schemas.microsoft.com/office/drawing/2014/main" id="{2DCEEC8A-B0A7-5D29-B6EA-5EA0E9F276BA}"/>
              </a:ext>
            </a:extLst>
          </p:cNvPr>
          <p:cNvSpPr/>
          <p:nvPr/>
        </p:nvSpPr>
        <p:spPr>
          <a:xfrm>
            <a:off x="228063" y="1830953"/>
            <a:ext cx="372010" cy="194877"/>
          </a:xfrm>
          <a:prstGeom prst="rect">
            <a:avLst/>
          </a:prstGeom>
          <a:noFill/>
          <a:ln/>
        </p:spPr>
        <p:txBody>
          <a:bodyPr wrap="square" lIns="25400" tIns="25400" rIns="25400" bIns="25400" rtlCol="0" anchor="t">
            <a:noAutofit/>
          </a:bodyPr>
          <a:lstStyle/>
          <a:p>
            <a:pPr marL="0" indent="0" algn="l">
              <a:lnSpc>
                <a:spcPct val="130000"/>
              </a:lnSpc>
              <a:buNone/>
            </a:pPr>
            <a:r>
              <a:rPr lang="en-US" sz="1400" kern="0" spc="21" dirty="0">
                <a:solidFill>
                  <a:srgbClr val="888080"/>
                </a:solidFill>
                <a:latin typeface="Inter" pitchFamily="34" charset="0"/>
                <a:ea typeface="Inter" pitchFamily="34" charset="-122"/>
              </a:rPr>
              <a:t>02</a:t>
            </a:r>
          </a:p>
        </p:txBody>
      </p:sp>
      <p:sp>
        <p:nvSpPr>
          <p:cNvPr id="71" name="Text 8">
            <a:extLst>
              <a:ext uri="{FF2B5EF4-FFF2-40B4-BE49-F238E27FC236}">
                <a16:creationId xmlns:a16="http://schemas.microsoft.com/office/drawing/2014/main" id="{06EBC575-3153-F82F-82C2-6E3580E6915D}"/>
              </a:ext>
            </a:extLst>
          </p:cNvPr>
          <p:cNvSpPr/>
          <p:nvPr/>
        </p:nvSpPr>
        <p:spPr>
          <a:xfrm>
            <a:off x="230504" y="2152895"/>
            <a:ext cx="302895" cy="141422"/>
          </a:xfrm>
          <a:prstGeom prst="rect">
            <a:avLst/>
          </a:prstGeom>
          <a:noFill/>
          <a:ln/>
        </p:spPr>
        <p:txBody>
          <a:bodyPr wrap="square" lIns="25400" tIns="25400" rIns="25400" bIns="25400" rtlCol="0" anchor="t">
            <a:noAutofit/>
          </a:bodyPr>
          <a:lstStyle/>
          <a:p>
            <a:pPr marL="0" indent="0" algn="l">
              <a:lnSpc>
                <a:spcPct val="130000"/>
              </a:lnSpc>
              <a:buNone/>
            </a:pPr>
            <a:r>
              <a:rPr lang="en-US" sz="1400" kern="0" spc="21" dirty="0">
                <a:solidFill>
                  <a:srgbClr val="888080"/>
                </a:solidFill>
                <a:latin typeface="Inter" pitchFamily="34" charset="0"/>
                <a:ea typeface="Inter" pitchFamily="34" charset="-122"/>
              </a:rPr>
              <a:t>03</a:t>
            </a:r>
          </a:p>
        </p:txBody>
      </p:sp>
      <p:sp>
        <p:nvSpPr>
          <p:cNvPr id="72" name="Text 9">
            <a:extLst>
              <a:ext uri="{FF2B5EF4-FFF2-40B4-BE49-F238E27FC236}">
                <a16:creationId xmlns:a16="http://schemas.microsoft.com/office/drawing/2014/main" id="{D0192F14-14C9-EAB5-A62C-611F9792145F}"/>
              </a:ext>
            </a:extLst>
          </p:cNvPr>
          <p:cNvSpPr/>
          <p:nvPr/>
        </p:nvSpPr>
        <p:spPr>
          <a:xfrm>
            <a:off x="531240" y="2145027"/>
            <a:ext cx="1185416" cy="342476"/>
          </a:xfrm>
          <a:prstGeom prst="rect">
            <a:avLst/>
          </a:prstGeom>
          <a:noFill/>
          <a:ln/>
        </p:spPr>
        <p:txBody>
          <a:bodyPr wrap="square" lIns="25400" tIns="25400" rIns="25400" bIns="25400" rtlCol="0" anchor="t">
            <a:normAutofit/>
          </a:bodyPr>
          <a:lstStyle/>
          <a:p>
            <a:pPr marL="0" indent="0" algn="l">
              <a:lnSpc>
                <a:spcPct val="130000"/>
              </a:lnSpc>
              <a:buNone/>
            </a:pPr>
            <a:r>
              <a:rPr lang="en-US" sz="1400" kern="0" spc="21" dirty="0">
                <a:solidFill>
                  <a:srgbClr val="888080"/>
                </a:solidFill>
                <a:latin typeface="Inter" pitchFamily="34" charset="0"/>
                <a:ea typeface="Inter" pitchFamily="34" charset="-122"/>
              </a:rPr>
              <a:t>EDA</a:t>
            </a:r>
          </a:p>
        </p:txBody>
      </p:sp>
      <p:sp>
        <p:nvSpPr>
          <p:cNvPr id="73" name="Text 10">
            <a:extLst>
              <a:ext uri="{FF2B5EF4-FFF2-40B4-BE49-F238E27FC236}">
                <a16:creationId xmlns:a16="http://schemas.microsoft.com/office/drawing/2014/main" id="{66942684-B363-97DF-333A-36CB761A4FE5}"/>
              </a:ext>
            </a:extLst>
          </p:cNvPr>
          <p:cNvSpPr/>
          <p:nvPr/>
        </p:nvSpPr>
        <p:spPr>
          <a:xfrm>
            <a:off x="228062" y="2444125"/>
            <a:ext cx="305337" cy="172132"/>
          </a:xfrm>
          <a:prstGeom prst="rect">
            <a:avLst/>
          </a:prstGeom>
          <a:noFill/>
          <a:ln/>
        </p:spPr>
        <p:txBody>
          <a:bodyPr wrap="square" lIns="25400" tIns="25400" rIns="25400" bIns="25400" rtlCol="0" anchor="t">
            <a:noAutofit/>
          </a:bodyPr>
          <a:lstStyle/>
          <a:p>
            <a:pPr marL="0" indent="0" algn="l">
              <a:lnSpc>
                <a:spcPct val="130000"/>
              </a:lnSpc>
              <a:buNone/>
            </a:pPr>
            <a:r>
              <a:rPr lang="en-US" sz="1400" b="1" kern="0" spc="21" dirty="0">
                <a:solidFill>
                  <a:srgbClr val="C25A2A"/>
                </a:solidFill>
                <a:latin typeface="JetBrains Mono" pitchFamily="34" charset="0"/>
                <a:ea typeface="JetBrains Mono" pitchFamily="34" charset="-122"/>
              </a:rPr>
              <a:t>04</a:t>
            </a:r>
          </a:p>
        </p:txBody>
      </p:sp>
      <p:sp>
        <p:nvSpPr>
          <p:cNvPr id="74" name="Text 12">
            <a:extLst>
              <a:ext uri="{FF2B5EF4-FFF2-40B4-BE49-F238E27FC236}">
                <a16:creationId xmlns:a16="http://schemas.microsoft.com/office/drawing/2014/main" id="{0FF7BA33-E7BE-A106-4D03-E038EF0C3F90}"/>
              </a:ext>
            </a:extLst>
          </p:cNvPr>
          <p:cNvSpPr/>
          <p:nvPr/>
        </p:nvSpPr>
        <p:spPr>
          <a:xfrm>
            <a:off x="228062" y="2750711"/>
            <a:ext cx="372011" cy="158880"/>
          </a:xfrm>
          <a:prstGeom prst="rect">
            <a:avLst/>
          </a:prstGeom>
          <a:noFill/>
          <a:ln/>
        </p:spPr>
        <p:txBody>
          <a:bodyPr wrap="square" lIns="25400" tIns="25400" rIns="25400" bIns="25400" rtlCol="0" anchor="t">
            <a:noAutofit/>
          </a:bodyPr>
          <a:lstStyle/>
          <a:p>
            <a:pPr marL="0" indent="0" algn="l">
              <a:lnSpc>
                <a:spcPct val="130000"/>
              </a:lnSpc>
              <a:buNone/>
            </a:pPr>
            <a:r>
              <a:rPr lang="en-US" sz="1400" kern="0" spc="21" dirty="0">
                <a:solidFill>
                  <a:srgbClr val="888080"/>
                </a:solidFill>
                <a:latin typeface="JetBrains Mono" pitchFamily="34" charset="0"/>
                <a:ea typeface="JetBrains Mono" pitchFamily="34" charset="-122"/>
                <a:cs typeface="JetBrains Mono" pitchFamily="34" charset="-120"/>
              </a:rPr>
              <a:t>05</a:t>
            </a:r>
            <a:endParaRPr lang="en-US" sz="1400" dirty="0"/>
          </a:p>
        </p:txBody>
      </p:sp>
      <p:sp>
        <p:nvSpPr>
          <p:cNvPr id="75" name="Text 13">
            <a:extLst>
              <a:ext uri="{FF2B5EF4-FFF2-40B4-BE49-F238E27FC236}">
                <a16:creationId xmlns:a16="http://schemas.microsoft.com/office/drawing/2014/main" id="{3A03311D-4CEF-AB17-4288-8115DA8CA709}"/>
              </a:ext>
            </a:extLst>
          </p:cNvPr>
          <p:cNvSpPr/>
          <p:nvPr/>
        </p:nvSpPr>
        <p:spPr>
          <a:xfrm>
            <a:off x="533399" y="2725489"/>
            <a:ext cx="948333" cy="761256"/>
          </a:xfrm>
          <a:prstGeom prst="rect">
            <a:avLst/>
          </a:prstGeom>
          <a:noFill/>
          <a:ln/>
        </p:spPr>
        <p:txBody>
          <a:bodyPr wrap="square" lIns="25400" tIns="25400" rIns="25400" bIns="25400" rtlCol="0" anchor="t">
            <a:normAutofit/>
          </a:bodyPr>
          <a:lstStyle/>
          <a:p>
            <a:pPr marL="0" indent="0" algn="l">
              <a:lnSpc>
                <a:spcPct val="130000"/>
              </a:lnSpc>
              <a:buNone/>
            </a:pPr>
            <a:r>
              <a:rPr lang="en-US" sz="1400" kern="0" spc="21" dirty="0">
                <a:solidFill>
                  <a:srgbClr val="888080"/>
                </a:solidFill>
                <a:latin typeface="Inter" pitchFamily="34" charset="0"/>
                <a:ea typeface="Inter" pitchFamily="34" charset="-122"/>
                <a:cs typeface="Inter" pitchFamily="34" charset="-120"/>
              </a:rPr>
              <a:t>Modeling</a:t>
            </a:r>
            <a:endParaRPr lang="en-US" sz="1400" dirty="0"/>
          </a:p>
        </p:txBody>
      </p:sp>
      <p:sp>
        <p:nvSpPr>
          <p:cNvPr id="76" name="Text 14">
            <a:extLst>
              <a:ext uri="{FF2B5EF4-FFF2-40B4-BE49-F238E27FC236}">
                <a16:creationId xmlns:a16="http://schemas.microsoft.com/office/drawing/2014/main" id="{4F2CDB29-D97A-F38B-1D00-E233219424B3}"/>
              </a:ext>
            </a:extLst>
          </p:cNvPr>
          <p:cNvSpPr/>
          <p:nvPr/>
        </p:nvSpPr>
        <p:spPr>
          <a:xfrm>
            <a:off x="235683" y="3042056"/>
            <a:ext cx="372010" cy="191463"/>
          </a:xfrm>
          <a:prstGeom prst="rect">
            <a:avLst/>
          </a:prstGeom>
          <a:noFill/>
          <a:ln/>
        </p:spPr>
        <p:txBody>
          <a:bodyPr wrap="square" lIns="25400" tIns="25400" rIns="25400" bIns="25400" rtlCol="0" anchor="t">
            <a:noAutofit/>
          </a:bodyPr>
          <a:lstStyle/>
          <a:p>
            <a:pPr marL="0" indent="0" algn="l">
              <a:lnSpc>
                <a:spcPct val="130000"/>
              </a:lnSpc>
              <a:buNone/>
            </a:pPr>
            <a:r>
              <a:rPr lang="en-US" sz="1400" kern="0" spc="21" dirty="0">
                <a:solidFill>
                  <a:srgbClr val="888080"/>
                </a:solidFill>
                <a:latin typeface="JetBrains Mono" pitchFamily="34" charset="0"/>
                <a:ea typeface="JetBrains Mono" pitchFamily="34" charset="-122"/>
                <a:cs typeface="JetBrains Mono" pitchFamily="34" charset="-120"/>
              </a:rPr>
              <a:t>06</a:t>
            </a:r>
            <a:endParaRPr lang="en-US" sz="1400" dirty="0"/>
          </a:p>
        </p:txBody>
      </p:sp>
      <p:sp>
        <p:nvSpPr>
          <p:cNvPr id="77" name="Text 15">
            <a:extLst>
              <a:ext uri="{FF2B5EF4-FFF2-40B4-BE49-F238E27FC236}">
                <a16:creationId xmlns:a16="http://schemas.microsoft.com/office/drawing/2014/main" id="{A990F78D-A907-0474-3395-AA5926E3222C}"/>
              </a:ext>
            </a:extLst>
          </p:cNvPr>
          <p:cNvSpPr/>
          <p:nvPr/>
        </p:nvSpPr>
        <p:spPr>
          <a:xfrm>
            <a:off x="533400" y="3032075"/>
            <a:ext cx="1185416" cy="626120"/>
          </a:xfrm>
          <a:prstGeom prst="rect">
            <a:avLst/>
          </a:prstGeom>
          <a:noFill/>
          <a:ln/>
        </p:spPr>
        <p:txBody>
          <a:bodyPr wrap="square" lIns="25400" tIns="25400" rIns="25400" bIns="25400" rtlCol="0" anchor="t">
            <a:normAutofit/>
          </a:bodyPr>
          <a:lstStyle/>
          <a:p>
            <a:pPr marL="0" indent="0" algn="l">
              <a:lnSpc>
                <a:spcPct val="130000"/>
              </a:lnSpc>
              <a:buNone/>
            </a:pPr>
            <a:r>
              <a:rPr lang="en-US" sz="1400" kern="0" spc="21" dirty="0">
                <a:solidFill>
                  <a:srgbClr val="888080"/>
                </a:solidFill>
                <a:latin typeface="Inter" pitchFamily="34" charset="0"/>
                <a:ea typeface="Inter" pitchFamily="34" charset="-122"/>
                <a:cs typeface="Inter" pitchFamily="34" charset="-120"/>
              </a:rPr>
              <a:t>Conclusions</a:t>
            </a:r>
            <a:endParaRPr lang="en-US" sz="1400" dirty="0"/>
          </a:p>
        </p:txBody>
      </p:sp>
      <p:sp>
        <p:nvSpPr>
          <p:cNvPr id="78" name="Text 9">
            <a:extLst>
              <a:ext uri="{FF2B5EF4-FFF2-40B4-BE49-F238E27FC236}">
                <a16:creationId xmlns:a16="http://schemas.microsoft.com/office/drawing/2014/main" id="{46422DFE-56D4-F35F-0D06-E0B3330A572B}"/>
              </a:ext>
            </a:extLst>
          </p:cNvPr>
          <p:cNvSpPr/>
          <p:nvPr/>
        </p:nvSpPr>
        <p:spPr>
          <a:xfrm>
            <a:off x="538609" y="2426180"/>
            <a:ext cx="1185416" cy="342476"/>
          </a:xfrm>
          <a:prstGeom prst="rect">
            <a:avLst/>
          </a:prstGeom>
          <a:noFill/>
          <a:ln/>
        </p:spPr>
        <p:txBody>
          <a:bodyPr wrap="square" lIns="25400" tIns="25400" rIns="25400" bIns="25400" rtlCol="0" anchor="t">
            <a:normAutofit/>
          </a:bodyPr>
          <a:lstStyle/>
          <a:p>
            <a:pPr marL="0" indent="0" algn="l">
              <a:lnSpc>
                <a:spcPct val="130000"/>
              </a:lnSpc>
              <a:buNone/>
            </a:pPr>
            <a:r>
              <a:rPr lang="en-US" sz="1400" kern="0" spc="21" dirty="0">
                <a:solidFill>
                  <a:srgbClr val="1A1A1A"/>
                </a:solidFill>
                <a:latin typeface="Inter" pitchFamily="34" charset="0"/>
                <a:ea typeface="Inter" pitchFamily="34" charset="-122"/>
              </a:rPr>
              <a:t>Pipeline</a:t>
            </a:r>
          </a:p>
        </p:txBody>
      </p:sp>
      <p:sp>
        <p:nvSpPr>
          <p:cNvPr id="79" name="Text 7">
            <a:extLst>
              <a:ext uri="{FF2B5EF4-FFF2-40B4-BE49-F238E27FC236}">
                <a16:creationId xmlns:a16="http://schemas.microsoft.com/office/drawing/2014/main" id="{61932B2C-2C8E-C79B-5EA9-B0E1A8A1CD84}"/>
              </a:ext>
            </a:extLst>
          </p:cNvPr>
          <p:cNvSpPr/>
          <p:nvPr/>
        </p:nvSpPr>
        <p:spPr>
          <a:xfrm>
            <a:off x="523875" y="1826620"/>
            <a:ext cx="1325700" cy="467696"/>
          </a:xfrm>
          <a:prstGeom prst="rect">
            <a:avLst/>
          </a:prstGeom>
          <a:noFill/>
          <a:ln/>
        </p:spPr>
        <p:txBody>
          <a:bodyPr wrap="square" lIns="25400" tIns="25400" rIns="25400" bIns="25400" rtlCol="0" anchor="t">
            <a:noAutofit/>
          </a:bodyPr>
          <a:lstStyle/>
          <a:p>
            <a:pPr marL="0" indent="0" algn="l">
              <a:lnSpc>
                <a:spcPct val="130000"/>
              </a:lnSpc>
              <a:buNone/>
            </a:pPr>
            <a:r>
              <a:rPr lang="en-US" sz="1400" kern="0" spc="21" dirty="0">
                <a:solidFill>
                  <a:srgbClr val="888080"/>
                </a:solidFill>
                <a:latin typeface="Inter" pitchFamily="34" charset="0"/>
                <a:ea typeface="Inter" pitchFamily="34" charset="-122"/>
              </a:rPr>
              <a:t>Data &amp; target</a:t>
            </a:r>
          </a:p>
        </p:txBody>
      </p:sp>
      <p:sp>
        <p:nvSpPr>
          <p:cNvPr id="80" name="Text 1">
            <a:extLst>
              <a:ext uri="{FF2B5EF4-FFF2-40B4-BE49-F238E27FC236}">
                <a16:creationId xmlns:a16="http://schemas.microsoft.com/office/drawing/2014/main" id="{C3EB0D20-C5CD-CC2A-D8D1-124086A341B3}"/>
              </a:ext>
            </a:extLst>
          </p:cNvPr>
          <p:cNvSpPr/>
          <p:nvPr/>
        </p:nvSpPr>
        <p:spPr>
          <a:xfrm>
            <a:off x="261138" y="379598"/>
            <a:ext cx="1778457" cy="447678"/>
          </a:xfrm>
          <a:prstGeom prst="rect">
            <a:avLst/>
          </a:prstGeom>
          <a:noFill/>
          <a:ln/>
        </p:spPr>
        <p:txBody>
          <a:bodyPr wrap="square" lIns="25400" tIns="25400" rIns="25400" bIns="25400" rtlCol="0" anchor="t">
            <a:noAutofit/>
          </a:bodyPr>
          <a:lstStyle/>
          <a:p>
            <a:pPr marL="0" indent="0">
              <a:buNone/>
            </a:pPr>
            <a:r>
              <a:rPr lang="en-US" sz="1400" kern="0" spc="116" dirty="0">
                <a:solidFill>
                  <a:srgbClr val="888080"/>
                </a:solidFill>
                <a:latin typeface="JetBrains Mono" pitchFamily="34" charset="0"/>
                <a:ea typeface="JetBrains Mono" pitchFamily="34" charset="-122"/>
                <a:cs typeface="JetBrains Mono" pitchFamily="34" charset="-120"/>
              </a:rPr>
              <a:t>DS22 - Bar Ilan</a:t>
            </a:r>
            <a:br>
              <a:rPr lang="en-US" sz="1400" kern="0" spc="116" dirty="0">
                <a:solidFill>
                  <a:srgbClr val="888080"/>
                </a:solidFill>
                <a:latin typeface="JetBrains Mono" pitchFamily="34" charset="0"/>
                <a:ea typeface="JetBrains Mono" pitchFamily="34" charset="-122"/>
                <a:cs typeface="JetBrains Mono" pitchFamily="34" charset="-120"/>
              </a:rPr>
            </a:br>
            <a:r>
              <a:rPr lang="en-US" sz="1400" kern="0" spc="116" dirty="0">
                <a:solidFill>
                  <a:srgbClr val="888080"/>
                </a:solidFill>
                <a:latin typeface="JetBrains Mono" pitchFamily="34" charset="0"/>
                <a:ea typeface="JetBrains Mono" pitchFamily="34" charset="-122"/>
                <a:cs typeface="JetBrains Mono" pitchFamily="34" charset="-120"/>
              </a:rPr>
              <a:t>ML PROJECT</a:t>
            </a:r>
          </a:p>
          <a:p>
            <a:pPr marL="0" indent="0">
              <a:buNone/>
            </a:pPr>
            <a:r>
              <a:rPr lang="en-US" sz="1400" kern="0" spc="116" dirty="0">
                <a:solidFill>
                  <a:srgbClr val="888080"/>
                </a:solidFill>
                <a:latin typeface="JetBrains Mono" pitchFamily="34" charset="0"/>
                <a:ea typeface="JetBrains Mono" pitchFamily="34" charset="-122"/>
                <a:cs typeface="JetBrains Mono" pitchFamily="34" charset="-120"/>
              </a:rPr>
              <a:t>MAY 2026</a:t>
            </a:r>
            <a:endParaRPr lang="en-US" sz="1400" dirty="0"/>
          </a:p>
        </p:txBody>
      </p:sp>
      <p:sp>
        <p:nvSpPr>
          <p:cNvPr id="5" name="Text 19">
            <a:extLst>
              <a:ext uri="{FF2B5EF4-FFF2-40B4-BE49-F238E27FC236}">
                <a16:creationId xmlns:a16="http://schemas.microsoft.com/office/drawing/2014/main" id="{29647132-8159-3837-3466-DBDC029E55F3}"/>
              </a:ext>
            </a:extLst>
          </p:cNvPr>
          <p:cNvSpPr/>
          <p:nvPr/>
        </p:nvSpPr>
        <p:spPr>
          <a:xfrm>
            <a:off x="4155207" y="2472519"/>
            <a:ext cx="10791825" cy="617934"/>
          </a:xfrm>
          <a:prstGeom prst="rect">
            <a:avLst/>
          </a:prstGeom>
          <a:noFill/>
          <a:ln/>
        </p:spPr>
        <p:txBody>
          <a:bodyPr wrap="square" lIns="25400" tIns="25400" rIns="25400" bIns="25400" rtlCol="0" anchor="t">
            <a:normAutofit/>
          </a:bodyPr>
          <a:lstStyle/>
          <a:p>
            <a:pPr marL="0" indent="0" algn="ctr">
              <a:lnSpc>
                <a:spcPct val="145000"/>
              </a:lnSpc>
              <a:buNone/>
            </a:pPr>
            <a:r>
              <a:rPr lang="en-US" sz="2800" dirty="0">
                <a:solidFill>
                  <a:srgbClr val="4A4A4A"/>
                </a:solidFill>
                <a:latin typeface="Inter" pitchFamily="34" charset="0"/>
                <a:ea typeface="Inter" pitchFamily="34" charset="-122"/>
                <a:cs typeface="Inter" pitchFamily="34" charset="-120"/>
              </a:rPr>
              <a:t>Before doing any manipulation to the dataset – it was split into 3</a:t>
            </a:r>
            <a:endParaRPr lang="en-US" sz="2800" dirty="0"/>
          </a:p>
        </p:txBody>
      </p:sp>
      <p:sp>
        <p:nvSpPr>
          <p:cNvPr id="6" name="Shape 27">
            <a:extLst>
              <a:ext uri="{FF2B5EF4-FFF2-40B4-BE49-F238E27FC236}">
                <a16:creationId xmlns:a16="http://schemas.microsoft.com/office/drawing/2014/main" id="{B8563911-B00C-101B-280F-E538DC40C235}"/>
              </a:ext>
            </a:extLst>
          </p:cNvPr>
          <p:cNvSpPr/>
          <p:nvPr/>
        </p:nvSpPr>
        <p:spPr>
          <a:xfrm>
            <a:off x="3277672" y="4116561"/>
            <a:ext cx="3786655" cy="1726480"/>
          </a:xfrm>
          <a:prstGeom prst="rect">
            <a:avLst/>
          </a:prstGeom>
          <a:solidFill>
            <a:srgbClr val="EBE5D6"/>
          </a:solidFill>
          <a:ln w="9525">
            <a:solidFill>
              <a:srgbClr val="D4CDBC"/>
            </a:solidFill>
            <a:prstDash val="solid"/>
          </a:ln>
        </p:spPr>
        <p:txBody>
          <a:bodyPr/>
          <a:lstStyle/>
          <a:p>
            <a:pPr algn="ctr"/>
            <a:r>
              <a:rPr lang="en-US" sz="2400" b="1" dirty="0">
                <a:latin typeface="Inter"/>
              </a:rPr>
              <a:t>Train (70%)</a:t>
            </a:r>
          </a:p>
          <a:p>
            <a:pPr algn="ctr"/>
            <a:r>
              <a:rPr lang="en-IL" sz="2000" dirty="0">
                <a:latin typeface="Inter"/>
              </a:rPr>
              <a:t>63,616 </a:t>
            </a:r>
            <a:r>
              <a:rPr lang="en-US" sz="2000" dirty="0">
                <a:latin typeface="Inter"/>
              </a:rPr>
              <a:t>Records</a:t>
            </a:r>
          </a:p>
          <a:p>
            <a:pPr marL="457200" indent="-457200">
              <a:buAutoNum type="arabicPeriod"/>
            </a:pPr>
            <a:r>
              <a:rPr lang="en-US" sz="1600" dirty="0">
                <a:solidFill>
                  <a:srgbClr val="1A1A1A"/>
                </a:solidFill>
                <a:latin typeface="Inter" pitchFamily="34" charset="0"/>
                <a:ea typeface="Inter" pitchFamily="34" charset="-122"/>
              </a:rPr>
              <a:t>Create manipulation pipelines</a:t>
            </a:r>
          </a:p>
          <a:p>
            <a:pPr marL="457200" indent="-457200">
              <a:buAutoNum type="arabicPeriod"/>
            </a:pPr>
            <a:r>
              <a:rPr lang="en-US" sz="1600" dirty="0">
                <a:solidFill>
                  <a:srgbClr val="1A1A1A"/>
                </a:solidFill>
                <a:latin typeface="Inter" pitchFamily="34" charset="0"/>
                <a:ea typeface="Inter" pitchFamily="34" charset="-122"/>
              </a:rPr>
              <a:t>Train models</a:t>
            </a:r>
          </a:p>
          <a:p>
            <a:pPr marL="457200" indent="-457200">
              <a:buAutoNum type="arabicPeriod"/>
            </a:pPr>
            <a:endParaRPr lang="en-US" sz="2000" dirty="0"/>
          </a:p>
          <a:p>
            <a:endParaRPr lang="en-US" dirty="0"/>
          </a:p>
        </p:txBody>
      </p:sp>
      <p:sp>
        <p:nvSpPr>
          <p:cNvPr id="7" name="Shape 27">
            <a:extLst>
              <a:ext uri="{FF2B5EF4-FFF2-40B4-BE49-F238E27FC236}">
                <a16:creationId xmlns:a16="http://schemas.microsoft.com/office/drawing/2014/main" id="{42687223-F400-CC45-BA73-518B7E1936F0}"/>
              </a:ext>
            </a:extLst>
          </p:cNvPr>
          <p:cNvSpPr/>
          <p:nvPr/>
        </p:nvSpPr>
        <p:spPr>
          <a:xfrm>
            <a:off x="7657520" y="4099715"/>
            <a:ext cx="3787200" cy="1726480"/>
          </a:xfrm>
          <a:prstGeom prst="rect">
            <a:avLst/>
          </a:prstGeom>
          <a:solidFill>
            <a:srgbClr val="EBE5D6"/>
          </a:solidFill>
          <a:ln w="9525">
            <a:solidFill>
              <a:srgbClr val="D4CDBC"/>
            </a:solidFill>
            <a:prstDash val="solid"/>
          </a:ln>
        </p:spPr>
        <p:txBody>
          <a:bodyPr/>
          <a:lstStyle/>
          <a:p>
            <a:pPr algn="ctr"/>
            <a:r>
              <a:rPr lang="en-US" sz="2400" b="1" dirty="0">
                <a:latin typeface="Inter"/>
              </a:rPr>
              <a:t>Validation (15%)</a:t>
            </a:r>
          </a:p>
          <a:p>
            <a:pPr algn="ctr"/>
            <a:r>
              <a:rPr lang="en-US" sz="2000" dirty="0">
                <a:latin typeface="Inter"/>
              </a:rPr>
              <a:t>13</a:t>
            </a:r>
            <a:r>
              <a:rPr lang="en-IL" sz="2000" dirty="0">
                <a:latin typeface="Inter"/>
              </a:rPr>
              <a:t>,</a:t>
            </a:r>
            <a:r>
              <a:rPr lang="en-US" sz="2000" dirty="0">
                <a:latin typeface="Inter"/>
              </a:rPr>
              <a:t>632</a:t>
            </a:r>
            <a:r>
              <a:rPr lang="en-IL" sz="2000" dirty="0">
                <a:latin typeface="Inter"/>
              </a:rPr>
              <a:t> </a:t>
            </a:r>
            <a:r>
              <a:rPr lang="en-US" sz="2000" dirty="0">
                <a:latin typeface="Inter"/>
              </a:rPr>
              <a:t>Records</a:t>
            </a:r>
          </a:p>
          <a:p>
            <a:r>
              <a:rPr lang="en-US" sz="1600" dirty="0">
                <a:latin typeface="Inter"/>
              </a:rPr>
              <a:t>Validates trained models and back-and-forth checking iterations</a:t>
            </a:r>
          </a:p>
          <a:p>
            <a:endParaRPr lang="en-US" dirty="0"/>
          </a:p>
        </p:txBody>
      </p:sp>
      <p:sp>
        <p:nvSpPr>
          <p:cNvPr id="8" name="Shape 27">
            <a:extLst>
              <a:ext uri="{FF2B5EF4-FFF2-40B4-BE49-F238E27FC236}">
                <a16:creationId xmlns:a16="http://schemas.microsoft.com/office/drawing/2014/main" id="{E174CAA2-D58E-3970-0A8E-E27EF99A1F16}"/>
              </a:ext>
            </a:extLst>
          </p:cNvPr>
          <p:cNvSpPr/>
          <p:nvPr/>
        </p:nvSpPr>
        <p:spPr>
          <a:xfrm>
            <a:off x="12037367" y="4116561"/>
            <a:ext cx="3787200" cy="1726480"/>
          </a:xfrm>
          <a:prstGeom prst="rect">
            <a:avLst/>
          </a:prstGeom>
          <a:solidFill>
            <a:srgbClr val="EBE5D6"/>
          </a:solidFill>
          <a:ln w="9525">
            <a:solidFill>
              <a:srgbClr val="D4CDBC"/>
            </a:solidFill>
            <a:prstDash val="solid"/>
          </a:ln>
        </p:spPr>
        <p:txBody>
          <a:bodyPr/>
          <a:lstStyle/>
          <a:p>
            <a:pPr algn="ctr"/>
            <a:r>
              <a:rPr lang="en-US" sz="2400" b="1" dirty="0">
                <a:latin typeface="Inter"/>
              </a:rPr>
              <a:t>Test (15%)</a:t>
            </a:r>
          </a:p>
          <a:p>
            <a:pPr algn="ctr"/>
            <a:r>
              <a:rPr lang="en-US" sz="2000" dirty="0">
                <a:latin typeface="Inter"/>
              </a:rPr>
              <a:t>13</a:t>
            </a:r>
            <a:r>
              <a:rPr lang="en-IL" sz="2000" dirty="0">
                <a:latin typeface="Inter"/>
              </a:rPr>
              <a:t>,</a:t>
            </a:r>
            <a:r>
              <a:rPr lang="en-US" sz="2000" dirty="0">
                <a:latin typeface="Inter"/>
              </a:rPr>
              <a:t>633</a:t>
            </a:r>
            <a:r>
              <a:rPr lang="en-IL" sz="2000" dirty="0">
                <a:latin typeface="Inter"/>
              </a:rPr>
              <a:t> </a:t>
            </a:r>
            <a:r>
              <a:rPr lang="en-US" sz="2000" dirty="0">
                <a:latin typeface="Inter"/>
              </a:rPr>
              <a:t>Records</a:t>
            </a:r>
          </a:p>
          <a:p>
            <a:r>
              <a:rPr lang="en-US" sz="2000" dirty="0">
                <a:latin typeface="Inter"/>
              </a:rPr>
              <a:t>Final run on the selected model</a:t>
            </a:r>
          </a:p>
        </p:txBody>
      </p:sp>
      <p:cxnSp>
        <p:nvCxnSpPr>
          <p:cNvPr id="10" name="Straight Arrow Connector 9">
            <a:extLst>
              <a:ext uri="{FF2B5EF4-FFF2-40B4-BE49-F238E27FC236}">
                <a16:creationId xmlns:a16="http://schemas.microsoft.com/office/drawing/2014/main" id="{50214784-5749-4CA0-1268-36030E4453B2}"/>
              </a:ext>
            </a:extLst>
          </p:cNvPr>
          <p:cNvCxnSpPr/>
          <p:nvPr/>
        </p:nvCxnSpPr>
        <p:spPr>
          <a:xfrm flipH="1">
            <a:off x="6104586" y="3345135"/>
            <a:ext cx="1352282" cy="479890"/>
          </a:xfrm>
          <a:prstGeom prst="straightConnector1">
            <a:avLst/>
          </a:prstGeom>
          <a:ln w="7620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0F040296-E53F-B223-65BC-6C8D9C0BA66D}"/>
              </a:ext>
            </a:extLst>
          </p:cNvPr>
          <p:cNvCxnSpPr>
            <a:cxnSpLocks/>
          </p:cNvCxnSpPr>
          <p:nvPr/>
        </p:nvCxnSpPr>
        <p:spPr>
          <a:xfrm>
            <a:off x="12037367" y="3365675"/>
            <a:ext cx="1353600" cy="478800"/>
          </a:xfrm>
          <a:prstGeom prst="straightConnector1">
            <a:avLst/>
          </a:prstGeom>
          <a:ln w="7620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C187FEC2-48F4-A927-3B47-80DE7EA4F902}"/>
              </a:ext>
            </a:extLst>
          </p:cNvPr>
          <p:cNvCxnSpPr>
            <a:cxnSpLocks/>
          </p:cNvCxnSpPr>
          <p:nvPr/>
        </p:nvCxnSpPr>
        <p:spPr>
          <a:xfrm>
            <a:off x="9538469" y="3365675"/>
            <a:ext cx="0" cy="478800"/>
          </a:xfrm>
          <a:prstGeom prst="straightConnector1">
            <a:avLst/>
          </a:prstGeom>
          <a:ln w="7620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44C37749-4300-2B6D-3F3E-C7A55D823BF0}"/>
              </a:ext>
            </a:extLst>
          </p:cNvPr>
          <p:cNvCxnSpPr>
            <a:cxnSpLocks/>
          </p:cNvCxnSpPr>
          <p:nvPr/>
        </p:nvCxnSpPr>
        <p:spPr>
          <a:xfrm>
            <a:off x="5173709" y="6134577"/>
            <a:ext cx="0" cy="871530"/>
          </a:xfrm>
          <a:prstGeom prst="straightConnector1">
            <a:avLst/>
          </a:prstGeom>
          <a:ln w="7620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81" name="Oval 80">
            <a:extLst>
              <a:ext uri="{FF2B5EF4-FFF2-40B4-BE49-F238E27FC236}">
                <a16:creationId xmlns:a16="http://schemas.microsoft.com/office/drawing/2014/main" id="{EDF19DC6-060E-40E4-7732-B68E4FF2636D}"/>
              </a:ext>
            </a:extLst>
          </p:cNvPr>
          <p:cNvSpPr/>
          <p:nvPr/>
        </p:nvSpPr>
        <p:spPr>
          <a:xfrm>
            <a:off x="3277672" y="7265180"/>
            <a:ext cx="3720921" cy="1555124"/>
          </a:xfrm>
          <a:prstGeom prst="ellipse">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lumMod val="95000"/>
                    <a:lumOff val="5000"/>
                  </a:schemeClr>
                </a:solidFill>
                <a:latin typeface="Inter"/>
              </a:rPr>
              <a:t>Cleaning &amp; Manipulation pipelines</a:t>
            </a:r>
            <a:endParaRPr lang="en-IL" sz="2000" b="1" dirty="0">
              <a:solidFill>
                <a:schemeClr val="tx1">
                  <a:lumMod val="95000"/>
                  <a:lumOff val="5000"/>
                </a:schemeClr>
              </a:solidFill>
              <a:latin typeface="Inter"/>
            </a:endParaRPr>
          </a:p>
        </p:txBody>
      </p:sp>
    </p:spTree>
    <p:extLst>
      <p:ext uri="{BB962C8B-B14F-4D97-AF65-F5344CB8AC3E}">
        <p14:creationId xmlns:p14="http://schemas.microsoft.com/office/powerpoint/2010/main" val="418191957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7">
    <p:bg>
      <p:bgPr>
        <a:solidFill>
          <a:srgbClr val="F5F1E8"/>
        </a:solidFill>
        <a:effectLst/>
      </p:bgPr>
    </p:bg>
    <p:spTree>
      <p:nvGrpSpPr>
        <p:cNvPr id="1" name=""/>
        <p:cNvGrpSpPr/>
        <p:nvPr/>
      </p:nvGrpSpPr>
      <p:grpSpPr>
        <a:xfrm>
          <a:off x="0" y="0"/>
          <a:ext cx="0" cy="0"/>
          <a:chOff x="0" y="0"/>
          <a:chExt cx="0" cy="0"/>
        </a:xfrm>
      </p:grpSpPr>
      <p:sp>
        <p:nvSpPr>
          <p:cNvPr id="2" name="Shape 0"/>
          <p:cNvSpPr/>
          <p:nvPr/>
        </p:nvSpPr>
        <p:spPr>
          <a:xfrm>
            <a:off x="0" y="0"/>
            <a:ext cx="2095500" cy="10287000"/>
          </a:xfrm>
          <a:prstGeom prst="rect">
            <a:avLst/>
          </a:prstGeom>
          <a:solidFill>
            <a:srgbClr val="EBE5D6"/>
          </a:solidFill>
          <a:ln/>
        </p:spPr>
        <p:txBody>
          <a:bodyPr/>
          <a:lstStyle/>
          <a:p>
            <a:endParaRPr lang="he-IL"/>
          </a:p>
        </p:txBody>
      </p:sp>
      <p:sp>
        <p:nvSpPr>
          <p:cNvPr id="3" name="Shape 1"/>
          <p:cNvSpPr/>
          <p:nvPr/>
        </p:nvSpPr>
        <p:spPr>
          <a:xfrm>
            <a:off x="2085975" y="0"/>
            <a:ext cx="9525" cy="10287000"/>
          </a:xfrm>
          <a:prstGeom prst="rect">
            <a:avLst/>
          </a:prstGeom>
          <a:solidFill>
            <a:srgbClr val="D4CDBC"/>
          </a:solidFill>
          <a:ln/>
        </p:spPr>
        <p:txBody>
          <a:bodyPr/>
          <a:lstStyle/>
          <a:p>
            <a:endParaRPr lang="he-IL"/>
          </a:p>
        </p:txBody>
      </p:sp>
      <p:sp>
        <p:nvSpPr>
          <p:cNvPr id="19" name="Text 17"/>
          <p:cNvSpPr/>
          <p:nvPr/>
        </p:nvSpPr>
        <p:spPr>
          <a:xfrm>
            <a:off x="2781300" y="571500"/>
            <a:ext cx="15187041" cy="171450"/>
          </a:xfrm>
          <a:prstGeom prst="rect">
            <a:avLst/>
          </a:prstGeom>
          <a:noFill/>
          <a:ln/>
        </p:spPr>
        <p:txBody>
          <a:bodyPr wrap="square" lIns="25400" tIns="25400" rIns="25400" bIns="25400" rtlCol="0" anchor="ctr">
            <a:noAutofit/>
          </a:bodyPr>
          <a:lstStyle/>
          <a:p>
            <a:pPr marL="0" indent="0" algn="l">
              <a:buNone/>
            </a:pPr>
            <a:r>
              <a:rPr lang="en-US" sz="1400" kern="0" spc="182" dirty="0">
                <a:solidFill>
                  <a:srgbClr val="888080"/>
                </a:solidFill>
                <a:latin typeface="JetBrains Mono" pitchFamily="34" charset="0"/>
                <a:ea typeface="JetBrains Mono" pitchFamily="34" charset="-122"/>
                <a:cs typeface="JetBrains Mono" pitchFamily="34" charset="-120"/>
              </a:rPr>
              <a:t>PIPELINE · OVERVIEW</a:t>
            </a:r>
            <a:endParaRPr lang="en-US" sz="1400" dirty="0"/>
          </a:p>
        </p:txBody>
      </p:sp>
      <p:sp>
        <p:nvSpPr>
          <p:cNvPr id="20" name="Text 18"/>
          <p:cNvSpPr/>
          <p:nvPr/>
        </p:nvSpPr>
        <p:spPr>
          <a:xfrm>
            <a:off x="2781300" y="914400"/>
            <a:ext cx="15187041" cy="643830"/>
          </a:xfrm>
          <a:prstGeom prst="rect">
            <a:avLst/>
          </a:prstGeom>
          <a:noFill/>
          <a:ln/>
        </p:spPr>
        <p:txBody>
          <a:bodyPr wrap="square" lIns="25400" tIns="25400" rIns="25400" bIns="25400" rtlCol="0" anchor="t">
            <a:normAutofit fontScale="92500" lnSpcReduction="20000"/>
          </a:bodyPr>
          <a:lstStyle/>
          <a:p>
            <a:pPr marL="0" indent="0" algn="l">
              <a:lnSpc>
                <a:spcPct val="106000"/>
              </a:lnSpc>
              <a:buNone/>
            </a:pPr>
            <a:r>
              <a:rPr lang="en-US" sz="4500" kern="0" spc="-81" dirty="0">
                <a:solidFill>
                  <a:srgbClr val="1A1A1A"/>
                </a:solidFill>
                <a:latin typeface="Instrument Serif" pitchFamily="34" charset="0"/>
                <a:ea typeface="Instrument Serif" pitchFamily="34" charset="-122"/>
                <a:cs typeface="Instrument Serif" pitchFamily="34" charset="-120"/>
              </a:rPr>
              <a:t>Six ordered steps.</a:t>
            </a:r>
            <a:endParaRPr lang="en-US" sz="4500" dirty="0"/>
          </a:p>
        </p:txBody>
      </p:sp>
      <p:sp>
        <p:nvSpPr>
          <p:cNvPr id="49" name="Text 16">
            <a:extLst>
              <a:ext uri="{FF2B5EF4-FFF2-40B4-BE49-F238E27FC236}">
                <a16:creationId xmlns:a16="http://schemas.microsoft.com/office/drawing/2014/main" id="{C70BB181-C3FC-26B4-8711-EFDDF270D6B0}"/>
              </a:ext>
            </a:extLst>
          </p:cNvPr>
          <p:cNvSpPr/>
          <p:nvPr/>
        </p:nvSpPr>
        <p:spPr>
          <a:xfrm>
            <a:off x="266700" y="9410700"/>
            <a:ext cx="1628775" cy="342900"/>
          </a:xfrm>
          <a:prstGeom prst="rect">
            <a:avLst/>
          </a:prstGeom>
          <a:noFill/>
          <a:ln/>
        </p:spPr>
        <p:txBody>
          <a:bodyPr wrap="square" lIns="25400" tIns="25400" rIns="25400" bIns="25400" rtlCol="0" anchor="t">
            <a:noAutofit/>
          </a:bodyPr>
          <a:lstStyle/>
          <a:p>
            <a:pPr>
              <a:lnSpc>
                <a:spcPct val="160000"/>
              </a:lnSpc>
            </a:pPr>
            <a:r>
              <a:rPr lang="en-US" sz="1400" b="1" kern="0" spc="105" dirty="0">
                <a:solidFill>
                  <a:srgbClr val="1A1A1A"/>
                </a:solidFill>
                <a:latin typeface="JetBrains Mono" pitchFamily="34" charset="0"/>
                <a:ea typeface="JetBrains Mono" pitchFamily="34" charset="-122"/>
                <a:cs typeface="JetBrains Mono" pitchFamily="34" charset="-120"/>
              </a:rPr>
              <a:t>17 / 34</a:t>
            </a:r>
            <a:endParaRPr lang="en-US" sz="1400" dirty="0"/>
          </a:p>
        </p:txBody>
      </p:sp>
      <p:sp>
        <p:nvSpPr>
          <p:cNvPr id="50" name="Text 4">
            <a:extLst>
              <a:ext uri="{FF2B5EF4-FFF2-40B4-BE49-F238E27FC236}">
                <a16:creationId xmlns:a16="http://schemas.microsoft.com/office/drawing/2014/main" id="{6D0DC9C8-3881-17B3-FFEF-EF587A81D174}"/>
              </a:ext>
            </a:extLst>
          </p:cNvPr>
          <p:cNvSpPr/>
          <p:nvPr/>
        </p:nvSpPr>
        <p:spPr>
          <a:xfrm>
            <a:off x="228063" y="1524367"/>
            <a:ext cx="372012" cy="200025"/>
          </a:xfrm>
          <a:prstGeom prst="rect">
            <a:avLst/>
          </a:prstGeom>
          <a:noFill/>
          <a:ln/>
        </p:spPr>
        <p:txBody>
          <a:bodyPr wrap="square" lIns="25400" tIns="25400" rIns="25400" bIns="25400" rtlCol="0" anchor="t">
            <a:noAutofit/>
          </a:bodyPr>
          <a:lstStyle/>
          <a:p>
            <a:pPr marL="0" indent="0" algn="l">
              <a:lnSpc>
                <a:spcPct val="130000"/>
              </a:lnSpc>
              <a:buNone/>
            </a:pPr>
            <a:r>
              <a:rPr lang="en-US" sz="1400" kern="0" spc="21" dirty="0">
                <a:solidFill>
                  <a:srgbClr val="888080"/>
                </a:solidFill>
                <a:latin typeface="Inter" pitchFamily="34" charset="0"/>
                <a:ea typeface="Inter" pitchFamily="34" charset="-122"/>
              </a:rPr>
              <a:t>01</a:t>
            </a:r>
          </a:p>
        </p:txBody>
      </p:sp>
      <p:sp>
        <p:nvSpPr>
          <p:cNvPr id="51" name="Text 5">
            <a:extLst>
              <a:ext uri="{FF2B5EF4-FFF2-40B4-BE49-F238E27FC236}">
                <a16:creationId xmlns:a16="http://schemas.microsoft.com/office/drawing/2014/main" id="{88B95A10-D3BF-F449-3F52-EB882CD99666}"/>
              </a:ext>
            </a:extLst>
          </p:cNvPr>
          <p:cNvSpPr/>
          <p:nvPr/>
        </p:nvSpPr>
        <p:spPr>
          <a:xfrm>
            <a:off x="523875" y="1522975"/>
            <a:ext cx="876300" cy="476251"/>
          </a:xfrm>
          <a:prstGeom prst="rect">
            <a:avLst/>
          </a:prstGeom>
          <a:noFill/>
          <a:ln/>
        </p:spPr>
        <p:txBody>
          <a:bodyPr wrap="square" lIns="25400" tIns="25400" rIns="25400" bIns="25400" rtlCol="0" anchor="t">
            <a:normAutofit/>
          </a:bodyPr>
          <a:lstStyle/>
          <a:p>
            <a:pPr marL="0" indent="0" algn="l">
              <a:lnSpc>
                <a:spcPct val="130000"/>
              </a:lnSpc>
              <a:buNone/>
            </a:pPr>
            <a:r>
              <a:rPr lang="en-US" sz="1400" kern="0" spc="21" dirty="0">
                <a:solidFill>
                  <a:srgbClr val="888080"/>
                </a:solidFill>
                <a:latin typeface="Inter" pitchFamily="34" charset="0"/>
                <a:ea typeface="Inter" pitchFamily="34" charset="-122"/>
              </a:rPr>
              <a:t>Agenda</a:t>
            </a:r>
          </a:p>
        </p:txBody>
      </p:sp>
      <p:sp>
        <p:nvSpPr>
          <p:cNvPr id="70" name="Text 6">
            <a:extLst>
              <a:ext uri="{FF2B5EF4-FFF2-40B4-BE49-F238E27FC236}">
                <a16:creationId xmlns:a16="http://schemas.microsoft.com/office/drawing/2014/main" id="{AEF8EB2C-10F0-58B1-90EE-4DCDFC48F0EF}"/>
              </a:ext>
            </a:extLst>
          </p:cNvPr>
          <p:cNvSpPr/>
          <p:nvPr/>
        </p:nvSpPr>
        <p:spPr>
          <a:xfrm>
            <a:off x="228063" y="1830953"/>
            <a:ext cx="372010" cy="194877"/>
          </a:xfrm>
          <a:prstGeom prst="rect">
            <a:avLst/>
          </a:prstGeom>
          <a:noFill/>
          <a:ln/>
        </p:spPr>
        <p:txBody>
          <a:bodyPr wrap="square" lIns="25400" tIns="25400" rIns="25400" bIns="25400" rtlCol="0" anchor="t">
            <a:noAutofit/>
          </a:bodyPr>
          <a:lstStyle/>
          <a:p>
            <a:pPr marL="0" indent="0" algn="l">
              <a:lnSpc>
                <a:spcPct val="130000"/>
              </a:lnSpc>
              <a:buNone/>
            </a:pPr>
            <a:r>
              <a:rPr lang="en-US" sz="1400" kern="0" spc="21" dirty="0">
                <a:solidFill>
                  <a:srgbClr val="888080"/>
                </a:solidFill>
                <a:latin typeface="Inter" pitchFamily="34" charset="0"/>
                <a:ea typeface="Inter" pitchFamily="34" charset="-122"/>
              </a:rPr>
              <a:t>02</a:t>
            </a:r>
          </a:p>
        </p:txBody>
      </p:sp>
      <p:sp>
        <p:nvSpPr>
          <p:cNvPr id="71" name="Text 8">
            <a:extLst>
              <a:ext uri="{FF2B5EF4-FFF2-40B4-BE49-F238E27FC236}">
                <a16:creationId xmlns:a16="http://schemas.microsoft.com/office/drawing/2014/main" id="{06F9BBA4-1951-EC97-FA46-BE6AD59316C2}"/>
              </a:ext>
            </a:extLst>
          </p:cNvPr>
          <p:cNvSpPr/>
          <p:nvPr/>
        </p:nvSpPr>
        <p:spPr>
          <a:xfrm>
            <a:off x="230504" y="2152895"/>
            <a:ext cx="302895" cy="141422"/>
          </a:xfrm>
          <a:prstGeom prst="rect">
            <a:avLst/>
          </a:prstGeom>
          <a:noFill/>
          <a:ln/>
        </p:spPr>
        <p:txBody>
          <a:bodyPr wrap="square" lIns="25400" tIns="25400" rIns="25400" bIns="25400" rtlCol="0" anchor="t">
            <a:noAutofit/>
          </a:bodyPr>
          <a:lstStyle/>
          <a:p>
            <a:pPr marL="0" indent="0" algn="l">
              <a:lnSpc>
                <a:spcPct val="130000"/>
              </a:lnSpc>
              <a:buNone/>
            </a:pPr>
            <a:r>
              <a:rPr lang="en-US" sz="1400" kern="0" spc="21" dirty="0">
                <a:solidFill>
                  <a:srgbClr val="888080"/>
                </a:solidFill>
                <a:latin typeface="Inter" pitchFamily="34" charset="0"/>
                <a:ea typeface="Inter" pitchFamily="34" charset="-122"/>
              </a:rPr>
              <a:t>03</a:t>
            </a:r>
          </a:p>
        </p:txBody>
      </p:sp>
      <p:sp>
        <p:nvSpPr>
          <p:cNvPr id="72" name="Text 9">
            <a:extLst>
              <a:ext uri="{FF2B5EF4-FFF2-40B4-BE49-F238E27FC236}">
                <a16:creationId xmlns:a16="http://schemas.microsoft.com/office/drawing/2014/main" id="{1439E761-C025-1874-99AB-F5BD8FAFF7B3}"/>
              </a:ext>
            </a:extLst>
          </p:cNvPr>
          <p:cNvSpPr/>
          <p:nvPr/>
        </p:nvSpPr>
        <p:spPr>
          <a:xfrm>
            <a:off x="531240" y="2145027"/>
            <a:ext cx="1185416" cy="342476"/>
          </a:xfrm>
          <a:prstGeom prst="rect">
            <a:avLst/>
          </a:prstGeom>
          <a:noFill/>
          <a:ln/>
        </p:spPr>
        <p:txBody>
          <a:bodyPr wrap="square" lIns="25400" tIns="25400" rIns="25400" bIns="25400" rtlCol="0" anchor="t">
            <a:normAutofit/>
          </a:bodyPr>
          <a:lstStyle/>
          <a:p>
            <a:pPr marL="0" indent="0" algn="l">
              <a:lnSpc>
                <a:spcPct val="130000"/>
              </a:lnSpc>
              <a:buNone/>
            </a:pPr>
            <a:r>
              <a:rPr lang="en-US" sz="1400" kern="0" spc="21" dirty="0">
                <a:solidFill>
                  <a:srgbClr val="888080"/>
                </a:solidFill>
                <a:latin typeface="Inter" pitchFamily="34" charset="0"/>
                <a:ea typeface="Inter" pitchFamily="34" charset="-122"/>
              </a:rPr>
              <a:t>EDA</a:t>
            </a:r>
          </a:p>
        </p:txBody>
      </p:sp>
      <p:sp>
        <p:nvSpPr>
          <p:cNvPr id="73" name="Text 10">
            <a:extLst>
              <a:ext uri="{FF2B5EF4-FFF2-40B4-BE49-F238E27FC236}">
                <a16:creationId xmlns:a16="http://schemas.microsoft.com/office/drawing/2014/main" id="{BB1F41DE-C7D7-5024-4367-3A9418CE636E}"/>
              </a:ext>
            </a:extLst>
          </p:cNvPr>
          <p:cNvSpPr/>
          <p:nvPr/>
        </p:nvSpPr>
        <p:spPr>
          <a:xfrm>
            <a:off x="228062" y="2444125"/>
            <a:ext cx="305337" cy="172132"/>
          </a:xfrm>
          <a:prstGeom prst="rect">
            <a:avLst/>
          </a:prstGeom>
          <a:noFill/>
          <a:ln/>
        </p:spPr>
        <p:txBody>
          <a:bodyPr wrap="square" lIns="25400" tIns="25400" rIns="25400" bIns="25400" rtlCol="0" anchor="t">
            <a:noAutofit/>
          </a:bodyPr>
          <a:lstStyle/>
          <a:p>
            <a:pPr marL="0" indent="0" algn="l">
              <a:lnSpc>
                <a:spcPct val="130000"/>
              </a:lnSpc>
              <a:buNone/>
            </a:pPr>
            <a:r>
              <a:rPr lang="en-US" sz="1400" b="1" kern="0" spc="21" dirty="0">
                <a:solidFill>
                  <a:srgbClr val="C25A2A"/>
                </a:solidFill>
                <a:latin typeface="JetBrains Mono" pitchFamily="34" charset="0"/>
                <a:ea typeface="JetBrains Mono" pitchFamily="34" charset="-122"/>
              </a:rPr>
              <a:t>04</a:t>
            </a:r>
          </a:p>
        </p:txBody>
      </p:sp>
      <p:sp>
        <p:nvSpPr>
          <p:cNvPr id="74" name="Text 12">
            <a:extLst>
              <a:ext uri="{FF2B5EF4-FFF2-40B4-BE49-F238E27FC236}">
                <a16:creationId xmlns:a16="http://schemas.microsoft.com/office/drawing/2014/main" id="{7DADC413-250F-0721-6CD5-E57605C88781}"/>
              </a:ext>
            </a:extLst>
          </p:cNvPr>
          <p:cNvSpPr/>
          <p:nvPr/>
        </p:nvSpPr>
        <p:spPr>
          <a:xfrm>
            <a:off x="228062" y="2750711"/>
            <a:ext cx="372011" cy="158880"/>
          </a:xfrm>
          <a:prstGeom prst="rect">
            <a:avLst/>
          </a:prstGeom>
          <a:noFill/>
          <a:ln/>
        </p:spPr>
        <p:txBody>
          <a:bodyPr wrap="square" lIns="25400" tIns="25400" rIns="25400" bIns="25400" rtlCol="0" anchor="t">
            <a:noAutofit/>
          </a:bodyPr>
          <a:lstStyle/>
          <a:p>
            <a:pPr marL="0" indent="0" algn="l">
              <a:lnSpc>
                <a:spcPct val="130000"/>
              </a:lnSpc>
              <a:buNone/>
            </a:pPr>
            <a:r>
              <a:rPr lang="en-US" sz="1400" kern="0" spc="21" dirty="0">
                <a:solidFill>
                  <a:srgbClr val="888080"/>
                </a:solidFill>
                <a:latin typeface="JetBrains Mono" pitchFamily="34" charset="0"/>
                <a:ea typeface="JetBrains Mono" pitchFamily="34" charset="-122"/>
                <a:cs typeface="JetBrains Mono" pitchFamily="34" charset="-120"/>
              </a:rPr>
              <a:t>05</a:t>
            </a:r>
            <a:endParaRPr lang="en-US" sz="1400" dirty="0"/>
          </a:p>
        </p:txBody>
      </p:sp>
      <p:sp>
        <p:nvSpPr>
          <p:cNvPr id="75" name="Text 13">
            <a:extLst>
              <a:ext uri="{FF2B5EF4-FFF2-40B4-BE49-F238E27FC236}">
                <a16:creationId xmlns:a16="http://schemas.microsoft.com/office/drawing/2014/main" id="{90385F25-41C2-FF35-66E8-2EE9ECC7FD0F}"/>
              </a:ext>
            </a:extLst>
          </p:cNvPr>
          <p:cNvSpPr/>
          <p:nvPr/>
        </p:nvSpPr>
        <p:spPr>
          <a:xfrm>
            <a:off x="533399" y="2725489"/>
            <a:ext cx="948333" cy="761256"/>
          </a:xfrm>
          <a:prstGeom prst="rect">
            <a:avLst/>
          </a:prstGeom>
          <a:noFill/>
          <a:ln/>
        </p:spPr>
        <p:txBody>
          <a:bodyPr wrap="square" lIns="25400" tIns="25400" rIns="25400" bIns="25400" rtlCol="0" anchor="t">
            <a:normAutofit/>
          </a:bodyPr>
          <a:lstStyle/>
          <a:p>
            <a:pPr marL="0" indent="0" algn="l">
              <a:lnSpc>
                <a:spcPct val="130000"/>
              </a:lnSpc>
              <a:buNone/>
            </a:pPr>
            <a:r>
              <a:rPr lang="en-US" sz="1400" kern="0" spc="21" dirty="0">
                <a:solidFill>
                  <a:srgbClr val="888080"/>
                </a:solidFill>
                <a:latin typeface="Inter" pitchFamily="34" charset="0"/>
                <a:ea typeface="Inter" pitchFamily="34" charset="-122"/>
                <a:cs typeface="Inter" pitchFamily="34" charset="-120"/>
              </a:rPr>
              <a:t>Modeling</a:t>
            </a:r>
            <a:endParaRPr lang="en-US" sz="1400" dirty="0"/>
          </a:p>
        </p:txBody>
      </p:sp>
      <p:sp>
        <p:nvSpPr>
          <p:cNvPr id="76" name="Text 14">
            <a:extLst>
              <a:ext uri="{FF2B5EF4-FFF2-40B4-BE49-F238E27FC236}">
                <a16:creationId xmlns:a16="http://schemas.microsoft.com/office/drawing/2014/main" id="{D6E79276-B305-F955-A03F-D8D3C46BE41F}"/>
              </a:ext>
            </a:extLst>
          </p:cNvPr>
          <p:cNvSpPr/>
          <p:nvPr/>
        </p:nvSpPr>
        <p:spPr>
          <a:xfrm>
            <a:off x="235683" y="3042056"/>
            <a:ext cx="372010" cy="191463"/>
          </a:xfrm>
          <a:prstGeom prst="rect">
            <a:avLst/>
          </a:prstGeom>
          <a:noFill/>
          <a:ln/>
        </p:spPr>
        <p:txBody>
          <a:bodyPr wrap="square" lIns="25400" tIns="25400" rIns="25400" bIns="25400" rtlCol="0" anchor="t">
            <a:noAutofit/>
          </a:bodyPr>
          <a:lstStyle/>
          <a:p>
            <a:pPr marL="0" indent="0" algn="l">
              <a:lnSpc>
                <a:spcPct val="130000"/>
              </a:lnSpc>
              <a:buNone/>
            </a:pPr>
            <a:r>
              <a:rPr lang="en-US" sz="1400" kern="0" spc="21" dirty="0">
                <a:solidFill>
                  <a:srgbClr val="888080"/>
                </a:solidFill>
                <a:latin typeface="JetBrains Mono" pitchFamily="34" charset="0"/>
                <a:ea typeface="JetBrains Mono" pitchFamily="34" charset="-122"/>
                <a:cs typeface="JetBrains Mono" pitchFamily="34" charset="-120"/>
              </a:rPr>
              <a:t>06</a:t>
            </a:r>
            <a:endParaRPr lang="en-US" sz="1400" dirty="0"/>
          </a:p>
        </p:txBody>
      </p:sp>
      <p:sp>
        <p:nvSpPr>
          <p:cNvPr id="77" name="Text 15">
            <a:extLst>
              <a:ext uri="{FF2B5EF4-FFF2-40B4-BE49-F238E27FC236}">
                <a16:creationId xmlns:a16="http://schemas.microsoft.com/office/drawing/2014/main" id="{C16CB996-1A4B-67E6-A2A7-3D9F135CAAEC}"/>
              </a:ext>
            </a:extLst>
          </p:cNvPr>
          <p:cNvSpPr/>
          <p:nvPr/>
        </p:nvSpPr>
        <p:spPr>
          <a:xfrm>
            <a:off x="533400" y="3032075"/>
            <a:ext cx="1185416" cy="626120"/>
          </a:xfrm>
          <a:prstGeom prst="rect">
            <a:avLst/>
          </a:prstGeom>
          <a:noFill/>
          <a:ln/>
        </p:spPr>
        <p:txBody>
          <a:bodyPr wrap="square" lIns="25400" tIns="25400" rIns="25400" bIns="25400" rtlCol="0" anchor="t">
            <a:normAutofit/>
          </a:bodyPr>
          <a:lstStyle/>
          <a:p>
            <a:pPr marL="0" indent="0" algn="l">
              <a:lnSpc>
                <a:spcPct val="130000"/>
              </a:lnSpc>
              <a:buNone/>
            </a:pPr>
            <a:r>
              <a:rPr lang="en-US" sz="1400" kern="0" spc="21" dirty="0">
                <a:solidFill>
                  <a:srgbClr val="888080"/>
                </a:solidFill>
                <a:latin typeface="Inter" pitchFamily="34" charset="0"/>
                <a:ea typeface="Inter" pitchFamily="34" charset="-122"/>
                <a:cs typeface="Inter" pitchFamily="34" charset="-120"/>
              </a:rPr>
              <a:t>Conclusions</a:t>
            </a:r>
            <a:endParaRPr lang="en-US" sz="1400" dirty="0"/>
          </a:p>
        </p:txBody>
      </p:sp>
      <p:sp>
        <p:nvSpPr>
          <p:cNvPr id="78" name="Text 9">
            <a:extLst>
              <a:ext uri="{FF2B5EF4-FFF2-40B4-BE49-F238E27FC236}">
                <a16:creationId xmlns:a16="http://schemas.microsoft.com/office/drawing/2014/main" id="{71D95A2A-095E-8999-001C-6F47E07B0957}"/>
              </a:ext>
            </a:extLst>
          </p:cNvPr>
          <p:cNvSpPr/>
          <p:nvPr/>
        </p:nvSpPr>
        <p:spPr>
          <a:xfrm>
            <a:off x="538609" y="2426180"/>
            <a:ext cx="1185416" cy="342476"/>
          </a:xfrm>
          <a:prstGeom prst="rect">
            <a:avLst/>
          </a:prstGeom>
          <a:noFill/>
          <a:ln/>
        </p:spPr>
        <p:txBody>
          <a:bodyPr wrap="square" lIns="25400" tIns="25400" rIns="25400" bIns="25400" rtlCol="0" anchor="t">
            <a:normAutofit/>
          </a:bodyPr>
          <a:lstStyle/>
          <a:p>
            <a:pPr marL="0" indent="0" algn="l">
              <a:lnSpc>
                <a:spcPct val="130000"/>
              </a:lnSpc>
              <a:buNone/>
            </a:pPr>
            <a:r>
              <a:rPr lang="en-US" sz="1400" kern="0" spc="21" dirty="0">
                <a:solidFill>
                  <a:srgbClr val="1A1A1A"/>
                </a:solidFill>
                <a:latin typeface="Inter" pitchFamily="34" charset="0"/>
                <a:ea typeface="Inter" pitchFamily="34" charset="-122"/>
              </a:rPr>
              <a:t>Pipeline</a:t>
            </a:r>
          </a:p>
        </p:txBody>
      </p:sp>
      <p:sp>
        <p:nvSpPr>
          <p:cNvPr id="79" name="Text 7">
            <a:extLst>
              <a:ext uri="{FF2B5EF4-FFF2-40B4-BE49-F238E27FC236}">
                <a16:creationId xmlns:a16="http://schemas.microsoft.com/office/drawing/2014/main" id="{8F0643C8-8FC3-EF8F-7C94-FD368F8A3141}"/>
              </a:ext>
            </a:extLst>
          </p:cNvPr>
          <p:cNvSpPr/>
          <p:nvPr/>
        </p:nvSpPr>
        <p:spPr>
          <a:xfrm>
            <a:off x="523875" y="1826620"/>
            <a:ext cx="1325700" cy="467696"/>
          </a:xfrm>
          <a:prstGeom prst="rect">
            <a:avLst/>
          </a:prstGeom>
          <a:noFill/>
          <a:ln/>
        </p:spPr>
        <p:txBody>
          <a:bodyPr wrap="square" lIns="25400" tIns="25400" rIns="25400" bIns="25400" rtlCol="0" anchor="t">
            <a:noAutofit/>
          </a:bodyPr>
          <a:lstStyle/>
          <a:p>
            <a:pPr marL="0" indent="0" algn="l">
              <a:lnSpc>
                <a:spcPct val="130000"/>
              </a:lnSpc>
              <a:buNone/>
            </a:pPr>
            <a:r>
              <a:rPr lang="en-US" sz="1400" kern="0" spc="21" dirty="0">
                <a:solidFill>
                  <a:srgbClr val="888080"/>
                </a:solidFill>
                <a:latin typeface="Inter" pitchFamily="34" charset="0"/>
                <a:ea typeface="Inter" pitchFamily="34" charset="-122"/>
              </a:rPr>
              <a:t>Data &amp; target</a:t>
            </a:r>
          </a:p>
        </p:txBody>
      </p:sp>
      <p:sp>
        <p:nvSpPr>
          <p:cNvPr id="80" name="Text 1">
            <a:extLst>
              <a:ext uri="{FF2B5EF4-FFF2-40B4-BE49-F238E27FC236}">
                <a16:creationId xmlns:a16="http://schemas.microsoft.com/office/drawing/2014/main" id="{C0B55B15-C125-5B5E-12DA-AC85A0F82D59}"/>
              </a:ext>
            </a:extLst>
          </p:cNvPr>
          <p:cNvSpPr/>
          <p:nvPr/>
        </p:nvSpPr>
        <p:spPr>
          <a:xfrm>
            <a:off x="261138" y="379598"/>
            <a:ext cx="1778457" cy="447678"/>
          </a:xfrm>
          <a:prstGeom prst="rect">
            <a:avLst/>
          </a:prstGeom>
          <a:noFill/>
          <a:ln/>
        </p:spPr>
        <p:txBody>
          <a:bodyPr wrap="square" lIns="25400" tIns="25400" rIns="25400" bIns="25400" rtlCol="0" anchor="t">
            <a:noAutofit/>
          </a:bodyPr>
          <a:lstStyle/>
          <a:p>
            <a:pPr marL="0" indent="0">
              <a:buNone/>
            </a:pPr>
            <a:r>
              <a:rPr lang="en-US" sz="1400" kern="0" spc="116" dirty="0">
                <a:solidFill>
                  <a:srgbClr val="888080"/>
                </a:solidFill>
                <a:latin typeface="JetBrains Mono" pitchFamily="34" charset="0"/>
                <a:ea typeface="JetBrains Mono" pitchFamily="34" charset="-122"/>
                <a:cs typeface="JetBrains Mono" pitchFamily="34" charset="-120"/>
              </a:rPr>
              <a:t>DS22 - Bar Ilan</a:t>
            </a:r>
            <a:br>
              <a:rPr lang="en-US" sz="1400" kern="0" spc="116" dirty="0">
                <a:solidFill>
                  <a:srgbClr val="888080"/>
                </a:solidFill>
                <a:latin typeface="JetBrains Mono" pitchFamily="34" charset="0"/>
                <a:ea typeface="JetBrains Mono" pitchFamily="34" charset="-122"/>
                <a:cs typeface="JetBrains Mono" pitchFamily="34" charset="-120"/>
              </a:rPr>
            </a:br>
            <a:r>
              <a:rPr lang="en-US" sz="1400" kern="0" spc="116" dirty="0">
                <a:solidFill>
                  <a:srgbClr val="888080"/>
                </a:solidFill>
                <a:latin typeface="JetBrains Mono" pitchFamily="34" charset="0"/>
                <a:ea typeface="JetBrains Mono" pitchFamily="34" charset="-122"/>
                <a:cs typeface="JetBrains Mono" pitchFamily="34" charset="-120"/>
              </a:rPr>
              <a:t>ML PROJECT</a:t>
            </a:r>
          </a:p>
          <a:p>
            <a:pPr marL="0" indent="0">
              <a:buNone/>
            </a:pPr>
            <a:r>
              <a:rPr lang="en-US" sz="1400" kern="0" spc="116" dirty="0">
                <a:solidFill>
                  <a:srgbClr val="888080"/>
                </a:solidFill>
                <a:latin typeface="JetBrains Mono" pitchFamily="34" charset="0"/>
                <a:ea typeface="JetBrains Mono" pitchFamily="34" charset="-122"/>
                <a:cs typeface="JetBrains Mono" pitchFamily="34" charset="-120"/>
              </a:rPr>
              <a:t>MAY 2026</a:t>
            </a:r>
            <a:endParaRPr lang="en-US" sz="1400" dirty="0"/>
          </a:p>
        </p:txBody>
      </p:sp>
      <p:grpSp>
        <p:nvGrpSpPr>
          <p:cNvPr id="11" name="Group 10">
            <a:extLst>
              <a:ext uri="{FF2B5EF4-FFF2-40B4-BE49-F238E27FC236}">
                <a16:creationId xmlns:a16="http://schemas.microsoft.com/office/drawing/2014/main" id="{74ED5030-306F-EBC4-27B5-B26312CF4FC2}"/>
              </a:ext>
            </a:extLst>
          </p:cNvPr>
          <p:cNvGrpSpPr/>
          <p:nvPr/>
        </p:nvGrpSpPr>
        <p:grpSpPr>
          <a:xfrm>
            <a:off x="3344319" y="2389304"/>
            <a:ext cx="3444180" cy="1726480"/>
            <a:chOff x="3020096" y="6009755"/>
            <a:chExt cx="3444180" cy="1726480"/>
          </a:xfrm>
        </p:grpSpPr>
        <p:sp>
          <p:nvSpPr>
            <p:cNvPr id="4" name="Shape 27">
              <a:extLst>
                <a:ext uri="{FF2B5EF4-FFF2-40B4-BE49-F238E27FC236}">
                  <a16:creationId xmlns:a16="http://schemas.microsoft.com/office/drawing/2014/main" id="{2216C09D-8A63-121C-97E8-C21CB7187FFA}"/>
                </a:ext>
              </a:extLst>
            </p:cNvPr>
            <p:cNvSpPr/>
            <p:nvPr/>
          </p:nvSpPr>
          <p:spPr>
            <a:xfrm>
              <a:off x="3020096" y="6009755"/>
              <a:ext cx="3444180" cy="1726480"/>
            </a:xfrm>
            <a:prstGeom prst="rect">
              <a:avLst/>
            </a:prstGeom>
            <a:solidFill>
              <a:srgbClr val="FFFFFF"/>
            </a:solidFill>
            <a:ln w="9525">
              <a:solidFill>
                <a:srgbClr val="D4CDBC"/>
              </a:solidFill>
              <a:prstDash val="solid"/>
            </a:ln>
          </p:spPr>
          <p:txBody>
            <a:bodyPr anchor="ctr"/>
            <a:lstStyle/>
            <a:p>
              <a:pPr algn="ctr"/>
              <a:r>
                <a:rPr lang="en-US" sz="2800" b="1" dirty="0"/>
                <a:t>Fix data types</a:t>
              </a:r>
            </a:p>
          </p:txBody>
        </p:sp>
        <p:sp>
          <p:nvSpPr>
            <p:cNvPr id="24" name="Text 22"/>
            <p:cNvSpPr/>
            <p:nvPr/>
          </p:nvSpPr>
          <p:spPr>
            <a:xfrm>
              <a:off x="4083451" y="6139797"/>
              <a:ext cx="1317470" cy="344843"/>
            </a:xfrm>
            <a:prstGeom prst="rect">
              <a:avLst/>
            </a:prstGeom>
            <a:noFill/>
            <a:ln/>
          </p:spPr>
          <p:txBody>
            <a:bodyPr wrap="square" lIns="25400" tIns="25400" rIns="25400" bIns="25400" rtlCol="0" anchor="t">
              <a:normAutofit fontScale="92500" lnSpcReduction="20000"/>
            </a:bodyPr>
            <a:lstStyle/>
            <a:p>
              <a:pPr marL="0" indent="0" algn="ctr">
                <a:buNone/>
              </a:pPr>
              <a:r>
                <a:rPr lang="en-US" sz="2400" b="1" kern="0" spc="135" dirty="0">
                  <a:solidFill>
                    <a:srgbClr val="C25A2A"/>
                  </a:solidFill>
                  <a:latin typeface="JetBrains Mono" pitchFamily="34" charset="0"/>
                  <a:ea typeface="JetBrains Mono" pitchFamily="34" charset="-122"/>
                  <a:cs typeface="JetBrains Mono" pitchFamily="34" charset="-120"/>
                </a:rPr>
                <a:t>01</a:t>
              </a:r>
              <a:endParaRPr lang="en-US" sz="2400" dirty="0"/>
            </a:p>
          </p:txBody>
        </p:sp>
      </p:grpSp>
      <p:grpSp>
        <p:nvGrpSpPr>
          <p:cNvPr id="12" name="Group 11">
            <a:extLst>
              <a:ext uri="{FF2B5EF4-FFF2-40B4-BE49-F238E27FC236}">
                <a16:creationId xmlns:a16="http://schemas.microsoft.com/office/drawing/2014/main" id="{7C6F0588-AD71-618F-D022-3502D206DDAC}"/>
              </a:ext>
            </a:extLst>
          </p:cNvPr>
          <p:cNvGrpSpPr/>
          <p:nvPr/>
        </p:nvGrpSpPr>
        <p:grpSpPr>
          <a:xfrm>
            <a:off x="8209386" y="2426180"/>
            <a:ext cx="3444180" cy="1726480"/>
            <a:chOff x="3020096" y="6009755"/>
            <a:chExt cx="3444180" cy="1726480"/>
          </a:xfrm>
        </p:grpSpPr>
        <p:sp>
          <p:nvSpPr>
            <p:cNvPr id="13" name="Shape 27">
              <a:extLst>
                <a:ext uri="{FF2B5EF4-FFF2-40B4-BE49-F238E27FC236}">
                  <a16:creationId xmlns:a16="http://schemas.microsoft.com/office/drawing/2014/main" id="{293EBD98-14A9-9BBE-16B4-A020E4748C74}"/>
                </a:ext>
              </a:extLst>
            </p:cNvPr>
            <p:cNvSpPr/>
            <p:nvPr/>
          </p:nvSpPr>
          <p:spPr>
            <a:xfrm>
              <a:off x="3020096" y="6009755"/>
              <a:ext cx="3444180" cy="1726480"/>
            </a:xfrm>
            <a:prstGeom prst="rect">
              <a:avLst/>
            </a:prstGeom>
            <a:solidFill>
              <a:srgbClr val="FFFFFF"/>
            </a:solidFill>
            <a:ln w="9525">
              <a:solidFill>
                <a:srgbClr val="D4CDBC"/>
              </a:solidFill>
              <a:prstDash val="solid"/>
            </a:ln>
          </p:spPr>
          <p:txBody>
            <a:bodyPr anchor="ctr"/>
            <a:lstStyle/>
            <a:p>
              <a:pPr algn="ctr"/>
              <a:r>
                <a:rPr lang="en-US" sz="2800" b="1" dirty="0"/>
                <a:t>Handle missing values</a:t>
              </a:r>
            </a:p>
          </p:txBody>
        </p:sp>
        <p:sp>
          <p:nvSpPr>
            <p:cNvPr id="14" name="Text 22">
              <a:extLst>
                <a:ext uri="{FF2B5EF4-FFF2-40B4-BE49-F238E27FC236}">
                  <a16:creationId xmlns:a16="http://schemas.microsoft.com/office/drawing/2014/main" id="{F5C262AE-6C88-8E6F-11CB-96325ECC5744}"/>
                </a:ext>
              </a:extLst>
            </p:cNvPr>
            <p:cNvSpPr/>
            <p:nvPr/>
          </p:nvSpPr>
          <p:spPr>
            <a:xfrm>
              <a:off x="4083451" y="6139797"/>
              <a:ext cx="1317470" cy="344843"/>
            </a:xfrm>
            <a:prstGeom prst="rect">
              <a:avLst/>
            </a:prstGeom>
            <a:noFill/>
            <a:ln/>
          </p:spPr>
          <p:txBody>
            <a:bodyPr wrap="square" lIns="25400" tIns="25400" rIns="25400" bIns="25400" rtlCol="0" anchor="t">
              <a:normAutofit fontScale="92500" lnSpcReduction="20000"/>
            </a:bodyPr>
            <a:lstStyle/>
            <a:p>
              <a:pPr marL="0" indent="0" algn="ctr">
                <a:buNone/>
              </a:pPr>
              <a:r>
                <a:rPr lang="en-US" sz="2400" b="1" kern="0" spc="135" dirty="0">
                  <a:solidFill>
                    <a:srgbClr val="C25A2A"/>
                  </a:solidFill>
                  <a:latin typeface="JetBrains Mono" pitchFamily="34" charset="0"/>
                  <a:ea typeface="JetBrains Mono" pitchFamily="34" charset="-122"/>
                  <a:cs typeface="JetBrains Mono" pitchFamily="34" charset="-120"/>
                </a:rPr>
                <a:t>02</a:t>
              </a:r>
              <a:endParaRPr lang="en-US" sz="2400" dirty="0"/>
            </a:p>
          </p:txBody>
        </p:sp>
      </p:grpSp>
      <p:grpSp>
        <p:nvGrpSpPr>
          <p:cNvPr id="15" name="Group 14">
            <a:extLst>
              <a:ext uri="{FF2B5EF4-FFF2-40B4-BE49-F238E27FC236}">
                <a16:creationId xmlns:a16="http://schemas.microsoft.com/office/drawing/2014/main" id="{B2518050-BE52-9493-B428-E2ECF4990C8C}"/>
              </a:ext>
            </a:extLst>
          </p:cNvPr>
          <p:cNvGrpSpPr/>
          <p:nvPr/>
        </p:nvGrpSpPr>
        <p:grpSpPr>
          <a:xfrm>
            <a:off x="13074454" y="2420133"/>
            <a:ext cx="3444180" cy="1726480"/>
            <a:chOff x="3020096" y="6009755"/>
            <a:chExt cx="3444180" cy="1726480"/>
          </a:xfrm>
        </p:grpSpPr>
        <p:sp>
          <p:nvSpPr>
            <p:cNvPr id="16" name="Shape 27">
              <a:extLst>
                <a:ext uri="{FF2B5EF4-FFF2-40B4-BE49-F238E27FC236}">
                  <a16:creationId xmlns:a16="http://schemas.microsoft.com/office/drawing/2014/main" id="{5E617ACC-B3BC-9697-B3C4-E91EC1EB25C2}"/>
                </a:ext>
              </a:extLst>
            </p:cNvPr>
            <p:cNvSpPr/>
            <p:nvPr/>
          </p:nvSpPr>
          <p:spPr>
            <a:xfrm>
              <a:off x="3020096" y="6009755"/>
              <a:ext cx="3444180" cy="1726480"/>
            </a:xfrm>
            <a:prstGeom prst="rect">
              <a:avLst/>
            </a:prstGeom>
            <a:solidFill>
              <a:srgbClr val="FFFFFF"/>
            </a:solidFill>
            <a:ln w="9525">
              <a:solidFill>
                <a:srgbClr val="D4CDBC"/>
              </a:solidFill>
              <a:prstDash val="solid"/>
            </a:ln>
          </p:spPr>
          <p:txBody>
            <a:bodyPr anchor="ctr"/>
            <a:lstStyle/>
            <a:p>
              <a:pPr algn="ctr"/>
              <a:r>
                <a:rPr lang="en-US" sz="2800" b="1" dirty="0"/>
                <a:t>Handle outliers</a:t>
              </a:r>
            </a:p>
          </p:txBody>
        </p:sp>
        <p:sp>
          <p:nvSpPr>
            <p:cNvPr id="17" name="Text 22">
              <a:extLst>
                <a:ext uri="{FF2B5EF4-FFF2-40B4-BE49-F238E27FC236}">
                  <a16:creationId xmlns:a16="http://schemas.microsoft.com/office/drawing/2014/main" id="{DA3F849B-AFC7-1564-2B49-4FEBC23A897C}"/>
                </a:ext>
              </a:extLst>
            </p:cNvPr>
            <p:cNvSpPr/>
            <p:nvPr/>
          </p:nvSpPr>
          <p:spPr>
            <a:xfrm>
              <a:off x="4083451" y="6139797"/>
              <a:ext cx="1317470" cy="344843"/>
            </a:xfrm>
            <a:prstGeom prst="rect">
              <a:avLst/>
            </a:prstGeom>
            <a:noFill/>
            <a:ln/>
          </p:spPr>
          <p:txBody>
            <a:bodyPr wrap="square" lIns="25400" tIns="25400" rIns="25400" bIns="25400" rtlCol="0" anchor="t">
              <a:normAutofit fontScale="92500" lnSpcReduction="20000"/>
            </a:bodyPr>
            <a:lstStyle/>
            <a:p>
              <a:pPr marL="0" indent="0" algn="ctr">
                <a:buNone/>
              </a:pPr>
              <a:r>
                <a:rPr lang="en-US" sz="2400" b="1" kern="0" spc="135" dirty="0">
                  <a:solidFill>
                    <a:srgbClr val="C25A2A"/>
                  </a:solidFill>
                  <a:latin typeface="JetBrains Mono" pitchFamily="34" charset="0"/>
                  <a:ea typeface="JetBrains Mono" pitchFamily="34" charset="-122"/>
                  <a:cs typeface="JetBrains Mono" pitchFamily="34" charset="-120"/>
                </a:rPr>
                <a:t>03</a:t>
              </a:r>
              <a:endParaRPr lang="en-US" sz="2400" dirty="0"/>
            </a:p>
          </p:txBody>
        </p:sp>
      </p:grpSp>
      <p:grpSp>
        <p:nvGrpSpPr>
          <p:cNvPr id="18" name="Group 17">
            <a:extLst>
              <a:ext uri="{FF2B5EF4-FFF2-40B4-BE49-F238E27FC236}">
                <a16:creationId xmlns:a16="http://schemas.microsoft.com/office/drawing/2014/main" id="{BCFDDDCF-9866-AF84-5AD5-F704CC93A46B}"/>
              </a:ext>
            </a:extLst>
          </p:cNvPr>
          <p:cNvGrpSpPr/>
          <p:nvPr/>
        </p:nvGrpSpPr>
        <p:grpSpPr>
          <a:xfrm>
            <a:off x="3344319" y="5086080"/>
            <a:ext cx="3444180" cy="1726480"/>
            <a:chOff x="3020096" y="6009755"/>
            <a:chExt cx="3444180" cy="1726480"/>
          </a:xfrm>
        </p:grpSpPr>
        <p:sp>
          <p:nvSpPr>
            <p:cNvPr id="81" name="Shape 27">
              <a:extLst>
                <a:ext uri="{FF2B5EF4-FFF2-40B4-BE49-F238E27FC236}">
                  <a16:creationId xmlns:a16="http://schemas.microsoft.com/office/drawing/2014/main" id="{CDA8CC3A-D946-9008-E4EE-60E5E5CF7CBE}"/>
                </a:ext>
              </a:extLst>
            </p:cNvPr>
            <p:cNvSpPr/>
            <p:nvPr/>
          </p:nvSpPr>
          <p:spPr>
            <a:xfrm>
              <a:off x="3020096" y="6009755"/>
              <a:ext cx="3444180" cy="1726480"/>
            </a:xfrm>
            <a:prstGeom prst="rect">
              <a:avLst/>
            </a:prstGeom>
            <a:solidFill>
              <a:srgbClr val="FFFFFF"/>
            </a:solidFill>
            <a:ln w="9525">
              <a:solidFill>
                <a:srgbClr val="D4CDBC"/>
              </a:solidFill>
              <a:prstDash val="solid"/>
            </a:ln>
          </p:spPr>
          <p:txBody>
            <a:bodyPr anchor="ctr"/>
            <a:lstStyle/>
            <a:p>
              <a:pPr algn="ctr"/>
              <a:r>
                <a:rPr lang="en-US" sz="2800" b="1" dirty="0"/>
                <a:t>Add features</a:t>
              </a:r>
            </a:p>
          </p:txBody>
        </p:sp>
        <p:sp>
          <p:nvSpPr>
            <p:cNvPr id="82" name="Text 22">
              <a:extLst>
                <a:ext uri="{FF2B5EF4-FFF2-40B4-BE49-F238E27FC236}">
                  <a16:creationId xmlns:a16="http://schemas.microsoft.com/office/drawing/2014/main" id="{EE704404-FD0B-0155-3502-2C5A1CAE4D18}"/>
                </a:ext>
              </a:extLst>
            </p:cNvPr>
            <p:cNvSpPr/>
            <p:nvPr/>
          </p:nvSpPr>
          <p:spPr>
            <a:xfrm>
              <a:off x="4083451" y="6139797"/>
              <a:ext cx="1317470" cy="344843"/>
            </a:xfrm>
            <a:prstGeom prst="rect">
              <a:avLst/>
            </a:prstGeom>
            <a:noFill/>
            <a:ln/>
          </p:spPr>
          <p:txBody>
            <a:bodyPr wrap="square" lIns="25400" tIns="25400" rIns="25400" bIns="25400" rtlCol="0" anchor="t">
              <a:normAutofit fontScale="92500" lnSpcReduction="20000"/>
            </a:bodyPr>
            <a:lstStyle/>
            <a:p>
              <a:pPr marL="0" indent="0" algn="ctr">
                <a:buNone/>
              </a:pPr>
              <a:r>
                <a:rPr lang="en-US" sz="2400" b="1" kern="0" spc="135" dirty="0">
                  <a:solidFill>
                    <a:srgbClr val="C25A2A"/>
                  </a:solidFill>
                  <a:latin typeface="JetBrains Mono" pitchFamily="34" charset="0"/>
                  <a:ea typeface="JetBrains Mono" pitchFamily="34" charset="-122"/>
                  <a:cs typeface="JetBrains Mono" pitchFamily="34" charset="-120"/>
                </a:rPr>
                <a:t>04</a:t>
              </a:r>
              <a:endParaRPr lang="en-US" sz="2400" dirty="0"/>
            </a:p>
          </p:txBody>
        </p:sp>
      </p:grpSp>
      <p:grpSp>
        <p:nvGrpSpPr>
          <p:cNvPr id="83" name="Group 82">
            <a:extLst>
              <a:ext uri="{FF2B5EF4-FFF2-40B4-BE49-F238E27FC236}">
                <a16:creationId xmlns:a16="http://schemas.microsoft.com/office/drawing/2014/main" id="{365BC8FB-891F-C96B-A52F-90B311B76E34}"/>
              </a:ext>
            </a:extLst>
          </p:cNvPr>
          <p:cNvGrpSpPr/>
          <p:nvPr/>
        </p:nvGrpSpPr>
        <p:grpSpPr>
          <a:xfrm>
            <a:off x="8209386" y="5086080"/>
            <a:ext cx="3444180" cy="1726480"/>
            <a:chOff x="3020096" y="6009755"/>
            <a:chExt cx="3444180" cy="1726480"/>
          </a:xfrm>
        </p:grpSpPr>
        <p:sp>
          <p:nvSpPr>
            <p:cNvPr id="84" name="Shape 27">
              <a:extLst>
                <a:ext uri="{FF2B5EF4-FFF2-40B4-BE49-F238E27FC236}">
                  <a16:creationId xmlns:a16="http://schemas.microsoft.com/office/drawing/2014/main" id="{49D6A4A9-0166-62FC-18B2-C7B1D8DE2DC5}"/>
                </a:ext>
              </a:extLst>
            </p:cNvPr>
            <p:cNvSpPr/>
            <p:nvPr/>
          </p:nvSpPr>
          <p:spPr>
            <a:xfrm>
              <a:off x="3020096" y="6009755"/>
              <a:ext cx="3444180" cy="1726480"/>
            </a:xfrm>
            <a:prstGeom prst="rect">
              <a:avLst/>
            </a:prstGeom>
            <a:solidFill>
              <a:srgbClr val="FFFFFF"/>
            </a:solidFill>
            <a:ln w="9525">
              <a:solidFill>
                <a:srgbClr val="D4CDBC"/>
              </a:solidFill>
              <a:prstDash val="solid"/>
            </a:ln>
          </p:spPr>
          <p:txBody>
            <a:bodyPr anchor="ctr"/>
            <a:lstStyle/>
            <a:p>
              <a:pPr algn="ctr"/>
              <a:r>
                <a:rPr lang="en-US" sz="2800" b="1" dirty="0"/>
                <a:t>Encoding categorial</a:t>
              </a:r>
            </a:p>
          </p:txBody>
        </p:sp>
        <p:sp>
          <p:nvSpPr>
            <p:cNvPr id="85" name="Text 22">
              <a:extLst>
                <a:ext uri="{FF2B5EF4-FFF2-40B4-BE49-F238E27FC236}">
                  <a16:creationId xmlns:a16="http://schemas.microsoft.com/office/drawing/2014/main" id="{EBC2732A-1DD2-356E-2E71-E28E0901690A}"/>
                </a:ext>
              </a:extLst>
            </p:cNvPr>
            <p:cNvSpPr/>
            <p:nvPr/>
          </p:nvSpPr>
          <p:spPr>
            <a:xfrm>
              <a:off x="4083451" y="6139797"/>
              <a:ext cx="1317470" cy="344843"/>
            </a:xfrm>
            <a:prstGeom prst="rect">
              <a:avLst/>
            </a:prstGeom>
            <a:noFill/>
            <a:ln/>
          </p:spPr>
          <p:txBody>
            <a:bodyPr wrap="square" lIns="25400" tIns="25400" rIns="25400" bIns="25400" rtlCol="0" anchor="t">
              <a:normAutofit fontScale="92500" lnSpcReduction="20000"/>
            </a:bodyPr>
            <a:lstStyle/>
            <a:p>
              <a:pPr marL="0" indent="0" algn="ctr">
                <a:buNone/>
              </a:pPr>
              <a:r>
                <a:rPr lang="en-US" sz="2400" b="1" kern="0" spc="135" dirty="0">
                  <a:solidFill>
                    <a:srgbClr val="C25A2A"/>
                  </a:solidFill>
                  <a:latin typeface="JetBrains Mono" pitchFamily="34" charset="0"/>
                  <a:ea typeface="JetBrains Mono" pitchFamily="34" charset="-122"/>
                  <a:cs typeface="JetBrains Mono" pitchFamily="34" charset="-120"/>
                </a:rPr>
                <a:t>05</a:t>
              </a:r>
              <a:endParaRPr lang="en-US" sz="2400" dirty="0"/>
            </a:p>
          </p:txBody>
        </p:sp>
      </p:grpSp>
      <p:grpSp>
        <p:nvGrpSpPr>
          <p:cNvPr id="86" name="Group 85">
            <a:extLst>
              <a:ext uri="{FF2B5EF4-FFF2-40B4-BE49-F238E27FC236}">
                <a16:creationId xmlns:a16="http://schemas.microsoft.com/office/drawing/2014/main" id="{0763F2CF-B769-615D-F619-8F40588E4E24}"/>
              </a:ext>
            </a:extLst>
          </p:cNvPr>
          <p:cNvGrpSpPr/>
          <p:nvPr/>
        </p:nvGrpSpPr>
        <p:grpSpPr>
          <a:xfrm>
            <a:off x="13063972" y="5086080"/>
            <a:ext cx="3444180" cy="1726480"/>
            <a:chOff x="3020096" y="6009755"/>
            <a:chExt cx="3444180" cy="1726480"/>
          </a:xfrm>
        </p:grpSpPr>
        <p:sp>
          <p:nvSpPr>
            <p:cNvPr id="87" name="Shape 27">
              <a:extLst>
                <a:ext uri="{FF2B5EF4-FFF2-40B4-BE49-F238E27FC236}">
                  <a16:creationId xmlns:a16="http://schemas.microsoft.com/office/drawing/2014/main" id="{94364681-B630-3AB5-CF7B-2ED4758C9E98}"/>
                </a:ext>
              </a:extLst>
            </p:cNvPr>
            <p:cNvSpPr/>
            <p:nvPr/>
          </p:nvSpPr>
          <p:spPr>
            <a:xfrm>
              <a:off x="3020096" y="6009755"/>
              <a:ext cx="3444180" cy="1726480"/>
            </a:xfrm>
            <a:prstGeom prst="rect">
              <a:avLst/>
            </a:prstGeom>
            <a:solidFill>
              <a:srgbClr val="FFFFFF"/>
            </a:solidFill>
            <a:ln w="9525">
              <a:solidFill>
                <a:srgbClr val="D4CDBC"/>
              </a:solidFill>
              <a:prstDash val="solid"/>
            </a:ln>
          </p:spPr>
          <p:txBody>
            <a:bodyPr anchor="ctr"/>
            <a:lstStyle/>
            <a:p>
              <a:pPr algn="ctr"/>
              <a:r>
                <a:rPr lang="en-US" sz="2800" b="1" dirty="0"/>
                <a:t>Feature selection</a:t>
              </a:r>
            </a:p>
          </p:txBody>
        </p:sp>
        <p:sp>
          <p:nvSpPr>
            <p:cNvPr id="88" name="Text 22">
              <a:extLst>
                <a:ext uri="{FF2B5EF4-FFF2-40B4-BE49-F238E27FC236}">
                  <a16:creationId xmlns:a16="http://schemas.microsoft.com/office/drawing/2014/main" id="{AA9DA198-2BE7-1EFC-36E5-9EEDCB9129BD}"/>
                </a:ext>
              </a:extLst>
            </p:cNvPr>
            <p:cNvSpPr/>
            <p:nvPr/>
          </p:nvSpPr>
          <p:spPr>
            <a:xfrm>
              <a:off x="4083451" y="6139797"/>
              <a:ext cx="1317470" cy="344843"/>
            </a:xfrm>
            <a:prstGeom prst="rect">
              <a:avLst/>
            </a:prstGeom>
            <a:noFill/>
            <a:ln/>
          </p:spPr>
          <p:txBody>
            <a:bodyPr wrap="square" lIns="25400" tIns="25400" rIns="25400" bIns="25400" rtlCol="0" anchor="t">
              <a:normAutofit fontScale="92500" lnSpcReduction="20000"/>
            </a:bodyPr>
            <a:lstStyle/>
            <a:p>
              <a:pPr marL="0" indent="0" algn="ctr">
                <a:buNone/>
              </a:pPr>
              <a:r>
                <a:rPr lang="en-US" sz="2400" b="1" kern="0" spc="135" dirty="0">
                  <a:solidFill>
                    <a:srgbClr val="C25A2A"/>
                  </a:solidFill>
                  <a:latin typeface="JetBrains Mono" pitchFamily="34" charset="0"/>
                  <a:ea typeface="JetBrains Mono" pitchFamily="34" charset="-122"/>
                  <a:cs typeface="JetBrains Mono" pitchFamily="34" charset="-120"/>
                </a:rPr>
                <a:t>06</a:t>
              </a:r>
              <a:endParaRPr lang="en-US" sz="2400" dirty="0"/>
            </a:p>
          </p:txBody>
        </p:sp>
      </p:grpSp>
      <p:sp>
        <p:nvSpPr>
          <p:cNvPr id="89" name="Text 19">
            <a:extLst>
              <a:ext uri="{FF2B5EF4-FFF2-40B4-BE49-F238E27FC236}">
                <a16:creationId xmlns:a16="http://schemas.microsoft.com/office/drawing/2014/main" id="{7F5A3FEF-1452-5FAA-C438-6CAE9C9CC1D5}"/>
              </a:ext>
            </a:extLst>
          </p:cNvPr>
          <p:cNvSpPr/>
          <p:nvPr/>
        </p:nvSpPr>
        <p:spPr>
          <a:xfrm>
            <a:off x="3344319" y="8358038"/>
            <a:ext cx="13694430" cy="617934"/>
          </a:xfrm>
          <a:prstGeom prst="rect">
            <a:avLst/>
          </a:prstGeom>
          <a:noFill/>
          <a:ln/>
        </p:spPr>
        <p:txBody>
          <a:bodyPr wrap="square" lIns="25400" tIns="25400" rIns="25400" bIns="25400" rtlCol="0" anchor="t">
            <a:noAutofit/>
          </a:bodyPr>
          <a:lstStyle/>
          <a:p>
            <a:pPr marL="0" indent="0">
              <a:lnSpc>
                <a:spcPct val="145000"/>
              </a:lnSpc>
              <a:buNone/>
            </a:pPr>
            <a:r>
              <a:rPr lang="en-US" sz="2000" dirty="0">
                <a:solidFill>
                  <a:srgbClr val="4A4A4A"/>
                </a:solidFill>
                <a:latin typeface="Inter" pitchFamily="34" charset="0"/>
                <a:ea typeface="Inter" pitchFamily="34" charset="-122"/>
                <a:cs typeface="Inter" pitchFamily="34" charset="-120"/>
              </a:rPr>
              <a:t>All steps gathered into one pipeline to ensure consistency of the cleaning between Train, Validation and Test, and avoid data leakage</a:t>
            </a:r>
            <a:endParaRPr lang="en-US" sz="2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8">
    <p:bg>
      <p:bgPr>
        <a:solidFill>
          <a:srgbClr val="F5F1E8"/>
        </a:solidFill>
        <a:effectLst/>
      </p:bgPr>
    </p:bg>
    <p:spTree>
      <p:nvGrpSpPr>
        <p:cNvPr id="1" name=""/>
        <p:cNvGrpSpPr/>
        <p:nvPr/>
      </p:nvGrpSpPr>
      <p:grpSpPr>
        <a:xfrm>
          <a:off x="0" y="0"/>
          <a:ext cx="0" cy="0"/>
          <a:chOff x="0" y="0"/>
          <a:chExt cx="0" cy="0"/>
        </a:xfrm>
      </p:grpSpPr>
      <p:sp>
        <p:nvSpPr>
          <p:cNvPr id="2" name="Shape 0"/>
          <p:cNvSpPr/>
          <p:nvPr/>
        </p:nvSpPr>
        <p:spPr>
          <a:xfrm>
            <a:off x="0" y="0"/>
            <a:ext cx="2095500" cy="10287000"/>
          </a:xfrm>
          <a:prstGeom prst="rect">
            <a:avLst/>
          </a:prstGeom>
          <a:solidFill>
            <a:srgbClr val="EBE5D6"/>
          </a:solidFill>
          <a:ln/>
        </p:spPr>
        <p:txBody>
          <a:bodyPr/>
          <a:lstStyle/>
          <a:p>
            <a:endParaRPr lang="he-IL"/>
          </a:p>
        </p:txBody>
      </p:sp>
      <p:sp>
        <p:nvSpPr>
          <p:cNvPr id="3" name="Shape 1"/>
          <p:cNvSpPr/>
          <p:nvPr/>
        </p:nvSpPr>
        <p:spPr>
          <a:xfrm>
            <a:off x="2085975" y="0"/>
            <a:ext cx="9525" cy="10287000"/>
          </a:xfrm>
          <a:prstGeom prst="rect">
            <a:avLst/>
          </a:prstGeom>
          <a:solidFill>
            <a:srgbClr val="D4CDBC"/>
          </a:solidFill>
          <a:ln/>
        </p:spPr>
        <p:txBody>
          <a:bodyPr/>
          <a:lstStyle/>
          <a:p>
            <a:endParaRPr lang="he-IL"/>
          </a:p>
        </p:txBody>
      </p:sp>
      <p:sp>
        <p:nvSpPr>
          <p:cNvPr id="19" name="Text 17"/>
          <p:cNvSpPr/>
          <p:nvPr/>
        </p:nvSpPr>
        <p:spPr>
          <a:xfrm>
            <a:off x="2781300" y="571500"/>
            <a:ext cx="15187041" cy="171450"/>
          </a:xfrm>
          <a:prstGeom prst="rect">
            <a:avLst/>
          </a:prstGeom>
          <a:noFill/>
          <a:ln/>
        </p:spPr>
        <p:txBody>
          <a:bodyPr wrap="square" lIns="25400" tIns="25400" rIns="25400" bIns="25400" rtlCol="0" anchor="ctr">
            <a:noAutofit/>
          </a:bodyPr>
          <a:lstStyle/>
          <a:p>
            <a:pPr marL="0" indent="0" algn="l">
              <a:buNone/>
            </a:pPr>
            <a:r>
              <a:rPr lang="en-US" sz="1400" kern="0" spc="182" dirty="0">
                <a:solidFill>
                  <a:srgbClr val="888080"/>
                </a:solidFill>
                <a:latin typeface="JetBrains Mono" pitchFamily="34" charset="0"/>
                <a:ea typeface="JetBrains Mono" pitchFamily="34" charset="-122"/>
                <a:cs typeface="JetBrains Mono" pitchFamily="34" charset="-120"/>
              </a:rPr>
              <a:t>PIPELINE · 02 · MISSING VALUES</a:t>
            </a:r>
            <a:endParaRPr lang="en-US" sz="1400" dirty="0"/>
          </a:p>
        </p:txBody>
      </p:sp>
      <p:sp>
        <p:nvSpPr>
          <p:cNvPr id="20" name="Text 18"/>
          <p:cNvSpPr/>
          <p:nvPr/>
        </p:nvSpPr>
        <p:spPr>
          <a:xfrm>
            <a:off x="2781300" y="914400"/>
            <a:ext cx="15187041" cy="643830"/>
          </a:xfrm>
          <a:prstGeom prst="rect">
            <a:avLst/>
          </a:prstGeom>
          <a:noFill/>
          <a:ln/>
        </p:spPr>
        <p:txBody>
          <a:bodyPr wrap="square" lIns="25400" tIns="25400" rIns="25400" bIns="25400" rtlCol="0" anchor="t">
            <a:normAutofit fontScale="92500" lnSpcReduction="20000"/>
          </a:bodyPr>
          <a:lstStyle/>
          <a:p>
            <a:pPr marL="0" indent="0" algn="l">
              <a:lnSpc>
                <a:spcPct val="106000"/>
              </a:lnSpc>
              <a:buNone/>
            </a:pPr>
            <a:r>
              <a:rPr lang="en-US" sz="4500" kern="0" spc="-81" dirty="0">
                <a:solidFill>
                  <a:srgbClr val="1A1A1A"/>
                </a:solidFill>
                <a:latin typeface="Instrument Serif" pitchFamily="34" charset="0"/>
                <a:ea typeface="Instrument Serif" pitchFamily="34" charset="-122"/>
                <a:cs typeface="Instrument Serif" pitchFamily="34" charset="-120"/>
              </a:rPr>
              <a:t>Missing values handling</a:t>
            </a:r>
            <a:endParaRPr lang="en-US" sz="4500" dirty="0"/>
          </a:p>
        </p:txBody>
      </p:sp>
      <p:sp>
        <p:nvSpPr>
          <p:cNvPr id="21" name="Text 19"/>
          <p:cNvSpPr/>
          <p:nvPr/>
        </p:nvSpPr>
        <p:spPr>
          <a:xfrm>
            <a:off x="2781299" y="1691579"/>
            <a:ext cx="14801715" cy="1033909"/>
          </a:xfrm>
          <a:prstGeom prst="rect">
            <a:avLst/>
          </a:prstGeom>
          <a:noFill/>
          <a:ln/>
        </p:spPr>
        <p:txBody>
          <a:bodyPr wrap="square" lIns="25400" tIns="25400" rIns="25400" bIns="25400" rtlCol="0" anchor="t">
            <a:normAutofit/>
          </a:bodyPr>
          <a:lstStyle/>
          <a:p>
            <a:pPr fontAlgn="ctr"/>
            <a:r>
              <a:rPr lang="en-US" sz="2400" b="1" dirty="0"/>
              <a:t>Leakage Prevention</a:t>
            </a:r>
            <a:endParaRPr lang="en-IL" sz="2400" dirty="0"/>
          </a:p>
          <a:p>
            <a:pPr fontAlgn="ctr"/>
            <a:r>
              <a:rPr lang="en-US" sz="2400" dirty="0"/>
              <a:t>All missing-value statistics were calculated from the training dataset only and reused for validation/test datasets.</a:t>
            </a:r>
            <a:endParaRPr lang="en-IL" sz="2400" dirty="0"/>
          </a:p>
        </p:txBody>
      </p:sp>
      <p:sp>
        <p:nvSpPr>
          <p:cNvPr id="43" name="Text 16">
            <a:extLst>
              <a:ext uri="{FF2B5EF4-FFF2-40B4-BE49-F238E27FC236}">
                <a16:creationId xmlns:a16="http://schemas.microsoft.com/office/drawing/2014/main" id="{260B2280-DC80-5391-565C-9334EE94473B}"/>
              </a:ext>
            </a:extLst>
          </p:cNvPr>
          <p:cNvSpPr/>
          <p:nvPr/>
        </p:nvSpPr>
        <p:spPr>
          <a:xfrm>
            <a:off x="266700" y="9410700"/>
            <a:ext cx="1628775" cy="342900"/>
          </a:xfrm>
          <a:prstGeom prst="rect">
            <a:avLst/>
          </a:prstGeom>
          <a:noFill/>
          <a:ln/>
        </p:spPr>
        <p:txBody>
          <a:bodyPr wrap="square" lIns="25400" tIns="25400" rIns="25400" bIns="25400" rtlCol="0" anchor="t">
            <a:noAutofit/>
          </a:bodyPr>
          <a:lstStyle/>
          <a:p>
            <a:pPr>
              <a:lnSpc>
                <a:spcPct val="160000"/>
              </a:lnSpc>
            </a:pPr>
            <a:r>
              <a:rPr lang="en-US" sz="1400" b="1" kern="0" spc="105" dirty="0">
                <a:solidFill>
                  <a:srgbClr val="1A1A1A"/>
                </a:solidFill>
                <a:latin typeface="JetBrains Mono" pitchFamily="34" charset="0"/>
                <a:ea typeface="JetBrains Mono" pitchFamily="34" charset="-122"/>
                <a:cs typeface="JetBrains Mono" pitchFamily="34" charset="-120"/>
              </a:rPr>
              <a:t>18 / 34</a:t>
            </a:r>
            <a:endParaRPr lang="en-US" sz="1400" dirty="0"/>
          </a:p>
        </p:txBody>
      </p:sp>
      <p:sp>
        <p:nvSpPr>
          <p:cNvPr id="44" name="Text 4">
            <a:extLst>
              <a:ext uri="{FF2B5EF4-FFF2-40B4-BE49-F238E27FC236}">
                <a16:creationId xmlns:a16="http://schemas.microsoft.com/office/drawing/2014/main" id="{994AF4F1-D2AC-7F3E-1204-BDC2B27193CD}"/>
              </a:ext>
            </a:extLst>
          </p:cNvPr>
          <p:cNvSpPr/>
          <p:nvPr/>
        </p:nvSpPr>
        <p:spPr>
          <a:xfrm>
            <a:off x="228063" y="1524367"/>
            <a:ext cx="372012" cy="200025"/>
          </a:xfrm>
          <a:prstGeom prst="rect">
            <a:avLst/>
          </a:prstGeom>
          <a:noFill/>
          <a:ln/>
        </p:spPr>
        <p:txBody>
          <a:bodyPr wrap="square" lIns="25400" tIns="25400" rIns="25400" bIns="25400" rtlCol="0" anchor="t">
            <a:noAutofit/>
          </a:bodyPr>
          <a:lstStyle/>
          <a:p>
            <a:pPr marL="0" indent="0" algn="l">
              <a:lnSpc>
                <a:spcPct val="130000"/>
              </a:lnSpc>
              <a:buNone/>
            </a:pPr>
            <a:r>
              <a:rPr lang="en-US" sz="1400" kern="0" spc="21" dirty="0">
                <a:solidFill>
                  <a:srgbClr val="888080"/>
                </a:solidFill>
                <a:latin typeface="Inter" pitchFamily="34" charset="0"/>
                <a:ea typeface="Inter" pitchFamily="34" charset="-122"/>
              </a:rPr>
              <a:t>01</a:t>
            </a:r>
          </a:p>
        </p:txBody>
      </p:sp>
      <p:sp>
        <p:nvSpPr>
          <p:cNvPr id="45" name="Text 5">
            <a:extLst>
              <a:ext uri="{FF2B5EF4-FFF2-40B4-BE49-F238E27FC236}">
                <a16:creationId xmlns:a16="http://schemas.microsoft.com/office/drawing/2014/main" id="{35C801BB-BA10-2881-4376-F59CD7495F37}"/>
              </a:ext>
            </a:extLst>
          </p:cNvPr>
          <p:cNvSpPr/>
          <p:nvPr/>
        </p:nvSpPr>
        <p:spPr>
          <a:xfrm>
            <a:off x="523875" y="1522975"/>
            <a:ext cx="876300" cy="476251"/>
          </a:xfrm>
          <a:prstGeom prst="rect">
            <a:avLst/>
          </a:prstGeom>
          <a:noFill/>
          <a:ln/>
        </p:spPr>
        <p:txBody>
          <a:bodyPr wrap="square" lIns="25400" tIns="25400" rIns="25400" bIns="25400" rtlCol="0" anchor="t">
            <a:normAutofit/>
          </a:bodyPr>
          <a:lstStyle/>
          <a:p>
            <a:pPr marL="0" indent="0" algn="l">
              <a:lnSpc>
                <a:spcPct val="130000"/>
              </a:lnSpc>
              <a:buNone/>
            </a:pPr>
            <a:r>
              <a:rPr lang="en-US" sz="1400" kern="0" spc="21" dirty="0">
                <a:solidFill>
                  <a:srgbClr val="888080"/>
                </a:solidFill>
                <a:latin typeface="Inter" pitchFamily="34" charset="0"/>
                <a:ea typeface="Inter" pitchFamily="34" charset="-122"/>
              </a:rPr>
              <a:t>Agenda</a:t>
            </a:r>
          </a:p>
        </p:txBody>
      </p:sp>
      <p:sp>
        <p:nvSpPr>
          <p:cNvPr id="46" name="Text 6">
            <a:extLst>
              <a:ext uri="{FF2B5EF4-FFF2-40B4-BE49-F238E27FC236}">
                <a16:creationId xmlns:a16="http://schemas.microsoft.com/office/drawing/2014/main" id="{45E1EAE2-A440-D019-E44E-295941D4246D}"/>
              </a:ext>
            </a:extLst>
          </p:cNvPr>
          <p:cNvSpPr/>
          <p:nvPr/>
        </p:nvSpPr>
        <p:spPr>
          <a:xfrm>
            <a:off x="228063" y="1830953"/>
            <a:ext cx="372010" cy="194877"/>
          </a:xfrm>
          <a:prstGeom prst="rect">
            <a:avLst/>
          </a:prstGeom>
          <a:noFill/>
          <a:ln/>
        </p:spPr>
        <p:txBody>
          <a:bodyPr wrap="square" lIns="25400" tIns="25400" rIns="25400" bIns="25400" rtlCol="0" anchor="t">
            <a:noAutofit/>
          </a:bodyPr>
          <a:lstStyle/>
          <a:p>
            <a:pPr marL="0" indent="0" algn="l">
              <a:lnSpc>
                <a:spcPct val="130000"/>
              </a:lnSpc>
              <a:buNone/>
            </a:pPr>
            <a:r>
              <a:rPr lang="en-US" sz="1400" kern="0" spc="21" dirty="0">
                <a:solidFill>
                  <a:srgbClr val="888080"/>
                </a:solidFill>
                <a:latin typeface="Inter" pitchFamily="34" charset="0"/>
                <a:ea typeface="Inter" pitchFamily="34" charset="-122"/>
              </a:rPr>
              <a:t>02</a:t>
            </a:r>
          </a:p>
        </p:txBody>
      </p:sp>
      <p:sp>
        <p:nvSpPr>
          <p:cNvPr id="47" name="Text 8">
            <a:extLst>
              <a:ext uri="{FF2B5EF4-FFF2-40B4-BE49-F238E27FC236}">
                <a16:creationId xmlns:a16="http://schemas.microsoft.com/office/drawing/2014/main" id="{C5806BAD-F621-E2A4-27FF-11FD842B6AD1}"/>
              </a:ext>
            </a:extLst>
          </p:cNvPr>
          <p:cNvSpPr/>
          <p:nvPr/>
        </p:nvSpPr>
        <p:spPr>
          <a:xfrm>
            <a:off x="230504" y="2152895"/>
            <a:ext cx="302895" cy="141422"/>
          </a:xfrm>
          <a:prstGeom prst="rect">
            <a:avLst/>
          </a:prstGeom>
          <a:noFill/>
          <a:ln/>
        </p:spPr>
        <p:txBody>
          <a:bodyPr wrap="square" lIns="25400" tIns="25400" rIns="25400" bIns="25400" rtlCol="0" anchor="t">
            <a:noAutofit/>
          </a:bodyPr>
          <a:lstStyle/>
          <a:p>
            <a:pPr marL="0" indent="0" algn="l">
              <a:lnSpc>
                <a:spcPct val="130000"/>
              </a:lnSpc>
              <a:buNone/>
            </a:pPr>
            <a:r>
              <a:rPr lang="en-US" sz="1400" kern="0" spc="21" dirty="0">
                <a:solidFill>
                  <a:srgbClr val="888080"/>
                </a:solidFill>
                <a:latin typeface="Inter" pitchFamily="34" charset="0"/>
                <a:ea typeface="Inter" pitchFamily="34" charset="-122"/>
              </a:rPr>
              <a:t>03</a:t>
            </a:r>
          </a:p>
        </p:txBody>
      </p:sp>
      <p:sp>
        <p:nvSpPr>
          <p:cNvPr id="48" name="Text 9">
            <a:extLst>
              <a:ext uri="{FF2B5EF4-FFF2-40B4-BE49-F238E27FC236}">
                <a16:creationId xmlns:a16="http://schemas.microsoft.com/office/drawing/2014/main" id="{6C334275-908B-390D-AC28-1B62BF256509}"/>
              </a:ext>
            </a:extLst>
          </p:cNvPr>
          <p:cNvSpPr/>
          <p:nvPr/>
        </p:nvSpPr>
        <p:spPr>
          <a:xfrm>
            <a:off x="531240" y="2145027"/>
            <a:ext cx="1185416" cy="342476"/>
          </a:xfrm>
          <a:prstGeom prst="rect">
            <a:avLst/>
          </a:prstGeom>
          <a:noFill/>
          <a:ln/>
        </p:spPr>
        <p:txBody>
          <a:bodyPr wrap="square" lIns="25400" tIns="25400" rIns="25400" bIns="25400" rtlCol="0" anchor="t">
            <a:normAutofit/>
          </a:bodyPr>
          <a:lstStyle/>
          <a:p>
            <a:pPr marL="0" indent="0" algn="l">
              <a:lnSpc>
                <a:spcPct val="130000"/>
              </a:lnSpc>
              <a:buNone/>
            </a:pPr>
            <a:r>
              <a:rPr lang="en-US" sz="1400" kern="0" spc="21" dirty="0">
                <a:solidFill>
                  <a:srgbClr val="888080"/>
                </a:solidFill>
                <a:latin typeface="Inter" pitchFamily="34" charset="0"/>
                <a:ea typeface="Inter" pitchFamily="34" charset="-122"/>
              </a:rPr>
              <a:t>EDA</a:t>
            </a:r>
          </a:p>
        </p:txBody>
      </p:sp>
      <p:sp>
        <p:nvSpPr>
          <p:cNvPr id="49" name="Text 10">
            <a:extLst>
              <a:ext uri="{FF2B5EF4-FFF2-40B4-BE49-F238E27FC236}">
                <a16:creationId xmlns:a16="http://schemas.microsoft.com/office/drawing/2014/main" id="{730F1CFB-0042-B1B3-78FF-1F62F477D50B}"/>
              </a:ext>
            </a:extLst>
          </p:cNvPr>
          <p:cNvSpPr/>
          <p:nvPr/>
        </p:nvSpPr>
        <p:spPr>
          <a:xfrm>
            <a:off x="228062" y="2444125"/>
            <a:ext cx="305337" cy="172132"/>
          </a:xfrm>
          <a:prstGeom prst="rect">
            <a:avLst/>
          </a:prstGeom>
          <a:noFill/>
          <a:ln/>
        </p:spPr>
        <p:txBody>
          <a:bodyPr wrap="square" lIns="25400" tIns="25400" rIns="25400" bIns="25400" rtlCol="0" anchor="t">
            <a:noAutofit/>
          </a:bodyPr>
          <a:lstStyle/>
          <a:p>
            <a:pPr marL="0" indent="0" algn="l">
              <a:lnSpc>
                <a:spcPct val="130000"/>
              </a:lnSpc>
              <a:buNone/>
            </a:pPr>
            <a:r>
              <a:rPr lang="en-US" sz="1400" b="1" kern="0" spc="21" dirty="0">
                <a:solidFill>
                  <a:srgbClr val="C25A2A"/>
                </a:solidFill>
                <a:latin typeface="JetBrains Mono" pitchFamily="34" charset="0"/>
                <a:ea typeface="JetBrains Mono" pitchFamily="34" charset="-122"/>
              </a:rPr>
              <a:t>04</a:t>
            </a:r>
          </a:p>
        </p:txBody>
      </p:sp>
      <p:sp>
        <p:nvSpPr>
          <p:cNvPr id="50" name="Text 12">
            <a:extLst>
              <a:ext uri="{FF2B5EF4-FFF2-40B4-BE49-F238E27FC236}">
                <a16:creationId xmlns:a16="http://schemas.microsoft.com/office/drawing/2014/main" id="{66C89108-D822-984A-F0F4-FE2F78795766}"/>
              </a:ext>
            </a:extLst>
          </p:cNvPr>
          <p:cNvSpPr/>
          <p:nvPr/>
        </p:nvSpPr>
        <p:spPr>
          <a:xfrm>
            <a:off x="228062" y="2750711"/>
            <a:ext cx="372011" cy="158880"/>
          </a:xfrm>
          <a:prstGeom prst="rect">
            <a:avLst/>
          </a:prstGeom>
          <a:noFill/>
          <a:ln/>
        </p:spPr>
        <p:txBody>
          <a:bodyPr wrap="square" lIns="25400" tIns="25400" rIns="25400" bIns="25400" rtlCol="0" anchor="t">
            <a:noAutofit/>
          </a:bodyPr>
          <a:lstStyle/>
          <a:p>
            <a:pPr marL="0" indent="0" algn="l">
              <a:lnSpc>
                <a:spcPct val="130000"/>
              </a:lnSpc>
              <a:buNone/>
            </a:pPr>
            <a:r>
              <a:rPr lang="en-US" sz="1400" kern="0" spc="21" dirty="0">
                <a:solidFill>
                  <a:srgbClr val="888080"/>
                </a:solidFill>
                <a:latin typeface="JetBrains Mono" pitchFamily="34" charset="0"/>
                <a:ea typeface="JetBrains Mono" pitchFamily="34" charset="-122"/>
                <a:cs typeface="JetBrains Mono" pitchFamily="34" charset="-120"/>
              </a:rPr>
              <a:t>05</a:t>
            </a:r>
            <a:endParaRPr lang="en-US" sz="1400" dirty="0"/>
          </a:p>
        </p:txBody>
      </p:sp>
      <p:sp>
        <p:nvSpPr>
          <p:cNvPr id="51" name="Text 13">
            <a:extLst>
              <a:ext uri="{FF2B5EF4-FFF2-40B4-BE49-F238E27FC236}">
                <a16:creationId xmlns:a16="http://schemas.microsoft.com/office/drawing/2014/main" id="{F0338B58-D319-AB9F-771C-5CD504A29299}"/>
              </a:ext>
            </a:extLst>
          </p:cNvPr>
          <p:cNvSpPr/>
          <p:nvPr/>
        </p:nvSpPr>
        <p:spPr>
          <a:xfrm>
            <a:off x="533399" y="2725489"/>
            <a:ext cx="948333" cy="761256"/>
          </a:xfrm>
          <a:prstGeom prst="rect">
            <a:avLst/>
          </a:prstGeom>
          <a:noFill/>
          <a:ln/>
        </p:spPr>
        <p:txBody>
          <a:bodyPr wrap="square" lIns="25400" tIns="25400" rIns="25400" bIns="25400" rtlCol="0" anchor="t">
            <a:normAutofit/>
          </a:bodyPr>
          <a:lstStyle/>
          <a:p>
            <a:pPr marL="0" indent="0" algn="l">
              <a:lnSpc>
                <a:spcPct val="130000"/>
              </a:lnSpc>
              <a:buNone/>
            </a:pPr>
            <a:r>
              <a:rPr lang="en-US" sz="1400" kern="0" spc="21" dirty="0">
                <a:solidFill>
                  <a:srgbClr val="888080"/>
                </a:solidFill>
                <a:latin typeface="Inter" pitchFamily="34" charset="0"/>
                <a:ea typeface="Inter" pitchFamily="34" charset="-122"/>
                <a:cs typeface="Inter" pitchFamily="34" charset="-120"/>
              </a:rPr>
              <a:t>Modeling</a:t>
            </a:r>
            <a:endParaRPr lang="en-US" sz="1400" dirty="0"/>
          </a:p>
        </p:txBody>
      </p:sp>
      <p:sp>
        <p:nvSpPr>
          <p:cNvPr id="52" name="Text 14">
            <a:extLst>
              <a:ext uri="{FF2B5EF4-FFF2-40B4-BE49-F238E27FC236}">
                <a16:creationId xmlns:a16="http://schemas.microsoft.com/office/drawing/2014/main" id="{D93EFDDE-F255-2039-32A1-F5CE5F0E6FF0}"/>
              </a:ext>
            </a:extLst>
          </p:cNvPr>
          <p:cNvSpPr/>
          <p:nvPr/>
        </p:nvSpPr>
        <p:spPr>
          <a:xfrm>
            <a:off x="235683" y="3042056"/>
            <a:ext cx="372010" cy="191463"/>
          </a:xfrm>
          <a:prstGeom prst="rect">
            <a:avLst/>
          </a:prstGeom>
          <a:noFill/>
          <a:ln/>
        </p:spPr>
        <p:txBody>
          <a:bodyPr wrap="square" lIns="25400" tIns="25400" rIns="25400" bIns="25400" rtlCol="0" anchor="t">
            <a:noAutofit/>
          </a:bodyPr>
          <a:lstStyle/>
          <a:p>
            <a:pPr marL="0" indent="0" algn="l">
              <a:lnSpc>
                <a:spcPct val="130000"/>
              </a:lnSpc>
              <a:buNone/>
            </a:pPr>
            <a:r>
              <a:rPr lang="en-US" sz="1400" kern="0" spc="21" dirty="0">
                <a:solidFill>
                  <a:srgbClr val="888080"/>
                </a:solidFill>
                <a:latin typeface="JetBrains Mono" pitchFamily="34" charset="0"/>
                <a:ea typeface="JetBrains Mono" pitchFamily="34" charset="-122"/>
                <a:cs typeface="JetBrains Mono" pitchFamily="34" charset="-120"/>
              </a:rPr>
              <a:t>06</a:t>
            </a:r>
            <a:endParaRPr lang="en-US" sz="1400" dirty="0"/>
          </a:p>
        </p:txBody>
      </p:sp>
      <p:sp>
        <p:nvSpPr>
          <p:cNvPr id="53" name="Text 15">
            <a:extLst>
              <a:ext uri="{FF2B5EF4-FFF2-40B4-BE49-F238E27FC236}">
                <a16:creationId xmlns:a16="http://schemas.microsoft.com/office/drawing/2014/main" id="{E8DB6DF8-7778-9A0F-1A5B-A07A9F61F783}"/>
              </a:ext>
            </a:extLst>
          </p:cNvPr>
          <p:cNvSpPr/>
          <p:nvPr/>
        </p:nvSpPr>
        <p:spPr>
          <a:xfrm>
            <a:off x="533400" y="3032075"/>
            <a:ext cx="1185416" cy="626120"/>
          </a:xfrm>
          <a:prstGeom prst="rect">
            <a:avLst/>
          </a:prstGeom>
          <a:noFill/>
          <a:ln/>
        </p:spPr>
        <p:txBody>
          <a:bodyPr wrap="square" lIns="25400" tIns="25400" rIns="25400" bIns="25400" rtlCol="0" anchor="t">
            <a:normAutofit/>
          </a:bodyPr>
          <a:lstStyle/>
          <a:p>
            <a:pPr marL="0" indent="0" algn="l">
              <a:lnSpc>
                <a:spcPct val="130000"/>
              </a:lnSpc>
              <a:buNone/>
            </a:pPr>
            <a:r>
              <a:rPr lang="en-US" sz="1400" kern="0" spc="21" dirty="0">
                <a:solidFill>
                  <a:srgbClr val="888080"/>
                </a:solidFill>
                <a:latin typeface="Inter" pitchFamily="34" charset="0"/>
                <a:ea typeface="Inter" pitchFamily="34" charset="-122"/>
                <a:cs typeface="Inter" pitchFamily="34" charset="-120"/>
              </a:rPr>
              <a:t>Conclusions</a:t>
            </a:r>
            <a:endParaRPr lang="en-US" sz="1400" dirty="0"/>
          </a:p>
        </p:txBody>
      </p:sp>
      <p:sp>
        <p:nvSpPr>
          <p:cNvPr id="54" name="Text 9">
            <a:extLst>
              <a:ext uri="{FF2B5EF4-FFF2-40B4-BE49-F238E27FC236}">
                <a16:creationId xmlns:a16="http://schemas.microsoft.com/office/drawing/2014/main" id="{800FB6FE-5995-C41F-13B2-419A2F3FB748}"/>
              </a:ext>
            </a:extLst>
          </p:cNvPr>
          <p:cNvSpPr/>
          <p:nvPr/>
        </p:nvSpPr>
        <p:spPr>
          <a:xfrm>
            <a:off x="538609" y="2426180"/>
            <a:ext cx="1185416" cy="342476"/>
          </a:xfrm>
          <a:prstGeom prst="rect">
            <a:avLst/>
          </a:prstGeom>
          <a:noFill/>
          <a:ln/>
        </p:spPr>
        <p:txBody>
          <a:bodyPr wrap="square" lIns="25400" tIns="25400" rIns="25400" bIns="25400" rtlCol="0" anchor="t">
            <a:normAutofit/>
          </a:bodyPr>
          <a:lstStyle/>
          <a:p>
            <a:pPr marL="0" indent="0" algn="l">
              <a:lnSpc>
                <a:spcPct val="130000"/>
              </a:lnSpc>
              <a:buNone/>
            </a:pPr>
            <a:r>
              <a:rPr lang="en-US" sz="1400" kern="0" spc="21" dirty="0">
                <a:solidFill>
                  <a:srgbClr val="1A1A1A"/>
                </a:solidFill>
                <a:latin typeface="Inter" pitchFamily="34" charset="0"/>
                <a:ea typeface="Inter" pitchFamily="34" charset="-122"/>
              </a:rPr>
              <a:t>Pipeline</a:t>
            </a:r>
          </a:p>
        </p:txBody>
      </p:sp>
      <p:sp>
        <p:nvSpPr>
          <p:cNvPr id="55" name="Text 7">
            <a:extLst>
              <a:ext uri="{FF2B5EF4-FFF2-40B4-BE49-F238E27FC236}">
                <a16:creationId xmlns:a16="http://schemas.microsoft.com/office/drawing/2014/main" id="{5359B78B-3D37-1A97-0582-3B79F3F9F030}"/>
              </a:ext>
            </a:extLst>
          </p:cNvPr>
          <p:cNvSpPr/>
          <p:nvPr/>
        </p:nvSpPr>
        <p:spPr>
          <a:xfrm>
            <a:off x="523875" y="1826620"/>
            <a:ext cx="1325700" cy="467696"/>
          </a:xfrm>
          <a:prstGeom prst="rect">
            <a:avLst/>
          </a:prstGeom>
          <a:noFill/>
          <a:ln/>
        </p:spPr>
        <p:txBody>
          <a:bodyPr wrap="square" lIns="25400" tIns="25400" rIns="25400" bIns="25400" rtlCol="0" anchor="t">
            <a:noAutofit/>
          </a:bodyPr>
          <a:lstStyle/>
          <a:p>
            <a:pPr marL="0" indent="0" algn="l">
              <a:lnSpc>
                <a:spcPct val="130000"/>
              </a:lnSpc>
              <a:buNone/>
            </a:pPr>
            <a:r>
              <a:rPr lang="en-US" sz="1400" kern="0" spc="21" dirty="0">
                <a:solidFill>
                  <a:srgbClr val="888080"/>
                </a:solidFill>
                <a:latin typeface="Inter" pitchFamily="34" charset="0"/>
                <a:ea typeface="Inter" pitchFamily="34" charset="-122"/>
              </a:rPr>
              <a:t>Data &amp; target</a:t>
            </a:r>
          </a:p>
        </p:txBody>
      </p:sp>
      <p:sp>
        <p:nvSpPr>
          <p:cNvPr id="56" name="Text 1">
            <a:extLst>
              <a:ext uri="{FF2B5EF4-FFF2-40B4-BE49-F238E27FC236}">
                <a16:creationId xmlns:a16="http://schemas.microsoft.com/office/drawing/2014/main" id="{0A0B5989-A25C-512F-1BC7-A080B4D9569B}"/>
              </a:ext>
            </a:extLst>
          </p:cNvPr>
          <p:cNvSpPr/>
          <p:nvPr/>
        </p:nvSpPr>
        <p:spPr>
          <a:xfrm>
            <a:off x="261138" y="379598"/>
            <a:ext cx="1778457" cy="447678"/>
          </a:xfrm>
          <a:prstGeom prst="rect">
            <a:avLst/>
          </a:prstGeom>
          <a:noFill/>
          <a:ln/>
        </p:spPr>
        <p:txBody>
          <a:bodyPr wrap="square" lIns="25400" tIns="25400" rIns="25400" bIns="25400" rtlCol="0" anchor="t">
            <a:noAutofit/>
          </a:bodyPr>
          <a:lstStyle/>
          <a:p>
            <a:pPr marL="0" indent="0">
              <a:buNone/>
            </a:pPr>
            <a:r>
              <a:rPr lang="en-US" sz="1400" kern="0" spc="116" dirty="0">
                <a:solidFill>
                  <a:srgbClr val="888080"/>
                </a:solidFill>
                <a:latin typeface="JetBrains Mono" pitchFamily="34" charset="0"/>
                <a:ea typeface="JetBrains Mono" pitchFamily="34" charset="-122"/>
                <a:cs typeface="JetBrains Mono" pitchFamily="34" charset="-120"/>
              </a:rPr>
              <a:t>DS22 - Bar Ilan</a:t>
            </a:r>
            <a:br>
              <a:rPr lang="en-US" sz="1400" kern="0" spc="116" dirty="0">
                <a:solidFill>
                  <a:srgbClr val="888080"/>
                </a:solidFill>
                <a:latin typeface="JetBrains Mono" pitchFamily="34" charset="0"/>
                <a:ea typeface="JetBrains Mono" pitchFamily="34" charset="-122"/>
                <a:cs typeface="JetBrains Mono" pitchFamily="34" charset="-120"/>
              </a:rPr>
            </a:br>
            <a:r>
              <a:rPr lang="en-US" sz="1400" kern="0" spc="116" dirty="0">
                <a:solidFill>
                  <a:srgbClr val="888080"/>
                </a:solidFill>
                <a:latin typeface="JetBrains Mono" pitchFamily="34" charset="0"/>
                <a:ea typeface="JetBrains Mono" pitchFamily="34" charset="-122"/>
                <a:cs typeface="JetBrains Mono" pitchFamily="34" charset="-120"/>
              </a:rPr>
              <a:t>ML PROJECT</a:t>
            </a:r>
          </a:p>
          <a:p>
            <a:pPr marL="0" indent="0">
              <a:buNone/>
            </a:pPr>
            <a:r>
              <a:rPr lang="en-US" sz="1400" kern="0" spc="116" dirty="0">
                <a:solidFill>
                  <a:srgbClr val="888080"/>
                </a:solidFill>
                <a:latin typeface="JetBrains Mono" pitchFamily="34" charset="0"/>
                <a:ea typeface="JetBrains Mono" pitchFamily="34" charset="-122"/>
                <a:cs typeface="JetBrains Mono" pitchFamily="34" charset="-120"/>
              </a:rPr>
              <a:t>MAY 2026</a:t>
            </a:r>
            <a:endParaRPr lang="en-US" sz="1400" dirty="0"/>
          </a:p>
        </p:txBody>
      </p:sp>
      <p:graphicFrame>
        <p:nvGraphicFramePr>
          <p:cNvPr id="14" name="Table 13">
            <a:extLst>
              <a:ext uri="{FF2B5EF4-FFF2-40B4-BE49-F238E27FC236}">
                <a16:creationId xmlns:a16="http://schemas.microsoft.com/office/drawing/2014/main" id="{63DC93E3-D4EC-AB7F-6D5A-D4156F036905}"/>
              </a:ext>
            </a:extLst>
          </p:cNvPr>
          <p:cNvGraphicFramePr>
            <a:graphicFrameLocks noGrp="1"/>
          </p:cNvGraphicFramePr>
          <p:nvPr>
            <p:extLst>
              <p:ext uri="{D42A27DB-BD31-4B8C-83A1-F6EECF244321}">
                <p14:modId xmlns:p14="http://schemas.microsoft.com/office/powerpoint/2010/main" val="1270382646"/>
              </p:ext>
            </p:extLst>
          </p:nvPr>
        </p:nvGraphicFramePr>
        <p:xfrm>
          <a:off x="2781300" y="2899354"/>
          <a:ext cx="14973300" cy="5689066"/>
        </p:xfrm>
        <a:graphic>
          <a:graphicData uri="http://schemas.openxmlformats.org/drawingml/2006/table">
            <a:tbl>
              <a:tblPr firstRow="1" bandRow="1">
                <a:tableStyleId>{8EC20E35-A176-4012-BC5E-935CFFF8708E}</a:tableStyleId>
              </a:tblPr>
              <a:tblGrid>
                <a:gridCol w="3832955">
                  <a:extLst>
                    <a:ext uri="{9D8B030D-6E8A-4147-A177-3AD203B41FA5}">
                      <a16:colId xmlns:a16="http://schemas.microsoft.com/office/drawing/2014/main" val="389680655"/>
                    </a:ext>
                  </a:extLst>
                </a:gridCol>
                <a:gridCol w="11140345">
                  <a:extLst>
                    <a:ext uri="{9D8B030D-6E8A-4147-A177-3AD203B41FA5}">
                      <a16:colId xmlns:a16="http://schemas.microsoft.com/office/drawing/2014/main" val="1299986043"/>
                    </a:ext>
                  </a:extLst>
                </a:gridCol>
              </a:tblGrid>
              <a:tr h="652990">
                <a:tc>
                  <a:txBody>
                    <a:bodyPr/>
                    <a:lstStyle/>
                    <a:p>
                      <a:pPr>
                        <a:buNone/>
                      </a:pPr>
                      <a:r>
                        <a:rPr lang="en-US" sz="2800" dirty="0"/>
                        <a:t>Category</a:t>
                      </a:r>
                    </a:p>
                  </a:txBody>
                  <a:tcPr anchor="ctr"/>
                </a:tc>
                <a:tc>
                  <a:txBody>
                    <a:bodyPr/>
                    <a:lstStyle/>
                    <a:p>
                      <a:pPr>
                        <a:buNone/>
                      </a:pPr>
                      <a:r>
                        <a:rPr lang="en-US" sz="2800" dirty="0"/>
                        <a:t>Handling Method</a:t>
                      </a:r>
                    </a:p>
                  </a:txBody>
                  <a:tcPr anchor="ctr"/>
                </a:tc>
                <a:extLst>
                  <a:ext uri="{0D108BD9-81ED-4DB2-BD59-A6C34878D82A}">
                    <a16:rowId xmlns:a16="http://schemas.microsoft.com/office/drawing/2014/main" val="4259311531"/>
                  </a:ext>
                </a:extLst>
              </a:tr>
              <a:tr h="1127080">
                <a:tc>
                  <a:txBody>
                    <a:bodyPr/>
                    <a:lstStyle/>
                    <a:p>
                      <a:pPr>
                        <a:buNone/>
                      </a:pPr>
                      <a:r>
                        <a:rPr lang="en-US" sz="1800" dirty="0" err="1"/>
                        <a:t>Total_Passengers</a:t>
                      </a:r>
                      <a:endParaRPr lang="en-US" sz="1800" dirty="0"/>
                    </a:p>
                  </a:txBody>
                  <a:tcPr anchor="ctr"/>
                </a:tc>
                <a:tc>
                  <a:txBody>
                    <a:bodyPr/>
                    <a:lstStyle/>
                    <a:p>
                      <a:pPr>
                        <a:buNone/>
                      </a:pPr>
                      <a:r>
                        <a:rPr lang="en-US" sz="1800" dirty="0"/>
                        <a:t>Progressive median imputation using: route + direction + day + hour → route + direction + day → route only → global train median.</a:t>
                      </a:r>
                    </a:p>
                  </a:txBody>
                  <a:tcPr anchor="ctr"/>
                </a:tc>
                <a:extLst>
                  <a:ext uri="{0D108BD9-81ED-4DB2-BD59-A6C34878D82A}">
                    <a16:rowId xmlns:a16="http://schemas.microsoft.com/office/drawing/2014/main" val="1715103509"/>
                  </a:ext>
                </a:extLst>
              </a:tr>
              <a:tr h="652990">
                <a:tc>
                  <a:txBody>
                    <a:bodyPr/>
                    <a:lstStyle/>
                    <a:p>
                      <a:pPr>
                        <a:buNone/>
                      </a:pPr>
                      <a:r>
                        <a:rPr lang="en-US" sz="1800" dirty="0" err="1"/>
                        <a:t>Avg_Passengers_Per_Bus</a:t>
                      </a:r>
                      <a:endParaRPr lang="en-US" sz="1800" dirty="0"/>
                    </a:p>
                  </a:txBody>
                  <a:tcPr anchor="ctr"/>
                </a:tc>
                <a:tc>
                  <a:txBody>
                    <a:bodyPr/>
                    <a:lstStyle/>
                    <a:p>
                      <a:pPr>
                        <a:buNone/>
                      </a:pPr>
                      <a:r>
                        <a:rPr lang="en-US" sz="1800" dirty="0"/>
                        <a:t>Filled using route-level median, then global train median.</a:t>
                      </a:r>
                    </a:p>
                  </a:txBody>
                  <a:tcPr anchor="ctr"/>
                </a:tc>
                <a:extLst>
                  <a:ext uri="{0D108BD9-81ED-4DB2-BD59-A6C34878D82A}">
                    <a16:rowId xmlns:a16="http://schemas.microsoft.com/office/drawing/2014/main" val="848260611"/>
                  </a:ext>
                </a:extLst>
              </a:tr>
              <a:tr h="644046">
                <a:tc>
                  <a:txBody>
                    <a:bodyPr/>
                    <a:lstStyle/>
                    <a:p>
                      <a:pPr>
                        <a:buNone/>
                      </a:pPr>
                      <a:r>
                        <a:rPr lang="en-US" sz="1800"/>
                        <a:t>circular_route</a:t>
                      </a:r>
                    </a:p>
                  </a:txBody>
                  <a:tcPr anchor="ctr"/>
                </a:tc>
                <a:tc>
                  <a:txBody>
                    <a:bodyPr/>
                    <a:lstStyle/>
                    <a:p>
                      <a:pPr>
                        <a:buNone/>
                      </a:pPr>
                      <a:r>
                        <a:rPr lang="en-US" sz="1800"/>
                        <a:t>Missing values filled with 0.</a:t>
                      </a:r>
                    </a:p>
                  </a:txBody>
                  <a:tcPr anchor="ctr"/>
                </a:tc>
                <a:extLst>
                  <a:ext uri="{0D108BD9-81ED-4DB2-BD59-A6C34878D82A}">
                    <a16:rowId xmlns:a16="http://schemas.microsoft.com/office/drawing/2014/main" val="3032048243"/>
                  </a:ext>
                </a:extLst>
              </a:tr>
              <a:tr h="652990">
                <a:tc>
                  <a:txBody>
                    <a:bodyPr/>
                    <a:lstStyle/>
                    <a:p>
                      <a:pPr>
                        <a:buNone/>
                      </a:pPr>
                      <a:r>
                        <a:rPr lang="en-US" sz="1800"/>
                        <a:t>Text Attributes</a:t>
                      </a:r>
                    </a:p>
                  </a:txBody>
                  <a:tcPr anchor="ctr"/>
                </a:tc>
                <a:tc>
                  <a:txBody>
                    <a:bodyPr/>
                    <a:lstStyle/>
                    <a:p>
                      <a:pPr>
                        <a:buNone/>
                      </a:pPr>
                      <a:r>
                        <a:rPr lang="en-US" sz="1800" dirty="0"/>
                        <a:t>Missing values in </a:t>
                      </a:r>
                      <a:r>
                        <a:rPr lang="en-US" sz="1800" dirty="0" err="1"/>
                        <a:t>line_name</a:t>
                      </a:r>
                      <a:r>
                        <a:rPr lang="en-US" sz="1800" dirty="0"/>
                        <a:t>, </a:t>
                      </a:r>
                      <a:r>
                        <a:rPr lang="en-US" sz="1800" dirty="0" err="1"/>
                        <a:t>agency_name</a:t>
                      </a:r>
                      <a:r>
                        <a:rPr lang="en-US" sz="1800" dirty="0"/>
                        <a:t>, and </a:t>
                      </a:r>
                      <a:r>
                        <a:rPr lang="en-US" sz="1800" dirty="0" err="1"/>
                        <a:t>line_num</a:t>
                      </a:r>
                      <a:r>
                        <a:rPr lang="en-US" sz="1800" dirty="0"/>
                        <a:t> filled with "unknown".</a:t>
                      </a:r>
                    </a:p>
                  </a:txBody>
                  <a:tcPr anchor="ctr"/>
                </a:tc>
                <a:extLst>
                  <a:ext uri="{0D108BD9-81ED-4DB2-BD59-A6C34878D82A}">
                    <a16:rowId xmlns:a16="http://schemas.microsoft.com/office/drawing/2014/main" val="2015474710"/>
                  </a:ext>
                </a:extLst>
              </a:tr>
              <a:tr h="652990">
                <a:tc>
                  <a:txBody>
                    <a:bodyPr/>
                    <a:lstStyle/>
                    <a:p>
                      <a:pPr>
                        <a:buNone/>
                      </a:pPr>
                      <a:r>
                        <a:rPr lang="en-US" sz="1800"/>
                        <a:t>Speed &amp; Duration Attributes</a:t>
                      </a:r>
                    </a:p>
                  </a:txBody>
                  <a:tcPr anchor="ctr"/>
                </a:tc>
                <a:tc>
                  <a:txBody>
                    <a:bodyPr/>
                    <a:lstStyle/>
                    <a:p>
                      <a:pPr>
                        <a:buNone/>
                      </a:pPr>
                      <a:r>
                        <a:rPr lang="en-US" sz="1800" dirty="0"/>
                        <a:t>Missing values filled using route + direction median, then train median.</a:t>
                      </a:r>
                    </a:p>
                  </a:txBody>
                  <a:tcPr anchor="ctr"/>
                </a:tc>
                <a:extLst>
                  <a:ext uri="{0D108BD9-81ED-4DB2-BD59-A6C34878D82A}">
                    <a16:rowId xmlns:a16="http://schemas.microsoft.com/office/drawing/2014/main" val="4076333079"/>
                  </a:ext>
                </a:extLst>
              </a:tr>
              <a:tr h="652990">
                <a:tc>
                  <a:txBody>
                    <a:bodyPr/>
                    <a:lstStyle/>
                    <a:p>
                      <a:pPr>
                        <a:buNone/>
                      </a:pPr>
                      <a:r>
                        <a:rPr lang="en-US" sz="1800"/>
                        <a:t>Spatial Attributes</a:t>
                      </a:r>
                    </a:p>
                  </a:txBody>
                  <a:tcPr anchor="ctr"/>
                </a:tc>
                <a:tc>
                  <a:txBody>
                    <a:bodyPr/>
                    <a:lstStyle/>
                    <a:p>
                      <a:pPr>
                        <a:buNone/>
                      </a:pPr>
                      <a:r>
                        <a:rPr lang="en-US" sz="1800" dirty="0"/>
                        <a:t>Missing </a:t>
                      </a:r>
                      <a:r>
                        <a:rPr lang="en-US" sz="1800" dirty="0" err="1"/>
                        <a:t>curvity</a:t>
                      </a:r>
                      <a:r>
                        <a:rPr lang="en-US" sz="1800" dirty="0"/>
                        <a:t>, </a:t>
                      </a:r>
                      <a:r>
                        <a:rPr lang="en-US" sz="1800" dirty="0" err="1"/>
                        <a:t>route_length</a:t>
                      </a:r>
                      <a:r>
                        <a:rPr lang="en-US" sz="1800" dirty="0"/>
                        <a:t>, and </a:t>
                      </a:r>
                      <a:r>
                        <a:rPr lang="en-US" sz="1800" dirty="0" err="1"/>
                        <a:t>length_in_buffer_m</a:t>
                      </a:r>
                      <a:r>
                        <a:rPr lang="en-US" sz="1800" dirty="0"/>
                        <a:t> filled using train-set mean values.</a:t>
                      </a:r>
                    </a:p>
                  </a:txBody>
                  <a:tcPr anchor="ctr"/>
                </a:tc>
                <a:extLst>
                  <a:ext uri="{0D108BD9-81ED-4DB2-BD59-A6C34878D82A}">
                    <a16:rowId xmlns:a16="http://schemas.microsoft.com/office/drawing/2014/main" val="695500805"/>
                  </a:ext>
                </a:extLst>
              </a:tr>
              <a:tr h="652990">
                <a:tc>
                  <a:txBody>
                    <a:bodyPr/>
                    <a:lstStyle/>
                    <a:p>
                      <a:pPr>
                        <a:buNone/>
                      </a:pPr>
                      <a:r>
                        <a:rPr lang="en-US" sz="1800"/>
                        <a:t>Route Length Correction</a:t>
                      </a:r>
                    </a:p>
                  </a:txBody>
                  <a:tcPr anchor="ctr"/>
                </a:tc>
                <a:tc>
                  <a:txBody>
                    <a:bodyPr/>
                    <a:lstStyle/>
                    <a:p>
                      <a:pPr>
                        <a:buNone/>
                      </a:pPr>
                      <a:r>
                        <a:rPr lang="en-US" sz="1800" dirty="0"/>
                        <a:t>Missing or zero </a:t>
                      </a:r>
                      <a:r>
                        <a:rPr lang="en-US" sz="1800" dirty="0" err="1"/>
                        <a:t>route_length</a:t>
                      </a:r>
                      <a:r>
                        <a:rPr lang="en-US" sz="1800" dirty="0"/>
                        <a:t> values replaced using </a:t>
                      </a:r>
                      <a:r>
                        <a:rPr lang="en-US" sz="1800" dirty="0" err="1"/>
                        <a:t>route_length_km</a:t>
                      </a:r>
                      <a:r>
                        <a:rPr lang="en-US" sz="1800" dirty="0"/>
                        <a:t> × 1000.</a:t>
                      </a:r>
                    </a:p>
                  </a:txBody>
                  <a:tcPr anchor="ctr"/>
                </a:tc>
                <a:extLst>
                  <a:ext uri="{0D108BD9-81ED-4DB2-BD59-A6C34878D82A}">
                    <a16:rowId xmlns:a16="http://schemas.microsoft.com/office/drawing/2014/main" val="1911860932"/>
                  </a:ext>
                </a:extLst>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9">
    <p:bg>
      <p:bgPr>
        <a:solidFill>
          <a:srgbClr val="F5F1E8"/>
        </a:solidFill>
        <a:effectLst/>
      </p:bgPr>
    </p:bg>
    <p:spTree>
      <p:nvGrpSpPr>
        <p:cNvPr id="1" name=""/>
        <p:cNvGrpSpPr/>
        <p:nvPr/>
      </p:nvGrpSpPr>
      <p:grpSpPr>
        <a:xfrm>
          <a:off x="0" y="0"/>
          <a:ext cx="0" cy="0"/>
          <a:chOff x="0" y="0"/>
          <a:chExt cx="0" cy="0"/>
        </a:xfrm>
      </p:grpSpPr>
      <p:sp>
        <p:nvSpPr>
          <p:cNvPr id="2" name="Shape 0"/>
          <p:cNvSpPr/>
          <p:nvPr/>
        </p:nvSpPr>
        <p:spPr>
          <a:xfrm>
            <a:off x="0" y="0"/>
            <a:ext cx="2095500" cy="10287000"/>
          </a:xfrm>
          <a:prstGeom prst="rect">
            <a:avLst/>
          </a:prstGeom>
          <a:solidFill>
            <a:srgbClr val="EBE5D6"/>
          </a:solidFill>
          <a:ln/>
        </p:spPr>
        <p:txBody>
          <a:bodyPr/>
          <a:lstStyle/>
          <a:p>
            <a:endParaRPr lang="he-IL"/>
          </a:p>
        </p:txBody>
      </p:sp>
      <p:sp>
        <p:nvSpPr>
          <p:cNvPr id="3" name="Shape 1"/>
          <p:cNvSpPr/>
          <p:nvPr/>
        </p:nvSpPr>
        <p:spPr>
          <a:xfrm>
            <a:off x="2085975" y="0"/>
            <a:ext cx="9525" cy="10287000"/>
          </a:xfrm>
          <a:prstGeom prst="rect">
            <a:avLst/>
          </a:prstGeom>
          <a:solidFill>
            <a:srgbClr val="D4CDBC"/>
          </a:solidFill>
          <a:ln/>
        </p:spPr>
        <p:txBody>
          <a:bodyPr/>
          <a:lstStyle/>
          <a:p>
            <a:endParaRPr lang="he-IL"/>
          </a:p>
        </p:txBody>
      </p:sp>
      <p:sp>
        <p:nvSpPr>
          <p:cNvPr id="19" name="Text 17"/>
          <p:cNvSpPr/>
          <p:nvPr/>
        </p:nvSpPr>
        <p:spPr>
          <a:xfrm>
            <a:off x="2781300" y="571500"/>
            <a:ext cx="15187041" cy="171450"/>
          </a:xfrm>
          <a:prstGeom prst="rect">
            <a:avLst/>
          </a:prstGeom>
          <a:noFill/>
          <a:ln/>
        </p:spPr>
        <p:txBody>
          <a:bodyPr wrap="square" lIns="25400" tIns="25400" rIns="25400" bIns="25400" rtlCol="0" anchor="ctr">
            <a:noAutofit/>
          </a:bodyPr>
          <a:lstStyle/>
          <a:p>
            <a:pPr marL="0" indent="0" algn="l">
              <a:buNone/>
            </a:pPr>
            <a:r>
              <a:rPr lang="en-US" sz="1400" kern="0" spc="182" dirty="0">
                <a:solidFill>
                  <a:srgbClr val="888080"/>
                </a:solidFill>
                <a:latin typeface="JetBrains Mono" pitchFamily="34" charset="0"/>
                <a:ea typeface="JetBrains Mono" pitchFamily="34" charset="-122"/>
                <a:cs typeface="JetBrains Mono" pitchFamily="34" charset="-120"/>
              </a:rPr>
              <a:t>PIPELINE · 03 · OUTLIERS</a:t>
            </a:r>
            <a:endParaRPr lang="en-US" sz="1400" dirty="0"/>
          </a:p>
        </p:txBody>
      </p:sp>
      <p:sp>
        <p:nvSpPr>
          <p:cNvPr id="20" name="Text 18"/>
          <p:cNvSpPr/>
          <p:nvPr/>
        </p:nvSpPr>
        <p:spPr>
          <a:xfrm>
            <a:off x="2781300" y="914400"/>
            <a:ext cx="15187041" cy="643830"/>
          </a:xfrm>
          <a:prstGeom prst="rect">
            <a:avLst/>
          </a:prstGeom>
          <a:noFill/>
          <a:ln/>
        </p:spPr>
        <p:txBody>
          <a:bodyPr wrap="square" lIns="25400" tIns="25400" rIns="25400" bIns="25400" rtlCol="0" anchor="t">
            <a:normAutofit fontScale="92500" lnSpcReduction="20000"/>
          </a:bodyPr>
          <a:lstStyle/>
          <a:p>
            <a:pPr marL="0" indent="0" algn="l">
              <a:lnSpc>
                <a:spcPct val="106000"/>
              </a:lnSpc>
              <a:buNone/>
            </a:pPr>
            <a:r>
              <a:rPr lang="en-US" sz="4500" kern="0" spc="-81" dirty="0">
                <a:solidFill>
                  <a:srgbClr val="1A1A1A"/>
                </a:solidFill>
                <a:latin typeface="Instrument Serif" pitchFamily="34" charset="0"/>
                <a:ea typeface="Instrument Serif" pitchFamily="34" charset="-122"/>
                <a:cs typeface="Instrument Serif" pitchFamily="34" charset="-120"/>
              </a:rPr>
              <a:t>Outliers handling</a:t>
            </a:r>
            <a:endParaRPr lang="en-US" sz="4500" dirty="0"/>
          </a:p>
        </p:txBody>
      </p:sp>
      <p:sp>
        <p:nvSpPr>
          <p:cNvPr id="21" name="Shape 19"/>
          <p:cNvSpPr/>
          <p:nvPr/>
        </p:nvSpPr>
        <p:spPr>
          <a:xfrm>
            <a:off x="2819400" y="1702187"/>
            <a:ext cx="7258050" cy="4498060"/>
          </a:xfrm>
          <a:prstGeom prst="rect">
            <a:avLst/>
          </a:prstGeom>
          <a:solidFill>
            <a:srgbClr val="FFFFFF"/>
          </a:solidFill>
          <a:ln w="9525">
            <a:solidFill>
              <a:srgbClr val="D4CDBC"/>
            </a:solidFill>
            <a:prstDash val="solid"/>
          </a:ln>
        </p:spPr>
        <p:txBody>
          <a:bodyPr/>
          <a:lstStyle/>
          <a:p>
            <a:endParaRPr lang="he-IL" dirty="0"/>
          </a:p>
        </p:txBody>
      </p:sp>
      <p:sp>
        <p:nvSpPr>
          <p:cNvPr id="22" name="Text 20"/>
          <p:cNvSpPr/>
          <p:nvPr/>
        </p:nvSpPr>
        <p:spPr>
          <a:xfrm>
            <a:off x="3019425" y="1891755"/>
            <a:ext cx="6985254" cy="276075"/>
          </a:xfrm>
          <a:prstGeom prst="rect">
            <a:avLst/>
          </a:prstGeom>
          <a:noFill/>
          <a:ln/>
        </p:spPr>
        <p:txBody>
          <a:bodyPr wrap="square" lIns="25400" tIns="25400" rIns="25400" bIns="25400" rtlCol="0" anchor="t">
            <a:normAutofit lnSpcReduction="10000"/>
          </a:bodyPr>
          <a:lstStyle/>
          <a:p>
            <a:pPr marL="0" indent="0" algn="l">
              <a:buNone/>
            </a:pPr>
            <a:r>
              <a:rPr lang="en-US" sz="1600" b="1" kern="0" spc="135" dirty="0">
                <a:solidFill>
                  <a:srgbClr val="C25A2A"/>
                </a:solidFill>
                <a:latin typeface="JetBrains Mono" pitchFamily="34" charset="0"/>
                <a:ea typeface="JetBrains Mono" pitchFamily="34" charset="-122"/>
                <a:cs typeface="JetBrains Mono" pitchFamily="34" charset="-120"/>
              </a:rPr>
              <a:t>CASE 01 · MIDNIGHT-CROSSING TRIPS</a:t>
            </a:r>
            <a:endParaRPr lang="en-US" sz="1600" dirty="0"/>
          </a:p>
        </p:txBody>
      </p:sp>
      <p:sp>
        <p:nvSpPr>
          <p:cNvPr id="23" name="Text 21"/>
          <p:cNvSpPr/>
          <p:nvPr/>
        </p:nvSpPr>
        <p:spPr>
          <a:xfrm>
            <a:off x="3019425" y="2224980"/>
            <a:ext cx="6985254" cy="315367"/>
          </a:xfrm>
          <a:prstGeom prst="rect">
            <a:avLst/>
          </a:prstGeom>
          <a:noFill/>
          <a:ln/>
        </p:spPr>
        <p:txBody>
          <a:bodyPr wrap="square" lIns="25400" tIns="25400" rIns="25400" bIns="25400" rtlCol="0" anchor="t">
            <a:normAutofit fontScale="92500" lnSpcReduction="20000"/>
          </a:bodyPr>
          <a:lstStyle/>
          <a:p>
            <a:pPr marL="0" indent="0" algn="l">
              <a:lnSpc>
                <a:spcPct val="112000"/>
              </a:lnSpc>
              <a:buNone/>
            </a:pPr>
            <a:r>
              <a:rPr lang="en-US" sz="1950" kern="0" spc="-16" dirty="0">
                <a:solidFill>
                  <a:srgbClr val="1A1A1A"/>
                </a:solidFill>
                <a:latin typeface="Instrument Serif" pitchFamily="34" charset="0"/>
                <a:ea typeface="Instrument Serif" pitchFamily="34" charset="-122"/>
                <a:cs typeface="Instrument Serif" pitchFamily="34" charset="-120"/>
              </a:rPr>
              <a:t>Arrival earlier than departure?</a:t>
            </a:r>
            <a:endParaRPr lang="en-US" sz="1950" dirty="0"/>
          </a:p>
        </p:txBody>
      </p:sp>
      <p:sp>
        <p:nvSpPr>
          <p:cNvPr id="24" name="Text 22"/>
          <p:cNvSpPr/>
          <p:nvPr/>
        </p:nvSpPr>
        <p:spPr>
          <a:xfrm>
            <a:off x="3019425" y="2658952"/>
            <a:ext cx="6985254" cy="853725"/>
          </a:xfrm>
          <a:prstGeom prst="rect">
            <a:avLst/>
          </a:prstGeom>
          <a:noFill/>
          <a:ln/>
        </p:spPr>
        <p:txBody>
          <a:bodyPr wrap="square" lIns="25400" tIns="25400" rIns="25400" bIns="25400" rtlCol="0" anchor="t">
            <a:normAutofit fontScale="92500"/>
          </a:bodyPr>
          <a:lstStyle/>
          <a:p>
            <a:pPr marL="0" indent="0" algn="l">
              <a:lnSpc>
                <a:spcPct val="150000"/>
              </a:lnSpc>
              <a:buNone/>
            </a:pPr>
            <a:r>
              <a:rPr lang="en-US" dirty="0">
                <a:solidFill>
                  <a:srgbClr val="4A4A4A"/>
                </a:solidFill>
                <a:latin typeface="Inter" pitchFamily="34" charset="0"/>
                <a:ea typeface="Inter" pitchFamily="34" charset="-122"/>
                <a:cs typeface="Inter" pitchFamily="34" charset="-120"/>
              </a:rPr>
              <a:t>Some trips legitimately end </a:t>
            </a:r>
            <a:r>
              <a:rPr lang="en-US" i="1" dirty="0">
                <a:solidFill>
                  <a:srgbClr val="4A4A4A"/>
                </a:solidFill>
                <a:latin typeface="Inter" pitchFamily="34" charset="0"/>
                <a:ea typeface="Inter" pitchFamily="34" charset="-122"/>
                <a:cs typeface="Inter" pitchFamily="34" charset="-120"/>
              </a:rPr>
              <a:t>after midnight </a:t>
            </a:r>
            <a:r>
              <a:rPr lang="en-US" dirty="0">
                <a:solidFill>
                  <a:srgbClr val="4A4A4A"/>
                </a:solidFill>
                <a:latin typeface="Inter" pitchFamily="34" charset="0"/>
                <a:ea typeface="Inter" pitchFamily="34" charset="-122"/>
                <a:cs typeface="Inter" pitchFamily="34" charset="-120"/>
              </a:rPr>
              <a:t>. Without correction the duration goes negative — a hard outlier the model can't reason about.</a:t>
            </a:r>
            <a:endParaRPr lang="en-US" sz="1200" dirty="0"/>
          </a:p>
        </p:txBody>
      </p:sp>
      <p:sp>
        <p:nvSpPr>
          <p:cNvPr id="25" name="Shape 23"/>
          <p:cNvSpPr/>
          <p:nvPr/>
        </p:nvSpPr>
        <p:spPr>
          <a:xfrm>
            <a:off x="2977827" y="4037855"/>
            <a:ext cx="6781800" cy="9525"/>
          </a:xfrm>
          <a:prstGeom prst="rect">
            <a:avLst/>
          </a:prstGeom>
          <a:solidFill>
            <a:srgbClr val="D4CDBC"/>
          </a:solidFill>
          <a:ln/>
        </p:spPr>
        <p:txBody>
          <a:bodyPr/>
          <a:lstStyle/>
          <a:p>
            <a:endParaRPr lang="he-IL"/>
          </a:p>
        </p:txBody>
      </p:sp>
      <p:sp>
        <p:nvSpPr>
          <p:cNvPr id="26" name="Shape 24"/>
          <p:cNvSpPr/>
          <p:nvPr/>
        </p:nvSpPr>
        <p:spPr>
          <a:xfrm>
            <a:off x="2996729" y="4359102"/>
            <a:ext cx="6781800" cy="1154608"/>
          </a:xfrm>
          <a:prstGeom prst="rect">
            <a:avLst/>
          </a:prstGeom>
          <a:solidFill>
            <a:srgbClr val="EBE5D6"/>
          </a:solidFill>
          <a:ln w="9525">
            <a:solidFill>
              <a:srgbClr val="D4CDBC"/>
            </a:solidFill>
            <a:prstDash val="solid"/>
          </a:ln>
        </p:spPr>
        <p:txBody>
          <a:bodyPr/>
          <a:lstStyle/>
          <a:p>
            <a:endParaRPr lang="he-IL"/>
          </a:p>
        </p:txBody>
      </p:sp>
      <p:sp>
        <p:nvSpPr>
          <p:cNvPr id="27" name="Text 25"/>
          <p:cNvSpPr/>
          <p:nvPr/>
        </p:nvSpPr>
        <p:spPr>
          <a:xfrm>
            <a:off x="3143249" y="4506117"/>
            <a:ext cx="6450955" cy="1083171"/>
          </a:xfrm>
          <a:prstGeom prst="rect">
            <a:avLst/>
          </a:prstGeom>
          <a:noFill/>
          <a:ln/>
        </p:spPr>
        <p:txBody>
          <a:bodyPr wrap="square" lIns="25400" tIns="25400" rIns="25400" bIns="25400" rtlCol="0" anchor="t">
            <a:normAutofit/>
          </a:bodyPr>
          <a:lstStyle/>
          <a:p>
            <a:pPr marL="0" indent="0" algn="l">
              <a:lnSpc>
                <a:spcPct val="160000"/>
              </a:lnSpc>
              <a:buNone/>
            </a:pPr>
            <a:r>
              <a:rPr lang="en-US" sz="2000" dirty="0">
                <a:solidFill>
                  <a:srgbClr val="888080"/>
                </a:solidFill>
                <a:highlight>
                  <a:srgbClr val="EBE5D6"/>
                </a:highlight>
                <a:latin typeface="JetBrains Mono" pitchFamily="34" charset="0"/>
                <a:ea typeface="JetBrains Mono" pitchFamily="34" charset="-122"/>
                <a:cs typeface="JetBrains Mono" pitchFamily="34" charset="-120"/>
              </a:rPr>
              <a:t>mask_midnight = arrival_time_planned &lt; departure_time_planned </a:t>
            </a:r>
            <a:r>
              <a:rPr lang="en-US" sz="2000" dirty="0">
                <a:solidFill>
                  <a:srgbClr val="C25A2A"/>
                </a:solidFill>
                <a:latin typeface="JetBrains Mono" pitchFamily="34" charset="0"/>
                <a:ea typeface="JetBrains Mono" pitchFamily="34" charset="-122"/>
                <a:cs typeface="JetBrains Mono" pitchFamily="34" charset="-120"/>
              </a:rPr>
              <a:t># add 24h to arrival</a:t>
            </a:r>
            <a:endParaRPr lang="en-US" sz="2000" dirty="0"/>
          </a:p>
        </p:txBody>
      </p:sp>
      <p:sp>
        <p:nvSpPr>
          <p:cNvPr id="28" name="Text 26"/>
          <p:cNvSpPr/>
          <p:nvPr/>
        </p:nvSpPr>
        <p:spPr>
          <a:xfrm>
            <a:off x="3034829" y="5685897"/>
            <a:ext cx="4861984" cy="514350"/>
          </a:xfrm>
          <a:prstGeom prst="rect">
            <a:avLst/>
          </a:prstGeom>
          <a:noFill/>
          <a:ln/>
        </p:spPr>
        <p:txBody>
          <a:bodyPr wrap="square" lIns="25400" tIns="25400" rIns="25400" bIns="25400" rtlCol="0" anchor="t">
            <a:normAutofit/>
          </a:bodyPr>
          <a:lstStyle/>
          <a:p>
            <a:pPr marL="0" indent="0" algn="l">
              <a:lnSpc>
                <a:spcPct val="150000"/>
              </a:lnSpc>
              <a:buNone/>
            </a:pPr>
            <a:r>
              <a:rPr lang="en-US" sz="1600" dirty="0">
                <a:solidFill>
                  <a:srgbClr val="1A1A1A"/>
                </a:solidFill>
                <a:latin typeface="Inter" pitchFamily="34" charset="0"/>
                <a:ea typeface="Inter" pitchFamily="34" charset="-122"/>
                <a:cs typeface="Inter" pitchFamily="34" charset="-120"/>
              </a:rPr>
              <a:t>~340 trips fixed</a:t>
            </a:r>
            <a:endParaRPr lang="en-US" sz="1100" dirty="0"/>
          </a:p>
        </p:txBody>
      </p:sp>
      <p:sp>
        <p:nvSpPr>
          <p:cNvPr id="29" name="Shape 27"/>
          <p:cNvSpPr/>
          <p:nvPr/>
        </p:nvSpPr>
        <p:spPr>
          <a:xfrm>
            <a:off x="10203053" y="1724392"/>
            <a:ext cx="7258050" cy="4498060"/>
          </a:xfrm>
          <a:prstGeom prst="rect">
            <a:avLst/>
          </a:prstGeom>
          <a:solidFill>
            <a:srgbClr val="FFFFFF"/>
          </a:solidFill>
          <a:ln w="9525">
            <a:solidFill>
              <a:srgbClr val="D4CDBC"/>
            </a:solidFill>
            <a:prstDash val="solid"/>
          </a:ln>
        </p:spPr>
        <p:txBody>
          <a:bodyPr/>
          <a:lstStyle/>
          <a:p>
            <a:endParaRPr lang="he-IL" dirty="0"/>
          </a:p>
        </p:txBody>
      </p:sp>
      <p:sp>
        <p:nvSpPr>
          <p:cNvPr id="30" name="Text 28"/>
          <p:cNvSpPr/>
          <p:nvPr/>
        </p:nvSpPr>
        <p:spPr>
          <a:xfrm>
            <a:off x="10506075" y="1889018"/>
            <a:ext cx="6985254" cy="342900"/>
          </a:xfrm>
          <a:prstGeom prst="rect">
            <a:avLst/>
          </a:prstGeom>
          <a:noFill/>
          <a:ln/>
        </p:spPr>
        <p:txBody>
          <a:bodyPr wrap="square" lIns="25400" tIns="25400" rIns="25400" bIns="25400" rtlCol="0" anchor="t">
            <a:normAutofit/>
          </a:bodyPr>
          <a:lstStyle/>
          <a:p>
            <a:pPr marL="0" indent="0" algn="l">
              <a:buNone/>
            </a:pPr>
            <a:r>
              <a:rPr lang="en-US" b="1" kern="0" spc="135" dirty="0">
                <a:solidFill>
                  <a:srgbClr val="C25A2A"/>
                </a:solidFill>
                <a:latin typeface="JetBrains Mono" pitchFamily="34" charset="0"/>
                <a:ea typeface="JetBrains Mono" pitchFamily="34" charset="-122"/>
                <a:cs typeface="JetBrains Mono" pitchFamily="34" charset="-120"/>
              </a:rPr>
              <a:t>CASE 02 · IQR OUTLIERS</a:t>
            </a:r>
            <a:endParaRPr lang="en-US" dirty="0"/>
          </a:p>
        </p:txBody>
      </p:sp>
      <p:sp>
        <p:nvSpPr>
          <p:cNvPr id="31" name="Text 29"/>
          <p:cNvSpPr/>
          <p:nvPr/>
        </p:nvSpPr>
        <p:spPr>
          <a:xfrm>
            <a:off x="10506075" y="2224980"/>
            <a:ext cx="6985254" cy="315367"/>
          </a:xfrm>
          <a:prstGeom prst="rect">
            <a:avLst/>
          </a:prstGeom>
          <a:noFill/>
          <a:ln/>
        </p:spPr>
        <p:txBody>
          <a:bodyPr wrap="square" lIns="25400" tIns="25400" rIns="25400" bIns="25400" rtlCol="0" anchor="t">
            <a:normAutofit fontScale="92500" lnSpcReduction="20000"/>
          </a:bodyPr>
          <a:lstStyle/>
          <a:p>
            <a:pPr marL="0" indent="0" algn="l">
              <a:lnSpc>
                <a:spcPct val="112000"/>
              </a:lnSpc>
              <a:buNone/>
            </a:pPr>
            <a:r>
              <a:rPr lang="en-US" sz="1950" kern="0" spc="-16" dirty="0">
                <a:solidFill>
                  <a:srgbClr val="1A1A1A"/>
                </a:solidFill>
                <a:latin typeface="Instrument Serif" pitchFamily="34" charset="0"/>
                <a:ea typeface="Instrument Serif" pitchFamily="34" charset="-122"/>
                <a:cs typeface="Instrument Serif" pitchFamily="34" charset="-120"/>
              </a:rPr>
              <a:t>Box-plot per numeric column.</a:t>
            </a:r>
            <a:endParaRPr lang="en-US" sz="1950" dirty="0"/>
          </a:p>
        </p:txBody>
      </p:sp>
      <p:sp>
        <p:nvSpPr>
          <p:cNvPr id="32" name="Text 30"/>
          <p:cNvSpPr/>
          <p:nvPr/>
        </p:nvSpPr>
        <p:spPr>
          <a:xfrm>
            <a:off x="10506075" y="2597497"/>
            <a:ext cx="6985254" cy="497384"/>
          </a:xfrm>
          <a:prstGeom prst="rect">
            <a:avLst/>
          </a:prstGeom>
          <a:noFill/>
          <a:ln/>
        </p:spPr>
        <p:txBody>
          <a:bodyPr wrap="square" lIns="25400" tIns="25400" rIns="25400" bIns="25400" rtlCol="0" anchor="t">
            <a:noAutofit/>
          </a:bodyPr>
          <a:lstStyle/>
          <a:p>
            <a:pPr marL="0" indent="0" algn="l">
              <a:lnSpc>
                <a:spcPct val="150000"/>
              </a:lnSpc>
              <a:buNone/>
            </a:pPr>
            <a:r>
              <a:rPr lang="en-US" sz="1600" dirty="0">
                <a:solidFill>
                  <a:srgbClr val="4A4A4A"/>
                </a:solidFill>
                <a:latin typeface="Inter" pitchFamily="34" charset="0"/>
                <a:ea typeface="Inter" pitchFamily="34" charset="-122"/>
                <a:cs typeface="Inter" pitchFamily="34" charset="-120"/>
              </a:rPr>
              <a:t>For each numeric column we compute </a:t>
            </a:r>
            <a:r>
              <a:rPr lang="en-US" sz="1600" dirty="0">
                <a:solidFill>
                  <a:srgbClr val="1A1A1A"/>
                </a:solidFill>
                <a:highlight>
                  <a:srgbClr val="EBE5D6"/>
                </a:highlight>
                <a:latin typeface="JetBrains Mono" pitchFamily="34" charset="0"/>
                <a:ea typeface="JetBrains Mono" pitchFamily="34" charset="-122"/>
                <a:cs typeface="JetBrains Mono" pitchFamily="34" charset="-120"/>
              </a:rPr>
              <a:t>Q1</a:t>
            </a:r>
            <a:r>
              <a:rPr lang="en-US" sz="1600" dirty="0">
                <a:solidFill>
                  <a:srgbClr val="4A4A4A"/>
                </a:solidFill>
                <a:latin typeface="Inter" pitchFamily="34" charset="0"/>
                <a:ea typeface="Inter" pitchFamily="34" charset="-122"/>
                <a:cs typeface="Inter" pitchFamily="34" charset="-120"/>
              </a:rPr>
              <a:t>, </a:t>
            </a:r>
            <a:r>
              <a:rPr lang="en-US" sz="1600" dirty="0">
                <a:solidFill>
                  <a:srgbClr val="1A1A1A"/>
                </a:solidFill>
                <a:highlight>
                  <a:srgbClr val="EBE5D6"/>
                </a:highlight>
                <a:latin typeface="JetBrains Mono" pitchFamily="34" charset="0"/>
                <a:ea typeface="JetBrains Mono" pitchFamily="34" charset="-122"/>
                <a:cs typeface="JetBrains Mono" pitchFamily="34" charset="-120"/>
              </a:rPr>
              <a:t>Q3</a:t>
            </a:r>
            <a:r>
              <a:rPr lang="en-US" sz="1600" dirty="0">
                <a:solidFill>
                  <a:srgbClr val="4A4A4A"/>
                </a:solidFill>
                <a:latin typeface="Inter" pitchFamily="34" charset="0"/>
                <a:ea typeface="Inter" pitchFamily="34" charset="-122"/>
                <a:cs typeface="Inter" pitchFamily="34" charset="-120"/>
              </a:rPr>
              <a:t>, </a:t>
            </a:r>
            <a:r>
              <a:rPr lang="en-US" sz="1600" dirty="0">
                <a:solidFill>
                  <a:srgbClr val="1A1A1A"/>
                </a:solidFill>
                <a:highlight>
                  <a:srgbClr val="EBE5D6"/>
                </a:highlight>
                <a:latin typeface="JetBrains Mono" pitchFamily="34" charset="0"/>
                <a:ea typeface="JetBrains Mono" pitchFamily="34" charset="-122"/>
                <a:cs typeface="JetBrains Mono" pitchFamily="34" charset="-120"/>
              </a:rPr>
              <a:t>IQR = Q3 − Q1</a:t>
            </a:r>
            <a:r>
              <a:rPr lang="en-US" sz="1600" dirty="0">
                <a:solidFill>
                  <a:srgbClr val="4A4A4A"/>
                </a:solidFill>
                <a:latin typeface="Inter" pitchFamily="34" charset="0"/>
                <a:ea typeface="Inter" pitchFamily="34" charset="-122"/>
                <a:cs typeface="Inter" pitchFamily="34" charset="-120"/>
              </a:rPr>
              <a:t>, then bounds at </a:t>
            </a:r>
            <a:r>
              <a:rPr lang="en-US" sz="1600" dirty="0">
                <a:solidFill>
                  <a:srgbClr val="1A1A1A"/>
                </a:solidFill>
                <a:highlight>
                  <a:srgbClr val="EBE5D6"/>
                </a:highlight>
                <a:latin typeface="JetBrains Mono" pitchFamily="34" charset="0"/>
                <a:ea typeface="JetBrains Mono" pitchFamily="34" charset="-122"/>
                <a:cs typeface="JetBrains Mono" pitchFamily="34" charset="-120"/>
              </a:rPr>
              <a:t>Q1 − 1.5·IQR </a:t>
            </a:r>
            <a:r>
              <a:rPr lang="en-US" sz="1600" dirty="0">
                <a:solidFill>
                  <a:srgbClr val="4A4A4A"/>
                </a:solidFill>
                <a:latin typeface="Inter" pitchFamily="34" charset="0"/>
                <a:ea typeface="Inter" pitchFamily="34" charset="-122"/>
                <a:cs typeface="Inter" pitchFamily="34" charset="-120"/>
              </a:rPr>
              <a:t>and </a:t>
            </a:r>
            <a:r>
              <a:rPr lang="en-US" sz="1600" dirty="0">
                <a:solidFill>
                  <a:srgbClr val="1A1A1A"/>
                </a:solidFill>
                <a:highlight>
                  <a:srgbClr val="EBE5D6"/>
                </a:highlight>
                <a:latin typeface="JetBrains Mono" pitchFamily="34" charset="0"/>
                <a:ea typeface="JetBrains Mono" pitchFamily="34" charset="-122"/>
                <a:cs typeface="JetBrains Mono" pitchFamily="34" charset="-120"/>
              </a:rPr>
              <a:t>Q3 + 1.5·IQR</a:t>
            </a:r>
            <a:r>
              <a:rPr lang="en-US" sz="1600" dirty="0">
                <a:solidFill>
                  <a:srgbClr val="4A4A4A"/>
                </a:solidFill>
                <a:latin typeface="Inter" pitchFamily="34" charset="0"/>
                <a:ea typeface="Inter" pitchFamily="34" charset="-122"/>
                <a:cs typeface="Inter" pitchFamily="34" charset="-120"/>
              </a:rPr>
              <a:t>.</a:t>
            </a:r>
            <a:endParaRPr lang="en-US" sz="1600" dirty="0"/>
          </a:p>
        </p:txBody>
      </p:sp>
      <p:sp>
        <p:nvSpPr>
          <p:cNvPr id="33" name="Shape 31"/>
          <p:cNvSpPr/>
          <p:nvPr/>
        </p:nvSpPr>
        <p:spPr>
          <a:xfrm>
            <a:off x="10506075" y="3975205"/>
            <a:ext cx="6781800" cy="9525"/>
          </a:xfrm>
          <a:prstGeom prst="rect">
            <a:avLst/>
          </a:prstGeom>
          <a:solidFill>
            <a:srgbClr val="D4CDBC"/>
          </a:solidFill>
          <a:ln/>
        </p:spPr>
        <p:txBody>
          <a:bodyPr/>
          <a:lstStyle/>
          <a:p>
            <a:endParaRPr lang="he-IL"/>
          </a:p>
        </p:txBody>
      </p:sp>
      <p:sp>
        <p:nvSpPr>
          <p:cNvPr id="34" name="Shape 32"/>
          <p:cNvSpPr/>
          <p:nvPr/>
        </p:nvSpPr>
        <p:spPr>
          <a:xfrm>
            <a:off x="10506075" y="4388469"/>
            <a:ext cx="4186238" cy="9525"/>
          </a:xfrm>
          <a:prstGeom prst="rect">
            <a:avLst/>
          </a:prstGeom>
          <a:solidFill>
            <a:srgbClr val="1A1A1A"/>
          </a:solidFill>
          <a:ln/>
        </p:spPr>
        <p:txBody>
          <a:bodyPr/>
          <a:lstStyle/>
          <a:p>
            <a:endParaRPr lang="he-IL"/>
          </a:p>
        </p:txBody>
      </p:sp>
      <p:sp>
        <p:nvSpPr>
          <p:cNvPr id="35" name="Text 33"/>
          <p:cNvSpPr/>
          <p:nvPr/>
        </p:nvSpPr>
        <p:spPr>
          <a:xfrm>
            <a:off x="10582276" y="3943123"/>
            <a:ext cx="2412508" cy="388196"/>
          </a:xfrm>
          <a:prstGeom prst="rect">
            <a:avLst/>
          </a:prstGeom>
          <a:noFill/>
          <a:ln/>
        </p:spPr>
        <p:txBody>
          <a:bodyPr wrap="square" lIns="25400" tIns="25400" rIns="25400" bIns="25400" rtlCol="0" anchor="ctr">
            <a:normAutofit/>
          </a:bodyPr>
          <a:lstStyle/>
          <a:p>
            <a:pPr marL="0" indent="0" algn="l">
              <a:buNone/>
            </a:pPr>
            <a:r>
              <a:rPr lang="en-US" sz="1600" kern="0" spc="120" dirty="0">
                <a:solidFill>
                  <a:srgbClr val="888080"/>
                </a:solidFill>
                <a:latin typeface="JetBrains Mono" pitchFamily="34" charset="0"/>
                <a:ea typeface="JetBrains Mono" pitchFamily="34" charset="-122"/>
                <a:cs typeface="JetBrains Mono" pitchFamily="34" charset="-120"/>
              </a:rPr>
              <a:t>COLUMN</a:t>
            </a:r>
            <a:endParaRPr lang="en-US" sz="1600" dirty="0"/>
          </a:p>
        </p:txBody>
      </p:sp>
      <p:sp>
        <p:nvSpPr>
          <p:cNvPr id="36" name="Shape 34"/>
          <p:cNvSpPr/>
          <p:nvPr/>
        </p:nvSpPr>
        <p:spPr>
          <a:xfrm>
            <a:off x="14692312" y="4388469"/>
            <a:ext cx="1607493" cy="9525"/>
          </a:xfrm>
          <a:prstGeom prst="rect">
            <a:avLst/>
          </a:prstGeom>
          <a:solidFill>
            <a:srgbClr val="1A1A1A"/>
          </a:solidFill>
          <a:ln/>
        </p:spPr>
        <p:txBody>
          <a:bodyPr/>
          <a:lstStyle/>
          <a:p>
            <a:endParaRPr lang="he-IL"/>
          </a:p>
        </p:txBody>
      </p:sp>
      <p:sp>
        <p:nvSpPr>
          <p:cNvPr id="37" name="Text 35"/>
          <p:cNvSpPr/>
          <p:nvPr/>
        </p:nvSpPr>
        <p:spPr>
          <a:xfrm>
            <a:off x="14692312" y="3955235"/>
            <a:ext cx="1531293" cy="388196"/>
          </a:xfrm>
          <a:prstGeom prst="rect">
            <a:avLst/>
          </a:prstGeom>
          <a:noFill/>
          <a:ln/>
        </p:spPr>
        <p:txBody>
          <a:bodyPr wrap="square" lIns="25400" tIns="25400" rIns="25400" bIns="25400" rtlCol="0" anchor="ctr">
            <a:normAutofit/>
          </a:bodyPr>
          <a:lstStyle/>
          <a:p>
            <a:pPr marL="0" indent="0" algn="l">
              <a:buNone/>
            </a:pPr>
            <a:r>
              <a:rPr lang="en-US" sz="1600" kern="0" spc="120" dirty="0">
                <a:solidFill>
                  <a:srgbClr val="888080"/>
                </a:solidFill>
                <a:latin typeface="JetBrains Mono" pitchFamily="34" charset="0"/>
                <a:ea typeface="JetBrains Mono" pitchFamily="34" charset="-122"/>
                <a:cs typeface="JetBrains Mono" pitchFamily="34" charset="-120"/>
              </a:rPr>
              <a:t>OUTLIERS</a:t>
            </a:r>
            <a:endParaRPr lang="en-US" sz="1600" dirty="0"/>
          </a:p>
        </p:txBody>
      </p:sp>
      <p:sp>
        <p:nvSpPr>
          <p:cNvPr id="38" name="Shape 36"/>
          <p:cNvSpPr/>
          <p:nvPr/>
        </p:nvSpPr>
        <p:spPr>
          <a:xfrm>
            <a:off x="16299805" y="4388469"/>
            <a:ext cx="988070" cy="9525"/>
          </a:xfrm>
          <a:prstGeom prst="rect">
            <a:avLst/>
          </a:prstGeom>
          <a:solidFill>
            <a:srgbClr val="1A1A1A"/>
          </a:solidFill>
          <a:ln/>
        </p:spPr>
        <p:txBody>
          <a:bodyPr/>
          <a:lstStyle/>
          <a:p>
            <a:endParaRPr lang="he-IL"/>
          </a:p>
        </p:txBody>
      </p:sp>
      <p:sp>
        <p:nvSpPr>
          <p:cNvPr id="39" name="Text 37"/>
          <p:cNvSpPr/>
          <p:nvPr/>
        </p:nvSpPr>
        <p:spPr>
          <a:xfrm>
            <a:off x="16299805" y="4057423"/>
            <a:ext cx="911870" cy="273896"/>
          </a:xfrm>
          <a:prstGeom prst="rect">
            <a:avLst/>
          </a:prstGeom>
          <a:noFill/>
          <a:ln/>
        </p:spPr>
        <p:txBody>
          <a:bodyPr wrap="square" lIns="25400" tIns="25400" rIns="25400" bIns="25400" rtlCol="0" anchor="ctr">
            <a:noAutofit/>
          </a:bodyPr>
          <a:lstStyle/>
          <a:p>
            <a:pPr marL="0" indent="0" algn="r">
              <a:buNone/>
            </a:pPr>
            <a:r>
              <a:rPr lang="en-US" sz="1600" kern="0" spc="120" dirty="0">
                <a:solidFill>
                  <a:srgbClr val="888080"/>
                </a:solidFill>
                <a:latin typeface="JetBrains Mono" pitchFamily="34" charset="0"/>
                <a:ea typeface="JetBrains Mono" pitchFamily="34" charset="-122"/>
                <a:cs typeface="JetBrains Mono" pitchFamily="34" charset="-120"/>
              </a:rPr>
              <a:t>%</a:t>
            </a:r>
            <a:endParaRPr lang="en-US" sz="1600" dirty="0"/>
          </a:p>
        </p:txBody>
      </p:sp>
      <p:sp>
        <p:nvSpPr>
          <p:cNvPr id="40" name="Shape 38"/>
          <p:cNvSpPr/>
          <p:nvPr/>
        </p:nvSpPr>
        <p:spPr>
          <a:xfrm>
            <a:off x="10506075" y="4778994"/>
            <a:ext cx="4186238" cy="9525"/>
          </a:xfrm>
          <a:prstGeom prst="rect">
            <a:avLst/>
          </a:prstGeom>
          <a:solidFill>
            <a:srgbClr val="E6DFCF"/>
          </a:solidFill>
          <a:ln/>
        </p:spPr>
        <p:txBody>
          <a:bodyPr/>
          <a:lstStyle/>
          <a:p>
            <a:endParaRPr lang="he-IL"/>
          </a:p>
        </p:txBody>
      </p:sp>
      <p:sp>
        <p:nvSpPr>
          <p:cNvPr id="42" name="Text 40"/>
          <p:cNvSpPr/>
          <p:nvPr/>
        </p:nvSpPr>
        <p:spPr>
          <a:xfrm>
            <a:off x="10648949" y="4430077"/>
            <a:ext cx="2551895" cy="287006"/>
          </a:xfrm>
          <a:prstGeom prst="rect">
            <a:avLst/>
          </a:prstGeom>
          <a:noFill/>
          <a:ln/>
        </p:spPr>
        <p:txBody>
          <a:bodyPr wrap="square" lIns="25400" tIns="25400" rIns="25400" bIns="25400" rtlCol="0" anchor="t">
            <a:noAutofit/>
          </a:bodyPr>
          <a:lstStyle/>
          <a:p>
            <a:pPr marL="0" indent="0" algn="l">
              <a:buNone/>
            </a:pPr>
            <a:r>
              <a:rPr lang="en-US" sz="1600" dirty="0">
                <a:solidFill>
                  <a:srgbClr val="1A1A1A"/>
                </a:solidFill>
                <a:latin typeface="JetBrains Mono" pitchFamily="34" charset="0"/>
                <a:ea typeface="JetBrains Mono" pitchFamily="34" charset="-122"/>
                <a:cs typeface="JetBrains Mono" pitchFamily="34" charset="-120"/>
              </a:rPr>
              <a:t>duration_difference_min</a:t>
            </a:r>
            <a:endParaRPr lang="en-US" sz="1600" dirty="0"/>
          </a:p>
        </p:txBody>
      </p:sp>
      <p:sp>
        <p:nvSpPr>
          <p:cNvPr id="43" name="Shape 41"/>
          <p:cNvSpPr/>
          <p:nvPr/>
        </p:nvSpPr>
        <p:spPr>
          <a:xfrm>
            <a:off x="14692312" y="4778994"/>
            <a:ext cx="1607493" cy="9525"/>
          </a:xfrm>
          <a:prstGeom prst="rect">
            <a:avLst/>
          </a:prstGeom>
          <a:solidFill>
            <a:srgbClr val="E6DFCF"/>
          </a:solidFill>
          <a:ln/>
        </p:spPr>
        <p:txBody>
          <a:bodyPr/>
          <a:lstStyle/>
          <a:p>
            <a:endParaRPr lang="he-IL"/>
          </a:p>
        </p:txBody>
      </p:sp>
      <p:sp>
        <p:nvSpPr>
          <p:cNvPr id="44" name="Text 42"/>
          <p:cNvSpPr/>
          <p:nvPr/>
        </p:nvSpPr>
        <p:spPr>
          <a:xfrm>
            <a:off x="14768513" y="4452280"/>
            <a:ext cx="700088" cy="287005"/>
          </a:xfrm>
          <a:prstGeom prst="rect">
            <a:avLst/>
          </a:prstGeom>
          <a:noFill/>
          <a:ln/>
        </p:spPr>
        <p:txBody>
          <a:bodyPr wrap="square" lIns="25400" tIns="25400" rIns="25400" bIns="25400" rtlCol="0" anchor="ctr">
            <a:normAutofit lnSpcReduction="10000"/>
          </a:bodyPr>
          <a:lstStyle/>
          <a:p>
            <a:pPr marL="0" indent="0" algn="l">
              <a:buNone/>
            </a:pPr>
            <a:r>
              <a:rPr lang="en-US" sz="1600" dirty="0">
                <a:solidFill>
                  <a:srgbClr val="1A1A1A"/>
                </a:solidFill>
                <a:latin typeface="JetBrains Mono" pitchFamily="34" charset="0"/>
                <a:ea typeface="JetBrains Mono" pitchFamily="34" charset="-122"/>
                <a:cs typeface="JetBrains Mono" pitchFamily="34" charset="-120"/>
              </a:rPr>
              <a:t>3,142</a:t>
            </a:r>
            <a:endParaRPr lang="en-US" sz="1600" dirty="0"/>
          </a:p>
        </p:txBody>
      </p:sp>
      <p:sp>
        <p:nvSpPr>
          <p:cNvPr id="45" name="Shape 43"/>
          <p:cNvSpPr/>
          <p:nvPr/>
        </p:nvSpPr>
        <p:spPr>
          <a:xfrm>
            <a:off x="16299805" y="4778994"/>
            <a:ext cx="988070" cy="9525"/>
          </a:xfrm>
          <a:prstGeom prst="rect">
            <a:avLst/>
          </a:prstGeom>
          <a:solidFill>
            <a:srgbClr val="E6DFCF"/>
          </a:solidFill>
          <a:ln/>
        </p:spPr>
        <p:txBody>
          <a:bodyPr/>
          <a:lstStyle/>
          <a:p>
            <a:endParaRPr lang="he-IL"/>
          </a:p>
        </p:txBody>
      </p:sp>
      <p:sp>
        <p:nvSpPr>
          <p:cNvPr id="47" name="Shape 45"/>
          <p:cNvSpPr/>
          <p:nvPr/>
        </p:nvSpPr>
        <p:spPr>
          <a:xfrm>
            <a:off x="10506075" y="5169519"/>
            <a:ext cx="4186238" cy="9525"/>
          </a:xfrm>
          <a:prstGeom prst="rect">
            <a:avLst/>
          </a:prstGeom>
          <a:solidFill>
            <a:srgbClr val="E6DFCF"/>
          </a:solidFill>
          <a:ln/>
        </p:spPr>
        <p:txBody>
          <a:bodyPr/>
          <a:lstStyle/>
          <a:p>
            <a:endParaRPr lang="he-IL"/>
          </a:p>
        </p:txBody>
      </p:sp>
      <p:sp>
        <p:nvSpPr>
          <p:cNvPr id="49" name="Text 47"/>
          <p:cNvSpPr/>
          <p:nvPr/>
        </p:nvSpPr>
        <p:spPr>
          <a:xfrm>
            <a:off x="10648950" y="4855914"/>
            <a:ext cx="2345834" cy="47099"/>
          </a:xfrm>
          <a:prstGeom prst="rect">
            <a:avLst/>
          </a:prstGeom>
          <a:noFill/>
          <a:ln/>
        </p:spPr>
        <p:txBody>
          <a:bodyPr wrap="square" lIns="25400" tIns="25400" rIns="25400" bIns="25400" rtlCol="0" anchor="t">
            <a:noAutofit/>
          </a:bodyPr>
          <a:lstStyle/>
          <a:p>
            <a:pPr marL="0" indent="0" algn="l">
              <a:buNone/>
            </a:pPr>
            <a:r>
              <a:rPr lang="en-US" sz="1600" dirty="0">
                <a:solidFill>
                  <a:srgbClr val="1A1A1A"/>
                </a:solidFill>
                <a:latin typeface="JetBrains Mono" pitchFamily="34" charset="0"/>
                <a:ea typeface="JetBrains Mono" pitchFamily="34" charset="-122"/>
                <a:cs typeface="JetBrains Mono" pitchFamily="34" charset="-120"/>
              </a:rPr>
              <a:t>speed_kmh_actual</a:t>
            </a:r>
            <a:endParaRPr lang="en-US" sz="1600" dirty="0"/>
          </a:p>
        </p:txBody>
      </p:sp>
      <p:sp>
        <p:nvSpPr>
          <p:cNvPr id="50" name="Shape 48"/>
          <p:cNvSpPr/>
          <p:nvPr/>
        </p:nvSpPr>
        <p:spPr>
          <a:xfrm>
            <a:off x="14692312" y="5169519"/>
            <a:ext cx="1607493" cy="9525"/>
          </a:xfrm>
          <a:prstGeom prst="rect">
            <a:avLst/>
          </a:prstGeom>
          <a:solidFill>
            <a:srgbClr val="E6DFCF"/>
          </a:solidFill>
          <a:ln/>
        </p:spPr>
        <p:txBody>
          <a:bodyPr/>
          <a:lstStyle/>
          <a:p>
            <a:endParaRPr lang="he-IL"/>
          </a:p>
        </p:txBody>
      </p:sp>
      <p:sp>
        <p:nvSpPr>
          <p:cNvPr id="51" name="Text 49"/>
          <p:cNvSpPr/>
          <p:nvPr/>
        </p:nvSpPr>
        <p:spPr>
          <a:xfrm>
            <a:off x="14768512" y="4805960"/>
            <a:ext cx="700087" cy="337540"/>
          </a:xfrm>
          <a:prstGeom prst="rect">
            <a:avLst/>
          </a:prstGeom>
          <a:noFill/>
          <a:ln/>
        </p:spPr>
        <p:txBody>
          <a:bodyPr wrap="square" lIns="25400" tIns="25400" rIns="25400" bIns="25400" rtlCol="0" anchor="ctr">
            <a:normAutofit/>
          </a:bodyPr>
          <a:lstStyle/>
          <a:p>
            <a:pPr marL="0" indent="0" algn="l">
              <a:buNone/>
            </a:pPr>
            <a:r>
              <a:rPr lang="en-US" sz="1600" dirty="0">
                <a:solidFill>
                  <a:srgbClr val="1A1A1A"/>
                </a:solidFill>
                <a:latin typeface="JetBrains Mono" pitchFamily="34" charset="0"/>
                <a:ea typeface="JetBrains Mono" pitchFamily="34" charset="-122"/>
                <a:cs typeface="JetBrains Mono" pitchFamily="34" charset="-120"/>
              </a:rPr>
              <a:t>1,876</a:t>
            </a:r>
            <a:endParaRPr lang="en-US" sz="1600" dirty="0"/>
          </a:p>
        </p:txBody>
      </p:sp>
      <p:sp>
        <p:nvSpPr>
          <p:cNvPr id="52" name="Shape 50"/>
          <p:cNvSpPr/>
          <p:nvPr/>
        </p:nvSpPr>
        <p:spPr>
          <a:xfrm>
            <a:off x="16299805" y="5169519"/>
            <a:ext cx="988070" cy="9525"/>
          </a:xfrm>
          <a:prstGeom prst="rect">
            <a:avLst/>
          </a:prstGeom>
          <a:solidFill>
            <a:srgbClr val="E6DFCF"/>
          </a:solidFill>
          <a:ln/>
        </p:spPr>
        <p:txBody>
          <a:bodyPr/>
          <a:lstStyle/>
          <a:p>
            <a:endParaRPr lang="he-IL"/>
          </a:p>
        </p:txBody>
      </p:sp>
      <p:sp>
        <p:nvSpPr>
          <p:cNvPr id="54" name="Shape 52"/>
          <p:cNvSpPr/>
          <p:nvPr/>
        </p:nvSpPr>
        <p:spPr>
          <a:xfrm>
            <a:off x="10506075" y="5560044"/>
            <a:ext cx="4186238" cy="9525"/>
          </a:xfrm>
          <a:prstGeom prst="rect">
            <a:avLst/>
          </a:prstGeom>
          <a:solidFill>
            <a:srgbClr val="E6DFCF"/>
          </a:solidFill>
          <a:ln/>
        </p:spPr>
        <p:txBody>
          <a:bodyPr/>
          <a:lstStyle/>
          <a:p>
            <a:endParaRPr lang="he-IL"/>
          </a:p>
        </p:txBody>
      </p:sp>
      <p:sp>
        <p:nvSpPr>
          <p:cNvPr id="56" name="Text 54"/>
          <p:cNvSpPr/>
          <p:nvPr/>
        </p:nvSpPr>
        <p:spPr>
          <a:xfrm>
            <a:off x="10648949" y="5249804"/>
            <a:ext cx="2667805" cy="238636"/>
          </a:xfrm>
          <a:prstGeom prst="rect">
            <a:avLst/>
          </a:prstGeom>
          <a:noFill/>
          <a:ln/>
        </p:spPr>
        <p:txBody>
          <a:bodyPr wrap="square" lIns="25400" tIns="25400" rIns="25400" bIns="25400" rtlCol="0" anchor="t">
            <a:noAutofit/>
          </a:bodyPr>
          <a:lstStyle/>
          <a:p>
            <a:pPr marL="0" indent="0" algn="l">
              <a:buNone/>
            </a:pPr>
            <a:r>
              <a:rPr lang="en-US" sz="1600" dirty="0">
                <a:solidFill>
                  <a:srgbClr val="1A1A1A"/>
                </a:solidFill>
                <a:latin typeface="JetBrains Mono" pitchFamily="34" charset="0"/>
                <a:ea typeface="JetBrains Mono" pitchFamily="34" charset="-122"/>
                <a:cs typeface="JetBrains Mono" pitchFamily="34" charset="-120"/>
              </a:rPr>
              <a:t>Avg_Passengers_Per_Bus</a:t>
            </a:r>
            <a:endParaRPr lang="en-US" sz="1600" dirty="0"/>
          </a:p>
        </p:txBody>
      </p:sp>
      <p:sp>
        <p:nvSpPr>
          <p:cNvPr id="57" name="Shape 55"/>
          <p:cNvSpPr/>
          <p:nvPr/>
        </p:nvSpPr>
        <p:spPr>
          <a:xfrm>
            <a:off x="14692312" y="5560044"/>
            <a:ext cx="1607493" cy="9525"/>
          </a:xfrm>
          <a:prstGeom prst="rect">
            <a:avLst/>
          </a:prstGeom>
          <a:solidFill>
            <a:srgbClr val="E6DFCF"/>
          </a:solidFill>
          <a:ln/>
        </p:spPr>
        <p:txBody>
          <a:bodyPr/>
          <a:lstStyle/>
          <a:p>
            <a:endParaRPr lang="he-IL"/>
          </a:p>
        </p:txBody>
      </p:sp>
      <p:sp>
        <p:nvSpPr>
          <p:cNvPr id="59" name="Shape 57"/>
          <p:cNvSpPr/>
          <p:nvPr/>
        </p:nvSpPr>
        <p:spPr>
          <a:xfrm>
            <a:off x="16299805" y="5560044"/>
            <a:ext cx="988070" cy="9525"/>
          </a:xfrm>
          <a:prstGeom prst="rect">
            <a:avLst/>
          </a:prstGeom>
          <a:solidFill>
            <a:srgbClr val="E6DFCF"/>
          </a:solidFill>
          <a:ln/>
        </p:spPr>
        <p:txBody>
          <a:bodyPr/>
          <a:lstStyle/>
          <a:p>
            <a:endParaRPr lang="he-IL"/>
          </a:p>
        </p:txBody>
      </p:sp>
      <p:sp>
        <p:nvSpPr>
          <p:cNvPr id="61" name="Shape 59"/>
          <p:cNvSpPr/>
          <p:nvPr/>
        </p:nvSpPr>
        <p:spPr>
          <a:xfrm>
            <a:off x="10506075" y="5950569"/>
            <a:ext cx="4186238" cy="9525"/>
          </a:xfrm>
          <a:prstGeom prst="rect">
            <a:avLst/>
          </a:prstGeom>
          <a:solidFill>
            <a:srgbClr val="E6DFCF"/>
          </a:solidFill>
          <a:ln/>
        </p:spPr>
        <p:txBody>
          <a:bodyPr/>
          <a:lstStyle/>
          <a:p>
            <a:endParaRPr lang="he-IL"/>
          </a:p>
        </p:txBody>
      </p:sp>
      <p:sp>
        <p:nvSpPr>
          <p:cNvPr id="63" name="Text 61"/>
          <p:cNvSpPr/>
          <p:nvPr/>
        </p:nvSpPr>
        <p:spPr>
          <a:xfrm>
            <a:off x="10648950" y="5631480"/>
            <a:ext cx="1122340" cy="257177"/>
          </a:xfrm>
          <a:prstGeom prst="rect">
            <a:avLst/>
          </a:prstGeom>
          <a:noFill/>
          <a:ln/>
        </p:spPr>
        <p:txBody>
          <a:bodyPr wrap="square" lIns="25400" tIns="25400" rIns="25400" bIns="25400" rtlCol="0" anchor="t">
            <a:noAutofit/>
          </a:bodyPr>
          <a:lstStyle/>
          <a:p>
            <a:pPr marL="0" indent="0" algn="l">
              <a:buNone/>
            </a:pPr>
            <a:r>
              <a:rPr lang="en-US" sz="1600" dirty="0">
                <a:solidFill>
                  <a:srgbClr val="1A1A1A"/>
                </a:solidFill>
                <a:latin typeface="JetBrains Mono" pitchFamily="34" charset="0"/>
                <a:ea typeface="JetBrains Mono" pitchFamily="34" charset="-122"/>
                <a:cs typeface="JetBrains Mono" pitchFamily="34" charset="-120"/>
              </a:rPr>
              <a:t>curvity</a:t>
            </a:r>
            <a:endParaRPr lang="en-US" sz="1600" dirty="0"/>
          </a:p>
        </p:txBody>
      </p:sp>
      <p:sp>
        <p:nvSpPr>
          <p:cNvPr id="64" name="Shape 62"/>
          <p:cNvSpPr/>
          <p:nvPr/>
        </p:nvSpPr>
        <p:spPr>
          <a:xfrm>
            <a:off x="14692312" y="5950569"/>
            <a:ext cx="1607493" cy="9525"/>
          </a:xfrm>
          <a:prstGeom prst="rect">
            <a:avLst/>
          </a:prstGeom>
          <a:solidFill>
            <a:srgbClr val="E6DFCF"/>
          </a:solidFill>
          <a:ln/>
        </p:spPr>
        <p:txBody>
          <a:bodyPr/>
          <a:lstStyle/>
          <a:p>
            <a:endParaRPr lang="he-IL"/>
          </a:p>
        </p:txBody>
      </p:sp>
      <p:sp>
        <p:nvSpPr>
          <p:cNvPr id="66" name="Shape 64"/>
          <p:cNvSpPr/>
          <p:nvPr/>
        </p:nvSpPr>
        <p:spPr>
          <a:xfrm>
            <a:off x="16299805" y="5950569"/>
            <a:ext cx="988070" cy="9525"/>
          </a:xfrm>
          <a:prstGeom prst="rect">
            <a:avLst/>
          </a:prstGeom>
          <a:solidFill>
            <a:srgbClr val="E6DFCF"/>
          </a:solidFill>
          <a:ln/>
        </p:spPr>
        <p:txBody>
          <a:bodyPr/>
          <a:lstStyle/>
          <a:p>
            <a:endParaRPr lang="he-IL"/>
          </a:p>
        </p:txBody>
      </p:sp>
      <p:sp>
        <p:nvSpPr>
          <p:cNvPr id="69" name="Text 16">
            <a:extLst>
              <a:ext uri="{FF2B5EF4-FFF2-40B4-BE49-F238E27FC236}">
                <a16:creationId xmlns:a16="http://schemas.microsoft.com/office/drawing/2014/main" id="{50DA7C46-BD57-2997-6946-0A92D338300A}"/>
              </a:ext>
            </a:extLst>
          </p:cNvPr>
          <p:cNvSpPr/>
          <p:nvPr/>
        </p:nvSpPr>
        <p:spPr>
          <a:xfrm>
            <a:off x="266700" y="9410700"/>
            <a:ext cx="1628775" cy="342900"/>
          </a:xfrm>
          <a:prstGeom prst="rect">
            <a:avLst/>
          </a:prstGeom>
          <a:noFill/>
          <a:ln/>
        </p:spPr>
        <p:txBody>
          <a:bodyPr wrap="square" lIns="25400" tIns="25400" rIns="25400" bIns="25400" rtlCol="0" anchor="t">
            <a:noAutofit/>
          </a:bodyPr>
          <a:lstStyle/>
          <a:p>
            <a:pPr>
              <a:lnSpc>
                <a:spcPct val="160000"/>
              </a:lnSpc>
            </a:pPr>
            <a:r>
              <a:rPr lang="en-US" sz="1400" b="1" kern="0" spc="105" dirty="0">
                <a:solidFill>
                  <a:srgbClr val="1A1A1A"/>
                </a:solidFill>
                <a:latin typeface="JetBrains Mono" pitchFamily="34" charset="0"/>
                <a:ea typeface="JetBrains Mono" pitchFamily="34" charset="-122"/>
                <a:cs typeface="JetBrains Mono" pitchFamily="34" charset="-120"/>
              </a:rPr>
              <a:t>19 / 34</a:t>
            </a:r>
            <a:endParaRPr lang="en-US" sz="1400" dirty="0"/>
          </a:p>
        </p:txBody>
      </p:sp>
      <p:sp>
        <p:nvSpPr>
          <p:cNvPr id="70" name="Text 4">
            <a:extLst>
              <a:ext uri="{FF2B5EF4-FFF2-40B4-BE49-F238E27FC236}">
                <a16:creationId xmlns:a16="http://schemas.microsoft.com/office/drawing/2014/main" id="{777352AE-C6AF-AEFD-E8AC-3574101C61E4}"/>
              </a:ext>
            </a:extLst>
          </p:cNvPr>
          <p:cNvSpPr/>
          <p:nvPr/>
        </p:nvSpPr>
        <p:spPr>
          <a:xfrm>
            <a:off x="228063" y="1524367"/>
            <a:ext cx="372012" cy="200025"/>
          </a:xfrm>
          <a:prstGeom prst="rect">
            <a:avLst/>
          </a:prstGeom>
          <a:noFill/>
          <a:ln/>
        </p:spPr>
        <p:txBody>
          <a:bodyPr wrap="square" lIns="25400" tIns="25400" rIns="25400" bIns="25400" rtlCol="0" anchor="t">
            <a:noAutofit/>
          </a:bodyPr>
          <a:lstStyle/>
          <a:p>
            <a:pPr marL="0" indent="0" algn="l">
              <a:lnSpc>
                <a:spcPct val="130000"/>
              </a:lnSpc>
              <a:buNone/>
            </a:pPr>
            <a:r>
              <a:rPr lang="en-US" sz="1400" kern="0" spc="21" dirty="0">
                <a:solidFill>
                  <a:srgbClr val="888080"/>
                </a:solidFill>
                <a:latin typeface="Inter" pitchFamily="34" charset="0"/>
                <a:ea typeface="Inter" pitchFamily="34" charset="-122"/>
              </a:rPr>
              <a:t>01</a:t>
            </a:r>
          </a:p>
        </p:txBody>
      </p:sp>
      <p:sp>
        <p:nvSpPr>
          <p:cNvPr id="71" name="Text 5">
            <a:extLst>
              <a:ext uri="{FF2B5EF4-FFF2-40B4-BE49-F238E27FC236}">
                <a16:creationId xmlns:a16="http://schemas.microsoft.com/office/drawing/2014/main" id="{FF8DE93C-40AF-C711-BA7E-4D38B051F397}"/>
              </a:ext>
            </a:extLst>
          </p:cNvPr>
          <p:cNvSpPr/>
          <p:nvPr/>
        </p:nvSpPr>
        <p:spPr>
          <a:xfrm>
            <a:off x="523875" y="1522975"/>
            <a:ext cx="876300" cy="476251"/>
          </a:xfrm>
          <a:prstGeom prst="rect">
            <a:avLst/>
          </a:prstGeom>
          <a:noFill/>
          <a:ln/>
        </p:spPr>
        <p:txBody>
          <a:bodyPr wrap="square" lIns="25400" tIns="25400" rIns="25400" bIns="25400" rtlCol="0" anchor="t">
            <a:normAutofit/>
          </a:bodyPr>
          <a:lstStyle/>
          <a:p>
            <a:pPr marL="0" indent="0" algn="l">
              <a:lnSpc>
                <a:spcPct val="130000"/>
              </a:lnSpc>
              <a:buNone/>
            </a:pPr>
            <a:r>
              <a:rPr lang="en-US" sz="1400" kern="0" spc="21" dirty="0">
                <a:solidFill>
                  <a:srgbClr val="888080"/>
                </a:solidFill>
                <a:latin typeface="Inter" pitchFamily="34" charset="0"/>
                <a:ea typeface="Inter" pitchFamily="34" charset="-122"/>
              </a:rPr>
              <a:t>Agenda</a:t>
            </a:r>
          </a:p>
        </p:txBody>
      </p:sp>
      <p:sp>
        <p:nvSpPr>
          <p:cNvPr id="72" name="Text 6">
            <a:extLst>
              <a:ext uri="{FF2B5EF4-FFF2-40B4-BE49-F238E27FC236}">
                <a16:creationId xmlns:a16="http://schemas.microsoft.com/office/drawing/2014/main" id="{4E082914-43E1-BFB1-1815-6A153AA4C61F}"/>
              </a:ext>
            </a:extLst>
          </p:cNvPr>
          <p:cNvSpPr/>
          <p:nvPr/>
        </p:nvSpPr>
        <p:spPr>
          <a:xfrm>
            <a:off x="228063" y="1830953"/>
            <a:ext cx="372010" cy="194877"/>
          </a:xfrm>
          <a:prstGeom prst="rect">
            <a:avLst/>
          </a:prstGeom>
          <a:noFill/>
          <a:ln/>
        </p:spPr>
        <p:txBody>
          <a:bodyPr wrap="square" lIns="25400" tIns="25400" rIns="25400" bIns="25400" rtlCol="0" anchor="t">
            <a:noAutofit/>
          </a:bodyPr>
          <a:lstStyle/>
          <a:p>
            <a:pPr marL="0" indent="0" algn="l">
              <a:lnSpc>
                <a:spcPct val="130000"/>
              </a:lnSpc>
              <a:buNone/>
            </a:pPr>
            <a:r>
              <a:rPr lang="en-US" sz="1400" kern="0" spc="21" dirty="0">
                <a:solidFill>
                  <a:srgbClr val="888080"/>
                </a:solidFill>
                <a:latin typeface="Inter" pitchFamily="34" charset="0"/>
                <a:ea typeface="Inter" pitchFamily="34" charset="-122"/>
              </a:rPr>
              <a:t>02</a:t>
            </a:r>
          </a:p>
        </p:txBody>
      </p:sp>
      <p:sp>
        <p:nvSpPr>
          <p:cNvPr id="73" name="Text 8">
            <a:extLst>
              <a:ext uri="{FF2B5EF4-FFF2-40B4-BE49-F238E27FC236}">
                <a16:creationId xmlns:a16="http://schemas.microsoft.com/office/drawing/2014/main" id="{5DE323AF-CE1A-C7CE-BD10-9E4571128777}"/>
              </a:ext>
            </a:extLst>
          </p:cNvPr>
          <p:cNvSpPr/>
          <p:nvPr/>
        </p:nvSpPr>
        <p:spPr>
          <a:xfrm>
            <a:off x="230504" y="2152895"/>
            <a:ext cx="302895" cy="141422"/>
          </a:xfrm>
          <a:prstGeom prst="rect">
            <a:avLst/>
          </a:prstGeom>
          <a:noFill/>
          <a:ln/>
        </p:spPr>
        <p:txBody>
          <a:bodyPr wrap="square" lIns="25400" tIns="25400" rIns="25400" bIns="25400" rtlCol="0" anchor="t">
            <a:noAutofit/>
          </a:bodyPr>
          <a:lstStyle/>
          <a:p>
            <a:pPr marL="0" indent="0" algn="l">
              <a:lnSpc>
                <a:spcPct val="130000"/>
              </a:lnSpc>
              <a:buNone/>
            </a:pPr>
            <a:r>
              <a:rPr lang="en-US" sz="1400" kern="0" spc="21" dirty="0">
                <a:solidFill>
                  <a:srgbClr val="888080"/>
                </a:solidFill>
                <a:latin typeface="Inter" pitchFamily="34" charset="0"/>
                <a:ea typeface="Inter" pitchFamily="34" charset="-122"/>
              </a:rPr>
              <a:t>03</a:t>
            </a:r>
          </a:p>
        </p:txBody>
      </p:sp>
      <p:sp>
        <p:nvSpPr>
          <p:cNvPr id="74" name="Text 9">
            <a:extLst>
              <a:ext uri="{FF2B5EF4-FFF2-40B4-BE49-F238E27FC236}">
                <a16:creationId xmlns:a16="http://schemas.microsoft.com/office/drawing/2014/main" id="{EBE7F5B8-2182-6EC4-8BA3-7BEBAA59B674}"/>
              </a:ext>
            </a:extLst>
          </p:cNvPr>
          <p:cNvSpPr/>
          <p:nvPr/>
        </p:nvSpPr>
        <p:spPr>
          <a:xfrm>
            <a:off x="531240" y="2145027"/>
            <a:ext cx="1185416" cy="342476"/>
          </a:xfrm>
          <a:prstGeom prst="rect">
            <a:avLst/>
          </a:prstGeom>
          <a:noFill/>
          <a:ln/>
        </p:spPr>
        <p:txBody>
          <a:bodyPr wrap="square" lIns="25400" tIns="25400" rIns="25400" bIns="25400" rtlCol="0" anchor="t">
            <a:normAutofit/>
          </a:bodyPr>
          <a:lstStyle/>
          <a:p>
            <a:pPr marL="0" indent="0" algn="l">
              <a:lnSpc>
                <a:spcPct val="130000"/>
              </a:lnSpc>
              <a:buNone/>
            </a:pPr>
            <a:r>
              <a:rPr lang="en-US" sz="1400" kern="0" spc="21" dirty="0">
                <a:solidFill>
                  <a:srgbClr val="888080"/>
                </a:solidFill>
                <a:latin typeface="Inter" pitchFamily="34" charset="0"/>
                <a:ea typeface="Inter" pitchFamily="34" charset="-122"/>
              </a:rPr>
              <a:t>EDA</a:t>
            </a:r>
          </a:p>
        </p:txBody>
      </p:sp>
      <p:sp>
        <p:nvSpPr>
          <p:cNvPr id="75" name="Text 10">
            <a:extLst>
              <a:ext uri="{FF2B5EF4-FFF2-40B4-BE49-F238E27FC236}">
                <a16:creationId xmlns:a16="http://schemas.microsoft.com/office/drawing/2014/main" id="{99110E7C-6F7E-5F0A-E962-8A9FC81A380C}"/>
              </a:ext>
            </a:extLst>
          </p:cNvPr>
          <p:cNvSpPr/>
          <p:nvPr/>
        </p:nvSpPr>
        <p:spPr>
          <a:xfrm>
            <a:off x="228062" y="2444125"/>
            <a:ext cx="305337" cy="172132"/>
          </a:xfrm>
          <a:prstGeom prst="rect">
            <a:avLst/>
          </a:prstGeom>
          <a:noFill/>
          <a:ln/>
        </p:spPr>
        <p:txBody>
          <a:bodyPr wrap="square" lIns="25400" tIns="25400" rIns="25400" bIns="25400" rtlCol="0" anchor="t">
            <a:noAutofit/>
          </a:bodyPr>
          <a:lstStyle/>
          <a:p>
            <a:pPr marL="0" indent="0" algn="l">
              <a:lnSpc>
                <a:spcPct val="130000"/>
              </a:lnSpc>
              <a:buNone/>
            </a:pPr>
            <a:r>
              <a:rPr lang="en-US" sz="1400" b="1" kern="0" spc="21" dirty="0">
                <a:solidFill>
                  <a:srgbClr val="C25A2A"/>
                </a:solidFill>
                <a:latin typeface="JetBrains Mono" pitchFamily="34" charset="0"/>
                <a:ea typeface="JetBrains Mono" pitchFamily="34" charset="-122"/>
              </a:rPr>
              <a:t>04</a:t>
            </a:r>
          </a:p>
        </p:txBody>
      </p:sp>
      <p:sp>
        <p:nvSpPr>
          <p:cNvPr id="76" name="Text 12">
            <a:extLst>
              <a:ext uri="{FF2B5EF4-FFF2-40B4-BE49-F238E27FC236}">
                <a16:creationId xmlns:a16="http://schemas.microsoft.com/office/drawing/2014/main" id="{00C8D111-5C39-CF3C-3C47-556B2AEA4EE0}"/>
              </a:ext>
            </a:extLst>
          </p:cNvPr>
          <p:cNvSpPr/>
          <p:nvPr/>
        </p:nvSpPr>
        <p:spPr>
          <a:xfrm>
            <a:off x="228062" y="2750711"/>
            <a:ext cx="372011" cy="158880"/>
          </a:xfrm>
          <a:prstGeom prst="rect">
            <a:avLst/>
          </a:prstGeom>
          <a:noFill/>
          <a:ln/>
        </p:spPr>
        <p:txBody>
          <a:bodyPr wrap="square" lIns="25400" tIns="25400" rIns="25400" bIns="25400" rtlCol="0" anchor="t">
            <a:noAutofit/>
          </a:bodyPr>
          <a:lstStyle/>
          <a:p>
            <a:pPr marL="0" indent="0" algn="l">
              <a:lnSpc>
                <a:spcPct val="130000"/>
              </a:lnSpc>
              <a:buNone/>
            </a:pPr>
            <a:r>
              <a:rPr lang="en-US" sz="1400" kern="0" spc="21" dirty="0">
                <a:solidFill>
                  <a:srgbClr val="888080"/>
                </a:solidFill>
                <a:latin typeface="JetBrains Mono" pitchFamily="34" charset="0"/>
                <a:ea typeface="JetBrains Mono" pitchFamily="34" charset="-122"/>
                <a:cs typeface="JetBrains Mono" pitchFamily="34" charset="-120"/>
              </a:rPr>
              <a:t>05</a:t>
            </a:r>
            <a:endParaRPr lang="en-US" sz="1400" dirty="0"/>
          </a:p>
        </p:txBody>
      </p:sp>
      <p:sp>
        <p:nvSpPr>
          <p:cNvPr id="77" name="Text 13">
            <a:extLst>
              <a:ext uri="{FF2B5EF4-FFF2-40B4-BE49-F238E27FC236}">
                <a16:creationId xmlns:a16="http://schemas.microsoft.com/office/drawing/2014/main" id="{62F565C9-67D3-61F5-75DD-2F1DCC61D500}"/>
              </a:ext>
            </a:extLst>
          </p:cNvPr>
          <p:cNvSpPr/>
          <p:nvPr/>
        </p:nvSpPr>
        <p:spPr>
          <a:xfrm>
            <a:off x="533399" y="2725489"/>
            <a:ext cx="948333" cy="761256"/>
          </a:xfrm>
          <a:prstGeom prst="rect">
            <a:avLst/>
          </a:prstGeom>
          <a:noFill/>
          <a:ln/>
        </p:spPr>
        <p:txBody>
          <a:bodyPr wrap="square" lIns="25400" tIns="25400" rIns="25400" bIns="25400" rtlCol="0" anchor="t">
            <a:normAutofit/>
          </a:bodyPr>
          <a:lstStyle/>
          <a:p>
            <a:pPr marL="0" indent="0" algn="l">
              <a:lnSpc>
                <a:spcPct val="130000"/>
              </a:lnSpc>
              <a:buNone/>
            </a:pPr>
            <a:r>
              <a:rPr lang="en-US" sz="1400" kern="0" spc="21" dirty="0">
                <a:solidFill>
                  <a:srgbClr val="888080"/>
                </a:solidFill>
                <a:latin typeface="Inter" pitchFamily="34" charset="0"/>
                <a:ea typeface="Inter" pitchFamily="34" charset="-122"/>
                <a:cs typeface="Inter" pitchFamily="34" charset="-120"/>
              </a:rPr>
              <a:t>Modeling</a:t>
            </a:r>
            <a:endParaRPr lang="en-US" sz="1400" dirty="0"/>
          </a:p>
        </p:txBody>
      </p:sp>
      <p:sp>
        <p:nvSpPr>
          <p:cNvPr id="78" name="Text 14">
            <a:extLst>
              <a:ext uri="{FF2B5EF4-FFF2-40B4-BE49-F238E27FC236}">
                <a16:creationId xmlns:a16="http://schemas.microsoft.com/office/drawing/2014/main" id="{84EC838C-697D-EF41-9F1B-B128ED3FCE26}"/>
              </a:ext>
            </a:extLst>
          </p:cNvPr>
          <p:cNvSpPr/>
          <p:nvPr/>
        </p:nvSpPr>
        <p:spPr>
          <a:xfrm>
            <a:off x="235683" y="3042056"/>
            <a:ext cx="372010" cy="191463"/>
          </a:xfrm>
          <a:prstGeom prst="rect">
            <a:avLst/>
          </a:prstGeom>
          <a:noFill/>
          <a:ln/>
        </p:spPr>
        <p:txBody>
          <a:bodyPr wrap="square" lIns="25400" tIns="25400" rIns="25400" bIns="25400" rtlCol="0" anchor="t">
            <a:noAutofit/>
          </a:bodyPr>
          <a:lstStyle/>
          <a:p>
            <a:pPr marL="0" indent="0" algn="l">
              <a:lnSpc>
                <a:spcPct val="130000"/>
              </a:lnSpc>
              <a:buNone/>
            </a:pPr>
            <a:r>
              <a:rPr lang="en-US" sz="1400" kern="0" spc="21" dirty="0">
                <a:solidFill>
                  <a:srgbClr val="888080"/>
                </a:solidFill>
                <a:latin typeface="JetBrains Mono" pitchFamily="34" charset="0"/>
                <a:ea typeface="JetBrains Mono" pitchFamily="34" charset="-122"/>
                <a:cs typeface="JetBrains Mono" pitchFamily="34" charset="-120"/>
              </a:rPr>
              <a:t>06</a:t>
            </a:r>
            <a:endParaRPr lang="en-US" sz="1400" dirty="0"/>
          </a:p>
        </p:txBody>
      </p:sp>
      <p:sp>
        <p:nvSpPr>
          <p:cNvPr id="79" name="Text 15">
            <a:extLst>
              <a:ext uri="{FF2B5EF4-FFF2-40B4-BE49-F238E27FC236}">
                <a16:creationId xmlns:a16="http://schemas.microsoft.com/office/drawing/2014/main" id="{5661B6D9-4E40-9510-CDB3-E7FA2660AA29}"/>
              </a:ext>
            </a:extLst>
          </p:cNvPr>
          <p:cNvSpPr/>
          <p:nvPr/>
        </p:nvSpPr>
        <p:spPr>
          <a:xfrm>
            <a:off x="533400" y="3032075"/>
            <a:ext cx="1185416" cy="626120"/>
          </a:xfrm>
          <a:prstGeom prst="rect">
            <a:avLst/>
          </a:prstGeom>
          <a:noFill/>
          <a:ln/>
        </p:spPr>
        <p:txBody>
          <a:bodyPr wrap="square" lIns="25400" tIns="25400" rIns="25400" bIns="25400" rtlCol="0" anchor="t">
            <a:normAutofit/>
          </a:bodyPr>
          <a:lstStyle/>
          <a:p>
            <a:pPr marL="0" indent="0" algn="l">
              <a:lnSpc>
                <a:spcPct val="130000"/>
              </a:lnSpc>
              <a:buNone/>
            </a:pPr>
            <a:r>
              <a:rPr lang="en-US" sz="1400" kern="0" spc="21" dirty="0">
                <a:solidFill>
                  <a:srgbClr val="888080"/>
                </a:solidFill>
                <a:latin typeface="Inter" pitchFamily="34" charset="0"/>
                <a:ea typeface="Inter" pitchFamily="34" charset="-122"/>
                <a:cs typeface="Inter" pitchFamily="34" charset="-120"/>
              </a:rPr>
              <a:t>Conclusions</a:t>
            </a:r>
            <a:endParaRPr lang="en-US" sz="1400" dirty="0"/>
          </a:p>
        </p:txBody>
      </p:sp>
      <p:sp>
        <p:nvSpPr>
          <p:cNvPr id="80" name="Text 9">
            <a:extLst>
              <a:ext uri="{FF2B5EF4-FFF2-40B4-BE49-F238E27FC236}">
                <a16:creationId xmlns:a16="http://schemas.microsoft.com/office/drawing/2014/main" id="{1F138DB2-0C36-C528-C4C3-10C8F394F10C}"/>
              </a:ext>
            </a:extLst>
          </p:cNvPr>
          <p:cNvSpPr/>
          <p:nvPr/>
        </p:nvSpPr>
        <p:spPr>
          <a:xfrm>
            <a:off x="538609" y="2426180"/>
            <a:ext cx="1185416" cy="342476"/>
          </a:xfrm>
          <a:prstGeom prst="rect">
            <a:avLst/>
          </a:prstGeom>
          <a:noFill/>
          <a:ln/>
        </p:spPr>
        <p:txBody>
          <a:bodyPr wrap="square" lIns="25400" tIns="25400" rIns="25400" bIns="25400" rtlCol="0" anchor="t">
            <a:normAutofit/>
          </a:bodyPr>
          <a:lstStyle/>
          <a:p>
            <a:pPr marL="0" indent="0" algn="l">
              <a:lnSpc>
                <a:spcPct val="130000"/>
              </a:lnSpc>
              <a:buNone/>
            </a:pPr>
            <a:r>
              <a:rPr lang="en-US" sz="1400" kern="0" spc="21" dirty="0">
                <a:solidFill>
                  <a:srgbClr val="1A1A1A"/>
                </a:solidFill>
                <a:latin typeface="Inter" pitchFamily="34" charset="0"/>
                <a:ea typeface="Inter" pitchFamily="34" charset="-122"/>
              </a:rPr>
              <a:t>Pipeline</a:t>
            </a:r>
          </a:p>
        </p:txBody>
      </p:sp>
      <p:sp>
        <p:nvSpPr>
          <p:cNvPr id="81" name="Text 7">
            <a:extLst>
              <a:ext uri="{FF2B5EF4-FFF2-40B4-BE49-F238E27FC236}">
                <a16:creationId xmlns:a16="http://schemas.microsoft.com/office/drawing/2014/main" id="{4DC95351-F132-AB08-84BF-9A77D64EFBBB}"/>
              </a:ext>
            </a:extLst>
          </p:cNvPr>
          <p:cNvSpPr/>
          <p:nvPr/>
        </p:nvSpPr>
        <p:spPr>
          <a:xfrm>
            <a:off x="523875" y="1826620"/>
            <a:ext cx="1325700" cy="467696"/>
          </a:xfrm>
          <a:prstGeom prst="rect">
            <a:avLst/>
          </a:prstGeom>
          <a:noFill/>
          <a:ln/>
        </p:spPr>
        <p:txBody>
          <a:bodyPr wrap="square" lIns="25400" tIns="25400" rIns="25400" bIns="25400" rtlCol="0" anchor="t">
            <a:noAutofit/>
          </a:bodyPr>
          <a:lstStyle/>
          <a:p>
            <a:pPr marL="0" indent="0" algn="l">
              <a:lnSpc>
                <a:spcPct val="130000"/>
              </a:lnSpc>
              <a:buNone/>
            </a:pPr>
            <a:r>
              <a:rPr lang="en-US" sz="1400" kern="0" spc="21" dirty="0">
                <a:solidFill>
                  <a:srgbClr val="888080"/>
                </a:solidFill>
                <a:latin typeface="Inter" pitchFamily="34" charset="0"/>
                <a:ea typeface="Inter" pitchFamily="34" charset="-122"/>
              </a:rPr>
              <a:t>Data &amp; target</a:t>
            </a:r>
          </a:p>
        </p:txBody>
      </p:sp>
      <p:sp>
        <p:nvSpPr>
          <p:cNvPr id="82" name="Text 1">
            <a:extLst>
              <a:ext uri="{FF2B5EF4-FFF2-40B4-BE49-F238E27FC236}">
                <a16:creationId xmlns:a16="http://schemas.microsoft.com/office/drawing/2014/main" id="{E629D615-A3F4-7E9D-3041-BA831C1432E9}"/>
              </a:ext>
            </a:extLst>
          </p:cNvPr>
          <p:cNvSpPr/>
          <p:nvPr/>
        </p:nvSpPr>
        <p:spPr>
          <a:xfrm>
            <a:off x="261138" y="379598"/>
            <a:ext cx="1778457" cy="447678"/>
          </a:xfrm>
          <a:prstGeom prst="rect">
            <a:avLst/>
          </a:prstGeom>
          <a:noFill/>
          <a:ln/>
        </p:spPr>
        <p:txBody>
          <a:bodyPr wrap="square" lIns="25400" tIns="25400" rIns="25400" bIns="25400" rtlCol="0" anchor="t">
            <a:noAutofit/>
          </a:bodyPr>
          <a:lstStyle/>
          <a:p>
            <a:pPr marL="0" indent="0">
              <a:buNone/>
            </a:pPr>
            <a:r>
              <a:rPr lang="en-US" sz="1400" kern="0" spc="116" dirty="0">
                <a:solidFill>
                  <a:srgbClr val="888080"/>
                </a:solidFill>
                <a:latin typeface="JetBrains Mono" pitchFamily="34" charset="0"/>
                <a:ea typeface="JetBrains Mono" pitchFamily="34" charset="-122"/>
                <a:cs typeface="JetBrains Mono" pitchFamily="34" charset="-120"/>
              </a:rPr>
              <a:t>DS22 - Bar Ilan</a:t>
            </a:r>
            <a:br>
              <a:rPr lang="en-US" sz="1400" kern="0" spc="116" dirty="0">
                <a:solidFill>
                  <a:srgbClr val="888080"/>
                </a:solidFill>
                <a:latin typeface="JetBrains Mono" pitchFamily="34" charset="0"/>
                <a:ea typeface="JetBrains Mono" pitchFamily="34" charset="-122"/>
                <a:cs typeface="JetBrains Mono" pitchFamily="34" charset="-120"/>
              </a:rPr>
            </a:br>
            <a:r>
              <a:rPr lang="en-US" sz="1400" kern="0" spc="116" dirty="0">
                <a:solidFill>
                  <a:srgbClr val="888080"/>
                </a:solidFill>
                <a:latin typeface="JetBrains Mono" pitchFamily="34" charset="0"/>
                <a:ea typeface="JetBrains Mono" pitchFamily="34" charset="-122"/>
                <a:cs typeface="JetBrains Mono" pitchFamily="34" charset="-120"/>
              </a:rPr>
              <a:t>ML PROJECT</a:t>
            </a:r>
          </a:p>
          <a:p>
            <a:pPr marL="0" indent="0">
              <a:buNone/>
            </a:pPr>
            <a:r>
              <a:rPr lang="en-US" sz="1400" kern="0" spc="116" dirty="0">
                <a:solidFill>
                  <a:srgbClr val="888080"/>
                </a:solidFill>
                <a:latin typeface="JetBrains Mono" pitchFamily="34" charset="0"/>
                <a:ea typeface="JetBrains Mono" pitchFamily="34" charset="-122"/>
                <a:cs typeface="JetBrains Mono" pitchFamily="34" charset="-120"/>
              </a:rPr>
              <a:t>MAY 2026</a:t>
            </a:r>
            <a:endParaRPr lang="en-US" sz="1400" dirty="0"/>
          </a:p>
        </p:txBody>
      </p:sp>
      <p:sp>
        <p:nvSpPr>
          <p:cNvPr id="4" name="Shape 38">
            <a:extLst>
              <a:ext uri="{FF2B5EF4-FFF2-40B4-BE49-F238E27FC236}">
                <a16:creationId xmlns:a16="http://schemas.microsoft.com/office/drawing/2014/main" id="{0FCE02DA-CEDF-DA7B-CD1D-807573BAEE4B}"/>
              </a:ext>
            </a:extLst>
          </p:cNvPr>
          <p:cNvSpPr/>
          <p:nvPr/>
        </p:nvSpPr>
        <p:spPr>
          <a:xfrm>
            <a:off x="2781300" y="6667798"/>
            <a:ext cx="14744700" cy="2096160"/>
          </a:xfrm>
          <a:prstGeom prst="rect">
            <a:avLst/>
          </a:prstGeom>
          <a:solidFill>
            <a:srgbClr val="EBE5D6"/>
          </a:solidFill>
          <a:ln w="9525">
            <a:solidFill>
              <a:srgbClr val="D4CDBC"/>
            </a:solidFill>
            <a:prstDash val="solid"/>
          </a:ln>
        </p:spPr>
        <p:txBody>
          <a:bodyPr/>
          <a:lstStyle/>
          <a:p>
            <a:r>
              <a:rPr lang="en-US" sz="2000" b="1" dirty="0"/>
              <a:t>Outliers Handling</a:t>
            </a:r>
          </a:p>
          <a:p>
            <a:pPr marL="285750" indent="-285750">
              <a:buFont typeface="Arial" panose="020B0604020202020204" pitchFamily="34" charset="0"/>
              <a:buChar char="•"/>
            </a:pPr>
            <a:r>
              <a:rPr lang="en-US" sz="2000" dirty="0"/>
              <a:t>Corrected unrealistic planned speed values (&gt;100 km/h) caused by unit inconsistencies. </a:t>
            </a:r>
          </a:p>
          <a:p>
            <a:pPr marL="285750" indent="-285750">
              <a:buFont typeface="Arial" panose="020B0604020202020204" pitchFamily="34" charset="0"/>
              <a:buChar char="•"/>
            </a:pPr>
            <a:r>
              <a:rPr lang="en-US" sz="2000" dirty="0"/>
              <a:t>Identified trips crossing midnight and recalculated planned duration and planned speed accordingly. </a:t>
            </a:r>
          </a:p>
          <a:p>
            <a:pPr marL="285750" indent="-285750">
              <a:buFont typeface="Arial" panose="020B0604020202020204" pitchFamily="34" charset="0"/>
              <a:buChar char="•"/>
            </a:pPr>
            <a:r>
              <a:rPr lang="en-US" sz="2000" dirty="0"/>
              <a:t>Removed extreme trip duration deviations (</a:t>
            </a:r>
            <a:r>
              <a:rPr lang="en-US" sz="2000" dirty="0" err="1"/>
              <a:t>duration_difference_min</a:t>
            </a:r>
            <a:r>
              <a:rPr lang="en-US" sz="2000" dirty="0"/>
              <a:t>) outside the range of ±120 minutes (365 rows). </a:t>
            </a:r>
          </a:p>
          <a:p>
            <a:pPr marL="285750" indent="-285750">
              <a:buFont typeface="Arial" panose="020B0604020202020204" pitchFamily="34" charset="0"/>
              <a:buChar char="•"/>
            </a:pPr>
            <a:r>
              <a:rPr lang="en-US" sz="2000" dirty="0"/>
              <a:t>Used boxplots before and after the process to validate the impact of outlier handling. </a:t>
            </a:r>
          </a:p>
          <a:p>
            <a:pPr marL="285750" indent="-285750">
              <a:buFont typeface="Arial" panose="020B0604020202020204" pitchFamily="34" charset="0"/>
              <a:buChar char="•"/>
            </a:pPr>
            <a:r>
              <a:rPr lang="en-US" sz="2000" dirty="0"/>
              <a:t>Preserved realistic operational variability while reducing the influence of anomalous records.</a:t>
            </a:r>
          </a:p>
        </p:txBody>
      </p:sp>
      <p:sp>
        <p:nvSpPr>
          <p:cNvPr id="5" name="Text 49">
            <a:extLst>
              <a:ext uri="{FF2B5EF4-FFF2-40B4-BE49-F238E27FC236}">
                <a16:creationId xmlns:a16="http://schemas.microsoft.com/office/drawing/2014/main" id="{D4485B05-AB18-795A-1D7A-E6C794F0CE01}"/>
              </a:ext>
            </a:extLst>
          </p:cNvPr>
          <p:cNvSpPr/>
          <p:nvPr/>
        </p:nvSpPr>
        <p:spPr>
          <a:xfrm>
            <a:off x="14771824" y="5164085"/>
            <a:ext cx="700087" cy="337540"/>
          </a:xfrm>
          <a:prstGeom prst="rect">
            <a:avLst/>
          </a:prstGeom>
          <a:noFill/>
          <a:ln/>
        </p:spPr>
        <p:txBody>
          <a:bodyPr wrap="square" lIns="25400" tIns="25400" rIns="25400" bIns="25400" rtlCol="0" anchor="ctr">
            <a:normAutofit/>
          </a:bodyPr>
          <a:lstStyle/>
          <a:p>
            <a:pPr marL="0" indent="0" algn="l">
              <a:buNone/>
            </a:pPr>
            <a:r>
              <a:rPr lang="en-US" sz="1600" dirty="0">
                <a:solidFill>
                  <a:srgbClr val="1A1A1A"/>
                </a:solidFill>
                <a:latin typeface="JetBrains Mono" pitchFamily="34" charset="0"/>
                <a:ea typeface="JetBrains Mono" pitchFamily="34" charset="-122"/>
                <a:cs typeface="JetBrains Mono" pitchFamily="34" charset="-120"/>
              </a:rPr>
              <a:t>2,213</a:t>
            </a:r>
            <a:endParaRPr lang="en-US" sz="1600" dirty="0"/>
          </a:p>
        </p:txBody>
      </p:sp>
      <p:sp>
        <p:nvSpPr>
          <p:cNvPr id="6" name="Text 49">
            <a:extLst>
              <a:ext uri="{FF2B5EF4-FFF2-40B4-BE49-F238E27FC236}">
                <a16:creationId xmlns:a16="http://schemas.microsoft.com/office/drawing/2014/main" id="{0709EFF3-6456-1A65-0A3E-0372D5B0E364}"/>
              </a:ext>
            </a:extLst>
          </p:cNvPr>
          <p:cNvSpPr/>
          <p:nvPr/>
        </p:nvSpPr>
        <p:spPr>
          <a:xfrm>
            <a:off x="14768514" y="5560103"/>
            <a:ext cx="700087" cy="337540"/>
          </a:xfrm>
          <a:prstGeom prst="rect">
            <a:avLst/>
          </a:prstGeom>
          <a:noFill/>
          <a:ln/>
        </p:spPr>
        <p:txBody>
          <a:bodyPr wrap="square" lIns="25400" tIns="25400" rIns="25400" bIns="25400" rtlCol="0" anchor="ctr">
            <a:normAutofit/>
          </a:bodyPr>
          <a:lstStyle/>
          <a:p>
            <a:pPr marL="0" indent="0" algn="l">
              <a:buNone/>
            </a:pPr>
            <a:r>
              <a:rPr lang="en-US" sz="1600" dirty="0">
                <a:solidFill>
                  <a:srgbClr val="1A1A1A"/>
                </a:solidFill>
                <a:latin typeface="JetBrains Mono" pitchFamily="34" charset="0"/>
                <a:ea typeface="JetBrains Mono" pitchFamily="34" charset="-122"/>
                <a:cs typeface="JetBrains Mono" pitchFamily="34" charset="-120"/>
              </a:rPr>
              <a:t>911</a:t>
            </a:r>
            <a:endParaRPr lang="en-US" sz="1600" dirty="0"/>
          </a:p>
        </p:txBody>
      </p:sp>
      <p:sp>
        <p:nvSpPr>
          <p:cNvPr id="7" name="Text 42">
            <a:extLst>
              <a:ext uri="{FF2B5EF4-FFF2-40B4-BE49-F238E27FC236}">
                <a16:creationId xmlns:a16="http://schemas.microsoft.com/office/drawing/2014/main" id="{796036CA-B298-AF2C-41DB-5F3676FEB702}"/>
              </a:ext>
            </a:extLst>
          </p:cNvPr>
          <p:cNvSpPr/>
          <p:nvPr/>
        </p:nvSpPr>
        <p:spPr>
          <a:xfrm>
            <a:off x="16847827" y="4440643"/>
            <a:ext cx="532135" cy="325063"/>
          </a:xfrm>
          <a:prstGeom prst="rect">
            <a:avLst/>
          </a:prstGeom>
          <a:noFill/>
          <a:ln/>
        </p:spPr>
        <p:txBody>
          <a:bodyPr wrap="square" lIns="25400" tIns="25400" rIns="25400" bIns="25400" rtlCol="0" anchor="ctr">
            <a:normAutofit/>
          </a:bodyPr>
          <a:lstStyle/>
          <a:p>
            <a:pPr marL="0" indent="0" algn="l">
              <a:buNone/>
            </a:pPr>
            <a:r>
              <a:rPr lang="en-US" sz="1600" dirty="0">
                <a:solidFill>
                  <a:srgbClr val="1A1A1A"/>
                </a:solidFill>
                <a:latin typeface="JetBrains Mono" pitchFamily="34" charset="0"/>
                <a:ea typeface="JetBrains Mono" pitchFamily="34" charset="-122"/>
                <a:cs typeface="JetBrains Mono" pitchFamily="34" charset="-120"/>
              </a:rPr>
              <a:t>3.4%</a:t>
            </a:r>
            <a:endParaRPr lang="en-US" sz="1600" dirty="0"/>
          </a:p>
        </p:txBody>
      </p:sp>
      <p:sp>
        <p:nvSpPr>
          <p:cNvPr id="9" name="Text 42">
            <a:extLst>
              <a:ext uri="{FF2B5EF4-FFF2-40B4-BE49-F238E27FC236}">
                <a16:creationId xmlns:a16="http://schemas.microsoft.com/office/drawing/2014/main" id="{17B13A5E-7F3D-22F2-00AE-DC7920E60A93}"/>
              </a:ext>
            </a:extLst>
          </p:cNvPr>
          <p:cNvSpPr/>
          <p:nvPr/>
        </p:nvSpPr>
        <p:spPr>
          <a:xfrm>
            <a:off x="16847827" y="4837811"/>
            <a:ext cx="532135" cy="325063"/>
          </a:xfrm>
          <a:prstGeom prst="rect">
            <a:avLst/>
          </a:prstGeom>
          <a:noFill/>
          <a:ln/>
        </p:spPr>
        <p:txBody>
          <a:bodyPr wrap="square" lIns="25400" tIns="25400" rIns="25400" bIns="25400" rtlCol="0" anchor="ctr">
            <a:normAutofit/>
          </a:bodyPr>
          <a:lstStyle/>
          <a:p>
            <a:pPr marL="0" indent="0" algn="l">
              <a:buNone/>
            </a:pPr>
            <a:r>
              <a:rPr lang="en-US" sz="1600" dirty="0">
                <a:solidFill>
                  <a:srgbClr val="1A1A1A"/>
                </a:solidFill>
                <a:latin typeface="JetBrains Mono" pitchFamily="34" charset="0"/>
                <a:ea typeface="JetBrains Mono" pitchFamily="34" charset="-122"/>
                <a:cs typeface="JetBrains Mono" pitchFamily="34" charset="-120"/>
              </a:rPr>
              <a:t>2.0%</a:t>
            </a:r>
            <a:endParaRPr lang="en-US" sz="1600" dirty="0"/>
          </a:p>
        </p:txBody>
      </p:sp>
      <p:sp>
        <p:nvSpPr>
          <p:cNvPr id="10" name="Text 42">
            <a:extLst>
              <a:ext uri="{FF2B5EF4-FFF2-40B4-BE49-F238E27FC236}">
                <a16:creationId xmlns:a16="http://schemas.microsoft.com/office/drawing/2014/main" id="{6CCD55BB-AC49-427E-DD07-71403AB83A33}"/>
              </a:ext>
            </a:extLst>
          </p:cNvPr>
          <p:cNvSpPr/>
          <p:nvPr/>
        </p:nvSpPr>
        <p:spPr>
          <a:xfrm>
            <a:off x="16847827" y="5248938"/>
            <a:ext cx="532135" cy="325063"/>
          </a:xfrm>
          <a:prstGeom prst="rect">
            <a:avLst/>
          </a:prstGeom>
          <a:noFill/>
          <a:ln/>
        </p:spPr>
        <p:txBody>
          <a:bodyPr wrap="square" lIns="25400" tIns="25400" rIns="25400" bIns="25400" rtlCol="0" anchor="ctr">
            <a:normAutofit/>
          </a:bodyPr>
          <a:lstStyle/>
          <a:p>
            <a:pPr marL="0" indent="0" algn="l">
              <a:buNone/>
            </a:pPr>
            <a:r>
              <a:rPr lang="en-US" sz="1600" dirty="0">
                <a:solidFill>
                  <a:srgbClr val="1A1A1A"/>
                </a:solidFill>
                <a:latin typeface="JetBrains Mono" pitchFamily="34" charset="0"/>
                <a:ea typeface="JetBrains Mono" pitchFamily="34" charset="-122"/>
                <a:cs typeface="JetBrains Mono" pitchFamily="34" charset="-120"/>
              </a:rPr>
              <a:t>2.4%</a:t>
            </a:r>
            <a:endParaRPr lang="en-US" sz="1600" dirty="0"/>
          </a:p>
        </p:txBody>
      </p:sp>
      <p:sp>
        <p:nvSpPr>
          <p:cNvPr id="11" name="Text 42">
            <a:extLst>
              <a:ext uri="{FF2B5EF4-FFF2-40B4-BE49-F238E27FC236}">
                <a16:creationId xmlns:a16="http://schemas.microsoft.com/office/drawing/2014/main" id="{95E08A8A-7A89-FB5F-906E-B246CEB3AE3C}"/>
              </a:ext>
            </a:extLst>
          </p:cNvPr>
          <p:cNvSpPr/>
          <p:nvPr/>
        </p:nvSpPr>
        <p:spPr>
          <a:xfrm>
            <a:off x="16844517" y="5569569"/>
            <a:ext cx="532135" cy="325063"/>
          </a:xfrm>
          <a:prstGeom prst="rect">
            <a:avLst/>
          </a:prstGeom>
          <a:noFill/>
          <a:ln/>
        </p:spPr>
        <p:txBody>
          <a:bodyPr wrap="square" lIns="25400" tIns="25400" rIns="25400" bIns="25400" rtlCol="0" anchor="ctr">
            <a:normAutofit/>
          </a:bodyPr>
          <a:lstStyle/>
          <a:p>
            <a:pPr marL="0" indent="0" algn="l">
              <a:buNone/>
            </a:pPr>
            <a:r>
              <a:rPr lang="en-US" sz="1600" dirty="0">
                <a:solidFill>
                  <a:srgbClr val="1A1A1A"/>
                </a:solidFill>
                <a:latin typeface="JetBrains Mono" pitchFamily="34" charset="0"/>
                <a:ea typeface="JetBrains Mono" pitchFamily="34" charset="-122"/>
                <a:cs typeface="JetBrains Mono" pitchFamily="34" charset="-120"/>
              </a:rPr>
              <a:t>1.0%</a:t>
            </a:r>
            <a:endParaRPr lang="en-US" sz="16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5F1E8"/>
        </a:solidFill>
        <a:effectLst/>
      </p:bgPr>
    </p:bg>
    <p:spTree>
      <p:nvGrpSpPr>
        <p:cNvPr id="1" name="">
          <a:extLst>
            <a:ext uri="{FF2B5EF4-FFF2-40B4-BE49-F238E27FC236}">
              <a16:creationId xmlns:a16="http://schemas.microsoft.com/office/drawing/2014/main" id="{423EE01E-F27F-A676-E6D5-F2BC6D7246A9}"/>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F27D50FE-EB32-9515-4740-D5167D5B7E93}"/>
              </a:ext>
            </a:extLst>
          </p:cNvPr>
          <p:cNvSpPr/>
          <p:nvPr/>
        </p:nvSpPr>
        <p:spPr>
          <a:xfrm>
            <a:off x="0" y="0"/>
            <a:ext cx="2095500" cy="10287000"/>
          </a:xfrm>
          <a:prstGeom prst="rect">
            <a:avLst/>
          </a:prstGeom>
          <a:solidFill>
            <a:srgbClr val="EBE5D6"/>
          </a:solidFill>
          <a:ln/>
        </p:spPr>
        <p:txBody>
          <a:bodyPr/>
          <a:lstStyle/>
          <a:p>
            <a:endParaRPr lang="he-IL"/>
          </a:p>
        </p:txBody>
      </p:sp>
      <p:sp>
        <p:nvSpPr>
          <p:cNvPr id="3" name="Shape 1">
            <a:extLst>
              <a:ext uri="{FF2B5EF4-FFF2-40B4-BE49-F238E27FC236}">
                <a16:creationId xmlns:a16="http://schemas.microsoft.com/office/drawing/2014/main" id="{0FDA26E3-CF96-065D-91FE-DA2272FE5232}"/>
              </a:ext>
            </a:extLst>
          </p:cNvPr>
          <p:cNvSpPr/>
          <p:nvPr/>
        </p:nvSpPr>
        <p:spPr>
          <a:xfrm>
            <a:off x="2085975" y="0"/>
            <a:ext cx="9525" cy="10287000"/>
          </a:xfrm>
          <a:prstGeom prst="rect">
            <a:avLst/>
          </a:prstGeom>
          <a:solidFill>
            <a:srgbClr val="D4CDBC"/>
          </a:solidFill>
          <a:ln/>
        </p:spPr>
        <p:txBody>
          <a:bodyPr/>
          <a:lstStyle/>
          <a:p>
            <a:endParaRPr lang="he-IL"/>
          </a:p>
        </p:txBody>
      </p:sp>
      <p:sp>
        <p:nvSpPr>
          <p:cNvPr id="19" name="Text 17">
            <a:extLst>
              <a:ext uri="{FF2B5EF4-FFF2-40B4-BE49-F238E27FC236}">
                <a16:creationId xmlns:a16="http://schemas.microsoft.com/office/drawing/2014/main" id="{40BDDF6B-0236-8247-09CF-F3A075FF08BC}"/>
              </a:ext>
            </a:extLst>
          </p:cNvPr>
          <p:cNvSpPr/>
          <p:nvPr/>
        </p:nvSpPr>
        <p:spPr>
          <a:xfrm>
            <a:off x="2781300" y="571500"/>
            <a:ext cx="15187041" cy="171450"/>
          </a:xfrm>
          <a:prstGeom prst="rect">
            <a:avLst/>
          </a:prstGeom>
          <a:noFill/>
          <a:ln/>
        </p:spPr>
        <p:txBody>
          <a:bodyPr wrap="square" lIns="25400" tIns="25400" rIns="25400" bIns="25400" rtlCol="0" anchor="ctr">
            <a:noAutofit/>
          </a:bodyPr>
          <a:lstStyle/>
          <a:p>
            <a:pPr marL="0" indent="0" algn="l">
              <a:buNone/>
            </a:pPr>
            <a:r>
              <a:rPr lang="en-US" sz="1400" kern="0" spc="182" dirty="0">
                <a:solidFill>
                  <a:srgbClr val="888080"/>
                </a:solidFill>
                <a:latin typeface="JetBrains Mono" pitchFamily="34" charset="0"/>
                <a:ea typeface="JetBrains Mono" pitchFamily="34" charset="-122"/>
                <a:cs typeface="JetBrains Mono" pitchFamily="34" charset="-120"/>
              </a:rPr>
              <a:t>PIPELINE · 06 · Add features</a:t>
            </a:r>
            <a:endParaRPr lang="en-US" sz="1400" dirty="0"/>
          </a:p>
        </p:txBody>
      </p:sp>
      <p:sp>
        <p:nvSpPr>
          <p:cNvPr id="20" name="Text 18">
            <a:extLst>
              <a:ext uri="{FF2B5EF4-FFF2-40B4-BE49-F238E27FC236}">
                <a16:creationId xmlns:a16="http://schemas.microsoft.com/office/drawing/2014/main" id="{9B538410-AEB1-9A74-0516-A6E01003C4D8}"/>
              </a:ext>
            </a:extLst>
          </p:cNvPr>
          <p:cNvSpPr/>
          <p:nvPr/>
        </p:nvSpPr>
        <p:spPr>
          <a:xfrm>
            <a:off x="2781300" y="914400"/>
            <a:ext cx="15187041" cy="643830"/>
          </a:xfrm>
          <a:prstGeom prst="rect">
            <a:avLst/>
          </a:prstGeom>
          <a:noFill/>
          <a:ln/>
        </p:spPr>
        <p:txBody>
          <a:bodyPr wrap="square" lIns="25400" tIns="25400" rIns="25400" bIns="25400" rtlCol="0" anchor="t">
            <a:normAutofit fontScale="92500" lnSpcReduction="20000"/>
          </a:bodyPr>
          <a:lstStyle/>
          <a:p>
            <a:pPr marL="0" indent="0" algn="l">
              <a:lnSpc>
                <a:spcPct val="106000"/>
              </a:lnSpc>
              <a:buNone/>
            </a:pPr>
            <a:r>
              <a:rPr lang="en-US" sz="4500" kern="0" spc="-81" dirty="0">
                <a:solidFill>
                  <a:srgbClr val="1A1A1A"/>
                </a:solidFill>
                <a:latin typeface="Instrument Serif" pitchFamily="34" charset="0"/>
                <a:ea typeface="Instrument Serif" pitchFamily="34" charset="-122"/>
                <a:cs typeface="Instrument Serif" pitchFamily="34" charset="-120"/>
              </a:rPr>
              <a:t>Add features</a:t>
            </a:r>
            <a:endParaRPr lang="en-US" sz="4500" dirty="0"/>
          </a:p>
        </p:txBody>
      </p:sp>
      <p:sp>
        <p:nvSpPr>
          <p:cNvPr id="32" name="Text 30">
            <a:extLst>
              <a:ext uri="{FF2B5EF4-FFF2-40B4-BE49-F238E27FC236}">
                <a16:creationId xmlns:a16="http://schemas.microsoft.com/office/drawing/2014/main" id="{FE0F0210-1E4A-EFDD-F390-BEE8F6F4C606}"/>
              </a:ext>
            </a:extLst>
          </p:cNvPr>
          <p:cNvSpPr/>
          <p:nvPr/>
        </p:nvSpPr>
        <p:spPr>
          <a:xfrm>
            <a:off x="10506075" y="3096964"/>
            <a:ext cx="6985254" cy="495300"/>
          </a:xfrm>
          <a:prstGeom prst="rect">
            <a:avLst/>
          </a:prstGeom>
          <a:noFill/>
          <a:ln/>
        </p:spPr>
        <p:txBody>
          <a:bodyPr wrap="square" lIns="25400" tIns="25400" rIns="25400" bIns="25400" rtlCol="0" anchor="t">
            <a:normAutofit fontScale="77500" lnSpcReduction="20000"/>
          </a:bodyPr>
          <a:lstStyle/>
          <a:p>
            <a:pPr marL="0" indent="0" algn="l">
              <a:lnSpc>
                <a:spcPct val="150000"/>
              </a:lnSpc>
              <a:buNone/>
            </a:pPr>
            <a:r>
              <a:rPr lang="en-US" sz="1400" dirty="0">
                <a:solidFill>
                  <a:srgbClr val="FFFFFF">
                    <a:alpha val="78000"/>
                  </a:srgbClr>
                </a:solidFill>
                <a:latin typeface="Inter" pitchFamily="34" charset="0"/>
                <a:ea typeface="Inter" pitchFamily="34" charset="-122"/>
                <a:cs typeface="Inter" pitchFamily="34" charset="-120"/>
              </a:rPr>
              <a:t>Replace each category with the mean target value within that category — much more efficient than one-hot for hundreds of unique values.</a:t>
            </a:r>
            <a:endParaRPr lang="en-US" sz="1200" dirty="0"/>
          </a:p>
        </p:txBody>
      </p:sp>
      <p:sp>
        <p:nvSpPr>
          <p:cNvPr id="33" name="Shape 31">
            <a:extLst>
              <a:ext uri="{FF2B5EF4-FFF2-40B4-BE49-F238E27FC236}">
                <a16:creationId xmlns:a16="http://schemas.microsoft.com/office/drawing/2014/main" id="{F412463E-F40C-6457-6B1A-A2CA0CAD2E54}"/>
              </a:ext>
            </a:extLst>
          </p:cNvPr>
          <p:cNvSpPr/>
          <p:nvPr/>
        </p:nvSpPr>
        <p:spPr>
          <a:xfrm>
            <a:off x="10506075" y="3725614"/>
            <a:ext cx="6781800" cy="9525"/>
          </a:xfrm>
          <a:prstGeom prst="rect">
            <a:avLst/>
          </a:prstGeom>
          <a:solidFill>
            <a:srgbClr val="FFFFFF">
              <a:alpha val="18000"/>
            </a:srgbClr>
          </a:solidFill>
          <a:ln/>
        </p:spPr>
        <p:txBody>
          <a:bodyPr/>
          <a:lstStyle/>
          <a:p>
            <a:endParaRPr lang="he-IL"/>
          </a:p>
        </p:txBody>
      </p:sp>
      <p:sp>
        <p:nvSpPr>
          <p:cNvPr id="36" name="Text 34">
            <a:extLst>
              <a:ext uri="{FF2B5EF4-FFF2-40B4-BE49-F238E27FC236}">
                <a16:creationId xmlns:a16="http://schemas.microsoft.com/office/drawing/2014/main" id="{EBF24476-E9D9-2F90-92E8-5639F8DD1795}"/>
              </a:ext>
            </a:extLst>
          </p:cNvPr>
          <p:cNvSpPr/>
          <p:nvPr/>
        </p:nvSpPr>
        <p:spPr>
          <a:xfrm>
            <a:off x="10677525" y="4197102"/>
            <a:ext cx="6813804" cy="252413"/>
          </a:xfrm>
          <a:prstGeom prst="rect">
            <a:avLst/>
          </a:prstGeom>
          <a:noFill/>
          <a:ln/>
        </p:spPr>
        <p:txBody>
          <a:bodyPr wrap="square" lIns="25400" tIns="25400" rIns="25400" bIns="25400" rtlCol="0" anchor="t">
            <a:normAutofit fontScale="77500" lnSpcReduction="20000"/>
          </a:bodyPr>
          <a:lstStyle/>
          <a:p>
            <a:pPr marL="0" indent="0" algn="l">
              <a:lnSpc>
                <a:spcPct val="150000"/>
              </a:lnSpc>
              <a:buNone/>
            </a:pPr>
            <a:r>
              <a:rPr lang="en-US" sz="990" dirty="0">
                <a:solidFill>
                  <a:srgbClr val="F5F1E8"/>
                </a:solidFill>
                <a:highlight>
                  <a:srgbClr val="FFFFFF"/>
                </a:highlight>
                <a:latin typeface="JetBrains Mono" pitchFamily="34" charset="0"/>
                <a:ea typeface="JetBrains Mono" pitchFamily="34" charset="-122"/>
                <a:cs typeface="JetBrains Mono" pitchFamily="34" charset="-120"/>
              </a:rPr>
              <a:t>origin_city </a:t>
            </a:r>
            <a:r>
              <a:rPr lang="en-US" sz="1400" dirty="0">
                <a:solidFill>
                  <a:srgbClr val="FFFFFF">
                    <a:alpha val="85000"/>
                  </a:srgbClr>
                </a:solidFill>
                <a:latin typeface="Inter" pitchFamily="34" charset="0"/>
                <a:ea typeface="Inter" pitchFamily="34" charset="-122"/>
                <a:cs typeface="Inter" pitchFamily="34" charset="-120"/>
              </a:rPr>
              <a:t>· </a:t>
            </a:r>
            <a:r>
              <a:rPr lang="en-US" sz="990" dirty="0">
                <a:solidFill>
                  <a:srgbClr val="F5F1E8"/>
                </a:solidFill>
                <a:highlight>
                  <a:srgbClr val="FFFFFF"/>
                </a:highlight>
                <a:latin typeface="JetBrains Mono" pitchFamily="34" charset="0"/>
                <a:ea typeface="JetBrains Mono" pitchFamily="34" charset="-122"/>
                <a:cs typeface="JetBrains Mono" pitchFamily="34" charset="-120"/>
              </a:rPr>
              <a:t>destination_city</a:t>
            </a:r>
            <a:endParaRPr lang="en-US" sz="1125" dirty="0"/>
          </a:p>
        </p:txBody>
      </p:sp>
      <p:sp>
        <p:nvSpPr>
          <p:cNvPr id="37" name="Text 35">
            <a:extLst>
              <a:ext uri="{FF2B5EF4-FFF2-40B4-BE49-F238E27FC236}">
                <a16:creationId xmlns:a16="http://schemas.microsoft.com/office/drawing/2014/main" id="{040D015C-5581-945C-7AAA-1684ACEFED15}"/>
              </a:ext>
            </a:extLst>
          </p:cNvPr>
          <p:cNvSpPr/>
          <p:nvPr/>
        </p:nvSpPr>
        <p:spPr>
          <a:xfrm>
            <a:off x="10677525" y="4487614"/>
            <a:ext cx="6813804" cy="252413"/>
          </a:xfrm>
          <a:prstGeom prst="rect">
            <a:avLst/>
          </a:prstGeom>
          <a:noFill/>
          <a:ln/>
        </p:spPr>
        <p:txBody>
          <a:bodyPr wrap="square" lIns="25400" tIns="25400" rIns="25400" bIns="25400" rtlCol="0" anchor="t">
            <a:normAutofit fontScale="77500" lnSpcReduction="20000"/>
          </a:bodyPr>
          <a:lstStyle/>
          <a:p>
            <a:pPr marL="0" indent="0" algn="l">
              <a:lnSpc>
                <a:spcPct val="150000"/>
              </a:lnSpc>
              <a:buNone/>
            </a:pPr>
            <a:r>
              <a:rPr lang="en-US" sz="990" dirty="0">
                <a:solidFill>
                  <a:srgbClr val="F5F1E8"/>
                </a:solidFill>
                <a:highlight>
                  <a:srgbClr val="FFFFFF"/>
                </a:highlight>
                <a:latin typeface="JetBrains Mono" pitchFamily="34" charset="0"/>
                <a:ea typeface="JetBrains Mono" pitchFamily="34" charset="-122"/>
                <a:cs typeface="JetBrains Mono" pitchFamily="34" charset="-120"/>
              </a:rPr>
              <a:t>origin_station </a:t>
            </a:r>
            <a:r>
              <a:rPr lang="en-US" sz="1400" dirty="0">
                <a:solidFill>
                  <a:srgbClr val="FFFFFF">
                    <a:alpha val="85000"/>
                  </a:srgbClr>
                </a:solidFill>
                <a:latin typeface="Inter" pitchFamily="34" charset="0"/>
                <a:ea typeface="Inter" pitchFamily="34" charset="-122"/>
                <a:cs typeface="Inter" pitchFamily="34" charset="-120"/>
              </a:rPr>
              <a:t>· </a:t>
            </a:r>
            <a:r>
              <a:rPr lang="en-US" sz="990" dirty="0">
                <a:solidFill>
                  <a:srgbClr val="F5F1E8"/>
                </a:solidFill>
                <a:highlight>
                  <a:srgbClr val="FFFFFF"/>
                </a:highlight>
                <a:latin typeface="JetBrains Mono" pitchFamily="34" charset="0"/>
                <a:ea typeface="JetBrains Mono" pitchFamily="34" charset="-122"/>
                <a:cs typeface="JetBrains Mono" pitchFamily="34" charset="-120"/>
              </a:rPr>
              <a:t>destination_station</a:t>
            </a:r>
            <a:endParaRPr lang="en-US" sz="1125" dirty="0"/>
          </a:p>
        </p:txBody>
      </p:sp>
      <p:sp>
        <p:nvSpPr>
          <p:cNvPr id="38" name="Text 36">
            <a:extLst>
              <a:ext uri="{FF2B5EF4-FFF2-40B4-BE49-F238E27FC236}">
                <a16:creationId xmlns:a16="http://schemas.microsoft.com/office/drawing/2014/main" id="{1CA9EC49-3784-C062-B726-941074E15EB8}"/>
              </a:ext>
            </a:extLst>
          </p:cNvPr>
          <p:cNvSpPr/>
          <p:nvPr/>
        </p:nvSpPr>
        <p:spPr>
          <a:xfrm>
            <a:off x="10677525" y="4778127"/>
            <a:ext cx="6813804" cy="252413"/>
          </a:xfrm>
          <a:prstGeom prst="rect">
            <a:avLst/>
          </a:prstGeom>
          <a:noFill/>
          <a:ln/>
        </p:spPr>
        <p:txBody>
          <a:bodyPr wrap="square" lIns="25400" tIns="25400" rIns="25400" bIns="25400" rtlCol="0" anchor="t">
            <a:normAutofit fontScale="77500" lnSpcReduction="20000"/>
          </a:bodyPr>
          <a:lstStyle/>
          <a:p>
            <a:pPr marL="0" indent="0" algn="l">
              <a:lnSpc>
                <a:spcPct val="150000"/>
              </a:lnSpc>
              <a:buNone/>
            </a:pPr>
            <a:r>
              <a:rPr lang="en-US" sz="990" dirty="0">
                <a:solidFill>
                  <a:srgbClr val="F5F1E8"/>
                </a:solidFill>
                <a:highlight>
                  <a:srgbClr val="FFFFFF"/>
                </a:highlight>
                <a:latin typeface="JetBrains Mono" pitchFamily="34" charset="0"/>
                <a:ea typeface="JetBrains Mono" pitchFamily="34" charset="-122"/>
                <a:cs typeface="JetBrains Mono" pitchFamily="34" charset="-120"/>
              </a:rPr>
              <a:t>agency_linenum_dir_alter </a:t>
            </a:r>
            <a:r>
              <a:rPr lang="en-US" sz="1400" dirty="0">
                <a:solidFill>
                  <a:srgbClr val="FFFFFF">
                    <a:alpha val="85000"/>
                  </a:srgbClr>
                </a:solidFill>
                <a:latin typeface="Inter" pitchFamily="34" charset="0"/>
                <a:ea typeface="Inter" pitchFamily="34" charset="-122"/>
                <a:cs typeface="Inter" pitchFamily="34" charset="-120"/>
              </a:rPr>
              <a:t>★</a:t>
            </a:r>
            <a:endParaRPr lang="en-US" sz="1125" dirty="0"/>
          </a:p>
        </p:txBody>
      </p:sp>
      <p:sp>
        <p:nvSpPr>
          <p:cNvPr id="39" name="Text 37">
            <a:extLst>
              <a:ext uri="{FF2B5EF4-FFF2-40B4-BE49-F238E27FC236}">
                <a16:creationId xmlns:a16="http://schemas.microsoft.com/office/drawing/2014/main" id="{4450B73B-C25D-BD91-D6FC-83D1D0C92B43}"/>
              </a:ext>
            </a:extLst>
          </p:cNvPr>
          <p:cNvSpPr/>
          <p:nvPr/>
        </p:nvSpPr>
        <p:spPr>
          <a:xfrm>
            <a:off x="10506075" y="5087689"/>
            <a:ext cx="6985254" cy="223838"/>
          </a:xfrm>
          <a:prstGeom prst="rect">
            <a:avLst/>
          </a:prstGeom>
          <a:noFill/>
          <a:ln/>
        </p:spPr>
        <p:txBody>
          <a:bodyPr wrap="square" lIns="25400" tIns="25400" rIns="25400" bIns="25400" rtlCol="0" anchor="t">
            <a:normAutofit fontScale="62500" lnSpcReduction="20000"/>
          </a:bodyPr>
          <a:lstStyle/>
          <a:p>
            <a:pPr marL="0" indent="0" algn="l">
              <a:lnSpc>
                <a:spcPct val="150000"/>
              </a:lnSpc>
              <a:buNone/>
            </a:pPr>
            <a:r>
              <a:rPr lang="en-US" sz="1400" dirty="0">
                <a:solidFill>
                  <a:srgbClr val="FFFFFF">
                    <a:alpha val="75000"/>
                  </a:srgbClr>
                </a:solidFill>
                <a:latin typeface="Inter" pitchFamily="34" charset="0"/>
                <a:ea typeface="Inter" pitchFamily="34" charset="-122"/>
                <a:cs typeface="Inter" pitchFamily="34" charset="-120"/>
              </a:rPr>
              <a:t>Implemented via </a:t>
            </a:r>
            <a:r>
              <a:rPr lang="en-US" sz="858" dirty="0">
                <a:solidFill>
                  <a:srgbClr val="F5F1E8"/>
                </a:solidFill>
                <a:highlight>
                  <a:srgbClr val="FFFFFF"/>
                </a:highlight>
                <a:latin typeface="JetBrains Mono" pitchFamily="34" charset="0"/>
                <a:ea typeface="JetBrains Mono" pitchFamily="34" charset="-122"/>
                <a:cs typeface="JetBrains Mono" pitchFamily="34" charset="-120"/>
              </a:rPr>
              <a:t>category_encoders.TargetEncoder</a:t>
            </a:r>
            <a:r>
              <a:rPr lang="en-US" sz="1400" dirty="0">
                <a:solidFill>
                  <a:srgbClr val="FFFFFF">
                    <a:alpha val="75000"/>
                  </a:srgbClr>
                </a:solidFill>
                <a:latin typeface="Inter" pitchFamily="34" charset="0"/>
                <a:ea typeface="Inter" pitchFamily="34" charset="-122"/>
                <a:cs typeface="Inter" pitchFamily="34" charset="-120"/>
              </a:rPr>
              <a:t>. Fit on train only, applied frozen to val/test.</a:t>
            </a:r>
            <a:endParaRPr lang="en-US" sz="975" dirty="0"/>
          </a:p>
        </p:txBody>
      </p:sp>
      <p:sp>
        <p:nvSpPr>
          <p:cNvPr id="40" name="Text 16">
            <a:extLst>
              <a:ext uri="{FF2B5EF4-FFF2-40B4-BE49-F238E27FC236}">
                <a16:creationId xmlns:a16="http://schemas.microsoft.com/office/drawing/2014/main" id="{2E1E16B0-E8B6-CD7F-005C-ABA6194E6E08}"/>
              </a:ext>
            </a:extLst>
          </p:cNvPr>
          <p:cNvSpPr/>
          <p:nvPr/>
        </p:nvSpPr>
        <p:spPr>
          <a:xfrm>
            <a:off x="266700" y="9410700"/>
            <a:ext cx="1628775" cy="342900"/>
          </a:xfrm>
          <a:prstGeom prst="rect">
            <a:avLst/>
          </a:prstGeom>
          <a:noFill/>
          <a:ln/>
        </p:spPr>
        <p:txBody>
          <a:bodyPr wrap="square" lIns="25400" tIns="25400" rIns="25400" bIns="25400" rtlCol="0" anchor="t">
            <a:noAutofit/>
          </a:bodyPr>
          <a:lstStyle/>
          <a:p>
            <a:pPr>
              <a:lnSpc>
                <a:spcPct val="160000"/>
              </a:lnSpc>
            </a:pPr>
            <a:r>
              <a:rPr lang="en-US" sz="1400" b="1" kern="0" spc="105" dirty="0">
                <a:solidFill>
                  <a:srgbClr val="1A1A1A"/>
                </a:solidFill>
                <a:latin typeface="JetBrains Mono" pitchFamily="34" charset="0"/>
                <a:ea typeface="JetBrains Mono" pitchFamily="34" charset="-122"/>
                <a:cs typeface="JetBrains Mono" pitchFamily="34" charset="-120"/>
              </a:rPr>
              <a:t>20 / 34</a:t>
            </a:r>
            <a:endParaRPr lang="en-US" sz="1400" dirty="0"/>
          </a:p>
        </p:txBody>
      </p:sp>
      <p:sp>
        <p:nvSpPr>
          <p:cNvPr id="41" name="Text 4">
            <a:extLst>
              <a:ext uri="{FF2B5EF4-FFF2-40B4-BE49-F238E27FC236}">
                <a16:creationId xmlns:a16="http://schemas.microsoft.com/office/drawing/2014/main" id="{7E107922-0375-569F-2932-9851440A552C}"/>
              </a:ext>
            </a:extLst>
          </p:cNvPr>
          <p:cNvSpPr/>
          <p:nvPr/>
        </p:nvSpPr>
        <p:spPr>
          <a:xfrm>
            <a:off x="228063" y="1524367"/>
            <a:ext cx="372012" cy="200025"/>
          </a:xfrm>
          <a:prstGeom prst="rect">
            <a:avLst/>
          </a:prstGeom>
          <a:noFill/>
          <a:ln/>
        </p:spPr>
        <p:txBody>
          <a:bodyPr wrap="square" lIns="25400" tIns="25400" rIns="25400" bIns="25400" rtlCol="0" anchor="t">
            <a:noAutofit/>
          </a:bodyPr>
          <a:lstStyle/>
          <a:p>
            <a:pPr marL="0" indent="0" algn="l">
              <a:lnSpc>
                <a:spcPct val="130000"/>
              </a:lnSpc>
              <a:buNone/>
            </a:pPr>
            <a:r>
              <a:rPr lang="en-US" sz="1400" kern="0" spc="21" dirty="0">
                <a:solidFill>
                  <a:srgbClr val="888080"/>
                </a:solidFill>
                <a:latin typeface="Inter" pitchFamily="34" charset="0"/>
                <a:ea typeface="Inter" pitchFamily="34" charset="-122"/>
              </a:rPr>
              <a:t>01</a:t>
            </a:r>
          </a:p>
        </p:txBody>
      </p:sp>
      <p:sp>
        <p:nvSpPr>
          <p:cNvPr id="42" name="Text 5">
            <a:extLst>
              <a:ext uri="{FF2B5EF4-FFF2-40B4-BE49-F238E27FC236}">
                <a16:creationId xmlns:a16="http://schemas.microsoft.com/office/drawing/2014/main" id="{6318258E-21F4-49DD-DC3A-6F8B3E7F1719}"/>
              </a:ext>
            </a:extLst>
          </p:cNvPr>
          <p:cNvSpPr/>
          <p:nvPr/>
        </p:nvSpPr>
        <p:spPr>
          <a:xfrm>
            <a:off x="523875" y="1522975"/>
            <a:ext cx="876300" cy="476251"/>
          </a:xfrm>
          <a:prstGeom prst="rect">
            <a:avLst/>
          </a:prstGeom>
          <a:noFill/>
          <a:ln/>
        </p:spPr>
        <p:txBody>
          <a:bodyPr wrap="square" lIns="25400" tIns="25400" rIns="25400" bIns="25400" rtlCol="0" anchor="t">
            <a:normAutofit/>
          </a:bodyPr>
          <a:lstStyle/>
          <a:p>
            <a:pPr marL="0" indent="0" algn="l">
              <a:lnSpc>
                <a:spcPct val="130000"/>
              </a:lnSpc>
              <a:buNone/>
            </a:pPr>
            <a:r>
              <a:rPr lang="en-US" sz="1400" kern="0" spc="21" dirty="0">
                <a:solidFill>
                  <a:srgbClr val="888080"/>
                </a:solidFill>
                <a:latin typeface="Inter" pitchFamily="34" charset="0"/>
                <a:ea typeface="Inter" pitchFamily="34" charset="-122"/>
              </a:rPr>
              <a:t>Agenda</a:t>
            </a:r>
          </a:p>
        </p:txBody>
      </p:sp>
      <p:sp>
        <p:nvSpPr>
          <p:cNvPr id="43" name="Text 6">
            <a:extLst>
              <a:ext uri="{FF2B5EF4-FFF2-40B4-BE49-F238E27FC236}">
                <a16:creationId xmlns:a16="http://schemas.microsoft.com/office/drawing/2014/main" id="{F8BA26C7-CFD5-1671-D7C4-F46BCE5BEBB5}"/>
              </a:ext>
            </a:extLst>
          </p:cNvPr>
          <p:cNvSpPr/>
          <p:nvPr/>
        </p:nvSpPr>
        <p:spPr>
          <a:xfrm>
            <a:off x="228063" y="1830953"/>
            <a:ext cx="372010" cy="194877"/>
          </a:xfrm>
          <a:prstGeom prst="rect">
            <a:avLst/>
          </a:prstGeom>
          <a:noFill/>
          <a:ln/>
        </p:spPr>
        <p:txBody>
          <a:bodyPr wrap="square" lIns="25400" tIns="25400" rIns="25400" bIns="25400" rtlCol="0" anchor="t">
            <a:noAutofit/>
          </a:bodyPr>
          <a:lstStyle/>
          <a:p>
            <a:pPr marL="0" indent="0" algn="l">
              <a:lnSpc>
                <a:spcPct val="130000"/>
              </a:lnSpc>
              <a:buNone/>
            </a:pPr>
            <a:r>
              <a:rPr lang="en-US" sz="1400" kern="0" spc="21" dirty="0">
                <a:solidFill>
                  <a:srgbClr val="888080"/>
                </a:solidFill>
                <a:latin typeface="Inter" pitchFamily="34" charset="0"/>
                <a:ea typeface="Inter" pitchFamily="34" charset="-122"/>
              </a:rPr>
              <a:t>02</a:t>
            </a:r>
          </a:p>
        </p:txBody>
      </p:sp>
      <p:sp>
        <p:nvSpPr>
          <p:cNvPr id="44" name="Text 8">
            <a:extLst>
              <a:ext uri="{FF2B5EF4-FFF2-40B4-BE49-F238E27FC236}">
                <a16:creationId xmlns:a16="http://schemas.microsoft.com/office/drawing/2014/main" id="{66E2C3DD-2695-5C2E-1EED-C0B4414452A7}"/>
              </a:ext>
            </a:extLst>
          </p:cNvPr>
          <p:cNvSpPr/>
          <p:nvPr/>
        </p:nvSpPr>
        <p:spPr>
          <a:xfrm>
            <a:off x="230504" y="2152895"/>
            <a:ext cx="302895" cy="141422"/>
          </a:xfrm>
          <a:prstGeom prst="rect">
            <a:avLst/>
          </a:prstGeom>
          <a:noFill/>
          <a:ln/>
        </p:spPr>
        <p:txBody>
          <a:bodyPr wrap="square" lIns="25400" tIns="25400" rIns="25400" bIns="25400" rtlCol="0" anchor="t">
            <a:noAutofit/>
          </a:bodyPr>
          <a:lstStyle/>
          <a:p>
            <a:pPr marL="0" indent="0" algn="l">
              <a:lnSpc>
                <a:spcPct val="130000"/>
              </a:lnSpc>
              <a:buNone/>
            </a:pPr>
            <a:r>
              <a:rPr lang="en-US" sz="1400" kern="0" spc="21" dirty="0">
                <a:solidFill>
                  <a:srgbClr val="888080"/>
                </a:solidFill>
                <a:latin typeface="Inter" pitchFamily="34" charset="0"/>
                <a:ea typeface="Inter" pitchFamily="34" charset="-122"/>
              </a:rPr>
              <a:t>03</a:t>
            </a:r>
          </a:p>
        </p:txBody>
      </p:sp>
      <p:sp>
        <p:nvSpPr>
          <p:cNvPr id="45" name="Text 9">
            <a:extLst>
              <a:ext uri="{FF2B5EF4-FFF2-40B4-BE49-F238E27FC236}">
                <a16:creationId xmlns:a16="http://schemas.microsoft.com/office/drawing/2014/main" id="{1FDA7FF4-EEC4-B091-2A6C-073C0E049CD1}"/>
              </a:ext>
            </a:extLst>
          </p:cNvPr>
          <p:cNvSpPr/>
          <p:nvPr/>
        </p:nvSpPr>
        <p:spPr>
          <a:xfrm>
            <a:off x="531240" y="2145027"/>
            <a:ext cx="1185416" cy="342476"/>
          </a:xfrm>
          <a:prstGeom prst="rect">
            <a:avLst/>
          </a:prstGeom>
          <a:noFill/>
          <a:ln/>
        </p:spPr>
        <p:txBody>
          <a:bodyPr wrap="square" lIns="25400" tIns="25400" rIns="25400" bIns="25400" rtlCol="0" anchor="t">
            <a:normAutofit/>
          </a:bodyPr>
          <a:lstStyle/>
          <a:p>
            <a:pPr marL="0" indent="0" algn="l">
              <a:lnSpc>
                <a:spcPct val="130000"/>
              </a:lnSpc>
              <a:buNone/>
            </a:pPr>
            <a:r>
              <a:rPr lang="en-US" sz="1400" kern="0" spc="21" dirty="0">
                <a:solidFill>
                  <a:srgbClr val="888080"/>
                </a:solidFill>
                <a:latin typeface="Inter" pitchFamily="34" charset="0"/>
                <a:ea typeface="Inter" pitchFamily="34" charset="-122"/>
              </a:rPr>
              <a:t>EDA</a:t>
            </a:r>
          </a:p>
        </p:txBody>
      </p:sp>
      <p:sp>
        <p:nvSpPr>
          <p:cNvPr id="46" name="Text 10">
            <a:extLst>
              <a:ext uri="{FF2B5EF4-FFF2-40B4-BE49-F238E27FC236}">
                <a16:creationId xmlns:a16="http://schemas.microsoft.com/office/drawing/2014/main" id="{237CCFBC-0EE4-C800-0C83-8B16F5CF9D71}"/>
              </a:ext>
            </a:extLst>
          </p:cNvPr>
          <p:cNvSpPr/>
          <p:nvPr/>
        </p:nvSpPr>
        <p:spPr>
          <a:xfrm>
            <a:off x="228062" y="2444125"/>
            <a:ext cx="305337" cy="172132"/>
          </a:xfrm>
          <a:prstGeom prst="rect">
            <a:avLst/>
          </a:prstGeom>
          <a:noFill/>
          <a:ln/>
        </p:spPr>
        <p:txBody>
          <a:bodyPr wrap="square" lIns="25400" tIns="25400" rIns="25400" bIns="25400" rtlCol="0" anchor="t">
            <a:noAutofit/>
          </a:bodyPr>
          <a:lstStyle/>
          <a:p>
            <a:pPr marL="0" indent="0" algn="l">
              <a:lnSpc>
                <a:spcPct val="130000"/>
              </a:lnSpc>
              <a:buNone/>
            </a:pPr>
            <a:r>
              <a:rPr lang="en-US" sz="1400" b="1" kern="0" spc="21" dirty="0">
                <a:solidFill>
                  <a:srgbClr val="C25A2A"/>
                </a:solidFill>
                <a:latin typeface="JetBrains Mono" pitchFamily="34" charset="0"/>
                <a:ea typeface="JetBrains Mono" pitchFamily="34" charset="-122"/>
              </a:rPr>
              <a:t>04</a:t>
            </a:r>
          </a:p>
        </p:txBody>
      </p:sp>
      <p:sp>
        <p:nvSpPr>
          <p:cNvPr id="47" name="Text 12">
            <a:extLst>
              <a:ext uri="{FF2B5EF4-FFF2-40B4-BE49-F238E27FC236}">
                <a16:creationId xmlns:a16="http://schemas.microsoft.com/office/drawing/2014/main" id="{536BAD4D-632D-2646-BEBA-BA3306BE01D5}"/>
              </a:ext>
            </a:extLst>
          </p:cNvPr>
          <p:cNvSpPr/>
          <p:nvPr/>
        </p:nvSpPr>
        <p:spPr>
          <a:xfrm>
            <a:off x="228062" y="2750711"/>
            <a:ext cx="372011" cy="158880"/>
          </a:xfrm>
          <a:prstGeom prst="rect">
            <a:avLst/>
          </a:prstGeom>
          <a:noFill/>
          <a:ln/>
        </p:spPr>
        <p:txBody>
          <a:bodyPr wrap="square" lIns="25400" tIns="25400" rIns="25400" bIns="25400" rtlCol="0" anchor="t">
            <a:noAutofit/>
          </a:bodyPr>
          <a:lstStyle/>
          <a:p>
            <a:pPr marL="0" indent="0" algn="l">
              <a:lnSpc>
                <a:spcPct val="130000"/>
              </a:lnSpc>
              <a:buNone/>
            </a:pPr>
            <a:r>
              <a:rPr lang="en-US" sz="1400" kern="0" spc="21" dirty="0">
                <a:solidFill>
                  <a:srgbClr val="888080"/>
                </a:solidFill>
                <a:latin typeface="JetBrains Mono" pitchFamily="34" charset="0"/>
                <a:ea typeface="JetBrains Mono" pitchFamily="34" charset="-122"/>
                <a:cs typeface="JetBrains Mono" pitchFamily="34" charset="-120"/>
              </a:rPr>
              <a:t>05</a:t>
            </a:r>
            <a:endParaRPr lang="en-US" sz="1400" dirty="0"/>
          </a:p>
        </p:txBody>
      </p:sp>
      <p:sp>
        <p:nvSpPr>
          <p:cNvPr id="48" name="Text 13">
            <a:extLst>
              <a:ext uri="{FF2B5EF4-FFF2-40B4-BE49-F238E27FC236}">
                <a16:creationId xmlns:a16="http://schemas.microsoft.com/office/drawing/2014/main" id="{EA0B33D1-1658-DC9F-AE57-D397144B27BE}"/>
              </a:ext>
            </a:extLst>
          </p:cNvPr>
          <p:cNvSpPr/>
          <p:nvPr/>
        </p:nvSpPr>
        <p:spPr>
          <a:xfrm>
            <a:off x="533399" y="2725489"/>
            <a:ext cx="948333" cy="761256"/>
          </a:xfrm>
          <a:prstGeom prst="rect">
            <a:avLst/>
          </a:prstGeom>
          <a:noFill/>
          <a:ln/>
        </p:spPr>
        <p:txBody>
          <a:bodyPr wrap="square" lIns="25400" tIns="25400" rIns="25400" bIns="25400" rtlCol="0" anchor="t">
            <a:normAutofit/>
          </a:bodyPr>
          <a:lstStyle/>
          <a:p>
            <a:pPr marL="0" indent="0" algn="l">
              <a:lnSpc>
                <a:spcPct val="130000"/>
              </a:lnSpc>
              <a:buNone/>
            </a:pPr>
            <a:r>
              <a:rPr lang="en-US" sz="1400" kern="0" spc="21" dirty="0">
                <a:solidFill>
                  <a:srgbClr val="888080"/>
                </a:solidFill>
                <a:latin typeface="Inter" pitchFamily="34" charset="0"/>
                <a:ea typeface="Inter" pitchFamily="34" charset="-122"/>
                <a:cs typeface="Inter" pitchFamily="34" charset="-120"/>
              </a:rPr>
              <a:t>Modeling</a:t>
            </a:r>
            <a:endParaRPr lang="en-US" sz="1400" dirty="0"/>
          </a:p>
        </p:txBody>
      </p:sp>
      <p:sp>
        <p:nvSpPr>
          <p:cNvPr id="49" name="Text 14">
            <a:extLst>
              <a:ext uri="{FF2B5EF4-FFF2-40B4-BE49-F238E27FC236}">
                <a16:creationId xmlns:a16="http://schemas.microsoft.com/office/drawing/2014/main" id="{252EBAE7-BAA9-C4C6-73D2-A4E47866D30C}"/>
              </a:ext>
            </a:extLst>
          </p:cNvPr>
          <p:cNvSpPr/>
          <p:nvPr/>
        </p:nvSpPr>
        <p:spPr>
          <a:xfrm>
            <a:off x="235683" y="3042056"/>
            <a:ext cx="372010" cy="191463"/>
          </a:xfrm>
          <a:prstGeom prst="rect">
            <a:avLst/>
          </a:prstGeom>
          <a:noFill/>
          <a:ln/>
        </p:spPr>
        <p:txBody>
          <a:bodyPr wrap="square" lIns="25400" tIns="25400" rIns="25400" bIns="25400" rtlCol="0" anchor="t">
            <a:noAutofit/>
          </a:bodyPr>
          <a:lstStyle/>
          <a:p>
            <a:pPr marL="0" indent="0" algn="l">
              <a:lnSpc>
                <a:spcPct val="130000"/>
              </a:lnSpc>
              <a:buNone/>
            </a:pPr>
            <a:r>
              <a:rPr lang="en-US" sz="1400" kern="0" spc="21" dirty="0">
                <a:solidFill>
                  <a:srgbClr val="888080"/>
                </a:solidFill>
                <a:latin typeface="JetBrains Mono" pitchFamily="34" charset="0"/>
                <a:ea typeface="JetBrains Mono" pitchFamily="34" charset="-122"/>
                <a:cs typeface="JetBrains Mono" pitchFamily="34" charset="-120"/>
              </a:rPr>
              <a:t>06</a:t>
            </a:r>
            <a:endParaRPr lang="en-US" sz="1400" dirty="0"/>
          </a:p>
        </p:txBody>
      </p:sp>
      <p:sp>
        <p:nvSpPr>
          <p:cNvPr id="50" name="Text 15">
            <a:extLst>
              <a:ext uri="{FF2B5EF4-FFF2-40B4-BE49-F238E27FC236}">
                <a16:creationId xmlns:a16="http://schemas.microsoft.com/office/drawing/2014/main" id="{B66EC5BE-B22C-5279-5295-25BC8044201D}"/>
              </a:ext>
            </a:extLst>
          </p:cNvPr>
          <p:cNvSpPr/>
          <p:nvPr/>
        </p:nvSpPr>
        <p:spPr>
          <a:xfrm>
            <a:off x="533400" y="3032075"/>
            <a:ext cx="1185416" cy="626120"/>
          </a:xfrm>
          <a:prstGeom prst="rect">
            <a:avLst/>
          </a:prstGeom>
          <a:noFill/>
          <a:ln/>
        </p:spPr>
        <p:txBody>
          <a:bodyPr wrap="square" lIns="25400" tIns="25400" rIns="25400" bIns="25400" rtlCol="0" anchor="t">
            <a:normAutofit/>
          </a:bodyPr>
          <a:lstStyle/>
          <a:p>
            <a:pPr marL="0" indent="0" algn="l">
              <a:lnSpc>
                <a:spcPct val="130000"/>
              </a:lnSpc>
              <a:buNone/>
            </a:pPr>
            <a:r>
              <a:rPr lang="en-US" sz="1400" kern="0" spc="21" dirty="0">
                <a:solidFill>
                  <a:srgbClr val="888080"/>
                </a:solidFill>
                <a:latin typeface="Inter" pitchFamily="34" charset="0"/>
                <a:ea typeface="Inter" pitchFamily="34" charset="-122"/>
                <a:cs typeface="Inter" pitchFamily="34" charset="-120"/>
              </a:rPr>
              <a:t>Conclusions</a:t>
            </a:r>
            <a:endParaRPr lang="en-US" sz="1400" dirty="0"/>
          </a:p>
        </p:txBody>
      </p:sp>
      <p:sp>
        <p:nvSpPr>
          <p:cNvPr id="51" name="Text 9">
            <a:extLst>
              <a:ext uri="{FF2B5EF4-FFF2-40B4-BE49-F238E27FC236}">
                <a16:creationId xmlns:a16="http://schemas.microsoft.com/office/drawing/2014/main" id="{5F94555C-F165-42ED-D9B3-B266420EBECA}"/>
              </a:ext>
            </a:extLst>
          </p:cNvPr>
          <p:cNvSpPr/>
          <p:nvPr/>
        </p:nvSpPr>
        <p:spPr>
          <a:xfrm>
            <a:off x="538609" y="2426180"/>
            <a:ext cx="1185416" cy="342476"/>
          </a:xfrm>
          <a:prstGeom prst="rect">
            <a:avLst/>
          </a:prstGeom>
          <a:noFill/>
          <a:ln/>
        </p:spPr>
        <p:txBody>
          <a:bodyPr wrap="square" lIns="25400" tIns="25400" rIns="25400" bIns="25400" rtlCol="0" anchor="t">
            <a:normAutofit/>
          </a:bodyPr>
          <a:lstStyle/>
          <a:p>
            <a:pPr marL="0" indent="0" algn="l">
              <a:lnSpc>
                <a:spcPct val="130000"/>
              </a:lnSpc>
              <a:buNone/>
            </a:pPr>
            <a:r>
              <a:rPr lang="en-US" sz="1400" kern="0" spc="21" dirty="0">
                <a:solidFill>
                  <a:srgbClr val="1A1A1A"/>
                </a:solidFill>
                <a:latin typeface="Inter" pitchFamily="34" charset="0"/>
                <a:ea typeface="Inter" pitchFamily="34" charset="-122"/>
              </a:rPr>
              <a:t>Pipeline</a:t>
            </a:r>
          </a:p>
        </p:txBody>
      </p:sp>
      <p:sp>
        <p:nvSpPr>
          <p:cNvPr id="52" name="Text 7">
            <a:extLst>
              <a:ext uri="{FF2B5EF4-FFF2-40B4-BE49-F238E27FC236}">
                <a16:creationId xmlns:a16="http://schemas.microsoft.com/office/drawing/2014/main" id="{C8484BF9-8576-B188-0352-992E7618B161}"/>
              </a:ext>
            </a:extLst>
          </p:cNvPr>
          <p:cNvSpPr/>
          <p:nvPr/>
        </p:nvSpPr>
        <p:spPr>
          <a:xfrm>
            <a:off x="523875" y="1826620"/>
            <a:ext cx="1325700" cy="467696"/>
          </a:xfrm>
          <a:prstGeom prst="rect">
            <a:avLst/>
          </a:prstGeom>
          <a:noFill/>
          <a:ln/>
        </p:spPr>
        <p:txBody>
          <a:bodyPr wrap="square" lIns="25400" tIns="25400" rIns="25400" bIns="25400" rtlCol="0" anchor="t">
            <a:noAutofit/>
          </a:bodyPr>
          <a:lstStyle/>
          <a:p>
            <a:pPr marL="0" indent="0" algn="l">
              <a:lnSpc>
                <a:spcPct val="130000"/>
              </a:lnSpc>
              <a:buNone/>
            </a:pPr>
            <a:r>
              <a:rPr lang="en-US" sz="1400" kern="0" spc="21" dirty="0">
                <a:solidFill>
                  <a:srgbClr val="888080"/>
                </a:solidFill>
                <a:latin typeface="Inter" pitchFamily="34" charset="0"/>
                <a:ea typeface="Inter" pitchFamily="34" charset="-122"/>
              </a:rPr>
              <a:t>Data &amp; target</a:t>
            </a:r>
          </a:p>
        </p:txBody>
      </p:sp>
      <p:sp>
        <p:nvSpPr>
          <p:cNvPr id="53" name="Text 1">
            <a:extLst>
              <a:ext uri="{FF2B5EF4-FFF2-40B4-BE49-F238E27FC236}">
                <a16:creationId xmlns:a16="http://schemas.microsoft.com/office/drawing/2014/main" id="{820D19DC-FC70-256D-8BB5-42C2AEFBBE0C}"/>
              </a:ext>
            </a:extLst>
          </p:cNvPr>
          <p:cNvSpPr/>
          <p:nvPr/>
        </p:nvSpPr>
        <p:spPr>
          <a:xfrm>
            <a:off x="261138" y="379598"/>
            <a:ext cx="1778457" cy="447678"/>
          </a:xfrm>
          <a:prstGeom prst="rect">
            <a:avLst/>
          </a:prstGeom>
          <a:noFill/>
          <a:ln/>
        </p:spPr>
        <p:txBody>
          <a:bodyPr wrap="square" lIns="25400" tIns="25400" rIns="25400" bIns="25400" rtlCol="0" anchor="t">
            <a:noAutofit/>
          </a:bodyPr>
          <a:lstStyle/>
          <a:p>
            <a:pPr marL="0" indent="0">
              <a:buNone/>
            </a:pPr>
            <a:r>
              <a:rPr lang="en-US" sz="1400" kern="0" spc="116" dirty="0">
                <a:solidFill>
                  <a:srgbClr val="888080"/>
                </a:solidFill>
                <a:latin typeface="JetBrains Mono" pitchFamily="34" charset="0"/>
                <a:ea typeface="JetBrains Mono" pitchFamily="34" charset="-122"/>
                <a:cs typeface="JetBrains Mono" pitchFamily="34" charset="-120"/>
              </a:rPr>
              <a:t>DS22 - Bar Ilan</a:t>
            </a:r>
            <a:br>
              <a:rPr lang="en-US" sz="1400" kern="0" spc="116" dirty="0">
                <a:solidFill>
                  <a:srgbClr val="888080"/>
                </a:solidFill>
                <a:latin typeface="JetBrains Mono" pitchFamily="34" charset="0"/>
                <a:ea typeface="JetBrains Mono" pitchFamily="34" charset="-122"/>
                <a:cs typeface="JetBrains Mono" pitchFamily="34" charset="-120"/>
              </a:rPr>
            </a:br>
            <a:r>
              <a:rPr lang="en-US" sz="1400" kern="0" spc="116" dirty="0">
                <a:solidFill>
                  <a:srgbClr val="888080"/>
                </a:solidFill>
                <a:latin typeface="JetBrains Mono" pitchFamily="34" charset="0"/>
                <a:ea typeface="JetBrains Mono" pitchFamily="34" charset="-122"/>
                <a:cs typeface="JetBrains Mono" pitchFamily="34" charset="-120"/>
              </a:rPr>
              <a:t>ML PROJECT</a:t>
            </a:r>
          </a:p>
          <a:p>
            <a:pPr marL="0" indent="0">
              <a:buNone/>
            </a:pPr>
            <a:r>
              <a:rPr lang="en-US" sz="1400" kern="0" spc="116" dirty="0">
                <a:solidFill>
                  <a:srgbClr val="888080"/>
                </a:solidFill>
                <a:latin typeface="JetBrains Mono" pitchFamily="34" charset="0"/>
                <a:ea typeface="JetBrains Mono" pitchFamily="34" charset="-122"/>
                <a:cs typeface="JetBrains Mono" pitchFamily="34" charset="-120"/>
              </a:rPr>
              <a:t>MAY 2026</a:t>
            </a:r>
            <a:endParaRPr lang="en-US" sz="1400" dirty="0"/>
          </a:p>
        </p:txBody>
      </p:sp>
      <p:graphicFrame>
        <p:nvGraphicFramePr>
          <p:cNvPr id="4" name="Table 3">
            <a:extLst>
              <a:ext uri="{FF2B5EF4-FFF2-40B4-BE49-F238E27FC236}">
                <a16:creationId xmlns:a16="http://schemas.microsoft.com/office/drawing/2014/main" id="{918886B9-8DC5-B3E5-F729-560CC1F97615}"/>
              </a:ext>
            </a:extLst>
          </p:cNvPr>
          <p:cNvGraphicFramePr>
            <a:graphicFrameLocks noGrp="1"/>
          </p:cNvGraphicFramePr>
          <p:nvPr>
            <p:extLst>
              <p:ext uri="{D42A27DB-BD31-4B8C-83A1-F6EECF244321}">
                <p14:modId xmlns:p14="http://schemas.microsoft.com/office/powerpoint/2010/main" val="3858514405"/>
              </p:ext>
            </p:extLst>
          </p:nvPr>
        </p:nvGraphicFramePr>
        <p:xfrm>
          <a:off x="2693668" y="1600774"/>
          <a:ext cx="15366270" cy="7374521"/>
        </p:xfrm>
        <a:graphic>
          <a:graphicData uri="http://schemas.openxmlformats.org/drawingml/2006/table">
            <a:tbl>
              <a:tblPr firstRow="1" bandRow="1">
                <a:tableStyleId>{8EC20E35-A176-4012-BC5E-935CFFF8708E}</a:tableStyleId>
              </a:tblPr>
              <a:tblGrid>
                <a:gridCol w="1968485">
                  <a:extLst>
                    <a:ext uri="{9D8B030D-6E8A-4147-A177-3AD203B41FA5}">
                      <a16:colId xmlns:a16="http://schemas.microsoft.com/office/drawing/2014/main" val="389680655"/>
                    </a:ext>
                  </a:extLst>
                </a:gridCol>
                <a:gridCol w="4752303">
                  <a:extLst>
                    <a:ext uri="{9D8B030D-6E8A-4147-A177-3AD203B41FA5}">
                      <a16:colId xmlns:a16="http://schemas.microsoft.com/office/drawing/2014/main" val="1299986043"/>
                    </a:ext>
                  </a:extLst>
                </a:gridCol>
                <a:gridCol w="8645482">
                  <a:extLst>
                    <a:ext uri="{9D8B030D-6E8A-4147-A177-3AD203B41FA5}">
                      <a16:colId xmlns:a16="http://schemas.microsoft.com/office/drawing/2014/main" val="3327933569"/>
                    </a:ext>
                  </a:extLst>
                </a:gridCol>
              </a:tblGrid>
              <a:tr h="462521">
                <a:tc>
                  <a:txBody>
                    <a:bodyPr/>
                    <a:lstStyle/>
                    <a:p>
                      <a:pPr>
                        <a:buNone/>
                      </a:pPr>
                      <a:r>
                        <a:rPr lang="en-US" dirty="0"/>
                        <a:t>Feature Group</a:t>
                      </a:r>
                    </a:p>
                  </a:txBody>
                  <a:tcPr anchor="ctr"/>
                </a:tc>
                <a:tc>
                  <a:txBody>
                    <a:bodyPr/>
                    <a:lstStyle/>
                    <a:p>
                      <a:pPr>
                        <a:buNone/>
                      </a:pPr>
                      <a:r>
                        <a:rPr lang="en-US"/>
                        <a:t>New Feature</a:t>
                      </a:r>
                    </a:p>
                  </a:txBody>
                  <a:tcPr anchor="ctr"/>
                </a:tc>
                <a:tc>
                  <a:txBody>
                    <a:bodyPr/>
                    <a:lstStyle/>
                    <a:p>
                      <a:pPr>
                        <a:buNone/>
                      </a:pPr>
                      <a:r>
                        <a:rPr lang="en-US"/>
                        <a:t>Purpose</a:t>
                      </a:r>
                    </a:p>
                  </a:txBody>
                  <a:tcPr anchor="ctr"/>
                </a:tc>
                <a:extLst>
                  <a:ext uri="{0D108BD9-81ED-4DB2-BD59-A6C34878D82A}">
                    <a16:rowId xmlns:a16="http://schemas.microsoft.com/office/drawing/2014/main" val="4259311531"/>
                  </a:ext>
                </a:extLst>
              </a:tr>
              <a:tr h="576000">
                <a:tc rowSpan="3">
                  <a:txBody>
                    <a:bodyPr/>
                    <a:lstStyle/>
                    <a:p>
                      <a:pPr>
                        <a:buNone/>
                      </a:pPr>
                      <a:r>
                        <a:rPr lang="en-US" sz="1600" dirty="0"/>
                        <a:t>Temporal features</a:t>
                      </a:r>
                    </a:p>
                  </a:txBody>
                  <a:tcPr anchor="ctr"/>
                </a:tc>
                <a:tc>
                  <a:txBody>
                    <a:bodyPr/>
                    <a:lstStyle/>
                    <a:p>
                      <a:pPr>
                        <a:buNone/>
                      </a:pPr>
                      <a:r>
                        <a:rPr lang="en-US">
                          <a:latin typeface="Courier New" panose="02070309020205020404" pitchFamily="49" charset="0"/>
                        </a:rPr>
                        <a:t>is_peak_hour</a:t>
                      </a:r>
                      <a:endParaRPr lang="en-US"/>
                    </a:p>
                  </a:txBody>
                  <a:tcPr anchor="ctr"/>
                </a:tc>
                <a:tc>
                  <a:txBody>
                    <a:bodyPr/>
                    <a:lstStyle/>
                    <a:p>
                      <a:pPr>
                        <a:buNone/>
                      </a:pPr>
                      <a:r>
                        <a:rPr lang="en-US"/>
                        <a:t>Marks rides during peak hours: 07–09 and 14–17.</a:t>
                      </a:r>
                    </a:p>
                  </a:txBody>
                  <a:tcPr anchor="ctr"/>
                </a:tc>
                <a:extLst>
                  <a:ext uri="{0D108BD9-81ED-4DB2-BD59-A6C34878D82A}">
                    <a16:rowId xmlns:a16="http://schemas.microsoft.com/office/drawing/2014/main" val="1715103509"/>
                  </a:ext>
                </a:extLst>
              </a:tr>
              <a:tr h="576000">
                <a:tc vMerge="1">
                  <a:txBody>
                    <a:bodyPr/>
                    <a:lstStyle/>
                    <a:p>
                      <a:pPr>
                        <a:buNone/>
                      </a:pPr>
                      <a:endParaRPr lang="en-US" dirty="0"/>
                    </a:p>
                  </a:txBody>
                  <a:tcPr anchor="ctr"/>
                </a:tc>
                <a:tc>
                  <a:txBody>
                    <a:bodyPr/>
                    <a:lstStyle/>
                    <a:p>
                      <a:pPr>
                        <a:buNone/>
                      </a:pPr>
                      <a:r>
                        <a:rPr lang="en-US" sz="1600">
                          <a:latin typeface="Courier New" panose="02070309020205020404" pitchFamily="49" charset="0"/>
                        </a:rPr>
                        <a:t>is_night</a:t>
                      </a:r>
                      <a:endParaRPr lang="en-US" sz="1600"/>
                    </a:p>
                  </a:txBody>
                  <a:tcPr anchor="ctr"/>
                </a:tc>
                <a:tc>
                  <a:txBody>
                    <a:bodyPr/>
                    <a:lstStyle/>
                    <a:p>
                      <a:pPr>
                        <a:buNone/>
                      </a:pPr>
                      <a:r>
                        <a:rPr lang="en-US" sz="1600"/>
                        <a:t>Marks rides during night hours: 00–05.</a:t>
                      </a:r>
                    </a:p>
                  </a:txBody>
                  <a:tcPr anchor="ctr"/>
                </a:tc>
                <a:extLst>
                  <a:ext uri="{0D108BD9-81ED-4DB2-BD59-A6C34878D82A}">
                    <a16:rowId xmlns:a16="http://schemas.microsoft.com/office/drawing/2014/main" val="848260611"/>
                  </a:ext>
                </a:extLst>
              </a:tr>
              <a:tr h="576000">
                <a:tc vMerge="1">
                  <a:txBody>
                    <a:bodyPr/>
                    <a:lstStyle/>
                    <a:p>
                      <a:pPr>
                        <a:buNone/>
                      </a:pPr>
                      <a:endParaRPr lang="en-US" dirty="0"/>
                    </a:p>
                  </a:txBody>
                  <a:tcPr anchor="ctr"/>
                </a:tc>
                <a:tc>
                  <a:txBody>
                    <a:bodyPr/>
                    <a:lstStyle/>
                    <a:p>
                      <a:pPr>
                        <a:buNone/>
                      </a:pPr>
                      <a:r>
                        <a:rPr lang="en-US" sz="1600" dirty="0" err="1">
                          <a:latin typeface="Courier New" panose="02070309020205020404" pitchFamily="49" charset="0"/>
                        </a:rPr>
                        <a:t>departure_hour</a:t>
                      </a:r>
                      <a:r>
                        <a:rPr lang="en-US" sz="1600" dirty="0"/>
                        <a:t>, </a:t>
                      </a:r>
                      <a:r>
                        <a:rPr lang="en-US" sz="1600" dirty="0" err="1">
                          <a:latin typeface="Courier New" panose="02070309020205020404" pitchFamily="49" charset="0"/>
                        </a:rPr>
                        <a:t>arrival_hour</a:t>
                      </a:r>
                      <a:endParaRPr lang="en-US" sz="1600" dirty="0"/>
                    </a:p>
                  </a:txBody>
                  <a:tcPr anchor="ctr"/>
                </a:tc>
                <a:tc>
                  <a:txBody>
                    <a:bodyPr/>
                    <a:lstStyle/>
                    <a:p>
                      <a:pPr>
                        <a:buNone/>
                      </a:pPr>
                      <a:r>
                        <a:rPr lang="en-US" sz="1600"/>
                        <a:t>Extracts planned departure and arrival hours.</a:t>
                      </a:r>
                    </a:p>
                  </a:txBody>
                  <a:tcPr anchor="ctr"/>
                </a:tc>
                <a:extLst>
                  <a:ext uri="{0D108BD9-81ED-4DB2-BD59-A6C34878D82A}">
                    <a16:rowId xmlns:a16="http://schemas.microsoft.com/office/drawing/2014/main" val="3032048243"/>
                  </a:ext>
                </a:extLst>
              </a:tr>
              <a:tr h="576000">
                <a:tc>
                  <a:txBody>
                    <a:bodyPr/>
                    <a:lstStyle/>
                    <a:p>
                      <a:pPr>
                        <a:buNone/>
                      </a:pPr>
                      <a:r>
                        <a:rPr lang="en-US" sz="1600"/>
                        <a:t>Route type</a:t>
                      </a:r>
                    </a:p>
                  </a:txBody>
                  <a:tcPr anchor="ctr"/>
                </a:tc>
                <a:tc>
                  <a:txBody>
                    <a:bodyPr/>
                    <a:lstStyle/>
                    <a:p>
                      <a:pPr>
                        <a:buNone/>
                      </a:pPr>
                      <a:r>
                        <a:rPr lang="en-US" sz="1600" dirty="0">
                          <a:latin typeface="Courier New" panose="02070309020205020404" pitchFamily="49" charset="0"/>
                        </a:rPr>
                        <a:t>urban</a:t>
                      </a:r>
                      <a:endParaRPr lang="en-US" sz="1600" dirty="0"/>
                    </a:p>
                  </a:txBody>
                  <a:tcPr anchor="ctr"/>
                </a:tc>
                <a:tc>
                  <a:txBody>
                    <a:bodyPr/>
                    <a:lstStyle/>
                    <a:p>
                      <a:pPr>
                        <a:buNone/>
                      </a:pPr>
                      <a:r>
                        <a:rPr lang="en-US" sz="1600" dirty="0"/>
                        <a:t>Identifies short urban routes: route length ≤ 25 km.</a:t>
                      </a:r>
                    </a:p>
                  </a:txBody>
                  <a:tcPr anchor="ctr"/>
                </a:tc>
                <a:extLst>
                  <a:ext uri="{0D108BD9-81ED-4DB2-BD59-A6C34878D82A}">
                    <a16:rowId xmlns:a16="http://schemas.microsoft.com/office/drawing/2014/main" val="2015474710"/>
                  </a:ext>
                </a:extLst>
              </a:tr>
              <a:tr h="576000">
                <a:tc rowSpan="2">
                  <a:txBody>
                    <a:bodyPr/>
                    <a:lstStyle/>
                    <a:p>
                      <a:pPr>
                        <a:buNone/>
                      </a:pPr>
                      <a:r>
                        <a:rPr lang="en-US" sz="1600" dirty="0"/>
                        <a:t>Spatial / infrastructure</a:t>
                      </a:r>
                    </a:p>
                  </a:txBody>
                  <a:tcPr anchor="ctr"/>
                </a:tc>
                <a:tc>
                  <a:txBody>
                    <a:bodyPr/>
                    <a:lstStyle/>
                    <a:p>
                      <a:pPr>
                        <a:buNone/>
                      </a:pPr>
                      <a:r>
                        <a:rPr lang="en-US" sz="1600">
                          <a:latin typeface="Courier New" panose="02070309020205020404" pitchFamily="49" charset="0"/>
                        </a:rPr>
                        <a:t>perc_within_pt_route</a:t>
                      </a:r>
                      <a:endParaRPr lang="en-US" sz="1600"/>
                    </a:p>
                  </a:txBody>
                  <a:tcPr anchor="ctr"/>
                </a:tc>
                <a:tc>
                  <a:txBody>
                    <a:bodyPr/>
                    <a:lstStyle/>
                    <a:p>
                      <a:pPr>
                        <a:buNone/>
                      </a:pPr>
                      <a:r>
                        <a:rPr lang="en-US" sz="1600"/>
                        <a:t>Calculates share of route located within public transport priority corridors.</a:t>
                      </a:r>
                    </a:p>
                  </a:txBody>
                  <a:tcPr anchor="ctr"/>
                </a:tc>
                <a:extLst>
                  <a:ext uri="{0D108BD9-81ED-4DB2-BD59-A6C34878D82A}">
                    <a16:rowId xmlns:a16="http://schemas.microsoft.com/office/drawing/2014/main" val="4076333079"/>
                  </a:ext>
                </a:extLst>
              </a:tr>
              <a:tr h="576000">
                <a:tc vMerge="1">
                  <a:txBody>
                    <a:bodyPr/>
                    <a:lstStyle/>
                    <a:p>
                      <a:endParaRPr dirty="0"/>
                    </a:p>
                  </a:txBody>
                  <a:tcPr anchor="ctr"/>
                </a:tc>
                <a:tc>
                  <a:txBody>
                    <a:bodyPr/>
                    <a:lstStyle/>
                    <a:p>
                      <a:pPr>
                        <a:buNone/>
                      </a:pPr>
                      <a:r>
                        <a:rPr lang="en-US" sz="1600">
                          <a:latin typeface="Courier New" panose="02070309020205020404" pitchFamily="49" charset="0"/>
                        </a:rPr>
                        <a:t>perc_within_pt_route_peak</a:t>
                      </a:r>
                      <a:endParaRPr lang="en-US" sz="1600"/>
                    </a:p>
                  </a:txBody>
                  <a:tcPr anchor="ctr"/>
                </a:tc>
                <a:tc>
                  <a:txBody>
                    <a:bodyPr/>
                    <a:lstStyle/>
                    <a:p>
                      <a:pPr>
                        <a:buNone/>
                      </a:pPr>
                      <a:r>
                        <a:rPr lang="en-US" sz="1600"/>
                        <a:t>Combines priority-corridor coverage with peak-hour operation.</a:t>
                      </a:r>
                    </a:p>
                  </a:txBody>
                  <a:tcPr anchor="ctr"/>
                </a:tc>
                <a:extLst>
                  <a:ext uri="{0D108BD9-81ED-4DB2-BD59-A6C34878D82A}">
                    <a16:rowId xmlns:a16="http://schemas.microsoft.com/office/drawing/2014/main" val="695500805"/>
                  </a:ext>
                </a:extLst>
              </a:tr>
              <a:tr h="576000">
                <a:tc rowSpan="3">
                  <a:txBody>
                    <a:bodyPr/>
                    <a:lstStyle/>
                    <a:p>
                      <a:pPr>
                        <a:buNone/>
                      </a:pPr>
                      <a:r>
                        <a:rPr lang="en-US" sz="1600" dirty="0"/>
                        <a:t>Interaction features</a:t>
                      </a:r>
                    </a:p>
                  </a:txBody>
                  <a:tcPr anchor="ctr"/>
                </a:tc>
                <a:tc>
                  <a:txBody>
                    <a:bodyPr/>
                    <a:lstStyle/>
                    <a:p>
                      <a:pPr>
                        <a:buNone/>
                      </a:pPr>
                      <a:r>
                        <a:rPr lang="en-US" sz="1600">
                          <a:latin typeface="Courier New" panose="02070309020205020404" pitchFamily="49" charset="0"/>
                        </a:rPr>
                        <a:t>passengers_x_peak</a:t>
                      </a:r>
                      <a:endParaRPr lang="en-US" sz="1600"/>
                    </a:p>
                  </a:txBody>
                  <a:tcPr anchor="ctr"/>
                </a:tc>
                <a:tc>
                  <a:txBody>
                    <a:bodyPr/>
                    <a:lstStyle/>
                    <a:p>
                      <a:pPr>
                        <a:buNone/>
                      </a:pPr>
                      <a:r>
                        <a:rPr lang="en-US" sz="1600"/>
                        <a:t>Captures combined effect of passenger demand and peak hours.</a:t>
                      </a:r>
                    </a:p>
                  </a:txBody>
                  <a:tcPr anchor="ctr"/>
                </a:tc>
                <a:extLst>
                  <a:ext uri="{0D108BD9-81ED-4DB2-BD59-A6C34878D82A}">
                    <a16:rowId xmlns:a16="http://schemas.microsoft.com/office/drawing/2014/main" val="1911860932"/>
                  </a:ext>
                </a:extLst>
              </a:tr>
              <a:tr h="576000">
                <a:tc vMerge="1">
                  <a:txBody>
                    <a:bodyPr/>
                    <a:lstStyle/>
                    <a:p>
                      <a:endParaRPr/>
                    </a:p>
                  </a:txBody>
                  <a:tcPr anchor="ctr"/>
                </a:tc>
                <a:tc>
                  <a:txBody>
                    <a:bodyPr/>
                    <a:lstStyle/>
                    <a:p>
                      <a:pPr>
                        <a:buNone/>
                      </a:pPr>
                      <a:r>
                        <a:rPr lang="en-US" sz="1600">
                          <a:latin typeface="Courier New" panose="02070309020205020404" pitchFamily="49" charset="0"/>
                        </a:rPr>
                        <a:t>stops_x_passengers</a:t>
                      </a:r>
                      <a:endParaRPr lang="en-US" sz="1600"/>
                    </a:p>
                  </a:txBody>
                  <a:tcPr anchor="ctr"/>
                </a:tc>
                <a:tc>
                  <a:txBody>
                    <a:bodyPr/>
                    <a:lstStyle/>
                    <a:p>
                      <a:pPr>
                        <a:buNone/>
                      </a:pPr>
                      <a:r>
                        <a:rPr lang="en-US" sz="1600"/>
                        <a:t>Captures combined effect of number of stops and passenger volume.</a:t>
                      </a:r>
                    </a:p>
                  </a:txBody>
                  <a:tcPr anchor="ctr"/>
                </a:tc>
                <a:extLst>
                  <a:ext uri="{0D108BD9-81ED-4DB2-BD59-A6C34878D82A}">
                    <a16:rowId xmlns:a16="http://schemas.microsoft.com/office/drawing/2014/main" val="91184162"/>
                  </a:ext>
                </a:extLst>
              </a:tr>
              <a:tr h="576000">
                <a:tc vMerge="1">
                  <a:txBody>
                    <a:bodyPr/>
                    <a:lstStyle/>
                    <a:p>
                      <a:endParaRPr dirty="0"/>
                    </a:p>
                  </a:txBody>
                  <a:tcPr anchor="ctr"/>
                </a:tc>
                <a:tc>
                  <a:txBody>
                    <a:bodyPr/>
                    <a:lstStyle/>
                    <a:p>
                      <a:pPr>
                        <a:buNone/>
                      </a:pPr>
                      <a:r>
                        <a:rPr lang="en-US" sz="1600">
                          <a:latin typeface="Courier New" panose="02070309020205020404" pitchFamily="49" charset="0"/>
                        </a:rPr>
                        <a:t>night_x_long_route</a:t>
                      </a:r>
                      <a:endParaRPr lang="en-US" sz="1600"/>
                    </a:p>
                  </a:txBody>
                  <a:tcPr anchor="ctr"/>
                </a:tc>
                <a:tc>
                  <a:txBody>
                    <a:bodyPr/>
                    <a:lstStyle/>
                    <a:p>
                      <a:pPr>
                        <a:buNone/>
                      </a:pPr>
                      <a:r>
                        <a:rPr lang="en-US" sz="1600"/>
                        <a:t>Captures interaction between night operation and route length.</a:t>
                      </a:r>
                    </a:p>
                  </a:txBody>
                  <a:tcPr anchor="ctr"/>
                </a:tc>
                <a:extLst>
                  <a:ext uri="{0D108BD9-81ED-4DB2-BD59-A6C34878D82A}">
                    <a16:rowId xmlns:a16="http://schemas.microsoft.com/office/drawing/2014/main" val="3086938858"/>
                  </a:ext>
                </a:extLst>
              </a:tr>
              <a:tr h="576000">
                <a:tc>
                  <a:txBody>
                    <a:bodyPr/>
                    <a:lstStyle/>
                    <a:p>
                      <a:pPr>
                        <a:buNone/>
                      </a:pPr>
                      <a:r>
                        <a:rPr lang="en-US" sz="1600"/>
                        <a:t>Combined identifier</a:t>
                      </a:r>
                    </a:p>
                  </a:txBody>
                  <a:tcPr anchor="ctr"/>
                </a:tc>
                <a:tc>
                  <a:txBody>
                    <a:bodyPr/>
                    <a:lstStyle/>
                    <a:p>
                      <a:pPr>
                        <a:buNone/>
                      </a:pPr>
                      <a:r>
                        <a:rPr lang="en-US" sz="1600">
                          <a:latin typeface="Courier New" panose="02070309020205020404" pitchFamily="49" charset="0"/>
                        </a:rPr>
                        <a:t>agency_linenum_dir_alter</a:t>
                      </a:r>
                      <a:endParaRPr lang="en-US" sz="1600"/>
                    </a:p>
                  </a:txBody>
                  <a:tcPr anchor="ctr"/>
                </a:tc>
                <a:tc>
                  <a:txBody>
                    <a:bodyPr/>
                    <a:lstStyle/>
                    <a:p>
                      <a:pPr>
                        <a:buNone/>
                      </a:pPr>
                      <a:r>
                        <a:rPr lang="en-US" sz="1600"/>
                        <a:t>Creates a detailed operational line identifier from agency, line number, direction, and alternative.</a:t>
                      </a:r>
                    </a:p>
                  </a:txBody>
                  <a:tcPr anchor="ctr"/>
                </a:tc>
                <a:extLst>
                  <a:ext uri="{0D108BD9-81ED-4DB2-BD59-A6C34878D82A}">
                    <a16:rowId xmlns:a16="http://schemas.microsoft.com/office/drawing/2014/main" val="892234338"/>
                  </a:ext>
                </a:extLst>
              </a:tr>
              <a:tr h="576000">
                <a:tc>
                  <a:txBody>
                    <a:bodyPr/>
                    <a:lstStyle/>
                    <a:p>
                      <a:pPr>
                        <a:buNone/>
                      </a:pPr>
                      <a:r>
                        <a:rPr lang="en-US" sz="1600" dirty="0"/>
                        <a:t>Probability feature</a:t>
                      </a:r>
                    </a:p>
                  </a:txBody>
                  <a:tcPr anchor="ctr"/>
                </a:tc>
                <a:tc>
                  <a:txBody>
                    <a:bodyPr/>
                    <a:lstStyle/>
                    <a:p>
                      <a:pPr>
                        <a:buNone/>
                      </a:pPr>
                      <a:r>
                        <a:rPr lang="en-US" sz="1600">
                          <a:latin typeface="Courier New" panose="02070309020205020404" pitchFamily="49" charset="0"/>
                        </a:rPr>
                        <a:t>early_by_hour_length_proba</a:t>
                      </a:r>
                      <a:endParaRPr lang="en-US" sz="1600"/>
                    </a:p>
                  </a:txBody>
                  <a:tcPr anchor="ctr"/>
                </a:tc>
                <a:tc>
                  <a:txBody>
                    <a:bodyPr/>
                    <a:lstStyle/>
                    <a:p>
                      <a:pPr>
                        <a:buNone/>
                      </a:pPr>
                      <a:r>
                        <a:rPr lang="en-US" sz="1600"/>
                        <a:t>Adds historical probability of early arrival by hour and route-length category.</a:t>
                      </a:r>
                    </a:p>
                  </a:txBody>
                  <a:tcPr anchor="ctr"/>
                </a:tc>
                <a:extLst>
                  <a:ext uri="{0D108BD9-81ED-4DB2-BD59-A6C34878D82A}">
                    <a16:rowId xmlns:a16="http://schemas.microsoft.com/office/drawing/2014/main" val="3722130940"/>
                  </a:ext>
                </a:extLst>
              </a:tr>
              <a:tr h="576000">
                <a:tc>
                  <a:txBody>
                    <a:bodyPr/>
                    <a:lstStyle/>
                    <a:p>
                      <a:pPr>
                        <a:buNone/>
                      </a:pPr>
                      <a:r>
                        <a:rPr lang="en-US" sz="1600"/>
                        <a:t>Route segmentation</a:t>
                      </a:r>
                    </a:p>
                  </a:txBody>
                  <a:tcPr anchor="ctr"/>
                </a:tc>
                <a:tc>
                  <a:txBody>
                    <a:bodyPr/>
                    <a:lstStyle/>
                    <a:p>
                      <a:pPr>
                        <a:buNone/>
                      </a:pPr>
                      <a:r>
                        <a:rPr lang="en-US" sz="1600">
                          <a:latin typeface="Courier New" panose="02070309020205020404" pitchFamily="49" charset="0"/>
                        </a:rPr>
                        <a:t>route_length_bin</a:t>
                      </a:r>
                      <a:endParaRPr lang="en-US" sz="1600"/>
                    </a:p>
                  </a:txBody>
                  <a:tcPr anchor="ctr"/>
                </a:tc>
                <a:tc>
                  <a:txBody>
                    <a:bodyPr/>
                    <a:lstStyle/>
                    <a:p>
                      <a:pPr>
                        <a:buNone/>
                      </a:pPr>
                      <a:r>
                        <a:rPr lang="en-US" sz="1600" dirty="0"/>
                        <a:t>Categorizes routes into short, medium, and long groups.</a:t>
                      </a:r>
                    </a:p>
                  </a:txBody>
                  <a:tcPr anchor="ctr"/>
                </a:tc>
                <a:extLst>
                  <a:ext uri="{0D108BD9-81ED-4DB2-BD59-A6C34878D82A}">
                    <a16:rowId xmlns:a16="http://schemas.microsoft.com/office/drawing/2014/main" val="1326822313"/>
                  </a:ext>
                </a:extLst>
              </a:tr>
            </a:tbl>
          </a:graphicData>
        </a:graphic>
      </p:graphicFrame>
      <p:sp>
        <p:nvSpPr>
          <p:cNvPr id="5" name="Text 19">
            <a:extLst>
              <a:ext uri="{FF2B5EF4-FFF2-40B4-BE49-F238E27FC236}">
                <a16:creationId xmlns:a16="http://schemas.microsoft.com/office/drawing/2014/main" id="{F0512559-AFE4-AEC9-D0B4-AB23D53836DE}"/>
              </a:ext>
            </a:extLst>
          </p:cNvPr>
          <p:cNvSpPr/>
          <p:nvPr/>
        </p:nvSpPr>
        <p:spPr>
          <a:xfrm>
            <a:off x="2693668" y="9308149"/>
            <a:ext cx="14801715" cy="1033909"/>
          </a:xfrm>
          <a:prstGeom prst="rect">
            <a:avLst/>
          </a:prstGeom>
          <a:noFill/>
          <a:ln/>
        </p:spPr>
        <p:txBody>
          <a:bodyPr wrap="square" lIns="25400" tIns="25400" rIns="25400" bIns="25400" rtlCol="0" anchor="t">
            <a:normAutofit/>
          </a:bodyPr>
          <a:lstStyle/>
          <a:p>
            <a:pPr fontAlgn="ctr"/>
            <a:r>
              <a:rPr lang="en-US" sz="2400" b="1" dirty="0"/>
              <a:t>Leakage Prevention</a:t>
            </a:r>
            <a:endParaRPr lang="en-IL" sz="2400" dirty="0"/>
          </a:p>
          <a:p>
            <a:pPr fontAlgn="ctr"/>
            <a:r>
              <a:rPr lang="en-US" sz="2400" dirty="0"/>
              <a:t>Probability features were calculated from the training dataset only and applied to validation/test.</a:t>
            </a:r>
          </a:p>
        </p:txBody>
      </p:sp>
    </p:spTree>
    <p:extLst>
      <p:ext uri="{BB962C8B-B14F-4D97-AF65-F5344CB8AC3E}">
        <p14:creationId xmlns:p14="http://schemas.microsoft.com/office/powerpoint/2010/main" val="79435170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0">
    <p:bg>
      <p:bgPr>
        <a:solidFill>
          <a:srgbClr val="F5F1E8"/>
        </a:solidFill>
        <a:effectLst/>
      </p:bgPr>
    </p:bg>
    <p:spTree>
      <p:nvGrpSpPr>
        <p:cNvPr id="1" name=""/>
        <p:cNvGrpSpPr/>
        <p:nvPr/>
      </p:nvGrpSpPr>
      <p:grpSpPr>
        <a:xfrm>
          <a:off x="0" y="0"/>
          <a:ext cx="0" cy="0"/>
          <a:chOff x="0" y="0"/>
          <a:chExt cx="0" cy="0"/>
        </a:xfrm>
      </p:grpSpPr>
      <p:sp>
        <p:nvSpPr>
          <p:cNvPr id="2" name="Shape 0"/>
          <p:cNvSpPr/>
          <p:nvPr/>
        </p:nvSpPr>
        <p:spPr>
          <a:xfrm>
            <a:off x="0" y="0"/>
            <a:ext cx="2095500" cy="10287000"/>
          </a:xfrm>
          <a:prstGeom prst="rect">
            <a:avLst/>
          </a:prstGeom>
          <a:solidFill>
            <a:srgbClr val="EBE5D6"/>
          </a:solidFill>
          <a:ln/>
        </p:spPr>
        <p:txBody>
          <a:bodyPr/>
          <a:lstStyle/>
          <a:p>
            <a:endParaRPr lang="he-IL"/>
          </a:p>
        </p:txBody>
      </p:sp>
      <p:sp>
        <p:nvSpPr>
          <p:cNvPr id="3" name="Shape 1"/>
          <p:cNvSpPr/>
          <p:nvPr/>
        </p:nvSpPr>
        <p:spPr>
          <a:xfrm>
            <a:off x="2085975" y="0"/>
            <a:ext cx="9525" cy="10287000"/>
          </a:xfrm>
          <a:prstGeom prst="rect">
            <a:avLst/>
          </a:prstGeom>
          <a:solidFill>
            <a:srgbClr val="D4CDBC"/>
          </a:solidFill>
          <a:ln/>
        </p:spPr>
        <p:txBody>
          <a:bodyPr/>
          <a:lstStyle/>
          <a:p>
            <a:endParaRPr lang="he-IL"/>
          </a:p>
        </p:txBody>
      </p:sp>
      <p:sp>
        <p:nvSpPr>
          <p:cNvPr id="19" name="Text 17"/>
          <p:cNvSpPr/>
          <p:nvPr/>
        </p:nvSpPr>
        <p:spPr>
          <a:xfrm>
            <a:off x="2781300" y="571500"/>
            <a:ext cx="15187041" cy="171450"/>
          </a:xfrm>
          <a:prstGeom prst="rect">
            <a:avLst/>
          </a:prstGeom>
          <a:noFill/>
          <a:ln/>
        </p:spPr>
        <p:txBody>
          <a:bodyPr wrap="square" lIns="25400" tIns="25400" rIns="25400" bIns="25400" rtlCol="0" anchor="ctr">
            <a:noAutofit/>
          </a:bodyPr>
          <a:lstStyle/>
          <a:p>
            <a:pPr marL="0" indent="0" algn="l">
              <a:buNone/>
            </a:pPr>
            <a:r>
              <a:rPr lang="en-US" sz="1400" kern="0" spc="182" dirty="0">
                <a:solidFill>
                  <a:srgbClr val="888080"/>
                </a:solidFill>
                <a:latin typeface="JetBrains Mono" pitchFamily="34" charset="0"/>
                <a:ea typeface="JetBrains Mono" pitchFamily="34" charset="-122"/>
                <a:cs typeface="JetBrains Mono" pitchFamily="34" charset="-120"/>
              </a:rPr>
              <a:t>PIPELINE · 06 · CATEGORICAL → NUMERIC</a:t>
            </a:r>
            <a:endParaRPr lang="en-US" sz="1400" dirty="0"/>
          </a:p>
        </p:txBody>
      </p:sp>
      <p:sp>
        <p:nvSpPr>
          <p:cNvPr id="20" name="Text 18"/>
          <p:cNvSpPr/>
          <p:nvPr/>
        </p:nvSpPr>
        <p:spPr>
          <a:xfrm>
            <a:off x="2781300" y="914400"/>
            <a:ext cx="15187041" cy="643830"/>
          </a:xfrm>
          <a:prstGeom prst="rect">
            <a:avLst/>
          </a:prstGeom>
          <a:noFill/>
          <a:ln/>
        </p:spPr>
        <p:txBody>
          <a:bodyPr wrap="square" lIns="25400" tIns="25400" rIns="25400" bIns="25400" rtlCol="0" anchor="t">
            <a:normAutofit fontScale="92500" lnSpcReduction="20000"/>
          </a:bodyPr>
          <a:lstStyle/>
          <a:p>
            <a:pPr marL="0" indent="0" algn="l">
              <a:lnSpc>
                <a:spcPct val="106000"/>
              </a:lnSpc>
              <a:buNone/>
            </a:pPr>
            <a:r>
              <a:rPr lang="en-US" sz="4500" kern="0" spc="-81" dirty="0">
                <a:solidFill>
                  <a:srgbClr val="1A1A1A"/>
                </a:solidFill>
                <a:latin typeface="Instrument Serif" pitchFamily="34" charset="0"/>
                <a:ea typeface="Instrument Serif" pitchFamily="34" charset="-122"/>
                <a:cs typeface="Instrument Serif" pitchFamily="34" charset="-120"/>
              </a:rPr>
              <a:t>Encoding </a:t>
            </a:r>
            <a:r>
              <a:rPr lang="en-US" sz="4500" i="1" kern="0" spc="-81" dirty="0">
                <a:solidFill>
                  <a:srgbClr val="C25A2A"/>
                </a:solidFill>
                <a:latin typeface="Instrument Serif" pitchFamily="34" charset="0"/>
                <a:ea typeface="Instrument Serif" pitchFamily="34" charset="-122"/>
                <a:cs typeface="Instrument Serif" pitchFamily="34" charset="-120"/>
              </a:rPr>
              <a:t>categoricals.</a:t>
            </a:r>
            <a:endParaRPr lang="en-US" sz="4500" dirty="0"/>
          </a:p>
        </p:txBody>
      </p:sp>
      <p:sp>
        <p:nvSpPr>
          <p:cNvPr id="40" name="Text 16">
            <a:extLst>
              <a:ext uri="{FF2B5EF4-FFF2-40B4-BE49-F238E27FC236}">
                <a16:creationId xmlns:a16="http://schemas.microsoft.com/office/drawing/2014/main" id="{A3954B4D-E812-193D-C746-B3F5AD907881}"/>
              </a:ext>
            </a:extLst>
          </p:cNvPr>
          <p:cNvSpPr/>
          <p:nvPr/>
        </p:nvSpPr>
        <p:spPr>
          <a:xfrm>
            <a:off x="266700" y="9410700"/>
            <a:ext cx="1628775" cy="342900"/>
          </a:xfrm>
          <a:prstGeom prst="rect">
            <a:avLst/>
          </a:prstGeom>
          <a:noFill/>
          <a:ln/>
        </p:spPr>
        <p:txBody>
          <a:bodyPr wrap="square" lIns="25400" tIns="25400" rIns="25400" bIns="25400" rtlCol="0" anchor="t">
            <a:noAutofit/>
          </a:bodyPr>
          <a:lstStyle/>
          <a:p>
            <a:pPr>
              <a:lnSpc>
                <a:spcPct val="160000"/>
              </a:lnSpc>
            </a:pPr>
            <a:r>
              <a:rPr lang="en-US" sz="1400" b="1" kern="0" spc="105" dirty="0">
                <a:solidFill>
                  <a:srgbClr val="1A1A1A"/>
                </a:solidFill>
                <a:latin typeface="JetBrains Mono" pitchFamily="34" charset="0"/>
                <a:ea typeface="JetBrains Mono" pitchFamily="34" charset="-122"/>
                <a:cs typeface="JetBrains Mono" pitchFamily="34" charset="-120"/>
              </a:rPr>
              <a:t>21 / 34</a:t>
            </a:r>
            <a:endParaRPr lang="en-US" sz="1400" dirty="0"/>
          </a:p>
        </p:txBody>
      </p:sp>
      <p:sp>
        <p:nvSpPr>
          <p:cNvPr id="41" name="Text 4">
            <a:extLst>
              <a:ext uri="{FF2B5EF4-FFF2-40B4-BE49-F238E27FC236}">
                <a16:creationId xmlns:a16="http://schemas.microsoft.com/office/drawing/2014/main" id="{DE04D169-D858-C0DA-E5EA-BB9B2C9AC9E9}"/>
              </a:ext>
            </a:extLst>
          </p:cNvPr>
          <p:cNvSpPr/>
          <p:nvPr/>
        </p:nvSpPr>
        <p:spPr>
          <a:xfrm>
            <a:off x="228063" y="1524367"/>
            <a:ext cx="372012" cy="200025"/>
          </a:xfrm>
          <a:prstGeom prst="rect">
            <a:avLst/>
          </a:prstGeom>
          <a:noFill/>
          <a:ln/>
        </p:spPr>
        <p:txBody>
          <a:bodyPr wrap="square" lIns="25400" tIns="25400" rIns="25400" bIns="25400" rtlCol="0" anchor="t">
            <a:noAutofit/>
          </a:bodyPr>
          <a:lstStyle/>
          <a:p>
            <a:pPr marL="0" indent="0" algn="l">
              <a:lnSpc>
                <a:spcPct val="130000"/>
              </a:lnSpc>
              <a:buNone/>
            </a:pPr>
            <a:r>
              <a:rPr lang="en-US" sz="1400" kern="0" spc="21" dirty="0">
                <a:solidFill>
                  <a:srgbClr val="888080"/>
                </a:solidFill>
                <a:latin typeface="Inter" pitchFamily="34" charset="0"/>
                <a:ea typeface="Inter" pitchFamily="34" charset="-122"/>
              </a:rPr>
              <a:t>01</a:t>
            </a:r>
          </a:p>
        </p:txBody>
      </p:sp>
      <p:sp>
        <p:nvSpPr>
          <p:cNvPr id="42" name="Text 5">
            <a:extLst>
              <a:ext uri="{FF2B5EF4-FFF2-40B4-BE49-F238E27FC236}">
                <a16:creationId xmlns:a16="http://schemas.microsoft.com/office/drawing/2014/main" id="{3FB4E97A-B125-0B97-F65D-1DFADF2F9098}"/>
              </a:ext>
            </a:extLst>
          </p:cNvPr>
          <p:cNvSpPr/>
          <p:nvPr/>
        </p:nvSpPr>
        <p:spPr>
          <a:xfrm>
            <a:off x="523875" y="1522975"/>
            <a:ext cx="876300" cy="476251"/>
          </a:xfrm>
          <a:prstGeom prst="rect">
            <a:avLst/>
          </a:prstGeom>
          <a:noFill/>
          <a:ln/>
        </p:spPr>
        <p:txBody>
          <a:bodyPr wrap="square" lIns="25400" tIns="25400" rIns="25400" bIns="25400" rtlCol="0" anchor="t">
            <a:normAutofit/>
          </a:bodyPr>
          <a:lstStyle/>
          <a:p>
            <a:pPr marL="0" indent="0" algn="l">
              <a:lnSpc>
                <a:spcPct val="130000"/>
              </a:lnSpc>
              <a:buNone/>
            </a:pPr>
            <a:r>
              <a:rPr lang="en-US" sz="1400" kern="0" spc="21" dirty="0">
                <a:solidFill>
                  <a:srgbClr val="888080"/>
                </a:solidFill>
                <a:latin typeface="Inter" pitchFamily="34" charset="0"/>
                <a:ea typeface="Inter" pitchFamily="34" charset="-122"/>
              </a:rPr>
              <a:t>Agenda</a:t>
            </a:r>
          </a:p>
        </p:txBody>
      </p:sp>
      <p:sp>
        <p:nvSpPr>
          <p:cNvPr id="43" name="Text 6">
            <a:extLst>
              <a:ext uri="{FF2B5EF4-FFF2-40B4-BE49-F238E27FC236}">
                <a16:creationId xmlns:a16="http://schemas.microsoft.com/office/drawing/2014/main" id="{E1EEA6A2-68F9-6D4F-5DD9-DEE17F108C6A}"/>
              </a:ext>
            </a:extLst>
          </p:cNvPr>
          <p:cNvSpPr/>
          <p:nvPr/>
        </p:nvSpPr>
        <p:spPr>
          <a:xfrm>
            <a:off x="228063" y="1830953"/>
            <a:ext cx="372010" cy="194877"/>
          </a:xfrm>
          <a:prstGeom prst="rect">
            <a:avLst/>
          </a:prstGeom>
          <a:noFill/>
          <a:ln/>
        </p:spPr>
        <p:txBody>
          <a:bodyPr wrap="square" lIns="25400" tIns="25400" rIns="25400" bIns="25400" rtlCol="0" anchor="t">
            <a:noAutofit/>
          </a:bodyPr>
          <a:lstStyle/>
          <a:p>
            <a:pPr marL="0" indent="0" algn="l">
              <a:lnSpc>
                <a:spcPct val="130000"/>
              </a:lnSpc>
              <a:buNone/>
            </a:pPr>
            <a:r>
              <a:rPr lang="en-US" sz="1400" kern="0" spc="21" dirty="0">
                <a:solidFill>
                  <a:srgbClr val="888080"/>
                </a:solidFill>
                <a:latin typeface="Inter" pitchFamily="34" charset="0"/>
                <a:ea typeface="Inter" pitchFamily="34" charset="-122"/>
              </a:rPr>
              <a:t>02</a:t>
            </a:r>
          </a:p>
        </p:txBody>
      </p:sp>
      <p:sp>
        <p:nvSpPr>
          <p:cNvPr id="44" name="Text 8">
            <a:extLst>
              <a:ext uri="{FF2B5EF4-FFF2-40B4-BE49-F238E27FC236}">
                <a16:creationId xmlns:a16="http://schemas.microsoft.com/office/drawing/2014/main" id="{C44C05ED-D6F0-BF41-6D1C-18B09E5655B3}"/>
              </a:ext>
            </a:extLst>
          </p:cNvPr>
          <p:cNvSpPr/>
          <p:nvPr/>
        </p:nvSpPr>
        <p:spPr>
          <a:xfrm>
            <a:off x="230504" y="2152895"/>
            <a:ext cx="302895" cy="141422"/>
          </a:xfrm>
          <a:prstGeom prst="rect">
            <a:avLst/>
          </a:prstGeom>
          <a:noFill/>
          <a:ln/>
        </p:spPr>
        <p:txBody>
          <a:bodyPr wrap="square" lIns="25400" tIns="25400" rIns="25400" bIns="25400" rtlCol="0" anchor="t">
            <a:noAutofit/>
          </a:bodyPr>
          <a:lstStyle/>
          <a:p>
            <a:pPr marL="0" indent="0" algn="l">
              <a:lnSpc>
                <a:spcPct val="130000"/>
              </a:lnSpc>
              <a:buNone/>
            </a:pPr>
            <a:r>
              <a:rPr lang="en-US" sz="1400" kern="0" spc="21" dirty="0">
                <a:solidFill>
                  <a:srgbClr val="888080"/>
                </a:solidFill>
                <a:latin typeface="Inter" pitchFamily="34" charset="0"/>
                <a:ea typeface="Inter" pitchFamily="34" charset="-122"/>
              </a:rPr>
              <a:t>03</a:t>
            </a:r>
          </a:p>
        </p:txBody>
      </p:sp>
      <p:sp>
        <p:nvSpPr>
          <p:cNvPr id="45" name="Text 9">
            <a:extLst>
              <a:ext uri="{FF2B5EF4-FFF2-40B4-BE49-F238E27FC236}">
                <a16:creationId xmlns:a16="http://schemas.microsoft.com/office/drawing/2014/main" id="{9502CFF2-7E65-B3C2-1394-300669EC9895}"/>
              </a:ext>
            </a:extLst>
          </p:cNvPr>
          <p:cNvSpPr/>
          <p:nvPr/>
        </p:nvSpPr>
        <p:spPr>
          <a:xfrm>
            <a:off x="531240" y="2145027"/>
            <a:ext cx="1185416" cy="342476"/>
          </a:xfrm>
          <a:prstGeom prst="rect">
            <a:avLst/>
          </a:prstGeom>
          <a:noFill/>
          <a:ln/>
        </p:spPr>
        <p:txBody>
          <a:bodyPr wrap="square" lIns="25400" tIns="25400" rIns="25400" bIns="25400" rtlCol="0" anchor="t">
            <a:normAutofit/>
          </a:bodyPr>
          <a:lstStyle/>
          <a:p>
            <a:pPr marL="0" indent="0" algn="l">
              <a:lnSpc>
                <a:spcPct val="130000"/>
              </a:lnSpc>
              <a:buNone/>
            </a:pPr>
            <a:r>
              <a:rPr lang="en-US" sz="1400" kern="0" spc="21" dirty="0">
                <a:solidFill>
                  <a:srgbClr val="888080"/>
                </a:solidFill>
                <a:latin typeface="Inter" pitchFamily="34" charset="0"/>
                <a:ea typeface="Inter" pitchFamily="34" charset="-122"/>
              </a:rPr>
              <a:t>EDA</a:t>
            </a:r>
          </a:p>
        </p:txBody>
      </p:sp>
      <p:sp>
        <p:nvSpPr>
          <p:cNvPr id="46" name="Text 10">
            <a:extLst>
              <a:ext uri="{FF2B5EF4-FFF2-40B4-BE49-F238E27FC236}">
                <a16:creationId xmlns:a16="http://schemas.microsoft.com/office/drawing/2014/main" id="{F340EFAA-C652-D50B-2054-54FE91EE8D0D}"/>
              </a:ext>
            </a:extLst>
          </p:cNvPr>
          <p:cNvSpPr/>
          <p:nvPr/>
        </p:nvSpPr>
        <p:spPr>
          <a:xfrm>
            <a:off x="228062" y="2444125"/>
            <a:ext cx="305337" cy="172132"/>
          </a:xfrm>
          <a:prstGeom prst="rect">
            <a:avLst/>
          </a:prstGeom>
          <a:noFill/>
          <a:ln/>
        </p:spPr>
        <p:txBody>
          <a:bodyPr wrap="square" lIns="25400" tIns="25400" rIns="25400" bIns="25400" rtlCol="0" anchor="t">
            <a:noAutofit/>
          </a:bodyPr>
          <a:lstStyle/>
          <a:p>
            <a:pPr marL="0" indent="0" algn="l">
              <a:lnSpc>
                <a:spcPct val="130000"/>
              </a:lnSpc>
              <a:buNone/>
            </a:pPr>
            <a:r>
              <a:rPr lang="en-US" sz="1400" b="1" kern="0" spc="21" dirty="0">
                <a:solidFill>
                  <a:srgbClr val="C25A2A"/>
                </a:solidFill>
                <a:latin typeface="JetBrains Mono" pitchFamily="34" charset="0"/>
                <a:ea typeface="JetBrains Mono" pitchFamily="34" charset="-122"/>
              </a:rPr>
              <a:t>04</a:t>
            </a:r>
          </a:p>
        </p:txBody>
      </p:sp>
      <p:sp>
        <p:nvSpPr>
          <p:cNvPr id="47" name="Text 12">
            <a:extLst>
              <a:ext uri="{FF2B5EF4-FFF2-40B4-BE49-F238E27FC236}">
                <a16:creationId xmlns:a16="http://schemas.microsoft.com/office/drawing/2014/main" id="{A7BC867B-70A7-9761-B4CA-B54A21CF5ED9}"/>
              </a:ext>
            </a:extLst>
          </p:cNvPr>
          <p:cNvSpPr/>
          <p:nvPr/>
        </p:nvSpPr>
        <p:spPr>
          <a:xfrm>
            <a:off x="228062" y="2750711"/>
            <a:ext cx="372011" cy="158880"/>
          </a:xfrm>
          <a:prstGeom prst="rect">
            <a:avLst/>
          </a:prstGeom>
          <a:noFill/>
          <a:ln/>
        </p:spPr>
        <p:txBody>
          <a:bodyPr wrap="square" lIns="25400" tIns="25400" rIns="25400" bIns="25400" rtlCol="0" anchor="t">
            <a:noAutofit/>
          </a:bodyPr>
          <a:lstStyle/>
          <a:p>
            <a:pPr marL="0" indent="0" algn="l">
              <a:lnSpc>
                <a:spcPct val="130000"/>
              </a:lnSpc>
              <a:buNone/>
            </a:pPr>
            <a:r>
              <a:rPr lang="en-US" sz="1400" kern="0" spc="21" dirty="0">
                <a:solidFill>
                  <a:srgbClr val="888080"/>
                </a:solidFill>
                <a:latin typeface="JetBrains Mono" pitchFamily="34" charset="0"/>
                <a:ea typeface="JetBrains Mono" pitchFamily="34" charset="-122"/>
                <a:cs typeface="JetBrains Mono" pitchFamily="34" charset="-120"/>
              </a:rPr>
              <a:t>05</a:t>
            </a:r>
            <a:endParaRPr lang="en-US" sz="1400" dirty="0"/>
          </a:p>
        </p:txBody>
      </p:sp>
      <p:sp>
        <p:nvSpPr>
          <p:cNvPr id="48" name="Text 13">
            <a:extLst>
              <a:ext uri="{FF2B5EF4-FFF2-40B4-BE49-F238E27FC236}">
                <a16:creationId xmlns:a16="http://schemas.microsoft.com/office/drawing/2014/main" id="{2E236A1A-0509-C0E3-7496-CF07082D1E6A}"/>
              </a:ext>
            </a:extLst>
          </p:cNvPr>
          <p:cNvSpPr/>
          <p:nvPr/>
        </p:nvSpPr>
        <p:spPr>
          <a:xfrm>
            <a:off x="533399" y="2725489"/>
            <a:ext cx="948333" cy="761256"/>
          </a:xfrm>
          <a:prstGeom prst="rect">
            <a:avLst/>
          </a:prstGeom>
          <a:noFill/>
          <a:ln/>
        </p:spPr>
        <p:txBody>
          <a:bodyPr wrap="square" lIns="25400" tIns="25400" rIns="25400" bIns="25400" rtlCol="0" anchor="t">
            <a:normAutofit/>
          </a:bodyPr>
          <a:lstStyle/>
          <a:p>
            <a:pPr marL="0" indent="0" algn="l">
              <a:lnSpc>
                <a:spcPct val="130000"/>
              </a:lnSpc>
              <a:buNone/>
            </a:pPr>
            <a:r>
              <a:rPr lang="en-US" sz="1400" kern="0" spc="21" dirty="0">
                <a:solidFill>
                  <a:srgbClr val="888080"/>
                </a:solidFill>
                <a:latin typeface="Inter" pitchFamily="34" charset="0"/>
                <a:ea typeface="Inter" pitchFamily="34" charset="-122"/>
                <a:cs typeface="Inter" pitchFamily="34" charset="-120"/>
              </a:rPr>
              <a:t>Modeling</a:t>
            </a:r>
            <a:endParaRPr lang="en-US" sz="1400" dirty="0"/>
          </a:p>
        </p:txBody>
      </p:sp>
      <p:sp>
        <p:nvSpPr>
          <p:cNvPr id="49" name="Text 14">
            <a:extLst>
              <a:ext uri="{FF2B5EF4-FFF2-40B4-BE49-F238E27FC236}">
                <a16:creationId xmlns:a16="http://schemas.microsoft.com/office/drawing/2014/main" id="{55128FEA-CE38-BAA6-321C-501A7FF74352}"/>
              </a:ext>
            </a:extLst>
          </p:cNvPr>
          <p:cNvSpPr/>
          <p:nvPr/>
        </p:nvSpPr>
        <p:spPr>
          <a:xfrm>
            <a:off x="235683" y="3042056"/>
            <a:ext cx="372010" cy="191463"/>
          </a:xfrm>
          <a:prstGeom prst="rect">
            <a:avLst/>
          </a:prstGeom>
          <a:noFill/>
          <a:ln/>
        </p:spPr>
        <p:txBody>
          <a:bodyPr wrap="square" lIns="25400" tIns="25400" rIns="25400" bIns="25400" rtlCol="0" anchor="t">
            <a:noAutofit/>
          </a:bodyPr>
          <a:lstStyle/>
          <a:p>
            <a:pPr marL="0" indent="0" algn="l">
              <a:lnSpc>
                <a:spcPct val="130000"/>
              </a:lnSpc>
              <a:buNone/>
            </a:pPr>
            <a:r>
              <a:rPr lang="en-US" sz="1400" kern="0" spc="21" dirty="0">
                <a:solidFill>
                  <a:srgbClr val="888080"/>
                </a:solidFill>
                <a:latin typeface="JetBrains Mono" pitchFamily="34" charset="0"/>
                <a:ea typeface="JetBrains Mono" pitchFamily="34" charset="-122"/>
                <a:cs typeface="JetBrains Mono" pitchFamily="34" charset="-120"/>
              </a:rPr>
              <a:t>06</a:t>
            </a:r>
            <a:endParaRPr lang="en-US" sz="1400" dirty="0"/>
          </a:p>
        </p:txBody>
      </p:sp>
      <p:sp>
        <p:nvSpPr>
          <p:cNvPr id="50" name="Text 15">
            <a:extLst>
              <a:ext uri="{FF2B5EF4-FFF2-40B4-BE49-F238E27FC236}">
                <a16:creationId xmlns:a16="http://schemas.microsoft.com/office/drawing/2014/main" id="{017D0DF7-D0B6-535E-291B-D95A794F0EBA}"/>
              </a:ext>
            </a:extLst>
          </p:cNvPr>
          <p:cNvSpPr/>
          <p:nvPr/>
        </p:nvSpPr>
        <p:spPr>
          <a:xfrm>
            <a:off x="533400" y="3032075"/>
            <a:ext cx="1185416" cy="626120"/>
          </a:xfrm>
          <a:prstGeom prst="rect">
            <a:avLst/>
          </a:prstGeom>
          <a:noFill/>
          <a:ln/>
        </p:spPr>
        <p:txBody>
          <a:bodyPr wrap="square" lIns="25400" tIns="25400" rIns="25400" bIns="25400" rtlCol="0" anchor="t">
            <a:normAutofit/>
          </a:bodyPr>
          <a:lstStyle/>
          <a:p>
            <a:pPr marL="0" indent="0" algn="l">
              <a:lnSpc>
                <a:spcPct val="130000"/>
              </a:lnSpc>
              <a:buNone/>
            </a:pPr>
            <a:r>
              <a:rPr lang="en-US" sz="1400" kern="0" spc="21" dirty="0">
                <a:solidFill>
                  <a:srgbClr val="888080"/>
                </a:solidFill>
                <a:latin typeface="Inter" pitchFamily="34" charset="0"/>
                <a:ea typeface="Inter" pitchFamily="34" charset="-122"/>
                <a:cs typeface="Inter" pitchFamily="34" charset="-120"/>
              </a:rPr>
              <a:t>Conclusions</a:t>
            </a:r>
            <a:endParaRPr lang="en-US" sz="1400" dirty="0"/>
          </a:p>
        </p:txBody>
      </p:sp>
      <p:sp>
        <p:nvSpPr>
          <p:cNvPr id="51" name="Text 9">
            <a:extLst>
              <a:ext uri="{FF2B5EF4-FFF2-40B4-BE49-F238E27FC236}">
                <a16:creationId xmlns:a16="http://schemas.microsoft.com/office/drawing/2014/main" id="{D98DB6A1-DBFF-F601-B2BA-96C4A74E8FAA}"/>
              </a:ext>
            </a:extLst>
          </p:cNvPr>
          <p:cNvSpPr/>
          <p:nvPr/>
        </p:nvSpPr>
        <p:spPr>
          <a:xfrm>
            <a:off x="538609" y="2426180"/>
            <a:ext cx="1185416" cy="342476"/>
          </a:xfrm>
          <a:prstGeom prst="rect">
            <a:avLst/>
          </a:prstGeom>
          <a:noFill/>
          <a:ln/>
        </p:spPr>
        <p:txBody>
          <a:bodyPr wrap="square" lIns="25400" tIns="25400" rIns="25400" bIns="25400" rtlCol="0" anchor="t">
            <a:normAutofit/>
          </a:bodyPr>
          <a:lstStyle/>
          <a:p>
            <a:pPr marL="0" indent="0" algn="l">
              <a:lnSpc>
                <a:spcPct val="130000"/>
              </a:lnSpc>
              <a:buNone/>
            </a:pPr>
            <a:r>
              <a:rPr lang="en-US" sz="1400" kern="0" spc="21" dirty="0">
                <a:solidFill>
                  <a:srgbClr val="1A1A1A"/>
                </a:solidFill>
                <a:latin typeface="Inter" pitchFamily="34" charset="0"/>
                <a:ea typeface="Inter" pitchFamily="34" charset="-122"/>
              </a:rPr>
              <a:t>Pipeline</a:t>
            </a:r>
          </a:p>
        </p:txBody>
      </p:sp>
      <p:sp>
        <p:nvSpPr>
          <p:cNvPr id="52" name="Text 7">
            <a:extLst>
              <a:ext uri="{FF2B5EF4-FFF2-40B4-BE49-F238E27FC236}">
                <a16:creationId xmlns:a16="http://schemas.microsoft.com/office/drawing/2014/main" id="{2BCD4916-9AFD-0458-6F1F-49BE3A59EF6F}"/>
              </a:ext>
            </a:extLst>
          </p:cNvPr>
          <p:cNvSpPr/>
          <p:nvPr/>
        </p:nvSpPr>
        <p:spPr>
          <a:xfrm>
            <a:off x="523875" y="1826620"/>
            <a:ext cx="1325700" cy="467696"/>
          </a:xfrm>
          <a:prstGeom prst="rect">
            <a:avLst/>
          </a:prstGeom>
          <a:noFill/>
          <a:ln/>
        </p:spPr>
        <p:txBody>
          <a:bodyPr wrap="square" lIns="25400" tIns="25400" rIns="25400" bIns="25400" rtlCol="0" anchor="t">
            <a:noAutofit/>
          </a:bodyPr>
          <a:lstStyle/>
          <a:p>
            <a:pPr marL="0" indent="0" algn="l">
              <a:lnSpc>
                <a:spcPct val="130000"/>
              </a:lnSpc>
              <a:buNone/>
            </a:pPr>
            <a:r>
              <a:rPr lang="en-US" sz="1400" kern="0" spc="21" dirty="0">
                <a:solidFill>
                  <a:srgbClr val="888080"/>
                </a:solidFill>
                <a:latin typeface="Inter" pitchFamily="34" charset="0"/>
                <a:ea typeface="Inter" pitchFamily="34" charset="-122"/>
              </a:rPr>
              <a:t>Data &amp; target</a:t>
            </a:r>
          </a:p>
        </p:txBody>
      </p:sp>
      <p:sp>
        <p:nvSpPr>
          <p:cNvPr id="53" name="Text 1">
            <a:extLst>
              <a:ext uri="{FF2B5EF4-FFF2-40B4-BE49-F238E27FC236}">
                <a16:creationId xmlns:a16="http://schemas.microsoft.com/office/drawing/2014/main" id="{1A475B57-D99A-C548-9160-60F561D67051}"/>
              </a:ext>
            </a:extLst>
          </p:cNvPr>
          <p:cNvSpPr/>
          <p:nvPr/>
        </p:nvSpPr>
        <p:spPr>
          <a:xfrm>
            <a:off x="261138" y="379598"/>
            <a:ext cx="1778457" cy="447678"/>
          </a:xfrm>
          <a:prstGeom prst="rect">
            <a:avLst/>
          </a:prstGeom>
          <a:noFill/>
          <a:ln/>
        </p:spPr>
        <p:txBody>
          <a:bodyPr wrap="square" lIns="25400" tIns="25400" rIns="25400" bIns="25400" rtlCol="0" anchor="t">
            <a:noAutofit/>
          </a:bodyPr>
          <a:lstStyle/>
          <a:p>
            <a:pPr marL="0" indent="0">
              <a:buNone/>
            </a:pPr>
            <a:r>
              <a:rPr lang="en-US" sz="1400" kern="0" spc="116" dirty="0">
                <a:solidFill>
                  <a:srgbClr val="888080"/>
                </a:solidFill>
                <a:latin typeface="JetBrains Mono" pitchFamily="34" charset="0"/>
                <a:ea typeface="JetBrains Mono" pitchFamily="34" charset="-122"/>
                <a:cs typeface="JetBrains Mono" pitchFamily="34" charset="-120"/>
              </a:rPr>
              <a:t>DS22 - Bar Ilan</a:t>
            </a:r>
            <a:br>
              <a:rPr lang="en-US" sz="1400" kern="0" spc="116" dirty="0">
                <a:solidFill>
                  <a:srgbClr val="888080"/>
                </a:solidFill>
                <a:latin typeface="JetBrains Mono" pitchFamily="34" charset="0"/>
                <a:ea typeface="JetBrains Mono" pitchFamily="34" charset="-122"/>
                <a:cs typeface="JetBrains Mono" pitchFamily="34" charset="-120"/>
              </a:rPr>
            </a:br>
            <a:r>
              <a:rPr lang="en-US" sz="1400" kern="0" spc="116" dirty="0">
                <a:solidFill>
                  <a:srgbClr val="888080"/>
                </a:solidFill>
                <a:latin typeface="JetBrains Mono" pitchFamily="34" charset="0"/>
                <a:ea typeface="JetBrains Mono" pitchFamily="34" charset="-122"/>
                <a:cs typeface="JetBrains Mono" pitchFamily="34" charset="-120"/>
              </a:rPr>
              <a:t>ML PROJECT</a:t>
            </a:r>
          </a:p>
          <a:p>
            <a:pPr marL="0" indent="0">
              <a:buNone/>
            </a:pPr>
            <a:r>
              <a:rPr lang="en-US" sz="1400" kern="0" spc="116" dirty="0">
                <a:solidFill>
                  <a:srgbClr val="888080"/>
                </a:solidFill>
                <a:latin typeface="JetBrains Mono" pitchFamily="34" charset="0"/>
                <a:ea typeface="JetBrains Mono" pitchFamily="34" charset="-122"/>
                <a:cs typeface="JetBrains Mono" pitchFamily="34" charset="-120"/>
              </a:rPr>
              <a:t>MAY 2026</a:t>
            </a:r>
            <a:endParaRPr lang="en-US" sz="1400" dirty="0"/>
          </a:p>
        </p:txBody>
      </p:sp>
      <p:graphicFrame>
        <p:nvGraphicFramePr>
          <p:cNvPr id="5" name="Table 4">
            <a:extLst>
              <a:ext uri="{FF2B5EF4-FFF2-40B4-BE49-F238E27FC236}">
                <a16:creationId xmlns:a16="http://schemas.microsoft.com/office/drawing/2014/main" id="{4F4C21FC-D6DE-E81D-D73D-7340C1629444}"/>
              </a:ext>
            </a:extLst>
          </p:cNvPr>
          <p:cNvGraphicFramePr>
            <a:graphicFrameLocks noGrp="1"/>
          </p:cNvGraphicFramePr>
          <p:nvPr>
            <p:extLst>
              <p:ext uri="{D42A27DB-BD31-4B8C-83A1-F6EECF244321}">
                <p14:modId xmlns:p14="http://schemas.microsoft.com/office/powerpoint/2010/main" val="3228231590"/>
              </p:ext>
            </p:extLst>
          </p:nvPr>
        </p:nvGraphicFramePr>
        <p:xfrm>
          <a:off x="2781300" y="2487503"/>
          <a:ext cx="13397784" cy="3141641"/>
        </p:xfrm>
        <a:graphic>
          <a:graphicData uri="http://schemas.openxmlformats.org/drawingml/2006/table">
            <a:tbl>
              <a:tblPr firstRow="1" bandRow="1">
                <a:tableStyleId>{8EC20E35-A176-4012-BC5E-935CFFF8708E}</a:tableStyleId>
              </a:tblPr>
              <a:tblGrid>
                <a:gridCol w="2743737">
                  <a:extLst>
                    <a:ext uri="{9D8B030D-6E8A-4147-A177-3AD203B41FA5}">
                      <a16:colId xmlns:a16="http://schemas.microsoft.com/office/drawing/2014/main" val="90184660"/>
                    </a:ext>
                  </a:extLst>
                </a:gridCol>
                <a:gridCol w="4272243">
                  <a:extLst>
                    <a:ext uri="{9D8B030D-6E8A-4147-A177-3AD203B41FA5}">
                      <a16:colId xmlns:a16="http://schemas.microsoft.com/office/drawing/2014/main" val="1299986043"/>
                    </a:ext>
                  </a:extLst>
                </a:gridCol>
                <a:gridCol w="6381804">
                  <a:extLst>
                    <a:ext uri="{9D8B030D-6E8A-4147-A177-3AD203B41FA5}">
                      <a16:colId xmlns:a16="http://schemas.microsoft.com/office/drawing/2014/main" val="3327933569"/>
                    </a:ext>
                  </a:extLst>
                </a:gridCol>
              </a:tblGrid>
              <a:tr h="462521">
                <a:tc>
                  <a:txBody>
                    <a:bodyPr/>
                    <a:lstStyle/>
                    <a:p>
                      <a:pPr>
                        <a:buNone/>
                      </a:pPr>
                      <a:r>
                        <a:rPr lang="en-US" dirty="0"/>
                        <a:t>Encoding Type</a:t>
                      </a:r>
                    </a:p>
                  </a:txBody>
                  <a:tcPr anchor="ctr"/>
                </a:tc>
                <a:tc>
                  <a:txBody>
                    <a:bodyPr/>
                    <a:lstStyle/>
                    <a:p>
                      <a:pPr>
                        <a:buNone/>
                      </a:pPr>
                      <a:r>
                        <a:rPr lang="en-US"/>
                        <a:t>Columns / Features</a:t>
                      </a:r>
                    </a:p>
                  </a:txBody>
                  <a:tcPr anchor="ctr"/>
                </a:tc>
                <a:tc>
                  <a:txBody>
                    <a:bodyPr/>
                    <a:lstStyle/>
                    <a:p>
                      <a:pPr>
                        <a:buNone/>
                      </a:pPr>
                      <a:r>
                        <a:rPr lang="en-US"/>
                        <a:t>Method</a:t>
                      </a:r>
                    </a:p>
                  </a:txBody>
                  <a:tcPr anchor="ctr"/>
                </a:tc>
                <a:extLst>
                  <a:ext uri="{0D108BD9-81ED-4DB2-BD59-A6C34878D82A}">
                    <a16:rowId xmlns:a16="http://schemas.microsoft.com/office/drawing/2014/main" val="4259311531"/>
                  </a:ext>
                </a:extLst>
              </a:tr>
              <a:tr h="576000">
                <a:tc rowSpan="2">
                  <a:txBody>
                    <a:bodyPr/>
                    <a:lstStyle/>
                    <a:p>
                      <a:pPr>
                        <a:buNone/>
                      </a:pPr>
                      <a:r>
                        <a:rPr lang="en-US" dirty="0"/>
                        <a:t>Ordinal encoding</a:t>
                      </a:r>
                    </a:p>
                  </a:txBody>
                  <a:tcPr anchor="ctr"/>
                </a:tc>
                <a:tc>
                  <a:txBody>
                    <a:bodyPr/>
                    <a:lstStyle/>
                    <a:p>
                      <a:pPr>
                        <a:buNone/>
                      </a:pPr>
                      <a:r>
                        <a:rPr lang="en-US">
                          <a:latin typeface="Courier New" panose="02070309020205020404" pitchFamily="49" charset="0"/>
                        </a:rPr>
                        <a:t>day</a:t>
                      </a:r>
                      <a:endParaRPr lang="en-US"/>
                    </a:p>
                  </a:txBody>
                  <a:tcPr anchor="ctr"/>
                </a:tc>
                <a:tc>
                  <a:txBody>
                    <a:bodyPr/>
                    <a:lstStyle/>
                    <a:p>
                      <a:pPr>
                        <a:buNone/>
                      </a:pPr>
                      <a:r>
                        <a:rPr lang="en-US"/>
                        <a:t>Encoded weekdays by order: Sunday = 0 → Saturday = 6.</a:t>
                      </a:r>
                    </a:p>
                  </a:txBody>
                  <a:tcPr anchor="ctr"/>
                </a:tc>
                <a:extLst>
                  <a:ext uri="{0D108BD9-81ED-4DB2-BD59-A6C34878D82A}">
                    <a16:rowId xmlns:a16="http://schemas.microsoft.com/office/drawing/2014/main" val="1715103509"/>
                  </a:ext>
                </a:extLst>
              </a:tr>
              <a:tr h="576000">
                <a:tc vMerge="1">
                  <a:txBody>
                    <a:bodyPr/>
                    <a:lstStyle/>
                    <a:p>
                      <a:pPr>
                        <a:buNone/>
                      </a:pPr>
                      <a:endParaRPr lang="en-US" dirty="0"/>
                    </a:p>
                  </a:txBody>
                  <a:tcPr anchor="ctr"/>
                </a:tc>
                <a:tc>
                  <a:txBody>
                    <a:bodyPr/>
                    <a:lstStyle/>
                    <a:p>
                      <a:pPr>
                        <a:buNone/>
                      </a:pPr>
                      <a:r>
                        <a:rPr lang="en-US">
                          <a:latin typeface="Courier New" panose="02070309020205020404" pitchFamily="49" charset="0"/>
                        </a:rPr>
                        <a:t>route_length_bin</a:t>
                      </a:r>
                      <a:endParaRPr lang="en-US"/>
                    </a:p>
                  </a:txBody>
                  <a:tcPr anchor="ctr"/>
                </a:tc>
                <a:tc>
                  <a:txBody>
                    <a:bodyPr/>
                    <a:lstStyle/>
                    <a:p>
                      <a:pPr>
                        <a:buNone/>
                      </a:pPr>
                      <a:r>
                        <a:rPr lang="en-US"/>
                        <a:t>Encoded route-length categories: </a:t>
                      </a:r>
                      <a:r>
                        <a:rPr lang="en-US">
                          <a:latin typeface="Courier New" panose="02070309020205020404" pitchFamily="49" charset="0"/>
                        </a:rPr>
                        <a:t>0-30k</a:t>
                      </a:r>
                      <a:r>
                        <a:rPr lang="en-US"/>
                        <a:t> = 0, </a:t>
                      </a:r>
                      <a:r>
                        <a:rPr lang="en-US">
                          <a:latin typeface="Courier New" panose="02070309020205020404" pitchFamily="49" charset="0"/>
                        </a:rPr>
                        <a:t>30-100k</a:t>
                      </a:r>
                      <a:r>
                        <a:rPr lang="en-US"/>
                        <a:t> = 1, </a:t>
                      </a:r>
                      <a:r>
                        <a:rPr lang="en-US">
                          <a:latin typeface="Courier New" panose="02070309020205020404" pitchFamily="49" charset="0"/>
                        </a:rPr>
                        <a:t>100k+</a:t>
                      </a:r>
                      <a:r>
                        <a:rPr lang="en-US"/>
                        <a:t> = 2.</a:t>
                      </a:r>
                    </a:p>
                  </a:txBody>
                  <a:tcPr anchor="ctr"/>
                </a:tc>
                <a:extLst>
                  <a:ext uri="{0D108BD9-81ED-4DB2-BD59-A6C34878D82A}">
                    <a16:rowId xmlns:a16="http://schemas.microsoft.com/office/drawing/2014/main" val="848260611"/>
                  </a:ext>
                </a:extLst>
              </a:tr>
              <a:tr h="576000">
                <a:tc>
                  <a:txBody>
                    <a:bodyPr/>
                    <a:lstStyle/>
                    <a:p>
                      <a:pPr>
                        <a:buNone/>
                      </a:pPr>
                      <a:r>
                        <a:rPr lang="en-US"/>
                        <a:t>Target encoding</a:t>
                      </a:r>
                    </a:p>
                  </a:txBody>
                  <a:tcPr anchor="ctr"/>
                </a:tc>
                <a:tc>
                  <a:txBody>
                    <a:bodyPr/>
                    <a:lstStyle/>
                    <a:p>
                      <a:pPr>
                        <a:buNone/>
                      </a:pPr>
                      <a:r>
                        <a:rPr lang="en-US">
                          <a:latin typeface="Courier New" panose="02070309020205020404" pitchFamily="49" charset="0"/>
                        </a:rPr>
                        <a:t>agency_name</a:t>
                      </a:r>
                      <a:r>
                        <a:rPr lang="en-US"/>
                        <a:t>, </a:t>
                      </a:r>
                      <a:r>
                        <a:rPr lang="en-US">
                          <a:latin typeface="Courier New" panose="02070309020205020404" pitchFamily="49" charset="0"/>
                        </a:rPr>
                        <a:t>origin_city</a:t>
                      </a:r>
                      <a:r>
                        <a:rPr lang="en-US"/>
                        <a:t>, </a:t>
                      </a:r>
                      <a:r>
                        <a:rPr lang="en-US">
                          <a:latin typeface="Courier New" panose="02070309020205020404" pitchFamily="49" charset="0"/>
                        </a:rPr>
                        <a:t>destination_city</a:t>
                      </a:r>
                      <a:r>
                        <a:rPr lang="en-US"/>
                        <a:t>, </a:t>
                      </a:r>
                      <a:r>
                        <a:rPr lang="en-US">
                          <a:latin typeface="Courier New" panose="02070309020205020404" pitchFamily="49" charset="0"/>
                        </a:rPr>
                        <a:t>origin_station</a:t>
                      </a:r>
                      <a:r>
                        <a:rPr lang="en-US"/>
                        <a:t>, </a:t>
                      </a:r>
                      <a:r>
                        <a:rPr lang="en-US">
                          <a:latin typeface="Courier New" panose="02070309020205020404" pitchFamily="49" charset="0"/>
                        </a:rPr>
                        <a:t>destination_station</a:t>
                      </a:r>
                      <a:r>
                        <a:rPr lang="en-US"/>
                        <a:t>, </a:t>
                      </a:r>
                      <a:r>
                        <a:rPr lang="en-US">
                          <a:latin typeface="Courier New" panose="02070309020205020404" pitchFamily="49" charset="0"/>
                        </a:rPr>
                        <a:t>agency_linenum_dir_alter</a:t>
                      </a:r>
                      <a:endParaRPr lang="en-US"/>
                    </a:p>
                  </a:txBody>
                  <a:tcPr anchor="ctr"/>
                </a:tc>
                <a:tc>
                  <a:txBody>
                    <a:bodyPr/>
                    <a:lstStyle/>
                    <a:p>
                      <a:pPr>
                        <a:buNone/>
                      </a:pPr>
                      <a:r>
                        <a:rPr lang="en-US" dirty="0"/>
                        <a:t>Converted high-cardinality categorical variables into numerical values based on the target variable </a:t>
                      </a:r>
                      <a:r>
                        <a:rPr lang="en-US" dirty="0" err="1">
                          <a:latin typeface="Courier New" panose="02070309020205020404" pitchFamily="49" charset="0"/>
                        </a:rPr>
                        <a:t>delay_cat</a:t>
                      </a:r>
                      <a:r>
                        <a:rPr lang="en-US" dirty="0"/>
                        <a:t>.</a:t>
                      </a:r>
                    </a:p>
                  </a:txBody>
                  <a:tcPr anchor="ctr"/>
                </a:tc>
                <a:extLst>
                  <a:ext uri="{0D108BD9-81ED-4DB2-BD59-A6C34878D82A}">
                    <a16:rowId xmlns:a16="http://schemas.microsoft.com/office/drawing/2014/main" val="2015474710"/>
                  </a:ext>
                </a:extLst>
              </a:tr>
            </a:tbl>
          </a:graphicData>
        </a:graphic>
      </p:graphicFrame>
      <p:sp>
        <p:nvSpPr>
          <p:cNvPr id="8" name="Text 19">
            <a:extLst>
              <a:ext uri="{FF2B5EF4-FFF2-40B4-BE49-F238E27FC236}">
                <a16:creationId xmlns:a16="http://schemas.microsoft.com/office/drawing/2014/main" id="{046CEE9E-B0F2-15CD-E98E-0D4F55CB717C}"/>
              </a:ext>
            </a:extLst>
          </p:cNvPr>
          <p:cNvSpPr/>
          <p:nvPr/>
        </p:nvSpPr>
        <p:spPr>
          <a:xfrm>
            <a:off x="2781300" y="6041462"/>
            <a:ext cx="14801715" cy="1033909"/>
          </a:xfrm>
          <a:prstGeom prst="rect">
            <a:avLst/>
          </a:prstGeom>
          <a:noFill/>
          <a:ln/>
        </p:spPr>
        <p:txBody>
          <a:bodyPr wrap="square" lIns="25400" tIns="25400" rIns="25400" bIns="25400" rtlCol="0" anchor="t">
            <a:normAutofit/>
          </a:bodyPr>
          <a:lstStyle/>
          <a:p>
            <a:pPr fontAlgn="ctr"/>
            <a:r>
              <a:rPr lang="en-US" sz="2400" b="1" dirty="0"/>
              <a:t>Leakage Prevention</a:t>
            </a:r>
            <a:endParaRPr lang="en-IL" sz="2400" dirty="0"/>
          </a:p>
          <a:p>
            <a:pPr>
              <a:buNone/>
            </a:pPr>
            <a:r>
              <a:rPr lang="en-US" sz="2400" dirty="0"/>
              <a:t>Fitted only on the training dataset and reused for validation/test datasets.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5F1E8"/>
        </a:solidFill>
        <a:effectLst/>
      </p:bgPr>
    </p:bg>
    <p:spTree>
      <p:nvGrpSpPr>
        <p:cNvPr id="1" name="">
          <a:extLst>
            <a:ext uri="{FF2B5EF4-FFF2-40B4-BE49-F238E27FC236}">
              <a16:creationId xmlns:a16="http://schemas.microsoft.com/office/drawing/2014/main" id="{8D551BB4-1CED-4F64-9EF1-D7D9BF0D3393}"/>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4D069892-B7F5-2224-977B-D6B3AE423561}"/>
              </a:ext>
            </a:extLst>
          </p:cNvPr>
          <p:cNvSpPr/>
          <p:nvPr/>
        </p:nvSpPr>
        <p:spPr>
          <a:xfrm>
            <a:off x="0" y="0"/>
            <a:ext cx="2095500" cy="10287000"/>
          </a:xfrm>
          <a:prstGeom prst="rect">
            <a:avLst/>
          </a:prstGeom>
          <a:solidFill>
            <a:srgbClr val="EBE5D6"/>
          </a:solidFill>
          <a:ln/>
        </p:spPr>
        <p:txBody>
          <a:bodyPr/>
          <a:lstStyle/>
          <a:p>
            <a:endParaRPr lang="he-IL"/>
          </a:p>
        </p:txBody>
      </p:sp>
      <p:sp>
        <p:nvSpPr>
          <p:cNvPr id="3" name="Shape 1">
            <a:extLst>
              <a:ext uri="{FF2B5EF4-FFF2-40B4-BE49-F238E27FC236}">
                <a16:creationId xmlns:a16="http://schemas.microsoft.com/office/drawing/2014/main" id="{04CAC79F-77D1-C818-B8DC-20134FAEBB66}"/>
              </a:ext>
            </a:extLst>
          </p:cNvPr>
          <p:cNvSpPr/>
          <p:nvPr/>
        </p:nvSpPr>
        <p:spPr>
          <a:xfrm>
            <a:off x="2085975" y="0"/>
            <a:ext cx="9525" cy="10287000"/>
          </a:xfrm>
          <a:prstGeom prst="rect">
            <a:avLst/>
          </a:prstGeom>
          <a:solidFill>
            <a:srgbClr val="D4CDBC"/>
          </a:solidFill>
          <a:ln/>
        </p:spPr>
        <p:txBody>
          <a:bodyPr/>
          <a:lstStyle/>
          <a:p>
            <a:endParaRPr lang="he-IL"/>
          </a:p>
        </p:txBody>
      </p:sp>
      <p:sp>
        <p:nvSpPr>
          <p:cNvPr id="19" name="Text 17">
            <a:extLst>
              <a:ext uri="{FF2B5EF4-FFF2-40B4-BE49-F238E27FC236}">
                <a16:creationId xmlns:a16="http://schemas.microsoft.com/office/drawing/2014/main" id="{D41CCA71-B36F-3E9E-74BB-08CF3AF3AF6D}"/>
              </a:ext>
            </a:extLst>
          </p:cNvPr>
          <p:cNvSpPr/>
          <p:nvPr/>
        </p:nvSpPr>
        <p:spPr>
          <a:xfrm>
            <a:off x="2781300" y="571500"/>
            <a:ext cx="15187041" cy="171450"/>
          </a:xfrm>
          <a:prstGeom prst="rect">
            <a:avLst/>
          </a:prstGeom>
          <a:noFill/>
          <a:ln/>
        </p:spPr>
        <p:txBody>
          <a:bodyPr wrap="square" lIns="25400" tIns="25400" rIns="25400" bIns="25400" rtlCol="0" anchor="ctr">
            <a:noAutofit/>
          </a:bodyPr>
          <a:lstStyle/>
          <a:p>
            <a:pPr marL="0" indent="0" algn="l">
              <a:buNone/>
            </a:pPr>
            <a:r>
              <a:rPr lang="en-US" sz="1400" kern="0" spc="182" dirty="0">
                <a:solidFill>
                  <a:srgbClr val="888080"/>
                </a:solidFill>
                <a:latin typeface="JetBrains Mono" pitchFamily="34" charset="0"/>
                <a:ea typeface="JetBrains Mono" pitchFamily="34" charset="-122"/>
                <a:cs typeface="JetBrains Mono" pitchFamily="34" charset="-120"/>
              </a:rPr>
              <a:t>PIPELINE · 06 · Feature selection</a:t>
            </a:r>
            <a:endParaRPr lang="en-US" sz="1400" dirty="0"/>
          </a:p>
        </p:txBody>
      </p:sp>
      <p:sp>
        <p:nvSpPr>
          <p:cNvPr id="20" name="Text 18">
            <a:extLst>
              <a:ext uri="{FF2B5EF4-FFF2-40B4-BE49-F238E27FC236}">
                <a16:creationId xmlns:a16="http://schemas.microsoft.com/office/drawing/2014/main" id="{62DF4B2A-0367-4EDC-FB27-E86823502E6F}"/>
              </a:ext>
            </a:extLst>
          </p:cNvPr>
          <p:cNvSpPr/>
          <p:nvPr/>
        </p:nvSpPr>
        <p:spPr>
          <a:xfrm>
            <a:off x="2781300" y="914400"/>
            <a:ext cx="15187041" cy="643830"/>
          </a:xfrm>
          <a:prstGeom prst="rect">
            <a:avLst/>
          </a:prstGeom>
          <a:noFill/>
          <a:ln/>
        </p:spPr>
        <p:txBody>
          <a:bodyPr wrap="square" lIns="25400" tIns="25400" rIns="25400" bIns="25400" rtlCol="0" anchor="t">
            <a:normAutofit fontScale="92500" lnSpcReduction="20000"/>
          </a:bodyPr>
          <a:lstStyle/>
          <a:p>
            <a:pPr marL="0" indent="0" algn="l">
              <a:lnSpc>
                <a:spcPct val="106000"/>
              </a:lnSpc>
              <a:buNone/>
            </a:pPr>
            <a:r>
              <a:rPr lang="en-US" sz="4500" kern="0" spc="-81" dirty="0">
                <a:solidFill>
                  <a:srgbClr val="1A1A1A"/>
                </a:solidFill>
                <a:latin typeface="Instrument Serif" pitchFamily="34" charset="0"/>
                <a:ea typeface="Instrument Serif" pitchFamily="34" charset="-122"/>
                <a:cs typeface="Instrument Serif" pitchFamily="34" charset="-120"/>
              </a:rPr>
              <a:t>Feature selection</a:t>
            </a:r>
            <a:endParaRPr lang="en-US" sz="4500" dirty="0"/>
          </a:p>
        </p:txBody>
      </p:sp>
      <p:sp>
        <p:nvSpPr>
          <p:cNvPr id="40" name="Text 16">
            <a:extLst>
              <a:ext uri="{FF2B5EF4-FFF2-40B4-BE49-F238E27FC236}">
                <a16:creationId xmlns:a16="http://schemas.microsoft.com/office/drawing/2014/main" id="{F921AC73-D0C7-7572-E5B5-ADF63B6D749D}"/>
              </a:ext>
            </a:extLst>
          </p:cNvPr>
          <p:cNvSpPr/>
          <p:nvPr/>
        </p:nvSpPr>
        <p:spPr>
          <a:xfrm>
            <a:off x="266700" y="9410700"/>
            <a:ext cx="1628775" cy="342900"/>
          </a:xfrm>
          <a:prstGeom prst="rect">
            <a:avLst/>
          </a:prstGeom>
          <a:noFill/>
          <a:ln/>
        </p:spPr>
        <p:txBody>
          <a:bodyPr wrap="square" lIns="25400" tIns="25400" rIns="25400" bIns="25400" rtlCol="0" anchor="t">
            <a:noAutofit/>
          </a:bodyPr>
          <a:lstStyle/>
          <a:p>
            <a:pPr>
              <a:lnSpc>
                <a:spcPct val="160000"/>
              </a:lnSpc>
            </a:pPr>
            <a:r>
              <a:rPr lang="en-US" sz="1400" b="1" kern="0" spc="105" dirty="0">
                <a:solidFill>
                  <a:srgbClr val="1A1A1A"/>
                </a:solidFill>
                <a:latin typeface="JetBrains Mono" pitchFamily="34" charset="0"/>
                <a:ea typeface="JetBrains Mono" pitchFamily="34" charset="-122"/>
                <a:cs typeface="JetBrains Mono" pitchFamily="34" charset="-120"/>
              </a:rPr>
              <a:t>22 / 34</a:t>
            </a:r>
            <a:endParaRPr lang="en-US" sz="1400" dirty="0"/>
          </a:p>
        </p:txBody>
      </p:sp>
      <p:sp>
        <p:nvSpPr>
          <p:cNvPr id="41" name="Text 4">
            <a:extLst>
              <a:ext uri="{FF2B5EF4-FFF2-40B4-BE49-F238E27FC236}">
                <a16:creationId xmlns:a16="http://schemas.microsoft.com/office/drawing/2014/main" id="{D0C6262B-3FEC-B837-70ED-BF5E9E35B67E}"/>
              </a:ext>
            </a:extLst>
          </p:cNvPr>
          <p:cNvSpPr/>
          <p:nvPr/>
        </p:nvSpPr>
        <p:spPr>
          <a:xfrm>
            <a:off x="228063" y="1524367"/>
            <a:ext cx="372012" cy="200025"/>
          </a:xfrm>
          <a:prstGeom prst="rect">
            <a:avLst/>
          </a:prstGeom>
          <a:noFill/>
          <a:ln/>
        </p:spPr>
        <p:txBody>
          <a:bodyPr wrap="square" lIns="25400" tIns="25400" rIns="25400" bIns="25400" rtlCol="0" anchor="t">
            <a:noAutofit/>
          </a:bodyPr>
          <a:lstStyle/>
          <a:p>
            <a:pPr marL="0" indent="0" algn="l">
              <a:lnSpc>
                <a:spcPct val="130000"/>
              </a:lnSpc>
              <a:buNone/>
            </a:pPr>
            <a:r>
              <a:rPr lang="en-US" sz="1400" kern="0" spc="21" dirty="0">
                <a:solidFill>
                  <a:srgbClr val="888080"/>
                </a:solidFill>
                <a:latin typeface="Inter" pitchFamily="34" charset="0"/>
                <a:ea typeface="Inter" pitchFamily="34" charset="-122"/>
              </a:rPr>
              <a:t>01</a:t>
            </a:r>
          </a:p>
        </p:txBody>
      </p:sp>
      <p:sp>
        <p:nvSpPr>
          <p:cNvPr id="42" name="Text 5">
            <a:extLst>
              <a:ext uri="{FF2B5EF4-FFF2-40B4-BE49-F238E27FC236}">
                <a16:creationId xmlns:a16="http://schemas.microsoft.com/office/drawing/2014/main" id="{5E3C33A0-3C56-C67B-81E0-1853068F20E7}"/>
              </a:ext>
            </a:extLst>
          </p:cNvPr>
          <p:cNvSpPr/>
          <p:nvPr/>
        </p:nvSpPr>
        <p:spPr>
          <a:xfrm>
            <a:off x="523875" y="1522975"/>
            <a:ext cx="876300" cy="476251"/>
          </a:xfrm>
          <a:prstGeom prst="rect">
            <a:avLst/>
          </a:prstGeom>
          <a:noFill/>
          <a:ln/>
        </p:spPr>
        <p:txBody>
          <a:bodyPr wrap="square" lIns="25400" tIns="25400" rIns="25400" bIns="25400" rtlCol="0" anchor="t">
            <a:normAutofit/>
          </a:bodyPr>
          <a:lstStyle/>
          <a:p>
            <a:pPr marL="0" indent="0" algn="l">
              <a:lnSpc>
                <a:spcPct val="130000"/>
              </a:lnSpc>
              <a:buNone/>
            </a:pPr>
            <a:r>
              <a:rPr lang="en-US" sz="1400" kern="0" spc="21" dirty="0">
                <a:solidFill>
                  <a:srgbClr val="888080"/>
                </a:solidFill>
                <a:latin typeface="Inter" pitchFamily="34" charset="0"/>
                <a:ea typeface="Inter" pitchFamily="34" charset="-122"/>
              </a:rPr>
              <a:t>Agenda</a:t>
            </a:r>
          </a:p>
        </p:txBody>
      </p:sp>
      <p:sp>
        <p:nvSpPr>
          <p:cNvPr id="43" name="Text 6">
            <a:extLst>
              <a:ext uri="{FF2B5EF4-FFF2-40B4-BE49-F238E27FC236}">
                <a16:creationId xmlns:a16="http://schemas.microsoft.com/office/drawing/2014/main" id="{A5DE605A-6635-BB43-43AC-E452FF102210}"/>
              </a:ext>
            </a:extLst>
          </p:cNvPr>
          <p:cNvSpPr/>
          <p:nvPr/>
        </p:nvSpPr>
        <p:spPr>
          <a:xfrm>
            <a:off x="228063" y="1830953"/>
            <a:ext cx="372010" cy="194877"/>
          </a:xfrm>
          <a:prstGeom prst="rect">
            <a:avLst/>
          </a:prstGeom>
          <a:noFill/>
          <a:ln/>
        </p:spPr>
        <p:txBody>
          <a:bodyPr wrap="square" lIns="25400" tIns="25400" rIns="25400" bIns="25400" rtlCol="0" anchor="t">
            <a:noAutofit/>
          </a:bodyPr>
          <a:lstStyle/>
          <a:p>
            <a:pPr marL="0" indent="0" algn="l">
              <a:lnSpc>
                <a:spcPct val="130000"/>
              </a:lnSpc>
              <a:buNone/>
            </a:pPr>
            <a:r>
              <a:rPr lang="en-US" sz="1400" kern="0" spc="21" dirty="0">
                <a:solidFill>
                  <a:srgbClr val="888080"/>
                </a:solidFill>
                <a:latin typeface="Inter" pitchFamily="34" charset="0"/>
                <a:ea typeface="Inter" pitchFamily="34" charset="-122"/>
              </a:rPr>
              <a:t>02</a:t>
            </a:r>
          </a:p>
        </p:txBody>
      </p:sp>
      <p:sp>
        <p:nvSpPr>
          <p:cNvPr id="44" name="Text 8">
            <a:extLst>
              <a:ext uri="{FF2B5EF4-FFF2-40B4-BE49-F238E27FC236}">
                <a16:creationId xmlns:a16="http://schemas.microsoft.com/office/drawing/2014/main" id="{B9988E40-5620-3D4A-5680-EE10ECA98394}"/>
              </a:ext>
            </a:extLst>
          </p:cNvPr>
          <p:cNvSpPr/>
          <p:nvPr/>
        </p:nvSpPr>
        <p:spPr>
          <a:xfrm>
            <a:off x="230504" y="2152895"/>
            <a:ext cx="302895" cy="141422"/>
          </a:xfrm>
          <a:prstGeom prst="rect">
            <a:avLst/>
          </a:prstGeom>
          <a:noFill/>
          <a:ln/>
        </p:spPr>
        <p:txBody>
          <a:bodyPr wrap="square" lIns="25400" tIns="25400" rIns="25400" bIns="25400" rtlCol="0" anchor="t">
            <a:noAutofit/>
          </a:bodyPr>
          <a:lstStyle/>
          <a:p>
            <a:pPr marL="0" indent="0" algn="l">
              <a:lnSpc>
                <a:spcPct val="130000"/>
              </a:lnSpc>
              <a:buNone/>
            </a:pPr>
            <a:r>
              <a:rPr lang="en-US" sz="1400" kern="0" spc="21" dirty="0">
                <a:solidFill>
                  <a:srgbClr val="888080"/>
                </a:solidFill>
                <a:latin typeface="Inter" pitchFamily="34" charset="0"/>
                <a:ea typeface="Inter" pitchFamily="34" charset="-122"/>
              </a:rPr>
              <a:t>03</a:t>
            </a:r>
          </a:p>
        </p:txBody>
      </p:sp>
      <p:sp>
        <p:nvSpPr>
          <p:cNvPr id="45" name="Text 9">
            <a:extLst>
              <a:ext uri="{FF2B5EF4-FFF2-40B4-BE49-F238E27FC236}">
                <a16:creationId xmlns:a16="http://schemas.microsoft.com/office/drawing/2014/main" id="{B1DFA6DE-E672-4582-A65A-20329FE192F9}"/>
              </a:ext>
            </a:extLst>
          </p:cNvPr>
          <p:cNvSpPr/>
          <p:nvPr/>
        </p:nvSpPr>
        <p:spPr>
          <a:xfrm>
            <a:off x="531240" y="2145027"/>
            <a:ext cx="1185416" cy="342476"/>
          </a:xfrm>
          <a:prstGeom prst="rect">
            <a:avLst/>
          </a:prstGeom>
          <a:noFill/>
          <a:ln/>
        </p:spPr>
        <p:txBody>
          <a:bodyPr wrap="square" lIns="25400" tIns="25400" rIns="25400" bIns="25400" rtlCol="0" anchor="t">
            <a:normAutofit/>
          </a:bodyPr>
          <a:lstStyle/>
          <a:p>
            <a:pPr marL="0" indent="0" algn="l">
              <a:lnSpc>
                <a:spcPct val="130000"/>
              </a:lnSpc>
              <a:buNone/>
            </a:pPr>
            <a:r>
              <a:rPr lang="en-US" sz="1400" kern="0" spc="21" dirty="0">
                <a:solidFill>
                  <a:srgbClr val="888080"/>
                </a:solidFill>
                <a:latin typeface="Inter" pitchFamily="34" charset="0"/>
                <a:ea typeface="Inter" pitchFamily="34" charset="-122"/>
              </a:rPr>
              <a:t>EDA</a:t>
            </a:r>
          </a:p>
        </p:txBody>
      </p:sp>
      <p:sp>
        <p:nvSpPr>
          <p:cNvPr id="46" name="Text 10">
            <a:extLst>
              <a:ext uri="{FF2B5EF4-FFF2-40B4-BE49-F238E27FC236}">
                <a16:creationId xmlns:a16="http://schemas.microsoft.com/office/drawing/2014/main" id="{6644E989-D4FD-B584-2354-8D578B1A3698}"/>
              </a:ext>
            </a:extLst>
          </p:cNvPr>
          <p:cNvSpPr/>
          <p:nvPr/>
        </p:nvSpPr>
        <p:spPr>
          <a:xfrm>
            <a:off x="228062" y="2444125"/>
            <a:ext cx="305337" cy="172132"/>
          </a:xfrm>
          <a:prstGeom prst="rect">
            <a:avLst/>
          </a:prstGeom>
          <a:noFill/>
          <a:ln/>
        </p:spPr>
        <p:txBody>
          <a:bodyPr wrap="square" lIns="25400" tIns="25400" rIns="25400" bIns="25400" rtlCol="0" anchor="t">
            <a:noAutofit/>
          </a:bodyPr>
          <a:lstStyle/>
          <a:p>
            <a:pPr marL="0" indent="0" algn="l">
              <a:lnSpc>
                <a:spcPct val="130000"/>
              </a:lnSpc>
              <a:buNone/>
            </a:pPr>
            <a:r>
              <a:rPr lang="en-US" sz="1400" b="1" kern="0" spc="21" dirty="0">
                <a:solidFill>
                  <a:srgbClr val="C25A2A"/>
                </a:solidFill>
                <a:latin typeface="JetBrains Mono" pitchFamily="34" charset="0"/>
                <a:ea typeface="JetBrains Mono" pitchFamily="34" charset="-122"/>
              </a:rPr>
              <a:t>04</a:t>
            </a:r>
          </a:p>
        </p:txBody>
      </p:sp>
      <p:sp>
        <p:nvSpPr>
          <p:cNvPr id="47" name="Text 12">
            <a:extLst>
              <a:ext uri="{FF2B5EF4-FFF2-40B4-BE49-F238E27FC236}">
                <a16:creationId xmlns:a16="http://schemas.microsoft.com/office/drawing/2014/main" id="{46DF6490-D77A-21AB-D270-0B64B7007DD2}"/>
              </a:ext>
            </a:extLst>
          </p:cNvPr>
          <p:cNvSpPr/>
          <p:nvPr/>
        </p:nvSpPr>
        <p:spPr>
          <a:xfrm>
            <a:off x="228062" y="2750711"/>
            <a:ext cx="372011" cy="158880"/>
          </a:xfrm>
          <a:prstGeom prst="rect">
            <a:avLst/>
          </a:prstGeom>
          <a:noFill/>
          <a:ln/>
        </p:spPr>
        <p:txBody>
          <a:bodyPr wrap="square" lIns="25400" tIns="25400" rIns="25400" bIns="25400" rtlCol="0" anchor="t">
            <a:noAutofit/>
          </a:bodyPr>
          <a:lstStyle/>
          <a:p>
            <a:pPr marL="0" indent="0" algn="l">
              <a:lnSpc>
                <a:spcPct val="130000"/>
              </a:lnSpc>
              <a:buNone/>
            </a:pPr>
            <a:r>
              <a:rPr lang="en-US" sz="1400" kern="0" spc="21" dirty="0">
                <a:solidFill>
                  <a:srgbClr val="888080"/>
                </a:solidFill>
                <a:latin typeface="JetBrains Mono" pitchFamily="34" charset="0"/>
                <a:ea typeface="JetBrains Mono" pitchFamily="34" charset="-122"/>
                <a:cs typeface="JetBrains Mono" pitchFamily="34" charset="-120"/>
              </a:rPr>
              <a:t>05</a:t>
            </a:r>
            <a:endParaRPr lang="en-US" sz="1400" dirty="0"/>
          </a:p>
        </p:txBody>
      </p:sp>
      <p:sp>
        <p:nvSpPr>
          <p:cNvPr id="48" name="Text 13">
            <a:extLst>
              <a:ext uri="{FF2B5EF4-FFF2-40B4-BE49-F238E27FC236}">
                <a16:creationId xmlns:a16="http://schemas.microsoft.com/office/drawing/2014/main" id="{0E6B9596-CC21-AE3A-BFC6-5B47289AE490}"/>
              </a:ext>
            </a:extLst>
          </p:cNvPr>
          <p:cNvSpPr/>
          <p:nvPr/>
        </p:nvSpPr>
        <p:spPr>
          <a:xfrm>
            <a:off x="533399" y="2725489"/>
            <a:ext cx="948333" cy="761256"/>
          </a:xfrm>
          <a:prstGeom prst="rect">
            <a:avLst/>
          </a:prstGeom>
          <a:noFill/>
          <a:ln/>
        </p:spPr>
        <p:txBody>
          <a:bodyPr wrap="square" lIns="25400" tIns="25400" rIns="25400" bIns="25400" rtlCol="0" anchor="t">
            <a:normAutofit/>
          </a:bodyPr>
          <a:lstStyle/>
          <a:p>
            <a:pPr marL="0" indent="0" algn="l">
              <a:lnSpc>
                <a:spcPct val="130000"/>
              </a:lnSpc>
              <a:buNone/>
            </a:pPr>
            <a:r>
              <a:rPr lang="en-US" sz="1400" kern="0" spc="21" dirty="0">
                <a:solidFill>
                  <a:srgbClr val="888080"/>
                </a:solidFill>
                <a:latin typeface="Inter" pitchFamily="34" charset="0"/>
                <a:ea typeface="Inter" pitchFamily="34" charset="-122"/>
                <a:cs typeface="Inter" pitchFamily="34" charset="-120"/>
              </a:rPr>
              <a:t>Modeling</a:t>
            </a:r>
            <a:endParaRPr lang="en-US" sz="1400" dirty="0"/>
          </a:p>
        </p:txBody>
      </p:sp>
      <p:sp>
        <p:nvSpPr>
          <p:cNvPr id="49" name="Text 14">
            <a:extLst>
              <a:ext uri="{FF2B5EF4-FFF2-40B4-BE49-F238E27FC236}">
                <a16:creationId xmlns:a16="http://schemas.microsoft.com/office/drawing/2014/main" id="{BAC3FDB1-692D-9512-A656-50CE6F7E44A1}"/>
              </a:ext>
            </a:extLst>
          </p:cNvPr>
          <p:cNvSpPr/>
          <p:nvPr/>
        </p:nvSpPr>
        <p:spPr>
          <a:xfrm>
            <a:off x="235683" y="3042056"/>
            <a:ext cx="372010" cy="191463"/>
          </a:xfrm>
          <a:prstGeom prst="rect">
            <a:avLst/>
          </a:prstGeom>
          <a:noFill/>
          <a:ln/>
        </p:spPr>
        <p:txBody>
          <a:bodyPr wrap="square" lIns="25400" tIns="25400" rIns="25400" bIns="25400" rtlCol="0" anchor="t">
            <a:noAutofit/>
          </a:bodyPr>
          <a:lstStyle/>
          <a:p>
            <a:pPr marL="0" indent="0" algn="l">
              <a:lnSpc>
                <a:spcPct val="130000"/>
              </a:lnSpc>
              <a:buNone/>
            </a:pPr>
            <a:r>
              <a:rPr lang="en-US" sz="1400" kern="0" spc="21" dirty="0">
                <a:solidFill>
                  <a:srgbClr val="888080"/>
                </a:solidFill>
                <a:latin typeface="JetBrains Mono" pitchFamily="34" charset="0"/>
                <a:ea typeface="JetBrains Mono" pitchFamily="34" charset="-122"/>
                <a:cs typeface="JetBrains Mono" pitchFamily="34" charset="-120"/>
              </a:rPr>
              <a:t>06</a:t>
            </a:r>
            <a:endParaRPr lang="en-US" sz="1400" dirty="0"/>
          </a:p>
        </p:txBody>
      </p:sp>
      <p:sp>
        <p:nvSpPr>
          <p:cNvPr id="50" name="Text 15">
            <a:extLst>
              <a:ext uri="{FF2B5EF4-FFF2-40B4-BE49-F238E27FC236}">
                <a16:creationId xmlns:a16="http://schemas.microsoft.com/office/drawing/2014/main" id="{F65CE62F-3D78-F7C3-812A-7A0FD9CE4F8A}"/>
              </a:ext>
            </a:extLst>
          </p:cNvPr>
          <p:cNvSpPr/>
          <p:nvPr/>
        </p:nvSpPr>
        <p:spPr>
          <a:xfrm>
            <a:off x="533400" y="3032075"/>
            <a:ext cx="1185416" cy="626120"/>
          </a:xfrm>
          <a:prstGeom prst="rect">
            <a:avLst/>
          </a:prstGeom>
          <a:noFill/>
          <a:ln/>
        </p:spPr>
        <p:txBody>
          <a:bodyPr wrap="square" lIns="25400" tIns="25400" rIns="25400" bIns="25400" rtlCol="0" anchor="t">
            <a:normAutofit/>
          </a:bodyPr>
          <a:lstStyle/>
          <a:p>
            <a:pPr marL="0" indent="0" algn="l">
              <a:lnSpc>
                <a:spcPct val="130000"/>
              </a:lnSpc>
              <a:buNone/>
            </a:pPr>
            <a:r>
              <a:rPr lang="en-US" sz="1400" kern="0" spc="21" dirty="0">
                <a:solidFill>
                  <a:srgbClr val="888080"/>
                </a:solidFill>
                <a:latin typeface="Inter" pitchFamily="34" charset="0"/>
                <a:ea typeface="Inter" pitchFamily="34" charset="-122"/>
                <a:cs typeface="Inter" pitchFamily="34" charset="-120"/>
              </a:rPr>
              <a:t>Conclusions</a:t>
            </a:r>
            <a:endParaRPr lang="en-US" sz="1400" dirty="0"/>
          </a:p>
        </p:txBody>
      </p:sp>
      <p:sp>
        <p:nvSpPr>
          <p:cNvPr id="51" name="Text 9">
            <a:extLst>
              <a:ext uri="{FF2B5EF4-FFF2-40B4-BE49-F238E27FC236}">
                <a16:creationId xmlns:a16="http://schemas.microsoft.com/office/drawing/2014/main" id="{37BA5E5D-F4C8-6495-0430-12ABD888BA3C}"/>
              </a:ext>
            </a:extLst>
          </p:cNvPr>
          <p:cNvSpPr/>
          <p:nvPr/>
        </p:nvSpPr>
        <p:spPr>
          <a:xfrm>
            <a:off x="538609" y="2426180"/>
            <a:ext cx="1185416" cy="342476"/>
          </a:xfrm>
          <a:prstGeom prst="rect">
            <a:avLst/>
          </a:prstGeom>
          <a:noFill/>
          <a:ln/>
        </p:spPr>
        <p:txBody>
          <a:bodyPr wrap="square" lIns="25400" tIns="25400" rIns="25400" bIns="25400" rtlCol="0" anchor="t">
            <a:normAutofit/>
          </a:bodyPr>
          <a:lstStyle/>
          <a:p>
            <a:pPr marL="0" indent="0" algn="l">
              <a:lnSpc>
                <a:spcPct val="130000"/>
              </a:lnSpc>
              <a:buNone/>
            </a:pPr>
            <a:r>
              <a:rPr lang="en-US" sz="1400" kern="0" spc="21" dirty="0">
                <a:solidFill>
                  <a:srgbClr val="1A1A1A"/>
                </a:solidFill>
                <a:latin typeface="Inter" pitchFamily="34" charset="0"/>
                <a:ea typeface="Inter" pitchFamily="34" charset="-122"/>
              </a:rPr>
              <a:t>Pipeline</a:t>
            </a:r>
          </a:p>
        </p:txBody>
      </p:sp>
      <p:sp>
        <p:nvSpPr>
          <p:cNvPr id="52" name="Text 7">
            <a:extLst>
              <a:ext uri="{FF2B5EF4-FFF2-40B4-BE49-F238E27FC236}">
                <a16:creationId xmlns:a16="http://schemas.microsoft.com/office/drawing/2014/main" id="{CC5DED20-4DF3-FBA6-228F-8F18782810D9}"/>
              </a:ext>
            </a:extLst>
          </p:cNvPr>
          <p:cNvSpPr/>
          <p:nvPr/>
        </p:nvSpPr>
        <p:spPr>
          <a:xfrm>
            <a:off x="523875" y="1826620"/>
            <a:ext cx="1325700" cy="467696"/>
          </a:xfrm>
          <a:prstGeom prst="rect">
            <a:avLst/>
          </a:prstGeom>
          <a:noFill/>
          <a:ln/>
        </p:spPr>
        <p:txBody>
          <a:bodyPr wrap="square" lIns="25400" tIns="25400" rIns="25400" bIns="25400" rtlCol="0" anchor="t">
            <a:noAutofit/>
          </a:bodyPr>
          <a:lstStyle/>
          <a:p>
            <a:pPr marL="0" indent="0" algn="l">
              <a:lnSpc>
                <a:spcPct val="130000"/>
              </a:lnSpc>
              <a:buNone/>
            </a:pPr>
            <a:r>
              <a:rPr lang="en-US" sz="1400" kern="0" spc="21" dirty="0">
                <a:solidFill>
                  <a:srgbClr val="888080"/>
                </a:solidFill>
                <a:latin typeface="Inter" pitchFamily="34" charset="0"/>
                <a:ea typeface="Inter" pitchFamily="34" charset="-122"/>
              </a:rPr>
              <a:t>Data &amp; target</a:t>
            </a:r>
          </a:p>
        </p:txBody>
      </p:sp>
      <p:sp>
        <p:nvSpPr>
          <p:cNvPr id="53" name="Text 1">
            <a:extLst>
              <a:ext uri="{FF2B5EF4-FFF2-40B4-BE49-F238E27FC236}">
                <a16:creationId xmlns:a16="http://schemas.microsoft.com/office/drawing/2014/main" id="{A61381FC-CAFE-A6F8-427A-38DCB3C45AF4}"/>
              </a:ext>
            </a:extLst>
          </p:cNvPr>
          <p:cNvSpPr/>
          <p:nvPr/>
        </p:nvSpPr>
        <p:spPr>
          <a:xfrm>
            <a:off x="261138" y="379598"/>
            <a:ext cx="1778457" cy="447678"/>
          </a:xfrm>
          <a:prstGeom prst="rect">
            <a:avLst/>
          </a:prstGeom>
          <a:noFill/>
          <a:ln/>
        </p:spPr>
        <p:txBody>
          <a:bodyPr wrap="square" lIns="25400" tIns="25400" rIns="25400" bIns="25400" rtlCol="0" anchor="t">
            <a:noAutofit/>
          </a:bodyPr>
          <a:lstStyle/>
          <a:p>
            <a:pPr marL="0" indent="0">
              <a:buNone/>
            </a:pPr>
            <a:r>
              <a:rPr lang="en-US" sz="1400" kern="0" spc="116" dirty="0">
                <a:solidFill>
                  <a:srgbClr val="888080"/>
                </a:solidFill>
                <a:latin typeface="JetBrains Mono" pitchFamily="34" charset="0"/>
                <a:ea typeface="JetBrains Mono" pitchFamily="34" charset="-122"/>
                <a:cs typeface="JetBrains Mono" pitchFamily="34" charset="-120"/>
              </a:rPr>
              <a:t>DS22 - Bar Ilan</a:t>
            </a:r>
            <a:br>
              <a:rPr lang="en-US" sz="1400" kern="0" spc="116" dirty="0">
                <a:solidFill>
                  <a:srgbClr val="888080"/>
                </a:solidFill>
                <a:latin typeface="JetBrains Mono" pitchFamily="34" charset="0"/>
                <a:ea typeface="JetBrains Mono" pitchFamily="34" charset="-122"/>
                <a:cs typeface="JetBrains Mono" pitchFamily="34" charset="-120"/>
              </a:rPr>
            </a:br>
            <a:r>
              <a:rPr lang="en-US" sz="1400" kern="0" spc="116" dirty="0">
                <a:solidFill>
                  <a:srgbClr val="888080"/>
                </a:solidFill>
                <a:latin typeface="JetBrains Mono" pitchFamily="34" charset="0"/>
                <a:ea typeface="JetBrains Mono" pitchFamily="34" charset="-122"/>
                <a:cs typeface="JetBrains Mono" pitchFamily="34" charset="-120"/>
              </a:rPr>
              <a:t>ML PROJECT</a:t>
            </a:r>
          </a:p>
          <a:p>
            <a:pPr marL="0" indent="0">
              <a:buNone/>
            </a:pPr>
            <a:r>
              <a:rPr lang="en-US" sz="1400" kern="0" spc="116" dirty="0">
                <a:solidFill>
                  <a:srgbClr val="888080"/>
                </a:solidFill>
                <a:latin typeface="JetBrains Mono" pitchFamily="34" charset="0"/>
                <a:ea typeface="JetBrains Mono" pitchFamily="34" charset="-122"/>
                <a:cs typeface="JetBrains Mono" pitchFamily="34" charset="-120"/>
              </a:rPr>
              <a:t>MAY 2026</a:t>
            </a:r>
            <a:endParaRPr lang="en-US" sz="1400" dirty="0"/>
          </a:p>
        </p:txBody>
      </p:sp>
      <p:graphicFrame>
        <p:nvGraphicFramePr>
          <p:cNvPr id="5" name="Table 4">
            <a:extLst>
              <a:ext uri="{FF2B5EF4-FFF2-40B4-BE49-F238E27FC236}">
                <a16:creationId xmlns:a16="http://schemas.microsoft.com/office/drawing/2014/main" id="{BAB554E3-E86A-3678-63EB-2DE09BCBDB2E}"/>
              </a:ext>
            </a:extLst>
          </p:cNvPr>
          <p:cNvGraphicFramePr>
            <a:graphicFrameLocks noGrp="1"/>
          </p:cNvGraphicFramePr>
          <p:nvPr>
            <p:extLst>
              <p:ext uri="{D42A27DB-BD31-4B8C-83A1-F6EECF244321}">
                <p14:modId xmlns:p14="http://schemas.microsoft.com/office/powerpoint/2010/main" val="3978207775"/>
              </p:ext>
            </p:extLst>
          </p:nvPr>
        </p:nvGraphicFramePr>
        <p:xfrm>
          <a:off x="2967632" y="2025830"/>
          <a:ext cx="14489270" cy="2867321"/>
        </p:xfrm>
        <a:graphic>
          <a:graphicData uri="http://schemas.openxmlformats.org/drawingml/2006/table">
            <a:tbl>
              <a:tblPr firstRow="1" bandRow="1">
                <a:tableStyleId>{8EC20E35-A176-4012-BC5E-935CFFF8708E}</a:tableStyleId>
              </a:tblPr>
              <a:tblGrid>
                <a:gridCol w="3065708">
                  <a:extLst>
                    <a:ext uri="{9D8B030D-6E8A-4147-A177-3AD203B41FA5}">
                      <a16:colId xmlns:a16="http://schemas.microsoft.com/office/drawing/2014/main" val="3662469536"/>
                    </a:ext>
                  </a:extLst>
                </a:gridCol>
                <a:gridCol w="7328079">
                  <a:extLst>
                    <a:ext uri="{9D8B030D-6E8A-4147-A177-3AD203B41FA5}">
                      <a16:colId xmlns:a16="http://schemas.microsoft.com/office/drawing/2014/main" val="1299986043"/>
                    </a:ext>
                  </a:extLst>
                </a:gridCol>
                <a:gridCol w="4095483">
                  <a:extLst>
                    <a:ext uri="{9D8B030D-6E8A-4147-A177-3AD203B41FA5}">
                      <a16:colId xmlns:a16="http://schemas.microsoft.com/office/drawing/2014/main" val="3327933569"/>
                    </a:ext>
                  </a:extLst>
                </a:gridCol>
              </a:tblGrid>
              <a:tr h="462521">
                <a:tc>
                  <a:txBody>
                    <a:bodyPr/>
                    <a:lstStyle/>
                    <a:p>
                      <a:pPr>
                        <a:buNone/>
                      </a:pPr>
                      <a:r>
                        <a:rPr lang="en-US" dirty="0"/>
                        <a:t>Column Group</a:t>
                      </a:r>
                    </a:p>
                  </a:txBody>
                  <a:tcPr anchor="ctr"/>
                </a:tc>
                <a:tc>
                  <a:txBody>
                    <a:bodyPr/>
                    <a:lstStyle/>
                    <a:p>
                      <a:pPr>
                        <a:buNone/>
                      </a:pPr>
                      <a:r>
                        <a:rPr lang="en-US" dirty="0"/>
                        <a:t>Removed Columns</a:t>
                      </a:r>
                    </a:p>
                  </a:txBody>
                  <a:tcPr anchor="ctr"/>
                </a:tc>
                <a:tc>
                  <a:txBody>
                    <a:bodyPr/>
                    <a:lstStyle/>
                    <a:p>
                      <a:pPr>
                        <a:buNone/>
                      </a:pPr>
                      <a:r>
                        <a:rPr lang="en-US"/>
                        <a:t>Reason</a:t>
                      </a:r>
                    </a:p>
                  </a:txBody>
                  <a:tcPr anchor="ctr"/>
                </a:tc>
                <a:extLst>
                  <a:ext uri="{0D108BD9-81ED-4DB2-BD59-A6C34878D82A}">
                    <a16:rowId xmlns:a16="http://schemas.microsoft.com/office/drawing/2014/main" val="4259311531"/>
                  </a:ext>
                </a:extLst>
              </a:tr>
              <a:tr h="576000">
                <a:tc>
                  <a:txBody>
                    <a:bodyPr/>
                    <a:lstStyle/>
                    <a:p>
                      <a:pPr>
                        <a:buNone/>
                      </a:pPr>
                      <a:r>
                        <a:rPr lang="en-US" dirty="0"/>
                        <a:t>Original categorical columns</a:t>
                      </a:r>
                    </a:p>
                  </a:txBody>
                  <a:tcPr anchor="ctr"/>
                </a:tc>
                <a:tc>
                  <a:txBody>
                    <a:bodyPr/>
                    <a:lstStyle/>
                    <a:p>
                      <a:pPr>
                        <a:buNone/>
                      </a:pPr>
                      <a:r>
                        <a:rPr lang="en-US">
                          <a:latin typeface="Courier New" panose="02070309020205020404" pitchFamily="49" charset="0"/>
                        </a:rPr>
                        <a:t>day</a:t>
                      </a:r>
                      <a:r>
                        <a:rPr lang="en-US"/>
                        <a:t>, </a:t>
                      </a:r>
                      <a:r>
                        <a:rPr lang="en-US">
                          <a:latin typeface="Courier New" panose="02070309020205020404" pitchFamily="49" charset="0"/>
                        </a:rPr>
                        <a:t>alternative</a:t>
                      </a:r>
                      <a:r>
                        <a:rPr lang="en-US"/>
                        <a:t>, </a:t>
                      </a:r>
                      <a:r>
                        <a:rPr lang="en-US">
                          <a:latin typeface="Courier New" panose="02070309020205020404" pitchFamily="49" charset="0"/>
                        </a:rPr>
                        <a:t>agency_name</a:t>
                      </a:r>
                      <a:r>
                        <a:rPr lang="en-US"/>
                        <a:t>, </a:t>
                      </a:r>
                      <a:r>
                        <a:rPr lang="en-US">
                          <a:latin typeface="Courier New" panose="02070309020205020404" pitchFamily="49" charset="0"/>
                        </a:rPr>
                        <a:t>origin_city</a:t>
                      </a:r>
                      <a:r>
                        <a:rPr lang="en-US"/>
                        <a:t>, </a:t>
                      </a:r>
                      <a:r>
                        <a:rPr lang="en-US">
                          <a:latin typeface="Courier New" panose="02070309020205020404" pitchFamily="49" charset="0"/>
                        </a:rPr>
                        <a:t>origin_station</a:t>
                      </a:r>
                      <a:r>
                        <a:rPr lang="en-US"/>
                        <a:t>, </a:t>
                      </a:r>
                      <a:r>
                        <a:rPr lang="en-US">
                          <a:latin typeface="Courier New" panose="02070309020205020404" pitchFamily="49" charset="0"/>
                        </a:rPr>
                        <a:t>destination_city</a:t>
                      </a:r>
                      <a:r>
                        <a:rPr lang="en-US"/>
                        <a:t>, </a:t>
                      </a:r>
                      <a:r>
                        <a:rPr lang="en-US">
                          <a:latin typeface="Courier New" panose="02070309020205020404" pitchFamily="49" charset="0"/>
                        </a:rPr>
                        <a:t>destination_station</a:t>
                      </a:r>
                      <a:r>
                        <a:rPr lang="en-US"/>
                        <a:t>, </a:t>
                      </a:r>
                      <a:r>
                        <a:rPr lang="en-US">
                          <a:latin typeface="Courier New" panose="02070309020205020404" pitchFamily="49" charset="0"/>
                        </a:rPr>
                        <a:t>route_length_bin</a:t>
                      </a:r>
                      <a:endParaRPr lang="en-US"/>
                    </a:p>
                  </a:txBody>
                  <a:tcPr anchor="ctr"/>
                </a:tc>
                <a:tc>
                  <a:txBody>
                    <a:bodyPr/>
                    <a:lstStyle/>
                    <a:p>
                      <a:pPr>
                        <a:buNone/>
                      </a:pPr>
                      <a:r>
                        <a:rPr lang="en-US"/>
                        <a:t>Already represented by encoded features.</a:t>
                      </a:r>
                    </a:p>
                  </a:txBody>
                  <a:tcPr anchor="ctr"/>
                </a:tc>
                <a:extLst>
                  <a:ext uri="{0D108BD9-81ED-4DB2-BD59-A6C34878D82A}">
                    <a16:rowId xmlns:a16="http://schemas.microsoft.com/office/drawing/2014/main" val="1715103509"/>
                  </a:ext>
                </a:extLst>
              </a:tr>
              <a:tr h="576000">
                <a:tc>
                  <a:txBody>
                    <a:bodyPr/>
                    <a:lstStyle/>
                    <a:p>
                      <a:pPr>
                        <a:buNone/>
                      </a:pPr>
                      <a:r>
                        <a:rPr lang="en-US"/>
                        <a:t>Redundant columns</a:t>
                      </a:r>
                    </a:p>
                  </a:txBody>
                  <a:tcPr anchor="ctr"/>
                </a:tc>
                <a:tc>
                  <a:txBody>
                    <a:bodyPr/>
                    <a:lstStyle/>
                    <a:p>
                      <a:pPr>
                        <a:buNone/>
                      </a:pPr>
                      <a:r>
                        <a:rPr lang="en-US" dirty="0" err="1">
                          <a:latin typeface="Courier New" panose="02070309020205020404" pitchFamily="49" charset="0"/>
                        </a:rPr>
                        <a:t>route_mkt</a:t>
                      </a:r>
                      <a:r>
                        <a:rPr lang="en-US" dirty="0"/>
                        <a:t>, </a:t>
                      </a:r>
                      <a:r>
                        <a:rPr lang="en-US" dirty="0" err="1">
                          <a:latin typeface="Courier New" panose="02070309020205020404" pitchFamily="49" charset="0"/>
                        </a:rPr>
                        <a:t>route_length_kn</a:t>
                      </a:r>
                      <a:endParaRPr lang="en-US" dirty="0"/>
                    </a:p>
                  </a:txBody>
                  <a:tcPr anchor="ctr"/>
                </a:tc>
                <a:tc>
                  <a:txBody>
                    <a:bodyPr/>
                    <a:lstStyle/>
                    <a:p>
                      <a:pPr>
                        <a:buNone/>
                      </a:pPr>
                      <a:r>
                        <a:rPr lang="en-US"/>
                        <a:t>Duplicated or not needed for modeling.</a:t>
                      </a:r>
                    </a:p>
                  </a:txBody>
                  <a:tcPr anchor="ctr"/>
                </a:tc>
                <a:extLst>
                  <a:ext uri="{0D108BD9-81ED-4DB2-BD59-A6C34878D82A}">
                    <a16:rowId xmlns:a16="http://schemas.microsoft.com/office/drawing/2014/main" val="848260611"/>
                  </a:ext>
                </a:extLst>
              </a:tr>
              <a:tr h="576000">
                <a:tc>
                  <a:txBody>
                    <a:bodyPr/>
                    <a:lstStyle/>
                    <a:p>
                      <a:pPr>
                        <a:buNone/>
                      </a:pPr>
                      <a:r>
                        <a:rPr lang="en-US"/>
                        <a:t>Text / time columns</a:t>
                      </a:r>
                    </a:p>
                  </a:txBody>
                  <a:tcPr anchor="ctr"/>
                </a:tc>
                <a:tc>
                  <a:txBody>
                    <a:bodyPr/>
                    <a:lstStyle/>
                    <a:p>
                      <a:pPr>
                        <a:buNone/>
                      </a:pPr>
                      <a:r>
                        <a:rPr lang="en-US" dirty="0">
                          <a:latin typeface="Courier New" panose="02070309020205020404" pitchFamily="49" charset="0"/>
                        </a:rPr>
                        <a:t>date</a:t>
                      </a:r>
                      <a:r>
                        <a:rPr lang="en-US" dirty="0"/>
                        <a:t>, </a:t>
                      </a:r>
                      <a:r>
                        <a:rPr lang="en-US" dirty="0" err="1">
                          <a:latin typeface="Courier New" panose="02070309020205020404" pitchFamily="49" charset="0"/>
                        </a:rPr>
                        <a:t>line_name</a:t>
                      </a:r>
                      <a:r>
                        <a:rPr lang="en-US" dirty="0"/>
                        <a:t>, </a:t>
                      </a:r>
                      <a:r>
                        <a:rPr lang="en-US" dirty="0" err="1">
                          <a:latin typeface="Courier New" panose="02070309020205020404" pitchFamily="49" charset="0"/>
                        </a:rPr>
                        <a:t>departure_time_planned</a:t>
                      </a:r>
                      <a:r>
                        <a:rPr lang="en-US" dirty="0"/>
                        <a:t>, </a:t>
                      </a:r>
                      <a:r>
                        <a:rPr lang="en-US" dirty="0" err="1">
                          <a:latin typeface="Courier New" panose="02070309020205020404" pitchFamily="49" charset="0"/>
                        </a:rPr>
                        <a:t>arrival_time_planned</a:t>
                      </a:r>
                      <a:r>
                        <a:rPr lang="en-US" dirty="0"/>
                        <a:t>, </a:t>
                      </a:r>
                      <a:r>
                        <a:rPr lang="en-US" dirty="0" err="1">
                          <a:latin typeface="Courier New" panose="02070309020205020404" pitchFamily="49" charset="0"/>
                        </a:rPr>
                        <a:t>route_type</a:t>
                      </a:r>
                      <a:r>
                        <a:rPr lang="en-US" dirty="0"/>
                        <a:t>, </a:t>
                      </a:r>
                      <a:r>
                        <a:rPr lang="en-US" dirty="0" err="1">
                          <a:latin typeface="Courier New" panose="02070309020205020404" pitchFamily="49" charset="0"/>
                        </a:rPr>
                        <a:t>line_num</a:t>
                      </a:r>
                      <a:r>
                        <a:rPr lang="en-US" dirty="0"/>
                        <a:t>, </a:t>
                      </a:r>
                      <a:r>
                        <a:rPr lang="en-US" dirty="0" err="1">
                          <a:latin typeface="Courier New" panose="02070309020205020404" pitchFamily="49" charset="0"/>
                        </a:rPr>
                        <a:t>agency_linenum_dir_alter</a:t>
                      </a:r>
                      <a:endParaRPr lang="en-US" dirty="0"/>
                    </a:p>
                  </a:txBody>
                  <a:tcPr anchor="ctr"/>
                </a:tc>
                <a:tc>
                  <a:txBody>
                    <a:bodyPr/>
                    <a:lstStyle/>
                    <a:p>
                      <a:pPr>
                        <a:buNone/>
                      </a:pPr>
                      <a:r>
                        <a:rPr lang="en-US" dirty="0"/>
                        <a:t>Not directly suitable for model training after feature engineering/encoding.</a:t>
                      </a:r>
                    </a:p>
                  </a:txBody>
                  <a:tcPr anchor="ctr"/>
                </a:tc>
                <a:extLst>
                  <a:ext uri="{0D108BD9-81ED-4DB2-BD59-A6C34878D82A}">
                    <a16:rowId xmlns:a16="http://schemas.microsoft.com/office/drawing/2014/main" val="3107529785"/>
                  </a:ext>
                </a:extLst>
              </a:tr>
            </a:tbl>
          </a:graphicData>
        </a:graphic>
      </p:graphicFrame>
      <p:sp>
        <p:nvSpPr>
          <p:cNvPr id="8" name="Text 19">
            <a:extLst>
              <a:ext uri="{FF2B5EF4-FFF2-40B4-BE49-F238E27FC236}">
                <a16:creationId xmlns:a16="http://schemas.microsoft.com/office/drawing/2014/main" id="{0FB9E7BA-6930-FDD0-50D2-315E06107979}"/>
              </a:ext>
            </a:extLst>
          </p:cNvPr>
          <p:cNvSpPr/>
          <p:nvPr/>
        </p:nvSpPr>
        <p:spPr>
          <a:xfrm>
            <a:off x="2973962" y="5360751"/>
            <a:ext cx="14801715" cy="4189193"/>
          </a:xfrm>
          <a:prstGeom prst="rect">
            <a:avLst/>
          </a:prstGeom>
          <a:noFill/>
          <a:ln/>
        </p:spPr>
        <p:txBody>
          <a:bodyPr wrap="square" lIns="25400" tIns="25400" rIns="25400" bIns="25400" rtlCol="0" anchor="t">
            <a:normAutofit/>
          </a:bodyPr>
          <a:lstStyle/>
          <a:p>
            <a:r>
              <a:rPr lang="en-US" sz="2000" b="1" dirty="0"/>
              <a:t>Feature Selection Check</a:t>
            </a:r>
          </a:p>
          <a:p>
            <a:pPr marL="342900" indent="-342900">
              <a:buFont typeface="Arial" panose="020B0604020202020204" pitchFamily="34" charset="0"/>
              <a:buChar char="•"/>
            </a:pPr>
            <a:r>
              <a:rPr lang="en-US" sz="2000" dirty="0"/>
              <a:t>Ran several feature selection methods on the training dataset only. </a:t>
            </a:r>
          </a:p>
          <a:p>
            <a:pPr marL="342900" indent="-342900">
              <a:buFont typeface="Arial" panose="020B0604020202020204" pitchFamily="34" charset="0"/>
              <a:buChar char="•"/>
            </a:pPr>
            <a:r>
              <a:rPr lang="en-US" sz="2000" dirty="0"/>
              <a:t>Methods included:</a:t>
            </a:r>
          </a:p>
          <a:p>
            <a:pPr marL="800100" lvl="1" indent="-342900">
              <a:buSzPct val="70000"/>
              <a:buFont typeface="Courier New" panose="02070309020205020404" pitchFamily="49" charset="0"/>
              <a:buChar char="o"/>
            </a:pPr>
            <a:r>
              <a:rPr lang="en-US" sz="2000" dirty="0"/>
              <a:t>Random Forest </a:t>
            </a:r>
          </a:p>
          <a:p>
            <a:pPr marL="800100" lvl="1" indent="-342900">
              <a:buSzPct val="70000"/>
              <a:buFont typeface="Courier New" panose="02070309020205020404" pitchFamily="49" charset="0"/>
              <a:buChar char="o"/>
            </a:pPr>
            <a:r>
              <a:rPr lang="en-US" sz="2000" dirty="0"/>
              <a:t>Gradient Boosting </a:t>
            </a:r>
          </a:p>
          <a:p>
            <a:pPr marL="800100" lvl="1" indent="-342900">
              <a:buSzPct val="70000"/>
              <a:buFont typeface="Courier New" panose="02070309020205020404" pitchFamily="49" charset="0"/>
              <a:buChar char="o"/>
            </a:pPr>
            <a:r>
              <a:rPr lang="en-US" sz="2000" dirty="0"/>
              <a:t>Linear SVC </a:t>
            </a:r>
          </a:p>
          <a:p>
            <a:pPr marL="800100" lvl="1" indent="-342900">
              <a:buSzPct val="70000"/>
              <a:buFont typeface="Courier New" panose="02070309020205020404" pitchFamily="49" charset="0"/>
              <a:buChar char="o"/>
            </a:pPr>
            <a:r>
              <a:rPr lang="en-US" sz="2000" dirty="0"/>
              <a:t>Logistic Regression with L2 regularization </a:t>
            </a:r>
          </a:p>
          <a:p>
            <a:pPr marL="342900" indent="-342900">
              <a:buFont typeface="Arial" panose="020B0604020202020204" pitchFamily="34" charset="0"/>
              <a:buChar char="•"/>
            </a:pPr>
            <a:r>
              <a:rPr lang="en-US" sz="2000" dirty="0"/>
              <a:t>Each method gave a “vote” to features it identified as useful. </a:t>
            </a:r>
          </a:p>
          <a:p>
            <a:pPr marL="342900" indent="-342900">
              <a:buFont typeface="Arial" panose="020B0604020202020204" pitchFamily="34" charset="0"/>
              <a:buChar char="•"/>
            </a:pPr>
            <a:r>
              <a:rPr lang="en-US" sz="2000" dirty="0"/>
              <a:t>Tested </a:t>
            </a:r>
            <a:r>
              <a:rPr lang="en-US" sz="2000" dirty="0" err="1"/>
              <a:t>XGBoost</a:t>
            </a:r>
            <a:r>
              <a:rPr lang="en-US" sz="2000" dirty="0"/>
              <a:t> models using different vote thresholds, such as features selected by at least 4 or 3 methods. </a:t>
            </a:r>
          </a:p>
          <a:p>
            <a:pPr marL="342900" indent="-342900">
              <a:buFont typeface="Arial" panose="020B0604020202020204" pitchFamily="34" charset="0"/>
              <a:buChar char="•"/>
            </a:pPr>
            <a:r>
              <a:rPr lang="en-US" sz="2000" dirty="0"/>
              <a:t>No clear performance improvement was found after reducing the feature set. </a:t>
            </a:r>
          </a:p>
          <a:p>
            <a:pPr marL="342900" indent="-342900">
              <a:buFont typeface="Arial" panose="020B0604020202020204" pitchFamily="34" charset="0"/>
              <a:buChar char="•"/>
            </a:pPr>
            <a:r>
              <a:rPr lang="en-US" sz="2000" dirty="0"/>
              <a:t>Therefore, the final model kept the full selected feature set.</a:t>
            </a:r>
          </a:p>
        </p:txBody>
      </p:sp>
    </p:spTree>
    <p:extLst>
      <p:ext uri="{BB962C8B-B14F-4D97-AF65-F5344CB8AC3E}">
        <p14:creationId xmlns:p14="http://schemas.microsoft.com/office/powerpoint/2010/main" val="98400960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1">
    <p:bg>
      <p:bgPr>
        <a:solidFill>
          <a:srgbClr val="F5F1E8"/>
        </a:solidFill>
        <a:effectLst/>
      </p:bgPr>
    </p:bg>
    <p:spTree>
      <p:nvGrpSpPr>
        <p:cNvPr id="1" name=""/>
        <p:cNvGrpSpPr/>
        <p:nvPr/>
      </p:nvGrpSpPr>
      <p:grpSpPr>
        <a:xfrm>
          <a:off x="0" y="0"/>
          <a:ext cx="0" cy="0"/>
          <a:chOff x="0" y="0"/>
          <a:chExt cx="0" cy="0"/>
        </a:xfrm>
      </p:grpSpPr>
      <p:sp>
        <p:nvSpPr>
          <p:cNvPr id="2" name="Shape 0"/>
          <p:cNvSpPr/>
          <p:nvPr/>
        </p:nvSpPr>
        <p:spPr>
          <a:xfrm>
            <a:off x="0" y="0"/>
            <a:ext cx="2095500" cy="10287000"/>
          </a:xfrm>
          <a:prstGeom prst="rect">
            <a:avLst/>
          </a:prstGeom>
          <a:solidFill>
            <a:srgbClr val="EBE5D6"/>
          </a:solidFill>
          <a:ln/>
        </p:spPr>
        <p:txBody>
          <a:bodyPr/>
          <a:lstStyle/>
          <a:p>
            <a:endParaRPr lang="he-IL"/>
          </a:p>
        </p:txBody>
      </p:sp>
      <p:sp>
        <p:nvSpPr>
          <p:cNvPr id="3" name="Shape 1"/>
          <p:cNvSpPr/>
          <p:nvPr/>
        </p:nvSpPr>
        <p:spPr>
          <a:xfrm>
            <a:off x="2085975" y="0"/>
            <a:ext cx="9525" cy="10287000"/>
          </a:xfrm>
          <a:prstGeom prst="rect">
            <a:avLst/>
          </a:prstGeom>
          <a:solidFill>
            <a:srgbClr val="D4CDBC"/>
          </a:solidFill>
          <a:ln/>
        </p:spPr>
        <p:txBody>
          <a:bodyPr/>
          <a:lstStyle/>
          <a:p>
            <a:endParaRPr lang="he-IL"/>
          </a:p>
        </p:txBody>
      </p:sp>
      <p:sp>
        <p:nvSpPr>
          <p:cNvPr id="19" name="Text 17"/>
          <p:cNvSpPr/>
          <p:nvPr/>
        </p:nvSpPr>
        <p:spPr>
          <a:xfrm>
            <a:off x="2781300" y="571500"/>
            <a:ext cx="15187041" cy="171450"/>
          </a:xfrm>
          <a:prstGeom prst="rect">
            <a:avLst/>
          </a:prstGeom>
          <a:noFill/>
          <a:ln/>
        </p:spPr>
        <p:txBody>
          <a:bodyPr wrap="square" lIns="25400" tIns="25400" rIns="25400" bIns="25400" rtlCol="0" anchor="ctr">
            <a:noAutofit/>
          </a:bodyPr>
          <a:lstStyle/>
          <a:p>
            <a:pPr marL="0" indent="0" algn="l">
              <a:buNone/>
            </a:pPr>
            <a:r>
              <a:rPr lang="en-US" sz="1400" kern="0" spc="182" dirty="0">
                <a:solidFill>
                  <a:srgbClr val="888080"/>
                </a:solidFill>
                <a:latin typeface="JetBrains Mono" pitchFamily="34" charset="0"/>
                <a:ea typeface="JetBrains Mono" pitchFamily="34" charset="-122"/>
                <a:cs typeface="JetBrains Mono" pitchFamily="34" charset="-120"/>
              </a:rPr>
              <a:t>PIPELINE · 08 · Feature Selection</a:t>
            </a:r>
            <a:endParaRPr lang="en-US" sz="1400" dirty="0"/>
          </a:p>
        </p:txBody>
      </p:sp>
      <p:sp>
        <p:nvSpPr>
          <p:cNvPr id="20" name="Text 18"/>
          <p:cNvSpPr/>
          <p:nvPr/>
        </p:nvSpPr>
        <p:spPr>
          <a:xfrm>
            <a:off x="2781300" y="914400"/>
            <a:ext cx="15187041" cy="643830"/>
          </a:xfrm>
          <a:prstGeom prst="rect">
            <a:avLst/>
          </a:prstGeom>
          <a:noFill/>
          <a:ln/>
        </p:spPr>
        <p:txBody>
          <a:bodyPr wrap="square" lIns="25400" tIns="25400" rIns="25400" bIns="25400" rtlCol="0" anchor="t">
            <a:normAutofit fontScale="92500" lnSpcReduction="20000"/>
          </a:bodyPr>
          <a:lstStyle/>
          <a:p>
            <a:pPr marL="0" indent="0" algn="l">
              <a:lnSpc>
                <a:spcPct val="106000"/>
              </a:lnSpc>
              <a:buNone/>
            </a:pPr>
            <a:r>
              <a:rPr lang="en-US" sz="4500" kern="0" spc="-81" dirty="0">
                <a:solidFill>
                  <a:srgbClr val="1A1A1A"/>
                </a:solidFill>
                <a:latin typeface="Instrument Serif" pitchFamily="34" charset="0"/>
                <a:ea typeface="Instrument Serif" pitchFamily="34" charset="-122"/>
                <a:cs typeface="Instrument Serif" pitchFamily="34" charset="-120"/>
              </a:rPr>
              <a:t>Feature selection summary</a:t>
            </a:r>
            <a:endParaRPr lang="en-US" sz="4500" dirty="0"/>
          </a:p>
        </p:txBody>
      </p:sp>
      <p:sp>
        <p:nvSpPr>
          <p:cNvPr id="76" name="Shape 74"/>
          <p:cNvSpPr/>
          <p:nvPr/>
        </p:nvSpPr>
        <p:spPr>
          <a:xfrm>
            <a:off x="2852432" y="3787080"/>
            <a:ext cx="4859227" cy="2703112"/>
          </a:xfrm>
          <a:prstGeom prst="rect">
            <a:avLst/>
          </a:prstGeom>
          <a:solidFill>
            <a:srgbClr val="EBE5D6"/>
          </a:solidFill>
          <a:ln w="9525">
            <a:solidFill>
              <a:srgbClr val="D4CDBC"/>
            </a:solidFill>
            <a:prstDash val="solid"/>
          </a:ln>
        </p:spPr>
        <p:txBody>
          <a:bodyPr/>
          <a:lstStyle/>
          <a:p>
            <a:endParaRPr lang="he-IL" sz="2400"/>
          </a:p>
        </p:txBody>
      </p:sp>
      <p:sp>
        <p:nvSpPr>
          <p:cNvPr id="77" name="Text 75"/>
          <p:cNvSpPr/>
          <p:nvPr/>
        </p:nvSpPr>
        <p:spPr>
          <a:xfrm>
            <a:off x="3019424" y="4006155"/>
            <a:ext cx="4429885" cy="429499"/>
          </a:xfrm>
          <a:prstGeom prst="rect">
            <a:avLst/>
          </a:prstGeom>
          <a:noFill/>
          <a:ln/>
        </p:spPr>
        <p:txBody>
          <a:bodyPr wrap="square" lIns="25400" tIns="25400" rIns="25400" bIns="25400" rtlCol="0" anchor="t">
            <a:normAutofit/>
          </a:bodyPr>
          <a:lstStyle/>
          <a:p>
            <a:pPr marL="0" indent="0" algn="l">
              <a:buNone/>
            </a:pPr>
            <a:r>
              <a:rPr lang="en-US" sz="2400" b="1" kern="0" spc="135" dirty="0">
                <a:solidFill>
                  <a:srgbClr val="C25A2A"/>
                </a:solidFill>
                <a:latin typeface="JetBrains Mono" pitchFamily="34" charset="0"/>
                <a:ea typeface="JetBrains Mono" pitchFamily="34" charset="-122"/>
                <a:cs typeface="JetBrains Mono" pitchFamily="34" charset="-120"/>
              </a:rPr>
              <a:t>FUNNEL</a:t>
            </a:r>
            <a:endParaRPr lang="en-US" sz="2400" dirty="0"/>
          </a:p>
        </p:txBody>
      </p:sp>
      <p:sp>
        <p:nvSpPr>
          <p:cNvPr id="78" name="Text 76"/>
          <p:cNvSpPr/>
          <p:nvPr/>
        </p:nvSpPr>
        <p:spPr>
          <a:xfrm>
            <a:off x="2972995" y="5273541"/>
            <a:ext cx="933851" cy="1216650"/>
          </a:xfrm>
          <a:prstGeom prst="rect">
            <a:avLst/>
          </a:prstGeom>
          <a:noFill/>
          <a:ln/>
        </p:spPr>
        <p:txBody>
          <a:bodyPr wrap="square" lIns="25400" tIns="25400" rIns="25400" bIns="25400" rtlCol="0" anchor="t">
            <a:normAutofit/>
          </a:bodyPr>
          <a:lstStyle/>
          <a:p>
            <a:pPr marL="0" indent="0" algn="l">
              <a:lnSpc>
                <a:spcPct val="92000"/>
              </a:lnSpc>
              <a:buNone/>
            </a:pPr>
            <a:r>
              <a:rPr lang="en-US" sz="4400" kern="0" spc="-90" dirty="0">
                <a:solidFill>
                  <a:srgbClr val="1A1A1A"/>
                </a:solidFill>
                <a:latin typeface="JetBrains Mono" pitchFamily="34" charset="0"/>
                <a:ea typeface="JetBrains Mono" pitchFamily="34" charset="-122"/>
                <a:cs typeface="JetBrains Mono" pitchFamily="34" charset="-120"/>
              </a:rPr>
              <a:t>35</a:t>
            </a:r>
            <a:endParaRPr lang="en-US" sz="4400" dirty="0"/>
          </a:p>
        </p:txBody>
      </p:sp>
      <p:sp>
        <p:nvSpPr>
          <p:cNvPr id="79" name="Text 77"/>
          <p:cNvSpPr/>
          <p:nvPr/>
        </p:nvSpPr>
        <p:spPr>
          <a:xfrm>
            <a:off x="3019424" y="4998134"/>
            <a:ext cx="933851" cy="429499"/>
          </a:xfrm>
          <a:prstGeom prst="rect">
            <a:avLst/>
          </a:prstGeom>
          <a:noFill/>
          <a:ln/>
        </p:spPr>
        <p:txBody>
          <a:bodyPr wrap="square" lIns="25400" tIns="25400" rIns="25400" bIns="25400" rtlCol="0" anchor="t">
            <a:normAutofit/>
          </a:bodyPr>
          <a:lstStyle/>
          <a:p>
            <a:pPr marL="0" indent="0" algn="l">
              <a:buNone/>
            </a:pPr>
            <a:r>
              <a:rPr lang="en-US" kern="0" spc="135" dirty="0">
                <a:solidFill>
                  <a:srgbClr val="888080"/>
                </a:solidFill>
                <a:latin typeface="JetBrains Mono" pitchFamily="34" charset="0"/>
                <a:ea typeface="JetBrains Mono" pitchFamily="34" charset="-122"/>
                <a:cs typeface="JetBrains Mono" pitchFamily="34" charset="-120"/>
              </a:rPr>
              <a:t>RAW</a:t>
            </a:r>
            <a:endParaRPr lang="en-US" sz="900" dirty="0"/>
          </a:p>
        </p:txBody>
      </p:sp>
      <p:sp>
        <p:nvSpPr>
          <p:cNvPr id="80" name="Text 78"/>
          <p:cNvSpPr/>
          <p:nvPr/>
        </p:nvSpPr>
        <p:spPr>
          <a:xfrm>
            <a:off x="3890763" y="5125178"/>
            <a:ext cx="309360" cy="833734"/>
          </a:xfrm>
          <a:prstGeom prst="rect">
            <a:avLst/>
          </a:prstGeom>
          <a:noFill/>
          <a:ln/>
        </p:spPr>
        <p:txBody>
          <a:bodyPr wrap="square" lIns="25400" tIns="25400" rIns="25400" bIns="25400" rtlCol="0" anchor="ctr">
            <a:normAutofit/>
          </a:bodyPr>
          <a:lstStyle/>
          <a:p>
            <a:pPr marL="0" indent="0" algn="ctr">
              <a:buNone/>
            </a:pPr>
            <a:r>
              <a:rPr lang="en-US" sz="2000" kern="0" spc="63" dirty="0">
                <a:solidFill>
                  <a:srgbClr val="C25A2A"/>
                </a:solidFill>
                <a:latin typeface="JetBrains Mono" pitchFamily="34" charset="0"/>
                <a:ea typeface="JetBrains Mono" pitchFamily="34" charset="-122"/>
                <a:cs typeface="JetBrains Mono" pitchFamily="34" charset="-120"/>
              </a:rPr>
              <a:t>→</a:t>
            </a:r>
            <a:endParaRPr lang="en-US" sz="2000" dirty="0"/>
          </a:p>
        </p:txBody>
      </p:sp>
      <p:sp>
        <p:nvSpPr>
          <p:cNvPr id="81" name="Text 79"/>
          <p:cNvSpPr/>
          <p:nvPr/>
        </p:nvSpPr>
        <p:spPr>
          <a:xfrm>
            <a:off x="4698942" y="5319348"/>
            <a:ext cx="1270683" cy="1216650"/>
          </a:xfrm>
          <a:prstGeom prst="rect">
            <a:avLst/>
          </a:prstGeom>
          <a:noFill/>
          <a:ln/>
        </p:spPr>
        <p:txBody>
          <a:bodyPr wrap="square" lIns="25400" tIns="25400" rIns="25400" bIns="25400" rtlCol="0" anchor="t">
            <a:normAutofit/>
          </a:bodyPr>
          <a:lstStyle/>
          <a:p>
            <a:pPr marL="0" indent="0" algn="l">
              <a:lnSpc>
                <a:spcPct val="92000"/>
              </a:lnSpc>
              <a:buNone/>
            </a:pPr>
            <a:r>
              <a:rPr lang="en-US" sz="4400" kern="0" spc="-90" dirty="0">
                <a:solidFill>
                  <a:srgbClr val="1A1A1A"/>
                </a:solidFill>
                <a:latin typeface="JetBrains Mono" pitchFamily="34" charset="0"/>
                <a:ea typeface="JetBrains Mono" pitchFamily="34" charset="-122"/>
                <a:cs typeface="JetBrains Mono" pitchFamily="34" charset="-120"/>
              </a:rPr>
              <a:t>52</a:t>
            </a:r>
            <a:endParaRPr lang="en-US" sz="4400" dirty="0"/>
          </a:p>
        </p:txBody>
      </p:sp>
      <p:sp>
        <p:nvSpPr>
          <p:cNvPr id="82" name="Text 80"/>
          <p:cNvSpPr/>
          <p:nvPr/>
        </p:nvSpPr>
        <p:spPr>
          <a:xfrm>
            <a:off x="4305734" y="5016677"/>
            <a:ext cx="1681400" cy="627534"/>
          </a:xfrm>
          <a:prstGeom prst="rect">
            <a:avLst/>
          </a:prstGeom>
          <a:noFill/>
          <a:ln/>
        </p:spPr>
        <p:txBody>
          <a:bodyPr wrap="square" lIns="25400" tIns="25400" rIns="25400" bIns="25400" rtlCol="0" anchor="t">
            <a:normAutofit/>
          </a:bodyPr>
          <a:lstStyle/>
          <a:p>
            <a:pPr marL="0" indent="0" algn="l">
              <a:buNone/>
            </a:pPr>
            <a:r>
              <a:rPr lang="en-US" kern="0" spc="135" dirty="0">
                <a:solidFill>
                  <a:srgbClr val="888080"/>
                </a:solidFill>
                <a:latin typeface="JetBrains Mono" pitchFamily="34" charset="0"/>
                <a:ea typeface="JetBrains Mono" pitchFamily="34" charset="-122"/>
              </a:rPr>
              <a:t>ENGINEERED</a:t>
            </a:r>
          </a:p>
        </p:txBody>
      </p:sp>
      <p:sp>
        <p:nvSpPr>
          <p:cNvPr id="83" name="Text 81"/>
          <p:cNvSpPr/>
          <p:nvPr/>
        </p:nvSpPr>
        <p:spPr>
          <a:xfrm>
            <a:off x="5753356" y="5227344"/>
            <a:ext cx="309360" cy="833734"/>
          </a:xfrm>
          <a:prstGeom prst="rect">
            <a:avLst/>
          </a:prstGeom>
          <a:noFill/>
          <a:ln/>
        </p:spPr>
        <p:txBody>
          <a:bodyPr wrap="square" lIns="25400" tIns="25400" rIns="25400" bIns="25400" rtlCol="0" anchor="ctr">
            <a:normAutofit/>
          </a:bodyPr>
          <a:lstStyle/>
          <a:p>
            <a:pPr marL="0" indent="0" algn="ctr">
              <a:buNone/>
            </a:pPr>
            <a:r>
              <a:rPr lang="en-US" sz="2000" kern="0" spc="63" dirty="0">
                <a:solidFill>
                  <a:srgbClr val="C25A2A"/>
                </a:solidFill>
                <a:latin typeface="JetBrains Mono" pitchFamily="34" charset="0"/>
                <a:ea typeface="JetBrains Mono" pitchFamily="34" charset="-122"/>
                <a:cs typeface="JetBrains Mono" pitchFamily="34" charset="-120"/>
              </a:rPr>
              <a:t>→</a:t>
            </a:r>
            <a:endParaRPr lang="en-US" sz="2000" dirty="0"/>
          </a:p>
        </p:txBody>
      </p:sp>
      <p:sp>
        <p:nvSpPr>
          <p:cNvPr id="84" name="Text 82"/>
          <p:cNvSpPr/>
          <p:nvPr/>
        </p:nvSpPr>
        <p:spPr>
          <a:xfrm>
            <a:off x="6409029" y="5319348"/>
            <a:ext cx="1040280" cy="1216650"/>
          </a:xfrm>
          <a:prstGeom prst="rect">
            <a:avLst/>
          </a:prstGeom>
          <a:noFill/>
          <a:ln/>
        </p:spPr>
        <p:txBody>
          <a:bodyPr wrap="square" lIns="25400" tIns="25400" rIns="25400" bIns="25400" rtlCol="0" anchor="t">
            <a:normAutofit/>
          </a:bodyPr>
          <a:lstStyle/>
          <a:p>
            <a:pPr marL="0" indent="0" algn="l">
              <a:lnSpc>
                <a:spcPct val="92000"/>
              </a:lnSpc>
              <a:buNone/>
            </a:pPr>
            <a:r>
              <a:rPr lang="en-US" sz="4400" kern="0" spc="-90" dirty="0">
                <a:solidFill>
                  <a:srgbClr val="C25A2A"/>
                </a:solidFill>
                <a:latin typeface="Instrument Serif" pitchFamily="34" charset="0"/>
                <a:ea typeface="Instrument Serif" pitchFamily="34" charset="-122"/>
                <a:cs typeface="Instrument Serif" pitchFamily="34" charset="-120"/>
              </a:rPr>
              <a:t>20</a:t>
            </a:r>
            <a:endParaRPr lang="en-US" sz="4400" dirty="0"/>
          </a:p>
        </p:txBody>
      </p:sp>
      <p:sp>
        <p:nvSpPr>
          <p:cNvPr id="85" name="Text 83"/>
          <p:cNvSpPr/>
          <p:nvPr/>
        </p:nvSpPr>
        <p:spPr>
          <a:xfrm>
            <a:off x="6246817" y="5016781"/>
            <a:ext cx="1364703" cy="777788"/>
          </a:xfrm>
          <a:prstGeom prst="rect">
            <a:avLst/>
          </a:prstGeom>
          <a:noFill/>
          <a:ln/>
        </p:spPr>
        <p:txBody>
          <a:bodyPr wrap="square" lIns="25400" tIns="25400" rIns="25400" bIns="25400" rtlCol="0" anchor="t">
            <a:normAutofit/>
          </a:bodyPr>
          <a:lstStyle/>
          <a:p>
            <a:pPr marL="0" indent="0" algn="l">
              <a:buNone/>
            </a:pPr>
            <a:r>
              <a:rPr lang="en-US" kern="0" spc="135" dirty="0">
                <a:solidFill>
                  <a:srgbClr val="888080"/>
                </a:solidFill>
                <a:latin typeface="JetBrains Mono" pitchFamily="34" charset="0"/>
                <a:ea typeface="JetBrains Mono" pitchFamily="34" charset="-122"/>
                <a:cs typeface="JetBrains Mono" pitchFamily="34" charset="-120"/>
              </a:rPr>
              <a:t>SELECTED</a:t>
            </a:r>
            <a:endParaRPr lang="en-US" sz="900" dirty="0"/>
          </a:p>
        </p:txBody>
      </p:sp>
      <p:sp>
        <p:nvSpPr>
          <p:cNvPr id="91" name="Shape 89"/>
          <p:cNvSpPr/>
          <p:nvPr/>
        </p:nvSpPr>
        <p:spPr>
          <a:xfrm>
            <a:off x="9305344" y="3787080"/>
            <a:ext cx="8220656" cy="2748917"/>
          </a:xfrm>
          <a:prstGeom prst="rect">
            <a:avLst/>
          </a:prstGeom>
          <a:solidFill>
            <a:srgbClr val="1A1A1A"/>
          </a:solidFill>
          <a:ln w="9525">
            <a:solidFill>
              <a:srgbClr val="1A1A1A"/>
            </a:solidFill>
            <a:prstDash val="solid"/>
          </a:ln>
        </p:spPr>
        <p:txBody>
          <a:bodyPr/>
          <a:lstStyle/>
          <a:p>
            <a:endParaRPr lang="he-IL"/>
          </a:p>
        </p:txBody>
      </p:sp>
      <p:sp>
        <p:nvSpPr>
          <p:cNvPr id="92" name="Text 90"/>
          <p:cNvSpPr/>
          <p:nvPr/>
        </p:nvSpPr>
        <p:spPr>
          <a:xfrm>
            <a:off x="9467555" y="3972733"/>
            <a:ext cx="7896395" cy="496342"/>
          </a:xfrm>
          <a:prstGeom prst="rect">
            <a:avLst/>
          </a:prstGeom>
          <a:noFill/>
          <a:ln/>
        </p:spPr>
        <p:txBody>
          <a:bodyPr wrap="square" lIns="25400" tIns="25400" rIns="25400" bIns="25400" rtlCol="0" anchor="t">
            <a:normAutofit/>
          </a:bodyPr>
          <a:lstStyle/>
          <a:p>
            <a:pPr marL="0" indent="0" algn="l">
              <a:buNone/>
            </a:pPr>
            <a:r>
              <a:rPr lang="en-US" sz="2400" b="1" kern="0" spc="135" dirty="0">
                <a:solidFill>
                  <a:srgbClr val="C25A2A"/>
                </a:solidFill>
                <a:latin typeface="JetBrains Mono" pitchFamily="34" charset="0"/>
                <a:ea typeface="JetBrains Mono" pitchFamily="34" charset="-122"/>
                <a:cs typeface="JetBrains Mono" pitchFamily="34" charset="-120"/>
              </a:rPr>
              <a:t>FINAL FEATURE SET</a:t>
            </a:r>
            <a:endParaRPr lang="en-US" sz="2400" dirty="0"/>
          </a:p>
        </p:txBody>
      </p:sp>
      <p:sp>
        <p:nvSpPr>
          <p:cNvPr id="93" name="Text 91"/>
          <p:cNvSpPr/>
          <p:nvPr/>
        </p:nvSpPr>
        <p:spPr>
          <a:xfrm>
            <a:off x="9465065" y="4495354"/>
            <a:ext cx="6736960" cy="777230"/>
          </a:xfrm>
          <a:prstGeom prst="rect">
            <a:avLst/>
          </a:prstGeom>
          <a:noFill/>
          <a:ln/>
        </p:spPr>
        <p:txBody>
          <a:bodyPr wrap="square" lIns="25400" tIns="25400" rIns="25400" bIns="25400" rtlCol="0" anchor="t">
            <a:normAutofit/>
          </a:bodyPr>
          <a:lstStyle/>
          <a:p>
            <a:pPr marL="0" indent="0" algn="l">
              <a:lnSpc>
                <a:spcPct val="112000"/>
              </a:lnSpc>
              <a:buNone/>
            </a:pPr>
            <a:r>
              <a:rPr lang="en-US" sz="2400" kern="0" spc="-16" dirty="0">
                <a:solidFill>
                  <a:srgbClr val="F5F1E8"/>
                </a:solidFill>
                <a:latin typeface="Instrument Serif" pitchFamily="34" charset="0"/>
                <a:ea typeface="Instrument Serif" pitchFamily="34" charset="-122"/>
                <a:cs typeface="Instrument Serif" pitchFamily="34" charset="-120"/>
              </a:rPr>
              <a:t>20 features across three families.</a:t>
            </a:r>
            <a:endParaRPr lang="en-US" sz="2400" dirty="0"/>
          </a:p>
        </p:txBody>
      </p:sp>
      <p:sp>
        <p:nvSpPr>
          <p:cNvPr id="94" name="Text 92"/>
          <p:cNvSpPr/>
          <p:nvPr/>
        </p:nvSpPr>
        <p:spPr>
          <a:xfrm>
            <a:off x="9467555" y="5212883"/>
            <a:ext cx="7403307" cy="994200"/>
          </a:xfrm>
          <a:prstGeom prst="rect">
            <a:avLst/>
          </a:prstGeom>
          <a:noFill/>
          <a:ln/>
        </p:spPr>
        <p:txBody>
          <a:bodyPr wrap="square" lIns="25400" tIns="25400" rIns="25400" bIns="25400" rtlCol="0" anchor="t">
            <a:normAutofit/>
          </a:bodyPr>
          <a:lstStyle/>
          <a:p>
            <a:pPr marL="0" indent="0" algn="l">
              <a:lnSpc>
                <a:spcPct val="150000"/>
              </a:lnSpc>
              <a:buNone/>
            </a:pPr>
            <a:r>
              <a:rPr lang="en-US" sz="2000" dirty="0">
                <a:solidFill>
                  <a:srgbClr val="FFFFFF">
                    <a:alpha val="78000"/>
                  </a:srgbClr>
                </a:solidFill>
                <a:latin typeface="Inter" pitchFamily="34" charset="0"/>
                <a:ea typeface="Inter" pitchFamily="34" charset="-122"/>
                <a:cs typeface="Inter" pitchFamily="34" charset="-120"/>
              </a:rPr>
              <a:t>7 temporal/operational, 6 route shape, 7 encoded categoricals — including the engineered</a:t>
            </a:r>
            <a:endParaRPr lang="en-US" sz="1200" dirty="0"/>
          </a:p>
        </p:txBody>
      </p:sp>
      <p:sp>
        <p:nvSpPr>
          <p:cNvPr id="95" name="Text 16">
            <a:extLst>
              <a:ext uri="{FF2B5EF4-FFF2-40B4-BE49-F238E27FC236}">
                <a16:creationId xmlns:a16="http://schemas.microsoft.com/office/drawing/2014/main" id="{20D5910F-6B31-1BC1-534B-EF254B1F0782}"/>
              </a:ext>
            </a:extLst>
          </p:cNvPr>
          <p:cNvSpPr/>
          <p:nvPr/>
        </p:nvSpPr>
        <p:spPr>
          <a:xfrm>
            <a:off x="266700" y="9410700"/>
            <a:ext cx="1628775" cy="342900"/>
          </a:xfrm>
          <a:prstGeom prst="rect">
            <a:avLst/>
          </a:prstGeom>
          <a:noFill/>
          <a:ln/>
        </p:spPr>
        <p:txBody>
          <a:bodyPr wrap="square" lIns="25400" tIns="25400" rIns="25400" bIns="25400" rtlCol="0" anchor="t">
            <a:noAutofit/>
          </a:bodyPr>
          <a:lstStyle/>
          <a:p>
            <a:pPr>
              <a:lnSpc>
                <a:spcPct val="160000"/>
              </a:lnSpc>
            </a:pPr>
            <a:r>
              <a:rPr lang="en-US" sz="1400" b="1" kern="0" spc="105" dirty="0">
                <a:solidFill>
                  <a:srgbClr val="1A1A1A"/>
                </a:solidFill>
                <a:latin typeface="JetBrains Mono" pitchFamily="34" charset="0"/>
                <a:ea typeface="JetBrains Mono" pitchFamily="34" charset="-122"/>
                <a:cs typeface="JetBrains Mono" pitchFamily="34" charset="-120"/>
              </a:rPr>
              <a:t>23 / 34</a:t>
            </a:r>
            <a:endParaRPr lang="en-US" sz="1400" dirty="0"/>
          </a:p>
        </p:txBody>
      </p:sp>
      <p:sp>
        <p:nvSpPr>
          <p:cNvPr id="96" name="Text 4">
            <a:extLst>
              <a:ext uri="{FF2B5EF4-FFF2-40B4-BE49-F238E27FC236}">
                <a16:creationId xmlns:a16="http://schemas.microsoft.com/office/drawing/2014/main" id="{C044FE38-294B-1851-AD33-677569B41161}"/>
              </a:ext>
            </a:extLst>
          </p:cNvPr>
          <p:cNvSpPr/>
          <p:nvPr/>
        </p:nvSpPr>
        <p:spPr>
          <a:xfrm>
            <a:off x="228063" y="1524367"/>
            <a:ext cx="372012" cy="200025"/>
          </a:xfrm>
          <a:prstGeom prst="rect">
            <a:avLst/>
          </a:prstGeom>
          <a:noFill/>
          <a:ln/>
        </p:spPr>
        <p:txBody>
          <a:bodyPr wrap="square" lIns="25400" tIns="25400" rIns="25400" bIns="25400" rtlCol="0" anchor="t">
            <a:noAutofit/>
          </a:bodyPr>
          <a:lstStyle/>
          <a:p>
            <a:pPr marL="0" indent="0" algn="l">
              <a:lnSpc>
                <a:spcPct val="130000"/>
              </a:lnSpc>
              <a:buNone/>
            </a:pPr>
            <a:r>
              <a:rPr lang="en-US" sz="1400" kern="0" spc="21" dirty="0">
                <a:solidFill>
                  <a:srgbClr val="888080"/>
                </a:solidFill>
                <a:latin typeface="Inter" pitchFamily="34" charset="0"/>
                <a:ea typeface="Inter" pitchFamily="34" charset="-122"/>
              </a:rPr>
              <a:t>01</a:t>
            </a:r>
          </a:p>
        </p:txBody>
      </p:sp>
      <p:sp>
        <p:nvSpPr>
          <p:cNvPr id="97" name="Text 5">
            <a:extLst>
              <a:ext uri="{FF2B5EF4-FFF2-40B4-BE49-F238E27FC236}">
                <a16:creationId xmlns:a16="http://schemas.microsoft.com/office/drawing/2014/main" id="{61C3863E-F99C-3A2A-0869-F73AF3DFD6E1}"/>
              </a:ext>
            </a:extLst>
          </p:cNvPr>
          <p:cNvSpPr/>
          <p:nvPr/>
        </p:nvSpPr>
        <p:spPr>
          <a:xfrm>
            <a:off x="523875" y="1522975"/>
            <a:ext cx="876300" cy="476251"/>
          </a:xfrm>
          <a:prstGeom prst="rect">
            <a:avLst/>
          </a:prstGeom>
          <a:noFill/>
          <a:ln/>
        </p:spPr>
        <p:txBody>
          <a:bodyPr wrap="square" lIns="25400" tIns="25400" rIns="25400" bIns="25400" rtlCol="0" anchor="t">
            <a:normAutofit/>
          </a:bodyPr>
          <a:lstStyle/>
          <a:p>
            <a:pPr marL="0" indent="0" algn="l">
              <a:lnSpc>
                <a:spcPct val="130000"/>
              </a:lnSpc>
              <a:buNone/>
            </a:pPr>
            <a:r>
              <a:rPr lang="en-US" sz="1400" kern="0" spc="21" dirty="0">
                <a:solidFill>
                  <a:srgbClr val="888080"/>
                </a:solidFill>
                <a:latin typeface="Inter" pitchFamily="34" charset="0"/>
                <a:ea typeface="Inter" pitchFamily="34" charset="-122"/>
              </a:rPr>
              <a:t>Agenda</a:t>
            </a:r>
          </a:p>
        </p:txBody>
      </p:sp>
      <p:sp>
        <p:nvSpPr>
          <p:cNvPr id="98" name="Text 6">
            <a:extLst>
              <a:ext uri="{FF2B5EF4-FFF2-40B4-BE49-F238E27FC236}">
                <a16:creationId xmlns:a16="http://schemas.microsoft.com/office/drawing/2014/main" id="{0D3E2584-96EA-0C81-3838-92303C6C39E4}"/>
              </a:ext>
            </a:extLst>
          </p:cNvPr>
          <p:cNvSpPr/>
          <p:nvPr/>
        </p:nvSpPr>
        <p:spPr>
          <a:xfrm>
            <a:off x="228063" y="1830953"/>
            <a:ext cx="372010" cy="194877"/>
          </a:xfrm>
          <a:prstGeom prst="rect">
            <a:avLst/>
          </a:prstGeom>
          <a:noFill/>
          <a:ln/>
        </p:spPr>
        <p:txBody>
          <a:bodyPr wrap="square" lIns="25400" tIns="25400" rIns="25400" bIns="25400" rtlCol="0" anchor="t">
            <a:noAutofit/>
          </a:bodyPr>
          <a:lstStyle/>
          <a:p>
            <a:pPr marL="0" indent="0" algn="l">
              <a:lnSpc>
                <a:spcPct val="130000"/>
              </a:lnSpc>
              <a:buNone/>
            </a:pPr>
            <a:r>
              <a:rPr lang="en-US" sz="1400" kern="0" spc="21" dirty="0">
                <a:solidFill>
                  <a:srgbClr val="888080"/>
                </a:solidFill>
                <a:latin typeface="Inter" pitchFamily="34" charset="0"/>
                <a:ea typeface="Inter" pitchFamily="34" charset="-122"/>
              </a:rPr>
              <a:t>02</a:t>
            </a:r>
          </a:p>
        </p:txBody>
      </p:sp>
      <p:sp>
        <p:nvSpPr>
          <p:cNvPr id="99" name="Text 8">
            <a:extLst>
              <a:ext uri="{FF2B5EF4-FFF2-40B4-BE49-F238E27FC236}">
                <a16:creationId xmlns:a16="http://schemas.microsoft.com/office/drawing/2014/main" id="{1B1D58DC-7E4B-7DA0-E185-CF520D303246}"/>
              </a:ext>
            </a:extLst>
          </p:cNvPr>
          <p:cNvSpPr/>
          <p:nvPr/>
        </p:nvSpPr>
        <p:spPr>
          <a:xfrm>
            <a:off x="230504" y="2152895"/>
            <a:ext cx="302895" cy="141422"/>
          </a:xfrm>
          <a:prstGeom prst="rect">
            <a:avLst/>
          </a:prstGeom>
          <a:noFill/>
          <a:ln/>
        </p:spPr>
        <p:txBody>
          <a:bodyPr wrap="square" lIns="25400" tIns="25400" rIns="25400" bIns="25400" rtlCol="0" anchor="t">
            <a:noAutofit/>
          </a:bodyPr>
          <a:lstStyle/>
          <a:p>
            <a:pPr marL="0" indent="0" algn="l">
              <a:lnSpc>
                <a:spcPct val="130000"/>
              </a:lnSpc>
              <a:buNone/>
            </a:pPr>
            <a:r>
              <a:rPr lang="en-US" sz="1400" kern="0" spc="21" dirty="0">
                <a:solidFill>
                  <a:srgbClr val="888080"/>
                </a:solidFill>
                <a:latin typeface="Inter" pitchFamily="34" charset="0"/>
                <a:ea typeface="Inter" pitchFamily="34" charset="-122"/>
              </a:rPr>
              <a:t>03</a:t>
            </a:r>
          </a:p>
        </p:txBody>
      </p:sp>
      <p:sp>
        <p:nvSpPr>
          <p:cNvPr id="100" name="Text 9">
            <a:extLst>
              <a:ext uri="{FF2B5EF4-FFF2-40B4-BE49-F238E27FC236}">
                <a16:creationId xmlns:a16="http://schemas.microsoft.com/office/drawing/2014/main" id="{A27DC860-65CD-E00E-D189-E194F8A676F1}"/>
              </a:ext>
            </a:extLst>
          </p:cNvPr>
          <p:cNvSpPr/>
          <p:nvPr/>
        </p:nvSpPr>
        <p:spPr>
          <a:xfrm>
            <a:off x="531240" y="2145027"/>
            <a:ext cx="1185416" cy="342476"/>
          </a:xfrm>
          <a:prstGeom prst="rect">
            <a:avLst/>
          </a:prstGeom>
          <a:noFill/>
          <a:ln/>
        </p:spPr>
        <p:txBody>
          <a:bodyPr wrap="square" lIns="25400" tIns="25400" rIns="25400" bIns="25400" rtlCol="0" anchor="t">
            <a:normAutofit/>
          </a:bodyPr>
          <a:lstStyle/>
          <a:p>
            <a:pPr marL="0" indent="0" algn="l">
              <a:lnSpc>
                <a:spcPct val="130000"/>
              </a:lnSpc>
              <a:buNone/>
            </a:pPr>
            <a:r>
              <a:rPr lang="en-US" sz="1400" kern="0" spc="21" dirty="0">
                <a:solidFill>
                  <a:srgbClr val="888080"/>
                </a:solidFill>
                <a:latin typeface="Inter" pitchFamily="34" charset="0"/>
                <a:ea typeface="Inter" pitchFamily="34" charset="-122"/>
              </a:rPr>
              <a:t>EDA</a:t>
            </a:r>
          </a:p>
        </p:txBody>
      </p:sp>
      <p:sp>
        <p:nvSpPr>
          <p:cNvPr id="101" name="Text 10">
            <a:extLst>
              <a:ext uri="{FF2B5EF4-FFF2-40B4-BE49-F238E27FC236}">
                <a16:creationId xmlns:a16="http://schemas.microsoft.com/office/drawing/2014/main" id="{8A216F32-929F-D1B1-F65F-659E381A5D05}"/>
              </a:ext>
            </a:extLst>
          </p:cNvPr>
          <p:cNvSpPr/>
          <p:nvPr/>
        </p:nvSpPr>
        <p:spPr>
          <a:xfrm>
            <a:off x="228062" y="2444125"/>
            <a:ext cx="305337" cy="172132"/>
          </a:xfrm>
          <a:prstGeom prst="rect">
            <a:avLst/>
          </a:prstGeom>
          <a:noFill/>
          <a:ln/>
        </p:spPr>
        <p:txBody>
          <a:bodyPr wrap="square" lIns="25400" tIns="25400" rIns="25400" bIns="25400" rtlCol="0" anchor="t">
            <a:noAutofit/>
          </a:bodyPr>
          <a:lstStyle/>
          <a:p>
            <a:pPr marL="0" indent="0" algn="l">
              <a:lnSpc>
                <a:spcPct val="130000"/>
              </a:lnSpc>
              <a:buNone/>
            </a:pPr>
            <a:r>
              <a:rPr lang="en-US" sz="1400" b="1" kern="0" spc="21" dirty="0">
                <a:solidFill>
                  <a:srgbClr val="C25A2A"/>
                </a:solidFill>
                <a:latin typeface="JetBrains Mono" pitchFamily="34" charset="0"/>
                <a:ea typeface="JetBrains Mono" pitchFamily="34" charset="-122"/>
              </a:rPr>
              <a:t>04</a:t>
            </a:r>
          </a:p>
        </p:txBody>
      </p:sp>
      <p:sp>
        <p:nvSpPr>
          <p:cNvPr id="102" name="Text 12">
            <a:extLst>
              <a:ext uri="{FF2B5EF4-FFF2-40B4-BE49-F238E27FC236}">
                <a16:creationId xmlns:a16="http://schemas.microsoft.com/office/drawing/2014/main" id="{F33C3B9D-70AC-5BDC-7D8A-575409818C8F}"/>
              </a:ext>
            </a:extLst>
          </p:cNvPr>
          <p:cNvSpPr/>
          <p:nvPr/>
        </p:nvSpPr>
        <p:spPr>
          <a:xfrm>
            <a:off x="228062" y="2750711"/>
            <a:ext cx="372011" cy="158880"/>
          </a:xfrm>
          <a:prstGeom prst="rect">
            <a:avLst/>
          </a:prstGeom>
          <a:noFill/>
          <a:ln/>
        </p:spPr>
        <p:txBody>
          <a:bodyPr wrap="square" lIns="25400" tIns="25400" rIns="25400" bIns="25400" rtlCol="0" anchor="t">
            <a:noAutofit/>
          </a:bodyPr>
          <a:lstStyle/>
          <a:p>
            <a:pPr marL="0" indent="0" algn="l">
              <a:lnSpc>
                <a:spcPct val="130000"/>
              </a:lnSpc>
              <a:buNone/>
            </a:pPr>
            <a:r>
              <a:rPr lang="en-US" sz="1400" kern="0" spc="21" dirty="0">
                <a:solidFill>
                  <a:srgbClr val="888080"/>
                </a:solidFill>
                <a:latin typeface="JetBrains Mono" pitchFamily="34" charset="0"/>
                <a:ea typeface="JetBrains Mono" pitchFamily="34" charset="-122"/>
                <a:cs typeface="JetBrains Mono" pitchFamily="34" charset="-120"/>
              </a:rPr>
              <a:t>05</a:t>
            </a:r>
            <a:endParaRPr lang="en-US" sz="1400" dirty="0"/>
          </a:p>
        </p:txBody>
      </p:sp>
      <p:sp>
        <p:nvSpPr>
          <p:cNvPr id="103" name="Text 13">
            <a:extLst>
              <a:ext uri="{FF2B5EF4-FFF2-40B4-BE49-F238E27FC236}">
                <a16:creationId xmlns:a16="http://schemas.microsoft.com/office/drawing/2014/main" id="{9DCDA0EC-3F62-5FAB-66A0-A17E9ECB944F}"/>
              </a:ext>
            </a:extLst>
          </p:cNvPr>
          <p:cNvSpPr/>
          <p:nvPr/>
        </p:nvSpPr>
        <p:spPr>
          <a:xfrm>
            <a:off x="533399" y="2725489"/>
            <a:ext cx="948333" cy="761256"/>
          </a:xfrm>
          <a:prstGeom prst="rect">
            <a:avLst/>
          </a:prstGeom>
          <a:noFill/>
          <a:ln/>
        </p:spPr>
        <p:txBody>
          <a:bodyPr wrap="square" lIns="25400" tIns="25400" rIns="25400" bIns="25400" rtlCol="0" anchor="t">
            <a:normAutofit/>
          </a:bodyPr>
          <a:lstStyle/>
          <a:p>
            <a:pPr marL="0" indent="0" algn="l">
              <a:lnSpc>
                <a:spcPct val="130000"/>
              </a:lnSpc>
              <a:buNone/>
            </a:pPr>
            <a:r>
              <a:rPr lang="en-US" sz="1400" kern="0" spc="21" dirty="0">
                <a:solidFill>
                  <a:srgbClr val="888080"/>
                </a:solidFill>
                <a:latin typeface="Inter" pitchFamily="34" charset="0"/>
                <a:ea typeface="Inter" pitchFamily="34" charset="-122"/>
                <a:cs typeface="Inter" pitchFamily="34" charset="-120"/>
              </a:rPr>
              <a:t>Modeling</a:t>
            </a:r>
            <a:endParaRPr lang="en-US" sz="1400" dirty="0"/>
          </a:p>
        </p:txBody>
      </p:sp>
      <p:sp>
        <p:nvSpPr>
          <p:cNvPr id="104" name="Text 14">
            <a:extLst>
              <a:ext uri="{FF2B5EF4-FFF2-40B4-BE49-F238E27FC236}">
                <a16:creationId xmlns:a16="http://schemas.microsoft.com/office/drawing/2014/main" id="{3673DE79-5CF0-D088-320F-DD5E76A98C4F}"/>
              </a:ext>
            </a:extLst>
          </p:cNvPr>
          <p:cNvSpPr/>
          <p:nvPr/>
        </p:nvSpPr>
        <p:spPr>
          <a:xfrm>
            <a:off x="235683" y="3042056"/>
            <a:ext cx="372010" cy="191463"/>
          </a:xfrm>
          <a:prstGeom prst="rect">
            <a:avLst/>
          </a:prstGeom>
          <a:noFill/>
          <a:ln/>
        </p:spPr>
        <p:txBody>
          <a:bodyPr wrap="square" lIns="25400" tIns="25400" rIns="25400" bIns="25400" rtlCol="0" anchor="t">
            <a:noAutofit/>
          </a:bodyPr>
          <a:lstStyle/>
          <a:p>
            <a:pPr marL="0" indent="0" algn="l">
              <a:lnSpc>
                <a:spcPct val="130000"/>
              </a:lnSpc>
              <a:buNone/>
            </a:pPr>
            <a:r>
              <a:rPr lang="en-US" sz="1400" kern="0" spc="21" dirty="0">
                <a:solidFill>
                  <a:srgbClr val="888080"/>
                </a:solidFill>
                <a:latin typeface="JetBrains Mono" pitchFamily="34" charset="0"/>
                <a:ea typeface="JetBrains Mono" pitchFamily="34" charset="-122"/>
                <a:cs typeface="JetBrains Mono" pitchFamily="34" charset="-120"/>
              </a:rPr>
              <a:t>06</a:t>
            </a:r>
            <a:endParaRPr lang="en-US" sz="1400" dirty="0"/>
          </a:p>
        </p:txBody>
      </p:sp>
      <p:sp>
        <p:nvSpPr>
          <p:cNvPr id="105" name="Text 15">
            <a:extLst>
              <a:ext uri="{FF2B5EF4-FFF2-40B4-BE49-F238E27FC236}">
                <a16:creationId xmlns:a16="http://schemas.microsoft.com/office/drawing/2014/main" id="{D74DD43B-426F-AF9F-69D1-E677CD1C7E36}"/>
              </a:ext>
            </a:extLst>
          </p:cNvPr>
          <p:cNvSpPr/>
          <p:nvPr/>
        </p:nvSpPr>
        <p:spPr>
          <a:xfrm>
            <a:off x="533400" y="3032075"/>
            <a:ext cx="1185416" cy="626120"/>
          </a:xfrm>
          <a:prstGeom prst="rect">
            <a:avLst/>
          </a:prstGeom>
          <a:noFill/>
          <a:ln/>
        </p:spPr>
        <p:txBody>
          <a:bodyPr wrap="square" lIns="25400" tIns="25400" rIns="25400" bIns="25400" rtlCol="0" anchor="t">
            <a:normAutofit/>
          </a:bodyPr>
          <a:lstStyle/>
          <a:p>
            <a:pPr marL="0" indent="0" algn="l">
              <a:lnSpc>
                <a:spcPct val="130000"/>
              </a:lnSpc>
              <a:buNone/>
            </a:pPr>
            <a:r>
              <a:rPr lang="en-US" sz="1400" kern="0" spc="21" dirty="0">
                <a:solidFill>
                  <a:srgbClr val="888080"/>
                </a:solidFill>
                <a:latin typeface="Inter" pitchFamily="34" charset="0"/>
                <a:ea typeface="Inter" pitchFamily="34" charset="-122"/>
                <a:cs typeface="Inter" pitchFamily="34" charset="-120"/>
              </a:rPr>
              <a:t>Conclusions</a:t>
            </a:r>
            <a:endParaRPr lang="en-US" sz="1400" dirty="0"/>
          </a:p>
        </p:txBody>
      </p:sp>
      <p:sp>
        <p:nvSpPr>
          <p:cNvPr id="106" name="Text 9">
            <a:extLst>
              <a:ext uri="{FF2B5EF4-FFF2-40B4-BE49-F238E27FC236}">
                <a16:creationId xmlns:a16="http://schemas.microsoft.com/office/drawing/2014/main" id="{902B64E4-4B3F-AACA-D797-E23EBD897FAA}"/>
              </a:ext>
            </a:extLst>
          </p:cNvPr>
          <p:cNvSpPr/>
          <p:nvPr/>
        </p:nvSpPr>
        <p:spPr>
          <a:xfrm>
            <a:off x="538609" y="2426180"/>
            <a:ext cx="1185416" cy="342476"/>
          </a:xfrm>
          <a:prstGeom prst="rect">
            <a:avLst/>
          </a:prstGeom>
          <a:noFill/>
          <a:ln/>
        </p:spPr>
        <p:txBody>
          <a:bodyPr wrap="square" lIns="25400" tIns="25400" rIns="25400" bIns="25400" rtlCol="0" anchor="t">
            <a:normAutofit/>
          </a:bodyPr>
          <a:lstStyle/>
          <a:p>
            <a:pPr marL="0" indent="0" algn="l">
              <a:lnSpc>
                <a:spcPct val="130000"/>
              </a:lnSpc>
              <a:buNone/>
            </a:pPr>
            <a:r>
              <a:rPr lang="en-US" sz="1400" kern="0" spc="21" dirty="0">
                <a:solidFill>
                  <a:srgbClr val="1A1A1A"/>
                </a:solidFill>
                <a:latin typeface="Inter" pitchFamily="34" charset="0"/>
                <a:ea typeface="Inter" pitchFamily="34" charset="-122"/>
              </a:rPr>
              <a:t>Pipeline</a:t>
            </a:r>
          </a:p>
        </p:txBody>
      </p:sp>
      <p:sp>
        <p:nvSpPr>
          <p:cNvPr id="107" name="Text 7">
            <a:extLst>
              <a:ext uri="{FF2B5EF4-FFF2-40B4-BE49-F238E27FC236}">
                <a16:creationId xmlns:a16="http://schemas.microsoft.com/office/drawing/2014/main" id="{5B2BF86F-2A80-47FA-E378-D4FACFA0AEB3}"/>
              </a:ext>
            </a:extLst>
          </p:cNvPr>
          <p:cNvSpPr/>
          <p:nvPr/>
        </p:nvSpPr>
        <p:spPr>
          <a:xfrm>
            <a:off x="523875" y="1826620"/>
            <a:ext cx="1325700" cy="467696"/>
          </a:xfrm>
          <a:prstGeom prst="rect">
            <a:avLst/>
          </a:prstGeom>
          <a:noFill/>
          <a:ln/>
        </p:spPr>
        <p:txBody>
          <a:bodyPr wrap="square" lIns="25400" tIns="25400" rIns="25400" bIns="25400" rtlCol="0" anchor="t">
            <a:noAutofit/>
          </a:bodyPr>
          <a:lstStyle/>
          <a:p>
            <a:pPr marL="0" indent="0" algn="l">
              <a:lnSpc>
                <a:spcPct val="130000"/>
              </a:lnSpc>
              <a:buNone/>
            </a:pPr>
            <a:r>
              <a:rPr lang="en-US" sz="1400" kern="0" spc="21" dirty="0">
                <a:solidFill>
                  <a:srgbClr val="888080"/>
                </a:solidFill>
                <a:latin typeface="Inter" pitchFamily="34" charset="0"/>
                <a:ea typeface="Inter" pitchFamily="34" charset="-122"/>
              </a:rPr>
              <a:t>Data &amp; target</a:t>
            </a:r>
          </a:p>
        </p:txBody>
      </p:sp>
      <p:sp>
        <p:nvSpPr>
          <p:cNvPr id="108" name="Text 1">
            <a:extLst>
              <a:ext uri="{FF2B5EF4-FFF2-40B4-BE49-F238E27FC236}">
                <a16:creationId xmlns:a16="http://schemas.microsoft.com/office/drawing/2014/main" id="{F9F71279-7452-9731-E62D-9842E95DE558}"/>
              </a:ext>
            </a:extLst>
          </p:cNvPr>
          <p:cNvSpPr/>
          <p:nvPr/>
        </p:nvSpPr>
        <p:spPr>
          <a:xfrm>
            <a:off x="261138" y="379598"/>
            <a:ext cx="1778457" cy="447678"/>
          </a:xfrm>
          <a:prstGeom prst="rect">
            <a:avLst/>
          </a:prstGeom>
          <a:noFill/>
          <a:ln/>
        </p:spPr>
        <p:txBody>
          <a:bodyPr wrap="square" lIns="25400" tIns="25400" rIns="25400" bIns="25400" rtlCol="0" anchor="t">
            <a:noAutofit/>
          </a:bodyPr>
          <a:lstStyle/>
          <a:p>
            <a:pPr marL="0" indent="0">
              <a:buNone/>
            </a:pPr>
            <a:r>
              <a:rPr lang="en-US" sz="1400" kern="0" spc="116" dirty="0">
                <a:solidFill>
                  <a:srgbClr val="888080"/>
                </a:solidFill>
                <a:latin typeface="JetBrains Mono" pitchFamily="34" charset="0"/>
                <a:ea typeface="JetBrains Mono" pitchFamily="34" charset="-122"/>
                <a:cs typeface="JetBrains Mono" pitchFamily="34" charset="-120"/>
              </a:rPr>
              <a:t>DS22 - Bar Ilan</a:t>
            </a:r>
            <a:br>
              <a:rPr lang="en-US" sz="1400" kern="0" spc="116" dirty="0">
                <a:solidFill>
                  <a:srgbClr val="888080"/>
                </a:solidFill>
                <a:latin typeface="JetBrains Mono" pitchFamily="34" charset="0"/>
                <a:ea typeface="JetBrains Mono" pitchFamily="34" charset="-122"/>
                <a:cs typeface="JetBrains Mono" pitchFamily="34" charset="-120"/>
              </a:rPr>
            </a:br>
            <a:r>
              <a:rPr lang="en-US" sz="1400" kern="0" spc="116" dirty="0">
                <a:solidFill>
                  <a:srgbClr val="888080"/>
                </a:solidFill>
                <a:latin typeface="JetBrains Mono" pitchFamily="34" charset="0"/>
                <a:ea typeface="JetBrains Mono" pitchFamily="34" charset="-122"/>
                <a:cs typeface="JetBrains Mono" pitchFamily="34" charset="-120"/>
              </a:rPr>
              <a:t>ML PROJECT</a:t>
            </a:r>
          </a:p>
          <a:p>
            <a:pPr marL="0" indent="0">
              <a:buNone/>
            </a:pPr>
            <a:r>
              <a:rPr lang="en-US" sz="1400" kern="0" spc="116" dirty="0">
                <a:solidFill>
                  <a:srgbClr val="888080"/>
                </a:solidFill>
                <a:latin typeface="JetBrains Mono" pitchFamily="34" charset="0"/>
                <a:ea typeface="JetBrains Mono" pitchFamily="34" charset="-122"/>
                <a:cs typeface="JetBrains Mono" pitchFamily="34" charset="-120"/>
              </a:rPr>
              <a:t>MAY 2026</a:t>
            </a:r>
            <a:endParaRPr lang="en-US" sz="1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2">
    <p:bg>
      <p:bgPr>
        <a:solidFill>
          <a:srgbClr val="F5F1E8"/>
        </a:solidFill>
        <a:effectLst/>
      </p:bgPr>
    </p:bg>
    <p:spTree>
      <p:nvGrpSpPr>
        <p:cNvPr id="1" name=""/>
        <p:cNvGrpSpPr/>
        <p:nvPr/>
      </p:nvGrpSpPr>
      <p:grpSpPr>
        <a:xfrm>
          <a:off x="0" y="0"/>
          <a:ext cx="0" cy="0"/>
          <a:chOff x="0" y="0"/>
          <a:chExt cx="0" cy="0"/>
        </a:xfrm>
      </p:grpSpPr>
      <p:sp>
        <p:nvSpPr>
          <p:cNvPr id="2" name="Shape 0"/>
          <p:cNvSpPr/>
          <p:nvPr/>
        </p:nvSpPr>
        <p:spPr>
          <a:xfrm>
            <a:off x="0" y="0"/>
            <a:ext cx="2095500" cy="10287000"/>
          </a:xfrm>
          <a:prstGeom prst="rect">
            <a:avLst/>
          </a:prstGeom>
          <a:solidFill>
            <a:srgbClr val="EBE5D6"/>
          </a:solidFill>
          <a:ln/>
        </p:spPr>
        <p:txBody>
          <a:bodyPr/>
          <a:lstStyle/>
          <a:p>
            <a:endParaRPr lang="he-IL"/>
          </a:p>
        </p:txBody>
      </p:sp>
      <p:sp>
        <p:nvSpPr>
          <p:cNvPr id="3" name="Shape 1"/>
          <p:cNvSpPr/>
          <p:nvPr/>
        </p:nvSpPr>
        <p:spPr>
          <a:xfrm>
            <a:off x="2085975" y="0"/>
            <a:ext cx="9525" cy="10287000"/>
          </a:xfrm>
          <a:prstGeom prst="rect">
            <a:avLst/>
          </a:prstGeom>
          <a:solidFill>
            <a:srgbClr val="D4CDBC"/>
          </a:solidFill>
          <a:ln/>
        </p:spPr>
        <p:txBody>
          <a:bodyPr/>
          <a:lstStyle/>
          <a:p>
            <a:endParaRPr lang="he-IL"/>
          </a:p>
        </p:txBody>
      </p:sp>
      <p:sp>
        <p:nvSpPr>
          <p:cNvPr id="19" name="Text 17"/>
          <p:cNvSpPr/>
          <p:nvPr/>
        </p:nvSpPr>
        <p:spPr>
          <a:xfrm>
            <a:off x="2781300" y="571500"/>
            <a:ext cx="15187041" cy="171450"/>
          </a:xfrm>
          <a:prstGeom prst="rect">
            <a:avLst/>
          </a:prstGeom>
          <a:noFill/>
          <a:ln/>
        </p:spPr>
        <p:txBody>
          <a:bodyPr wrap="square" lIns="25400" tIns="25400" rIns="25400" bIns="25400" rtlCol="0" anchor="ctr">
            <a:noAutofit/>
          </a:bodyPr>
          <a:lstStyle/>
          <a:p>
            <a:pPr marL="0" indent="0" algn="l">
              <a:buNone/>
            </a:pPr>
            <a:r>
              <a:rPr lang="en-US" sz="1400" kern="0" spc="182" dirty="0">
                <a:solidFill>
                  <a:srgbClr val="888080"/>
                </a:solidFill>
                <a:latin typeface="JetBrains Mono" pitchFamily="34" charset="0"/>
                <a:ea typeface="JetBrains Mono" pitchFamily="34" charset="-122"/>
                <a:cs typeface="JetBrains Mono" pitchFamily="34" charset="-120"/>
              </a:rPr>
              <a:t>PART IV · SECTION OPENER</a:t>
            </a:r>
            <a:endParaRPr lang="en-US" sz="1400" dirty="0"/>
          </a:p>
        </p:txBody>
      </p:sp>
      <p:sp>
        <p:nvSpPr>
          <p:cNvPr id="20" name="Text 18"/>
          <p:cNvSpPr/>
          <p:nvPr/>
        </p:nvSpPr>
        <p:spPr>
          <a:xfrm>
            <a:off x="2781300" y="4338638"/>
            <a:ext cx="6204226" cy="171450"/>
          </a:xfrm>
          <a:prstGeom prst="rect">
            <a:avLst/>
          </a:prstGeom>
          <a:noFill/>
          <a:ln/>
        </p:spPr>
        <p:txBody>
          <a:bodyPr wrap="square" lIns="25400" tIns="25400" rIns="25400" bIns="25400" rtlCol="0" anchor="t">
            <a:noAutofit/>
          </a:bodyPr>
          <a:lstStyle/>
          <a:p>
            <a:pPr marL="0" indent="0" algn="l">
              <a:buNone/>
            </a:pPr>
            <a:r>
              <a:rPr lang="en-US" sz="1400" kern="0" spc="149" dirty="0">
                <a:solidFill>
                  <a:srgbClr val="888080"/>
                </a:solidFill>
                <a:latin typeface="JetBrains Mono" pitchFamily="34" charset="0"/>
                <a:ea typeface="JetBrains Mono" pitchFamily="34" charset="-122"/>
                <a:cs typeface="JetBrains Mono" pitchFamily="34" charset="-120"/>
              </a:rPr>
              <a:t>SECTION</a:t>
            </a:r>
            <a:endParaRPr lang="en-US" sz="1400" dirty="0"/>
          </a:p>
        </p:txBody>
      </p:sp>
      <p:sp>
        <p:nvSpPr>
          <p:cNvPr id="21" name="Shape 19"/>
          <p:cNvSpPr/>
          <p:nvPr/>
        </p:nvSpPr>
        <p:spPr>
          <a:xfrm>
            <a:off x="2781300" y="4586288"/>
            <a:ext cx="6023521" cy="9525"/>
          </a:xfrm>
          <a:prstGeom prst="rect">
            <a:avLst/>
          </a:prstGeom>
          <a:solidFill>
            <a:srgbClr val="1A1A1A"/>
          </a:solidFill>
          <a:ln/>
        </p:spPr>
        <p:txBody>
          <a:bodyPr/>
          <a:lstStyle/>
          <a:p>
            <a:endParaRPr lang="he-IL"/>
          </a:p>
        </p:txBody>
      </p:sp>
      <p:sp>
        <p:nvSpPr>
          <p:cNvPr id="22" name="Text 20"/>
          <p:cNvSpPr/>
          <p:nvPr/>
        </p:nvSpPr>
        <p:spPr>
          <a:xfrm>
            <a:off x="2781300" y="4672013"/>
            <a:ext cx="6204226" cy="1924050"/>
          </a:xfrm>
          <a:prstGeom prst="rect">
            <a:avLst/>
          </a:prstGeom>
          <a:noFill/>
          <a:ln/>
        </p:spPr>
        <p:txBody>
          <a:bodyPr wrap="square" lIns="25400" tIns="25400" rIns="25400" bIns="25400" rtlCol="0" anchor="t">
            <a:normAutofit fontScale="92500" lnSpcReduction="20000"/>
          </a:bodyPr>
          <a:lstStyle/>
          <a:p>
            <a:pPr marL="0" indent="0" algn="l">
              <a:lnSpc>
                <a:spcPct val="90000"/>
              </a:lnSpc>
              <a:buNone/>
            </a:pPr>
            <a:r>
              <a:rPr lang="en-US" sz="16500" kern="0" spc="-660" dirty="0">
                <a:solidFill>
                  <a:srgbClr val="C25A2A"/>
                </a:solidFill>
                <a:latin typeface="JetBrains Mono" pitchFamily="34" charset="0"/>
                <a:ea typeface="JetBrains Mono" pitchFamily="34" charset="-122"/>
                <a:cs typeface="JetBrains Mono" pitchFamily="34" charset="-120"/>
              </a:rPr>
              <a:t>04</a:t>
            </a:r>
            <a:endParaRPr lang="en-US" sz="16500" dirty="0"/>
          </a:p>
        </p:txBody>
      </p:sp>
      <p:sp>
        <p:nvSpPr>
          <p:cNvPr id="24" name="Text 22"/>
          <p:cNvSpPr/>
          <p:nvPr/>
        </p:nvSpPr>
        <p:spPr>
          <a:xfrm>
            <a:off x="9376320" y="4018209"/>
            <a:ext cx="8692739" cy="1472508"/>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7500" kern="0" spc="-187" dirty="0">
                <a:solidFill>
                  <a:srgbClr val="1A1A1A"/>
                </a:solidFill>
                <a:latin typeface="Instrument Serif" pitchFamily="34" charset="0"/>
                <a:ea typeface="Instrument Serif" pitchFamily="34" charset="-122"/>
                <a:cs typeface="Instrument Serif" pitchFamily="34" charset="-120"/>
              </a:rPr>
              <a:t>Modeling &amp; </a:t>
            </a:r>
            <a:r>
              <a:rPr lang="en-US" sz="7500" i="1" kern="0" spc="-187" dirty="0">
                <a:solidFill>
                  <a:srgbClr val="C25A2A"/>
                </a:solidFill>
                <a:latin typeface="Instrument Serif" pitchFamily="34" charset="0"/>
                <a:ea typeface="Instrument Serif" pitchFamily="34" charset="-122"/>
                <a:cs typeface="Instrument Serif" pitchFamily="34" charset="-120"/>
              </a:rPr>
              <a:t>Evaluation.</a:t>
            </a:r>
            <a:endParaRPr lang="en-US" sz="7500" dirty="0"/>
          </a:p>
        </p:txBody>
      </p:sp>
      <p:sp>
        <p:nvSpPr>
          <p:cNvPr id="25" name="Text 23"/>
          <p:cNvSpPr/>
          <p:nvPr/>
        </p:nvSpPr>
        <p:spPr>
          <a:xfrm>
            <a:off x="9479351" y="5497850"/>
            <a:ext cx="6867525" cy="562868"/>
          </a:xfrm>
          <a:prstGeom prst="rect">
            <a:avLst/>
          </a:prstGeom>
          <a:noFill/>
          <a:ln/>
        </p:spPr>
        <p:txBody>
          <a:bodyPr wrap="square" lIns="25400" tIns="25400" rIns="25400" bIns="25400" rtlCol="0" anchor="t">
            <a:noAutofit/>
          </a:bodyPr>
          <a:lstStyle/>
          <a:p>
            <a:pPr>
              <a:lnSpc>
                <a:spcPct val="145000"/>
              </a:lnSpc>
            </a:pPr>
            <a:r>
              <a:rPr lang="en-US" sz="1400" dirty="0" err="1">
                <a:solidFill>
                  <a:srgbClr val="4A4A4A"/>
                </a:solidFill>
                <a:latin typeface="Inter" pitchFamily="34" charset="0"/>
                <a:ea typeface="Inter" pitchFamily="34" charset="-122"/>
                <a:cs typeface="Inter" pitchFamily="34" charset="-120"/>
              </a:rPr>
              <a:t>BaseLine</a:t>
            </a:r>
            <a:r>
              <a:rPr lang="en-US" sz="1400" dirty="0">
                <a:solidFill>
                  <a:srgbClr val="4A4A4A"/>
                </a:solidFill>
                <a:latin typeface="Inter" pitchFamily="34" charset="0"/>
                <a:ea typeface="Inter" pitchFamily="34" charset="-122"/>
                <a:cs typeface="Inter" pitchFamily="34" charset="-120"/>
              </a:rPr>
              <a:t> →  </a:t>
            </a:r>
            <a:r>
              <a:rPr lang="en-US" sz="1400" dirty="0" err="1">
                <a:solidFill>
                  <a:srgbClr val="4A4A4A"/>
                </a:solidFill>
                <a:latin typeface="Inter" pitchFamily="34" charset="0"/>
                <a:ea typeface="Inter" pitchFamily="34" charset="-122"/>
                <a:cs typeface="Inter" pitchFamily="34" charset="-120"/>
              </a:rPr>
              <a:t>LogReg</a:t>
            </a:r>
            <a:r>
              <a:rPr lang="en-US" sz="1400" dirty="0">
                <a:solidFill>
                  <a:srgbClr val="4A4A4A"/>
                </a:solidFill>
                <a:latin typeface="Inter" pitchFamily="34" charset="0"/>
                <a:ea typeface="Inter" pitchFamily="34" charset="-122"/>
                <a:cs typeface="Inter" pitchFamily="34" charset="-120"/>
              </a:rPr>
              <a:t> → RF → LightGBM → XGBoost. Then overfit check, SMOTE, threshold tuning, </a:t>
            </a:r>
            <a:r>
              <a:rPr lang="en-US" sz="1400" dirty="0" err="1">
                <a:solidFill>
                  <a:srgbClr val="4A4A4A"/>
                </a:solidFill>
                <a:latin typeface="Inter" pitchFamily="34" charset="0"/>
                <a:ea typeface="Inter" pitchFamily="34" charset="-122"/>
                <a:cs typeface="Inter" pitchFamily="34" charset="-120"/>
              </a:rPr>
              <a:t>Optuna</a:t>
            </a:r>
            <a:r>
              <a:rPr lang="en-US" sz="1400" dirty="0">
                <a:solidFill>
                  <a:srgbClr val="4A4A4A"/>
                </a:solidFill>
                <a:latin typeface="Inter" pitchFamily="34" charset="0"/>
                <a:ea typeface="Inter" pitchFamily="34" charset="-122"/>
                <a:cs typeface="Inter" pitchFamily="34" charset="-120"/>
              </a:rPr>
              <a:t> - and the test set.</a:t>
            </a:r>
            <a:endParaRPr lang="en-US" sz="1400" dirty="0"/>
          </a:p>
        </p:txBody>
      </p:sp>
      <p:sp>
        <p:nvSpPr>
          <p:cNvPr id="38" name="Text 16">
            <a:extLst>
              <a:ext uri="{FF2B5EF4-FFF2-40B4-BE49-F238E27FC236}">
                <a16:creationId xmlns:a16="http://schemas.microsoft.com/office/drawing/2014/main" id="{C2BD9124-49C7-7FB7-8134-AAE9EC3238EF}"/>
              </a:ext>
            </a:extLst>
          </p:cNvPr>
          <p:cNvSpPr/>
          <p:nvPr/>
        </p:nvSpPr>
        <p:spPr>
          <a:xfrm>
            <a:off x="266700" y="9410700"/>
            <a:ext cx="1628775" cy="342900"/>
          </a:xfrm>
          <a:prstGeom prst="rect">
            <a:avLst/>
          </a:prstGeom>
          <a:noFill/>
          <a:ln/>
        </p:spPr>
        <p:txBody>
          <a:bodyPr wrap="square" lIns="25400" tIns="25400" rIns="25400" bIns="25400" rtlCol="0" anchor="t">
            <a:noAutofit/>
          </a:bodyPr>
          <a:lstStyle/>
          <a:p>
            <a:pPr>
              <a:lnSpc>
                <a:spcPct val="160000"/>
              </a:lnSpc>
            </a:pPr>
            <a:r>
              <a:rPr lang="en-US" sz="1400" b="1" kern="0" spc="105" dirty="0">
                <a:solidFill>
                  <a:srgbClr val="1A1A1A"/>
                </a:solidFill>
                <a:latin typeface="JetBrains Mono" pitchFamily="34" charset="0"/>
                <a:ea typeface="JetBrains Mono" pitchFamily="34" charset="-122"/>
                <a:cs typeface="JetBrains Mono" pitchFamily="34" charset="-120"/>
              </a:rPr>
              <a:t>24 / 34</a:t>
            </a:r>
            <a:endParaRPr lang="en-US" sz="1400" dirty="0"/>
          </a:p>
        </p:txBody>
      </p:sp>
      <p:sp>
        <p:nvSpPr>
          <p:cNvPr id="39" name="Text 4">
            <a:extLst>
              <a:ext uri="{FF2B5EF4-FFF2-40B4-BE49-F238E27FC236}">
                <a16:creationId xmlns:a16="http://schemas.microsoft.com/office/drawing/2014/main" id="{045B8F43-5F41-DCF4-6DE9-E18EC93B29E6}"/>
              </a:ext>
            </a:extLst>
          </p:cNvPr>
          <p:cNvSpPr/>
          <p:nvPr/>
        </p:nvSpPr>
        <p:spPr>
          <a:xfrm>
            <a:off x="228063" y="1524367"/>
            <a:ext cx="372012" cy="200025"/>
          </a:xfrm>
          <a:prstGeom prst="rect">
            <a:avLst/>
          </a:prstGeom>
          <a:noFill/>
          <a:ln/>
        </p:spPr>
        <p:txBody>
          <a:bodyPr wrap="square" lIns="25400" tIns="25400" rIns="25400" bIns="25400" rtlCol="0" anchor="t">
            <a:noAutofit/>
          </a:bodyPr>
          <a:lstStyle/>
          <a:p>
            <a:pPr marL="0" indent="0" algn="l">
              <a:lnSpc>
                <a:spcPct val="130000"/>
              </a:lnSpc>
              <a:buNone/>
            </a:pPr>
            <a:r>
              <a:rPr lang="en-US" sz="1400" kern="0" spc="21" dirty="0">
                <a:solidFill>
                  <a:srgbClr val="888080"/>
                </a:solidFill>
                <a:latin typeface="Inter" pitchFamily="34" charset="0"/>
                <a:ea typeface="Inter" pitchFamily="34" charset="-122"/>
              </a:rPr>
              <a:t>01</a:t>
            </a:r>
          </a:p>
        </p:txBody>
      </p:sp>
      <p:sp>
        <p:nvSpPr>
          <p:cNvPr id="40" name="Text 5">
            <a:extLst>
              <a:ext uri="{FF2B5EF4-FFF2-40B4-BE49-F238E27FC236}">
                <a16:creationId xmlns:a16="http://schemas.microsoft.com/office/drawing/2014/main" id="{7B139E5B-D131-2369-F292-F92F4EC83554}"/>
              </a:ext>
            </a:extLst>
          </p:cNvPr>
          <p:cNvSpPr/>
          <p:nvPr/>
        </p:nvSpPr>
        <p:spPr>
          <a:xfrm>
            <a:off x="523875" y="1522975"/>
            <a:ext cx="876300" cy="476251"/>
          </a:xfrm>
          <a:prstGeom prst="rect">
            <a:avLst/>
          </a:prstGeom>
          <a:noFill/>
          <a:ln/>
        </p:spPr>
        <p:txBody>
          <a:bodyPr wrap="square" lIns="25400" tIns="25400" rIns="25400" bIns="25400" rtlCol="0" anchor="t">
            <a:normAutofit/>
          </a:bodyPr>
          <a:lstStyle/>
          <a:p>
            <a:pPr marL="0" indent="0" algn="l">
              <a:lnSpc>
                <a:spcPct val="130000"/>
              </a:lnSpc>
              <a:buNone/>
            </a:pPr>
            <a:r>
              <a:rPr lang="en-US" sz="1400" kern="0" spc="21" dirty="0">
                <a:solidFill>
                  <a:srgbClr val="888080"/>
                </a:solidFill>
                <a:latin typeface="Inter" pitchFamily="34" charset="0"/>
                <a:ea typeface="Inter" pitchFamily="34" charset="-122"/>
              </a:rPr>
              <a:t>Agenda</a:t>
            </a:r>
          </a:p>
        </p:txBody>
      </p:sp>
      <p:sp>
        <p:nvSpPr>
          <p:cNvPr id="41" name="Text 6">
            <a:extLst>
              <a:ext uri="{FF2B5EF4-FFF2-40B4-BE49-F238E27FC236}">
                <a16:creationId xmlns:a16="http://schemas.microsoft.com/office/drawing/2014/main" id="{19F1A66A-3927-4CDB-6319-E8CC3FD62386}"/>
              </a:ext>
            </a:extLst>
          </p:cNvPr>
          <p:cNvSpPr/>
          <p:nvPr/>
        </p:nvSpPr>
        <p:spPr>
          <a:xfrm>
            <a:off x="228063" y="1830953"/>
            <a:ext cx="372010" cy="194877"/>
          </a:xfrm>
          <a:prstGeom prst="rect">
            <a:avLst/>
          </a:prstGeom>
          <a:noFill/>
          <a:ln/>
        </p:spPr>
        <p:txBody>
          <a:bodyPr wrap="square" lIns="25400" tIns="25400" rIns="25400" bIns="25400" rtlCol="0" anchor="t">
            <a:noAutofit/>
          </a:bodyPr>
          <a:lstStyle/>
          <a:p>
            <a:pPr marL="0" indent="0" algn="l">
              <a:lnSpc>
                <a:spcPct val="130000"/>
              </a:lnSpc>
              <a:buNone/>
            </a:pPr>
            <a:r>
              <a:rPr lang="en-US" sz="1400" kern="0" spc="21" dirty="0">
                <a:solidFill>
                  <a:srgbClr val="888080"/>
                </a:solidFill>
                <a:latin typeface="Inter" pitchFamily="34" charset="0"/>
                <a:ea typeface="Inter" pitchFamily="34" charset="-122"/>
              </a:rPr>
              <a:t>02</a:t>
            </a:r>
          </a:p>
        </p:txBody>
      </p:sp>
      <p:sp>
        <p:nvSpPr>
          <p:cNvPr id="42" name="Text 8">
            <a:extLst>
              <a:ext uri="{FF2B5EF4-FFF2-40B4-BE49-F238E27FC236}">
                <a16:creationId xmlns:a16="http://schemas.microsoft.com/office/drawing/2014/main" id="{28837627-B968-7941-44F8-D98A4E978C3F}"/>
              </a:ext>
            </a:extLst>
          </p:cNvPr>
          <p:cNvSpPr/>
          <p:nvPr/>
        </p:nvSpPr>
        <p:spPr>
          <a:xfrm>
            <a:off x="230504" y="2152895"/>
            <a:ext cx="302895" cy="141422"/>
          </a:xfrm>
          <a:prstGeom prst="rect">
            <a:avLst/>
          </a:prstGeom>
          <a:noFill/>
          <a:ln/>
        </p:spPr>
        <p:txBody>
          <a:bodyPr wrap="square" lIns="25400" tIns="25400" rIns="25400" bIns="25400" rtlCol="0" anchor="t">
            <a:noAutofit/>
          </a:bodyPr>
          <a:lstStyle/>
          <a:p>
            <a:pPr marL="0" indent="0" algn="l">
              <a:lnSpc>
                <a:spcPct val="130000"/>
              </a:lnSpc>
              <a:buNone/>
            </a:pPr>
            <a:r>
              <a:rPr lang="en-US" sz="1400" kern="0" spc="21" dirty="0">
                <a:solidFill>
                  <a:srgbClr val="888080"/>
                </a:solidFill>
                <a:latin typeface="Inter" pitchFamily="34" charset="0"/>
                <a:ea typeface="Inter" pitchFamily="34" charset="-122"/>
              </a:rPr>
              <a:t>03</a:t>
            </a:r>
          </a:p>
        </p:txBody>
      </p:sp>
      <p:sp>
        <p:nvSpPr>
          <p:cNvPr id="43" name="Text 9">
            <a:extLst>
              <a:ext uri="{FF2B5EF4-FFF2-40B4-BE49-F238E27FC236}">
                <a16:creationId xmlns:a16="http://schemas.microsoft.com/office/drawing/2014/main" id="{F9A393B0-F8E4-2DAA-DBD4-4B39C6AE949F}"/>
              </a:ext>
            </a:extLst>
          </p:cNvPr>
          <p:cNvSpPr/>
          <p:nvPr/>
        </p:nvSpPr>
        <p:spPr>
          <a:xfrm>
            <a:off x="531240" y="2145027"/>
            <a:ext cx="1185416" cy="342476"/>
          </a:xfrm>
          <a:prstGeom prst="rect">
            <a:avLst/>
          </a:prstGeom>
          <a:noFill/>
          <a:ln/>
        </p:spPr>
        <p:txBody>
          <a:bodyPr wrap="square" lIns="25400" tIns="25400" rIns="25400" bIns="25400" rtlCol="0" anchor="t">
            <a:normAutofit/>
          </a:bodyPr>
          <a:lstStyle/>
          <a:p>
            <a:pPr marL="0" indent="0" algn="l">
              <a:lnSpc>
                <a:spcPct val="130000"/>
              </a:lnSpc>
              <a:buNone/>
            </a:pPr>
            <a:r>
              <a:rPr lang="en-US" sz="1400" kern="0" spc="21" dirty="0">
                <a:solidFill>
                  <a:srgbClr val="888080"/>
                </a:solidFill>
                <a:latin typeface="Inter" pitchFamily="34" charset="0"/>
                <a:ea typeface="Inter" pitchFamily="34" charset="-122"/>
              </a:rPr>
              <a:t>EDA</a:t>
            </a:r>
          </a:p>
        </p:txBody>
      </p:sp>
      <p:sp>
        <p:nvSpPr>
          <p:cNvPr id="44" name="Text 10">
            <a:extLst>
              <a:ext uri="{FF2B5EF4-FFF2-40B4-BE49-F238E27FC236}">
                <a16:creationId xmlns:a16="http://schemas.microsoft.com/office/drawing/2014/main" id="{DB3C5E4F-F0A0-6FFD-DD2C-721CC359B0A6}"/>
              </a:ext>
            </a:extLst>
          </p:cNvPr>
          <p:cNvSpPr/>
          <p:nvPr/>
        </p:nvSpPr>
        <p:spPr>
          <a:xfrm>
            <a:off x="228062" y="2444125"/>
            <a:ext cx="305337" cy="172132"/>
          </a:xfrm>
          <a:prstGeom prst="rect">
            <a:avLst/>
          </a:prstGeom>
          <a:noFill/>
          <a:ln/>
        </p:spPr>
        <p:txBody>
          <a:bodyPr wrap="square" lIns="25400" tIns="25400" rIns="25400" bIns="25400" rtlCol="0" anchor="t">
            <a:noAutofit/>
          </a:bodyPr>
          <a:lstStyle/>
          <a:p>
            <a:pPr marL="0" indent="0" algn="l">
              <a:lnSpc>
                <a:spcPct val="130000"/>
              </a:lnSpc>
              <a:buNone/>
            </a:pPr>
            <a:r>
              <a:rPr lang="en-US" sz="1400" kern="0" spc="21" dirty="0">
                <a:solidFill>
                  <a:srgbClr val="888080"/>
                </a:solidFill>
                <a:latin typeface="Inter" pitchFamily="34" charset="0"/>
                <a:ea typeface="Inter" pitchFamily="34" charset="-122"/>
              </a:rPr>
              <a:t>04</a:t>
            </a:r>
          </a:p>
        </p:txBody>
      </p:sp>
      <p:sp>
        <p:nvSpPr>
          <p:cNvPr id="45" name="Text 12">
            <a:extLst>
              <a:ext uri="{FF2B5EF4-FFF2-40B4-BE49-F238E27FC236}">
                <a16:creationId xmlns:a16="http://schemas.microsoft.com/office/drawing/2014/main" id="{1AED166D-8032-053E-AE65-C7D8A34D2344}"/>
              </a:ext>
            </a:extLst>
          </p:cNvPr>
          <p:cNvSpPr/>
          <p:nvPr/>
        </p:nvSpPr>
        <p:spPr>
          <a:xfrm>
            <a:off x="228062" y="2750711"/>
            <a:ext cx="372011" cy="158880"/>
          </a:xfrm>
          <a:prstGeom prst="rect">
            <a:avLst/>
          </a:prstGeom>
          <a:noFill/>
          <a:ln/>
        </p:spPr>
        <p:txBody>
          <a:bodyPr wrap="square" lIns="25400" tIns="25400" rIns="25400" bIns="25400" rtlCol="0" anchor="t">
            <a:noAutofit/>
          </a:bodyPr>
          <a:lstStyle/>
          <a:p>
            <a:pPr marL="0" indent="0" algn="l">
              <a:lnSpc>
                <a:spcPct val="130000"/>
              </a:lnSpc>
              <a:buNone/>
            </a:pPr>
            <a:r>
              <a:rPr lang="en-US" sz="1400" b="1" kern="0" spc="21" dirty="0">
                <a:solidFill>
                  <a:srgbClr val="C25A2A"/>
                </a:solidFill>
                <a:latin typeface="JetBrains Mono" pitchFamily="34" charset="0"/>
                <a:ea typeface="JetBrains Mono" pitchFamily="34" charset="-122"/>
              </a:rPr>
              <a:t>05</a:t>
            </a:r>
          </a:p>
        </p:txBody>
      </p:sp>
      <p:sp>
        <p:nvSpPr>
          <p:cNvPr id="46" name="Text 13">
            <a:extLst>
              <a:ext uri="{FF2B5EF4-FFF2-40B4-BE49-F238E27FC236}">
                <a16:creationId xmlns:a16="http://schemas.microsoft.com/office/drawing/2014/main" id="{22CC516F-41A8-08C2-C00C-B541E4BDE9BA}"/>
              </a:ext>
            </a:extLst>
          </p:cNvPr>
          <p:cNvSpPr/>
          <p:nvPr/>
        </p:nvSpPr>
        <p:spPr>
          <a:xfrm>
            <a:off x="533399" y="2725489"/>
            <a:ext cx="948333" cy="761256"/>
          </a:xfrm>
          <a:prstGeom prst="rect">
            <a:avLst/>
          </a:prstGeom>
          <a:noFill/>
          <a:ln/>
        </p:spPr>
        <p:txBody>
          <a:bodyPr wrap="square" lIns="25400" tIns="25400" rIns="25400" bIns="25400" rtlCol="0" anchor="t">
            <a:normAutofit/>
          </a:bodyPr>
          <a:lstStyle/>
          <a:p>
            <a:pPr marL="0" indent="0" algn="l">
              <a:lnSpc>
                <a:spcPct val="130000"/>
              </a:lnSpc>
              <a:buNone/>
            </a:pPr>
            <a:r>
              <a:rPr lang="en-US" sz="1400" kern="0" spc="21" dirty="0">
                <a:solidFill>
                  <a:srgbClr val="1A1A1A"/>
                </a:solidFill>
                <a:latin typeface="Inter" pitchFamily="34" charset="0"/>
                <a:ea typeface="Inter" pitchFamily="34" charset="-122"/>
              </a:rPr>
              <a:t>Modeling</a:t>
            </a:r>
          </a:p>
        </p:txBody>
      </p:sp>
      <p:sp>
        <p:nvSpPr>
          <p:cNvPr id="47" name="Text 14">
            <a:extLst>
              <a:ext uri="{FF2B5EF4-FFF2-40B4-BE49-F238E27FC236}">
                <a16:creationId xmlns:a16="http://schemas.microsoft.com/office/drawing/2014/main" id="{F3A7FCA7-FCFD-BB11-A581-4555138935F4}"/>
              </a:ext>
            </a:extLst>
          </p:cNvPr>
          <p:cNvSpPr/>
          <p:nvPr/>
        </p:nvSpPr>
        <p:spPr>
          <a:xfrm>
            <a:off x="235683" y="3042056"/>
            <a:ext cx="372010" cy="191463"/>
          </a:xfrm>
          <a:prstGeom prst="rect">
            <a:avLst/>
          </a:prstGeom>
          <a:noFill/>
          <a:ln/>
        </p:spPr>
        <p:txBody>
          <a:bodyPr wrap="square" lIns="25400" tIns="25400" rIns="25400" bIns="25400" rtlCol="0" anchor="t">
            <a:noAutofit/>
          </a:bodyPr>
          <a:lstStyle/>
          <a:p>
            <a:pPr marL="0" indent="0" algn="l">
              <a:lnSpc>
                <a:spcPct val="130000"/>
              </a:lnSpc>
              <a:buNone/>
            </a:pPr>
            <a:r>
              <a:rPr lang="en-US" sz="1400" kern="0" spc="21" dirty="0">
                <a:solidFill>
                  <a:srgbClr val="888080"/>
                </a:solidFill>
                <a:latin typeface="JetBrains Mono" pitchFamily="34" charset="0"/>
                <a:ea typeface="JetBrains Mono" pitchFamily="34" charset="-122"/>
                <a:cs typeface="JetBrains Mono" pitchFamily="34" charset="-120"/>
              </a:rPr>
              <a:t>06</a:t>
            </a:r>
            <a:endParaRPr lang="en-US" sz="1400" dirty="0"/>
          </a:p>
        </p:txBody>
      </p:sp>
      <p:sp>
        <p:nvSpPr>
          <p:cNvPr id="48" name="Text 15">
            <a:extLst>
              <a:ext uri="{FF2B5EF4-FFF2-40B4-BE49-F238E27FC236}">
                <a16:creationId xmlns:a16="http://schemas.microsoft.com/office/drawing/2014/main" id="{E0A0FB9B-A24D-333B-8D9F-D95FEB1EAAE3}"/>
              </a:ext>
            </a:extLst>
          </p:cNvPr>
          <p:cNvSpPr/>
          <p:nvPr/>
        </p:nvSpPr>
        <p:spPr>
          <a:xfrm>
            <a:off x="533400" y="3032075"/>
            <a:ext cx="1185416" cy="626120"/>
          </a:xfrm>
          <a:prstGeom prst="rect">
            <a:avLst/>
          </a:prstGeom>
          <a:noFill/>
          <a:ln/>
        </p:spPr>
        <p:txBody>
          <a:bodyPr wrap="square" lIns="25400" tIns="25400" rIns="25400" bIns="25400" rtlCol="0" anchor="t">
            <a:normAutofit/>
          </a:bodyPr>
          <a:lstStyle/>
          <a:p>
            <a:pPr marL="0" indent="0" algn="l">
              <a:lnSpc>
                <a:spcPct val="130000"/>
              </a:lnSpc>
              <a:buNone/>
            </a:pPr>
            <a:r>
              <a:rPr lang="en-US" sz="1400" kern="0" spc="21" dirty="0">
                <a:solidFill>
                  <a:srgbClr val="888080"/>
                </a:solidFill>
                <a:latin typeface="Inter" pitchFamily="34" charset="0"/>
                <a:ea typeface="Inter" pitchFamily="34" charset="-122"/>
                <a:cs typeface="Inter" pitchFamily="34" charset="-120"/>
              </a:rPr>
              <a:t>Conclusions</a:t>
            </a:r>
            <a:endParaRPr lang="en-US" sz="1400" dirty="0"/>
          </a:p>
        </p:txBody>
      </p:sp>
      <p:sp>
        <p:nvSpPr>
          <p:cNvPr id="49" name="Text 9">
            <a:extLst>
              <a:ext uri="{FF2B5EF4-FFF2-40B4-BE49-F238E27FC236}">
                <a16:creationId xmlns:a16="http://schemas.microsoft.com/office/drawing/2014/main" id="{AF112487-E211-ED43-7CA4-745435DD3792}"/>
              </a:ext>
            </a:extLst>
          </p:cNvPr>
          <p:cNvSpPr/>
          <p:nvPr/>
        </p:nvSpPr>
        <p:spPr>
          <a:xfrm>
            <a:off x="538609" y="2426180"/>
            <a:ext cx="1185416" cy="342476"/>
          </a:xfrm>
          <a:prstGeom prst="rect">
            <a:avLst/>
          </a:prstGeom>
          <a:noFill/>
          <a:ln/>
        </p:spPr>
        <p:txBody>
          <a:bodyPr wrap="square" lIns="25400" tIns="25400" rIns="25400" bIns="25400" rtlCol="0" anchor="t">
            <a:normAutofit/>
          </a:bodyPr>
          <a:lstStyle/>
          <a:p>
            <a:pPr marL="0" indent="0" algn="l">
              <a:lnSpc>
                <a:spcPct val="130000"/>
              </a:lnSpc>
              <a:buNone/>
            </a:pPr>
            <a:r>
              <a:rPr lang="en-US" sz="1400" kern="0" spc="21" dirty="0">
                <a:solidFill>
                  <a:srgbClr val="888080"/>
                </a:solidFill>
                <a:latin typeface="Inter" pitchFamily="34" charset="0"/>
                <a:ea typeface="Inter" pitchFamily="34" charset="-122"/>
              </a:rPr>
              <a:t>Pipeline</a:t>
            </a:r>
          </a:p>
        </p:txBody>
      </p:sp>
      <p:sp>
        <p:nvSpPr>
          <p:cNvPr id="50" name="Text 7">
            <a:extLst>
              <a:ext uri="{FF2B5EF4-FFF2-40B4-BE49-F238E27FC236}">
                <a16:creationId xmlns:a16="http://schemas.microsoft.com/office/drawing/2014/main" id="{FBD20DEA-C45B-8AB4-E9B6-C6013D2790D7}"/>
              </a:ext>
            </a:extLst>
          </p:cNvPr>
          <p:cNvSpPr/>
          <p:nvPr/>
        </p:nvSpPr>
        <p:spPr>
          <a:xfrm>
            <a:off x="523875" y="1826620"/>
            <a:ext cx="1325700" cy="467696"/>
          </a:xfrm>
          <a:prstGeom prst="rect">
            <a:avLst/>
          </a:prstGeom>
          <a:noFill/>
          <a:ln/>
        </p:spPr>
        <p:txBody>
          <a:bodyPr wrap="square" lIns="25400" tIns="25400" rIns="25400" bIns="25400" rtlCol="0" anchor="t">
            <a:noAutofit/>
          </a:bodyPr>
          <a:lstStyle/>
          <a:p>
            <a:pPr marL="0" indent="0" algn="l">
              <a:lnSpc>
                <a:spcPct val="130000"/>
              </a:lnSpc>
              <a:buNone/>
            </a:pPr>
            <a:r>
              <a:rPr lang="en-US" sz="1400" kern="0" spc="21" dirty="0">
                <a:solidFill>
                  <a:srgbClr val="888080"/>
                </a:solidFill>
                <a:latin typeface="Inter" pitchFamily="34" charset="0"/>
                <a:ea typeface="Inter" pitchFamily="34" charset="-122"/>
              </a:rPr>
              <a:t>Data &amp; target</a:t>
            </a:r>
          </a:p>
        </p:txBody>
      </p:sp>
      <p:sp>
        <p:nvSpPr>
          <p:cNvPr id="51" name="Text 1">
            <a:extLst>
              <a:ext uri="{FF2B5EF4-FFF2-40B4-BE49-F238E27FC236}">
                <a16:creationId xmlns:a16="http://schemas.microsoft.com/office/drawing/2014/main" id="{A1493E5C-4408-098A-F233-7156CBB68CDA}"/>
              </a:ext>
            </a:extLst>
          </p:cNvPr>
          <p:cNvSpPr/>
          <p:nvPr/>
        </p:nvSpPr>
        <p:spPr>
          <a:xfrm>
            <a:off x="261138" y="379598"/>
            <a:ext cx="1778457" cy="447678"/>
          </a:xfrm>
          <a:prstGeom prst="rect">
            <a:avLst/>
          </a:prstGeom>
          <a:noFill/>
          <a:ln/>
        </p:spPr>
        <p:txBody>
          <a:bodyPr wrap="square" lIns="25400" tIns="25400" rIns="25400" bIns="25400" rtlCol="0" anchor="t">
            <a:noAutofit/>
          </a:bodyPr>
          <a:lstStyle/>
          <a:p>
            <a:pPr marL="0" indent="0">
              <a:buNone/>
            </a:pPr>
            <a:r>
              <a:rPr lang="en-US" sz="1400" kern="0" spc="116" dirty="0">
                <a:solidFill>
                  <a:srgbClr val="888080"/>
                </a:solidFill>
                <a:latin typeface="JetBrains Mono" pitchFamily="34" charset="0"/>
                <a:ea typeface="JetBrains Mono" pitchFamily="34" charset="-122"/>
                <a:cs typeface="JetBrains Mono" pitchFamily="34" charset="-120"/>
              </a:rPr>
              <a:t>DS22 - Bar Ilan</a:t>
            </a:r>
            <a:br>
              <a:rPr lang="en-US" sz="1400" kern="0" spc="116" dirty="0">
                <a:solidFill>
                  <a:srgbClr val="888080"/>
                </a:solidFill>
                <a:latin typeface="JetBrains Mono" pitchFamily="34" charset="0"/>
                <a:ea typeface="JetBrains Mono" pitchFamily="34" charset="-122"/>
                <a:cs typeface="JetBrains Mono" pitchFamily="34" charset="-120"/>
              </a:rPr>
            </a:br>
            <a:r>
              <a:rPr lang="en-US" sz="1400" kern="0" spc="116" dirty="0">
                <a:solidFill>
                  <a:srgbClr val="888080"/>
                </a:solidFill>
                <a:latin typeface="JetBrains Mono" pitchFamily="34" charset="0"/>
                <a:ea typeface="JetBrains Mono" pitchFamily="34" charset="-122"/>
                <a:cs typeface="JetBrains Mono" pitchFamily="34" charset="-120"/>
              </a:rPr>
              <a:t>ML PROJECT</a:t>
            </a:r>
          </a:p>
          <a:p>
            <a:pPr marL="0" indent="0">
              <a:buNone/>
            </a:pPr>
            <a:r>
              <a:rPr lang="en-US" sz="1400" kern="0" spc="116" dirty="0">
                <a:solidFill>
                  <a:srgbClr val="888080"/>
                </a:solidFill>
                <a:latin typeface="JetBrains Mono" pitchFamily="34" charset="0"/>
                <a:ea typeface="JetBrains Mono" pitchFamily="34" charset="-122"/>
                <a:cs typeface="JetBrains Mono" pitchFamily="34" charset="-120"/>
              </a:rPr>
              <a:t>MAY 2026</a:t>
            </a:r>
            <a:endParaRPr lang="en-US" sz="1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5F1E8"/>
        </a:solidFill>
        <a:effectLst/>
      </p:bgPr>
    </p:bg>
    <p:spTree>
      <p:nvGrpSpPr>
        <p:cNvPr id="1" name="">
          <a:extLst>
            <a:ext uri="{FF2B5EF4-FFF2-40B4-BE49-F238E27FC236}">
              <a16:creationId xmlns:a16="http://schemas.microsoft.com/office/drawing/2014/main" id="{F9A7D210-C293-3843-5340-A18ADA57119B}"/>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3C047E90-04E0-5529-0D5A-24AA65FCEDCC}"/>
              </a:ext>
            </a:extLst>
          </p:cNvPr>
          <p:cNvSpPr/>
          <p:nvPr/>
        </p:nvSpPr>
        <p:spPr>
          <a:xfrm>
            <a:off x="0" y="0"/>
            <a:ext cx="2095500" cy="10287000"/>
          </a:xfrm>
          <a:prstGeom prst="rect">
            <a:avLst/>
          </a:prstGeom>
          <a:solidFill>
            <a:srgbClr val="EBE5D6"/>
          </a:solidFill>
          <a:ln/>
        </p:spPr>
        <p:txBody>
          <a:bodyPr/>
          <a:lstStyle/>
          <a:p>
            <a:endParaRPr lang="he-IL"/>
          </a:p>
        </p:txBody>
      </p:sp>
      <p:sp>
        <p:nvSpPr>
          <p:cNvPr id="3" name="Shape 1">
            <a:extLst>
              <a:ext uri="{FF2B5EF4-FFF2-40B4-BE49-F238E27FC236}">
                <a16:creationId xmlns:a16="http://schemas.microsoft.com/office/drawing/2014/main" id="{68545105-7800-4568-F289-8F9C13922AC2}"/>
              </a:ext>
            </a:extLst>
          </p:cNvPr>
          <p:cNvSpPr/>
          <p:nvPr/>
        </p:nvSpPr>
        <p:spPr>
          <a:xfrm>
            <a:off x="2085975" y="0"/>
            <a:ext cx="9525" cy="10287000"/>
          </a:xfrm>
          <a:prstGeom prst="rect">
            <a:avLst/>
          </a:prstGeom>
          <a:solidFill>
            <a:srgbClr val="D4CDBC"/>
          </a:solidFill>
          <a:ln/>
        </p:spPr>
        <p:txBody>
          <a:bodyPr/>
          <a:lstStyle/>
          <a:p>
            <a:endParaRPr lang="he-IL"/>
          </a:p>
        </p:txBody>
      </p:sp>
      <p:sp>
        <p:nvSpPr>
          <p:cNvPr id="19" name="Text 17">
            <a:extLst>
              <a:ext uri="{FF2B5EF4-FFF2-40B4-BE49-F238E27FC236}">
                <a16:creationId xmlns:a16="http://schemas.microsoft.com/office/drawing/2014/main" id="{2A03FE21-0291-1EFD-BAFD-FCA59E091204}"/>
              </a:ext>
            </a:extLst>
          </p:cNvPr>
          <p:cNvSpPr/>
          <p:nvPr/>
        </p:nvSpPr>
        <p:spPr>
          <a:xfrm>
            <a:off x="2781300" y="571500"/>
            <a:ext cx="15187041" cy="171450"/>
          </a:xfrm>
          <a:prstGeom prst="rect">
            <a:avLst/>
          </a:prstGeom>
          <a:noFill/>
          <a:ln/>
        </p:spPr>
        <p:txBody>
          <a:bodyPr wrap="square" lIns="25400" tIns="25400" rIns="25400" bIns="25400" rtlCol="0" anchor="ctr">
            <a:noAutofit/>
          </a:bodyPr>
          <a:lstStyle/>
          <a:p>
            <a:pPr marL="0" indent="0" algn="l">
              <a:buNone/>
            </a:pPr>
            <a:r>
              <a:rPr lang="en-US" sz="1400" kern="0" spc="182" dirty="0">
                <a:solidFill>
                  <a:srgbClr val="888080"/>
                </a:solidFill>
                <a:latin typeface="JetBrains Mono" pitchFamily="34" charset="0"/>
                <a:ea typeface="JetBrains Mono" pitchFamily="34" charset="-122"/>
                <a:cs typeface="JetBrains Mono" pitchFamily="34" charset="-120"/>
              </a:rPr>
              <a:t>MODELING · WORKFLOW</a:t>
            </a:r>
            <a:endParaRPr lang="en-US" sz="1400" dirty="0"/>
          </a:p>
        </p:txBody>
      </p:sp>
      <p:sp>
        <p:nvSpPr>
          <p:cNvPr id="20" name="Text 18">
            <a:extLst>
              <a:ext uri="{FF2B5EF4-FFF2-40B4-BE49-F238E27FC236}">
                <a16:creationId xmlns:a16="http://schemas.microsoft.com/office/drawing/2014/main" id="{C9E49074-327F-A65F-FD3C-F299D7AA3A2B}"/>
              </a:ext>
            </a:extLst>
          </p:cNvPr>
          <p:cNvSpPr/>
          <p:nvPr/>
        </p:nvSpPr>
        <p:spPr>
          <a:xfrm>
            <a:off x="2781300" y="914400"/>
            <a:ext cx="15187041" cy="643830"/>
          </a:xfrm>
          <a:prstGeom prst="rect">
            <a:avLst/>
          </a:prstGeom>
          <a:noFill/>
          <a:ln/>
        </p:spPr>
        <p:txBody>
          <a:bodyPr wrap="square" lIns="25400" tIns="25400" rIns="25400" bIns="25400" rtlCol="0" anchor="t">
            <a:normAutofit fontScale="92500" lnSpcReduction="20000"/>
          </a:bodyPr>
          <a:lstStyle/>
          <a:p>
            <a:pPr marL="0" indent="0" algn="l">
              <a:lnSpc>
                <a:spcPct val="106000"/>
              </a:lnSpc>
              <a:buNone/>
            </a:pPr>
            <a:r>
              <a:rPr lang="en-US" sz="4500" kern="0" spc="-81" dirty="0">
                <a:solidFill>
                  <a:srgbClr val="1A1A1A"/>
                </a:solidFill>
                <a:latin typeface="Instrument Serif" pitchFamily="34" charset="0"/>
                <a:ea typeface="Instrument Serif" pitchFamily="34" charset="-122"/>
                <a:cs typeface="Instrument Serif" pitchFamily="34" charset="-120"/>
              </a:rPr>
              <a:t>Baseline model – Rule based most frequent class by line</a:t>
            </a:r>
            <a:endParaRPr lang="en-US" sz="4500" dirty="0"/>
          </a:p>
        </p:txBody>
      </p:sp>
      <p:sp>
        <p:nvSpPr>
          <p:cNvPr id="54" name="Text 16">
            <a:extLst>
              <a:ext uri="{FF2B5EF4-FFF2-40B4-BE49-F238E27FC236}">
                <a16:creationId xmlns:a16="http://schemas.microsoft.com/office/drawing/2014/main" id="{79CC830F-E241-91C5-EC23-EECC66CC5143}"/>
              </a:ext>
            </a:extLst>
          </p:cNvPr>
          <p:cNvSpPr/>
          <p:nvPr/>
        </p:nvSpPr>
        <p:spPr>
          <a:xfrm>
            <a:off x="266700" y="9410700"/>
            <a:ext cx="1628775" cy="342900"/>
          </a:xfrm>
          <a:prstGeom prst="rect">
            <a:avLst/>
          </a:prstGeom>
          <a:noFill/>
          <a:ln/>
        </p:spPr>
        <p:txBody>
          <a:bodyPr wrap="square" lIns="25400" tIns="25400" rIns="25400" bIns="25400" rtlCol="0" anchor="t">
            <a:noAutofit/>
          </a:bodyPr>
          <a:lstStyle/>
          <a:p>
            <a:pPr>
              <a:lnSpc>
                <a:spcPct val="160000"/>
              </a:lnSpc>
            </a:pPr>
            <a:r>
              <a:rPr lang="en-US" sz="1400" b="1" kern="0" spc="105" dirty="0">
                <a:solidFill>
                  <a:srgbClr val="1A1A1A"/>
                </a:solidFill>
                <a:latin typeface="JetBrains Mono" pitchFamily="34" charset="0"/>
                <a:ea typeface="JetBrains Mono" pitchFamily="34" charset="-122"/>
                <a:cs typeface="JetBrains Mono" pitchFamily="34" charset="-120"/>
              </a:rPr>
              <a:t>25 / 34</a:t>
            </a:r>
            <a:endParaRPr lang="en-US" sz="1400" dirty="0"/>
          </a:p>
        </p:txBody>
      </p:sp>
      <p:sp>
        <p:nvSpPr>
          <p:cNvPr id="55" name="Text 4">
            <a:extLst>
              <a:ext uri="{FF2B5EF4-FFF2-40B4-BE49-F238E27FC236}">
                <a16:creationId xmlns:a16="http://schemas.microsoft.com/office/drawing/2014/main" id="{4BA11BCF-12D6-3F25-CE40-01B816324F43}"/>
              </a:ext>
            </a:extLst>
          </p:cNvPr>
          <p:cNvSpPr/>
          <p:nvPr/>
        </p:nvSpPr>
        <p:spPr>
          <a:xfrm>
            <a:off x="228063" y="1524367"/>
            <a:ext cx="372012" cy="200025"/>
          </a:xfrm>
          <a:prstGeom prst="rect">
            <a:avLst/>
          </a:prstGeom>
          <a:noFill/>
          <a:ln/>
        </p:spPr>
        <p:txBody>
          <a:bodyPr wrap="square" lIns="25400" tIns="25400" rIns="25400" bIns="25400" rtlCol="0" anchor="t">
            <a:noAutofit/>
          </a:bodyPr>
          <a:lstStyle/>
          <a:p>
            <a:pPr marL="0" indent="0" algn="l">
              <a:lnSpc>
                <a:spcPct val="130000"/>
              </a:lnSpc>
              <a:buNone/>
            </a:pPr>
            <a:r>
              <a:rPr lang="en-US" sz="1400" kern="0" spc="21" dirty="0">
                <a:solidFill>
                  <a:srgbClr val="888080"/>
                </a:solidFill>
                <a:latin typeface="Inter" pitchFamily="34" charset="0"/>
                <a:ea typeface="Inter" pitchFamily="34" charset="-122"/>
              </a:rPr>
              <a:t>01</a:t>
            </a:r>
          </a:p>
        </p:txBody>
      </p:sp>
      <p:sp>
        <p:nvSpPr>
          <p:cNvPr id="56" name="Text 5">
            <a:extLst>
              <a:ext uri="{FF2B5EF4-FFF2-40B4-BE49-F238E27FC236}">
                <a16:creationId xmlns:a16="http://schemas.microsoft.com/office/drawing/2014/main" id="{31691831-DCC6-F993-0D6C-0A2DCB9437AD}"/>
              </a:ext>
            </a:extLst>
          </p:cNvPr>
          <p:cNvSpPr/>
          <p:nvPr/>
        </p:nvSpPr>
        <p:spPr>
          <a:xfrm>
            <a:off x="523875" y="1522975"/>
            <a:ext cx="876300" cy="476251"/>
          </a:xfrm>
          <a:prstGeom prst="rect">
            <a:avLst/>
          </a:prstGeom>
          <a:noFill/>
          <a:ln/>
        </p:spPr>
        <p:txBody>
          <a:bodyPr wrap="square" lIns="25400" tIns="25400" rIns="25400" bIns="25400" rtlCol="0" anchor="t">
            <a:normAutofit/>
          </a:bodyPr>
          <a:lstStyle/>
          <a:p>
            <a:pPr marL="0" indent="0" algn="l">
              <a:lnSpc>
                <a:spcPct val="130000"/>
              </a:lnSpc>
              <a:buNone/>
            </a:pPr>
            <a:r>
              <a:rPr lang="en-US" sz="1400" kern="0" spc="21" dirty="0">
                <a:solidFill>
                  <a:srgbClr val="888080"/>
                </a:solidFill>
                <a:latin typeface="Inter" pitchFamily="34" charset="0"/>
                <a:ea typeface="Inter" pitchFamily="34" charset="-122"/>
              </a:rPr>
              <a:t>Agenda</a:t>
            </a:r>
          </a:p>
        </p:txBody>
      </p:sp>
      <p:sp>
        <p:nvSpPr>
          <p:cNvPr id="57" name="Text 6">
            <a:extLst>
              <a:ext uri="{FF2B5EF4-FFF2-40B4-BE49-F238E27FC236}">
                <a16:creationId xmlns:a16="http://schemas.microsoft.com/office/drawing/2014/main" id="{A77C9732-B985-4C73-E19D-3988D8261919}"/>
              </a:ext>
            </a:extLst>
          </p:cNvPr>
          <p:cNvSpPr/>
          <p:nvPr/>
        </p:nvSpPr>
        <p:spPr>
          <a:xfrm>
            <a:off x="228063" y="1830953"/>
            <a:ext cx="372010" cy="194877"/>
          </a:xfrm>
          <a:prstGeom prst="rect">
            <a:avLst/>
          </a:prstGeom>
          <a:noFill/>
          <a:ln/>
        </p:spPr>
        <p:txBody>
          <a:bodyPr wrap="square" lIns="25400" tIns="25400" rIns="25400" bIns="25400" rtlCol="0" anchor="t">
            <a:noAutofit/>
          </a:bodyPr>
          <a:lstStyle/>
          <a:p>
            <a:pPr marL="0" indent="0" algn="l">
              <a:lnSpc>
                <a:spcPct val="130000"/>
              </a:lnSpc>
              <a:buNone/>
            </a:pPr>
            <a:r>
              <a:rPr lang="en-US" sz="1400" kern="0" spc="21" dirty="0">
                <a:solidFill>
                  <a:srgbClr val="888080"/>
                </a:solidFill>
                <a:latin typeface="Inter" pitchFamily="34" charset="0"/>
                <a:ea typeface="Inter" pitchFamily="34" charset="-122"/>
              </a:rPr>
              <a:t>02</a:t>
            </a:r>
          </a:p>
        </p:txBody>
      </p:sp>
      <p:sp>
        <p:nvSpPr>
          <p:cNvPr id="58" name="Text 8">
            <a:extLst>
              <a:ext uri="{FF2B5EF4-FFF2-40B4-BE49-F238E27FC236}">
                <a16:creationId xmlns:a16="http://schemas.microsoft.com/office/drawing/2014/main" id="{DFB2EC3D-86E5-ECAB-BBC4-9122391419BB}"/>
              </a:ext>
            </a:extLst>
          </p:cNvPr>
          <p:cNvSpPr/>
          <p:nvPr/>
        </p:nvSpPr>
        <p:spPr>
          <a:xfrm>
            <a:off x="230504" y="2152895"/>
            <a:ext cx="302895" cy="141422"/>
          </a:xfrm>
          <a:prstGeom prst="rect">
            <a:avLst/>
          </a:prstGeom>
          <a:noFill/>
          <a:ln/>
        </p:spPr>
        <p:txBody>
          <a:bodyPr wrap="square" lIns="25400" tIns="25400" rIns="25400" bIns="25400" rtlCol="0" anchor="t">
            <a:noAutofit/>
          </a:bodyPr>
          <a:lstStyle/>
          <a:p>
            <a:pPr marL="0" indent="0" algn="l">
              <a:lnSpc>
                <a:spcPct val="130000"/>
              </a:lnSpc>
              <a:buNone/>
            </a:pPr>
            <a:r>
              <a:rPr lang="en-US" sz="1400" kern="0" spc="21" dirty="0">
                <a:solidFill>
                  <a:srgbClr val="888080"/>
                </a:solidFill>
                <a:latin typeface="Inter" pitchFamily="34" charset="0"/>
                <a:ea typeface="Inter" pitchFamily="34" charset="-122"/>
              </a:rPr>
              <a:t>03</a:t>
            </a:r>
          </a:p>
        </p:txBody>
      </p:sp>
      <p:sp>
        <p:nvSpPr>
          <p:cNvPr id="59" name="Text 9">
            <a:extLst>
              <a:ext uri="{FF2B5EF4-FFF2-40B4-BE49-F238E27FC236}">
                <a16:creationId xmlns:a16="http://schemas.microsoft.com/office/drawing/2014/main" id="{4F6733E9-56A8-3CDF-2B2D-334C7AD1F755}"/>
              </a:ext>
            </a:extLst>
          </p:cNvPr>
          <p:cNvSpPr/>
          <p:nvPr/>
        </p:nvSpPr>
        <p:spPr>
          <a:xfrm>
            <a:off x="531240" y="2145027"/>
            <a:ext cx="1185416" cy="342476"/>
          </a:xfrm>
          <a:prstGeom prst="rect">
            <a:avLst/>
          </a:prstGeom>
          <a:noFill/>
          <a:ln/>
        </p:spPr>
        <p:txBody>
          <a:bodyPr wrap="square" lIns="25400" tIns="25400" rIns="25400" bIns="25400" rtlCol="0" anchor="t">
            <a:normAutofit/>
          </a:bodyPr>
          <a:lstStyle/>
          <a:p>
            <a:pPr marL="0" indent="0" algn="l">
              <a:lnSpc>
                <a:spcPct val="130000"/>
              </a:lnSpc>
              <a:buNone/>
            </a:pPr>
            <a:r>
              <a:rPr lang="en-US" sz="1400" kern="0" spc="21" dirty="0">
                <a:solidFill>
                  <a:srgbClr val="888080"/>
                </a:solidFill>
                <a:latin typeface="Inter" pitchFamily="34" charset="0"/>
                <a:ea typeface="Inter" pitchFamily="34" charset="-122"/>
              </a:rPr>
              <a:t>EDA</a:t>
            </a:r>
          </a:p>
        </p:txBody>
      </p:sp>
      <p:sp>
        <p:nvSpPr>
          <p:cNvPr id="60" name="Text 10">
            <a:extLst>
              <a:ext uri="{FF2B5EF4-FFF2-40B4-BE49-F238E27FC236}">
                <a16:creationId xmlns:a16="http://schemas.microsoft.com/office/drawing/2014/main" id="{6D71B5C2-7EB9-F722-03EA-5AEE6701ACC8}"/>
              </a:ext>
            </a:extLst>
          </p:cNvPr>
          <p:cNvSpPr/>
          <p:nvPr/>
        </p:nvSpPr>
        <p:spPr>
          <a:xfrm>
            <a:off x="228062" y="2444125"/>
            <a:ext cx="305337" cy="172132"/>
          </a:xfrm>
          <a:prstGeom prst="rect">
            <a:avLst/>
          </a:prstGeom>
          <a:noFill/>
          <a:ln/>
        </p:spPr>
        <p:txBody>
          <a:bodyPr wrap="square" lIns="25400" tIns="25400" rIns="25400" bIns="25400" rtlCol="0" anchor="t">
            <a:noAutofit/>
          </a:bodyPr>
          <a:lstStyle/>
          <a:p>
            <a:pPr marL="0" indent="0" algn="l">
              <a:lnSpc>
                <a:spcPct val="130000"/>
              </a:lnSpc>
              <a:buNone/>
            </a:pPr>
            <a:r>
              <a:rPr lang="en-US" sz="1400" kern="0" spc="21" dirty="0">
                <a:solidFill>
                  <a:srgbClr val="888080"/>
                </a:solidFill>
                <a:latin typeface="Inter" pitchFamily="34" charset="0"/>
                <a:ea typeface="Inter" pitchFamily="34" charset="-122"/>
              </a:rPr>
              <a:t>04</a:t>
            </a:r>
          </a:p>
        </p:txBody>
      </p:sp>
      <p:sp>
        <p:nvSpPr>
          <p:cNvPr id="61" name="Text 12">
            <a:extLst>
              <a:ext uri="{FF2B5EF4-FFF2-40B4-BE49-F238E27FC236}">
                <a16:creationId xmlns:a16="http://schemas.microsoft.com/office/drawing/2014/main" id="{57974D45-1A6B-4B3C-C92D-E8D7DCD66E49}"/>
              </a:ext>
            </a:extLst>
          </p:cNvPr>
          <p:cNvSpPr/>
          <p:nvPr/>
        </p:nvSpPr>
        <p:spPr>
          <a:xfrm>
            <a:off x="228062" y="2750711"/>
            <a:ext cx="372011" cy="158880"/>
          </a:xfrm>
          <a:prstGeom prst="rect">
            <a:avLst/>
          </a:prstGeom>
          <a:noFill/>
          <a:ln/>
        </p:spPr>
        <p:txBody>
          <a:bodyPr wrap="square" lIns="25400" tIns="25400" rIns="25400" bIns="25400" rtlCol="0" anchor="t">
            <a:noAutofit/>
          </a:bodyPr>
          <a:lstStyle/>
          <a:p>
            <a:pPr marL="0" indent="0" algn="l">
              <a:lnSpc>
                <a:spcPct val="130000"/>
              </a:lnSpc>
              <a:buNone/>
            </a:pPr>
            <a:r>
              <a:rPr lang="en-US" sz="1400" b="1" kern="0" spc="21" dirty="0">
                <a:solidFill>
                  <a:srgbClr val="C25A2A"/>
                </a:solidFill>
                <a:latin typeface="JetBrains Mono" pitchFamily="34" charset="0"/>
                <a:ea typeface="JetBrains Mono" pitchFamily="34" charset="-122"/>
              </a:rPr>
              <a:t>05</a:t>
            </a:r>
          </a:p>
        </p:txBody>
      </p:sp>
      <p:sp>
        <p:nvSpPr>
          <p:cNvPr id="62" name="Text 13">
            <a:extLst>
              <a:ext uri="{FF2B5EF4-FFF2-40B4-BE49-F238E27FC236}">
                <a16:creationId xmlns:a16="http://schemas.microsoft.com/office/drawing/2014/main" id="{DB545A7F-B626-EAEF-4C90-400894BCB24F}"/>
              </a:ext>
            </a:extLst>
          </p:cNvPr>
          <p:cNvSpPr/>
          <p:nvPr/>
        </p:nvSpPr>
        <p:spPr>
          <a:xfrm>
            <a:off x="533399" y="2725489"/>
            <a:ext cx="948333" cy="761256"/>
          </a:xfrm>
          <a:prstGeom prst="rect">
            <a:avLst/>
          </a:prstGeom>
          <a:noFill/>
          <a:ln/>
        </p:spPr>
        <p:txBody>
          <a:bodyPr wrap="square" lIns="25400" tIns="25400" rIns="25400" bIns="25400" rtlCol="0" anchor="t">
            <a:normAutofit/>
          </a:bodyPr>
          <a:lstStyle/>
          <a:p>
            <a:pPr marL="0" indent="0" algn="l">
              <a:lnSpc>
                <a:spcPct val="130000"/>
              </a:lnSpc>
              <a:buNone/>
            </a:pPr>
            <a:r>
              <a:rPr lang="en-US" sz="1400" kern="0" spc="21" dirty="0">
                <a:solidFill>
                  <a:srgbClr val="1A1A1A"/>
                </a:solidFill>
                <a:latin typeface="Inter" pitchFamily="34" charset="0"/>
                <a:ea typeface="Inter" pitchFamily="34" charset="-122"/>
              </a:rPr>
              <a:t>Modeling</a:t>
            </a:r>
          </a:p>
        </p:txBody>
      </p:sp>
      <p:sp>
        <p:nvSpPr>
          <p:cNvPr id="63" name="Text 14">
            <a:extLst>
              <a:ext uri="{FF2B5EF4-FFF2-40B4-BE49-F238E27FC236}">
                <a16:creationId xmlns:a16="http://schemas.microsoft.com/office/drawing/2014/main" id="{0C390490-B855-DF67-4B80-39CF828E9AD5}"/>
              </a:ext>
            </a:extLst>
          </p:cNvPr>
          <p:cNvSpPr/>
          <p:nvPr/>
        </p:nvSpPr>
        <p:spPr>
          <a:xfrm>
            <a:off x="235683" y="3042056"/>
            <a:ext cx="372010" cy="191463"/>
          </a:xfrm>
          <a:prstGeom prst="rect">
            <a:avLst/>
          </a:prstGeom>
          <a:noFill/>
          <a:ln/>
        </p:spPr>
        <p:txBody>
          <a:bodyPr wrap="square" lIns="25400" tIns="25400" rIns="25400" bIns="25400" rtlCol="0" anchor="t">
            <a:noAutofit/>
          </a:bodyPr>
          <a:lstStyle/>
          <a:p>
            <a:pPr marL="0" indent="0" algn="l">
              <a:lnSpc>
                <a:spcPct val="130000"/>
              </a:lnSpc>
              <a:buNone/>
            </a:pPr>
            <a:r>
              <a:rPr lang="en-US" sz="1400" kern="0" spc="21" dirty="0">
                <a:solidFill>
                  <a:srgbClr val="888080"/>
                </a:solidFill>
                <a:latin typeface="JetBrains Mono" pitchFamily="34" charset="0"/>
                <a:ea typeface="JetBrains Mono" pitchFamily="34" charset="-122"/>
                <a:cs typeface="JetBrains Mono" pitchFamily="34" charset="-120"/>
              </a:rPr>
              <a:t>06</a:t>
            </a:r>
            <a:endParaRPr lang="en-US" sz="1400" dirty="0"/>
          </a:p>
        </p:txBody>
      </p:sp>
      <p:sp>
        <p:nvSpPr>
          <p:cNvPr id="64" name="Text 15">
            <a:extLst>
              <a:ext uri="{FF2B5EF4-FFF2-40B4-BE49-F238E27FC236}">
                <a16:creationId xmlns:a16="http://schemas.microsoft.com/office/drawing/2014/main" id="{97D1EE11-453C-5897-B605-DF6586457E29}"/>
              </a:ext>
            </a:extLst>
          </p:cNvPr>
          <p:cNvSpPr/>
          <p:nvPr/>
        </p:nvSpPr>
        <p:spPr>
          <a:xfrm>
            <a:off x="533400" y="3032075"/>
            <a:ext cx="1185416" cy="626120"/>
          </a:xfrm>
          <a:prstGeom prst="rect">
            <a:avLst/>
          </a:prstGeom>
          <a:noFill/>
          <a:ln/>
        </p:spPr>
        <p:txBody>
          <a:bodyPr wrap="square" lIns="25400" tIns="25400" rIns="25400" bIns="25400" rtlCol="0" anchor="t">
            <a:normAutofit/>
          </a:bodyPr>
          <a:lstStyle/>
          <a:p>
            <a:pPr marL="0" indent="0" algn="l">
              <a:lnSpc>
                <a:spcPct val="130000"/>
              </a:lnSpc>
              <a:buNone/>
            </a:pPr>
            <a:r>
              <a:rPr lang="en-US" sz="1400" kern="0" spc="21" dirty="0">
                <a:solidFill>
                  <a:srgbClr val="888080"/>
                </a:solidFill>
                <a:latin typeface="Inter" pitchFamily="34" charset="0"/>
                <a:ea typeface="Inter" pitchFamily="34" charset="-122"/>
                <a:cs typeface="Inter" pitchFamily="34" charset="-120"/>
              </a:rPr>
              <a:t>Conclusions</a:t>
            </a:r>
            <a:endParaRPr lang="en-US" sz="1400" dirty="0"/>
          </a:p>
        </p:txBody>
      </p:sp>
      <p:sp>
        <p:nvSpPr>
          <p:cNvPr id="65" name="Text 9">
            <a:extLst>
              <a:ext uri="{FF2B5EF4-FFF2-40B4-BE49-F238E27FC236}">
                <a16:creationId xmlns:a16="http://schemas.microsoft.com/office/drawing/2014/main" id="{16C2F9C5-9365-1E04-6B83-454D5F363F32}"/>
              </a:ext>
            </a:extLst>
          </p:cNvPr>
          <p:cNvSpPr/>
          <p:nvPr/>
        </p:nvSpPr>
        <p:spPr>
          <a:xfrm>
            <a:off x="538609" y="2426180"/>
            <a:ext cx="1185416" cy="342476"/>
          </a:xfrm>
          <a:prstGeom prst="rect">
            <a:avLst/>
          </a:prstGeom>
          <a:noFill/>
          <a:ln/>
        </p:spPr>
        <p:txBody>
          <a:bodyPr wrap="square" lIns="25400" tIns="25400" rIns="25400" bIns="25400" rtlCol="0" anchor="t">
            <a:normAutofit/>
          </a:bodyPr>
          <a:lstStyle/>
          <a:p>
            <a:pPr marL="0" indent="0" algn="l">
              <a:lnSpc>
                <a:spcPct val="130000"/>
              </a:lnSpc>
              <a:buNone/>
            </a:pPr>
            <a:r>
              <a:rPr lang="en-US" sz="1400" kern="0" spc="21" dirty="0">
                <a:solidFill>
                  <a:srgbClr val="888080"/>
                </a:solidFill>
                <a:latin typeface="Inter" pitchFamily="34" charset="0"/>
                <a:ea typeface="Inter" pitchFamily="34" charset="-122"/>
              </a:rPr>
              <a:t>Pipeline</a:t>
            </a:r>
          </a:p>
        </p:txBody>
      </p:sp>
      <p:sp>
        <p:nvSpPr>
          <p:cNvPr id="66" name="Text 7">
            <a:extLst>
              <a:ext uri="{FF2B5EF4-FFF2-40B4-BE49-F238E27FC236}">
                <a16:creationId xmlns:a16="http://schemas.microsoft.com/office/drawing/2014/main" id="{34A4D9FA-172A-7B96-0544-AB7BC13A0210}"/>
              </a:ext>
            </a:extLst>
          </p:cNvPr>
          <p:cNvSpPr/>
          <p:nvPr/>
        </p:nvSpPr>
        <p:spPr>
          <a:xfrm>
            <a:off x="523875" y="1826620"/>
            <a:ext cx="1325700" cy="467696"/>
          </a:xfrm>
          <a:prstGeom prst="rect">
            <a:avLst/>
          </a:prstGeom>
          <a:noFill/>
          <a:ln/>
        </p:spPr>
        <p:txBody>
          <a:bodyPr wrap="square" lIns="25400" tIns="25400" rIns="25400" bIns="25400" rtlCol="0" anchor="t">
            <a:noAutofit/>
          </a:bodyPr>
          <a:lstStyle/>
          <a:p>
            <a:pPr marL="0" indent="0" algn="l">
              <a:lnSpc>
                <a:spcPct val="130000"/>
              </a:lnSpc>
              <a:buNone/>
            </a:pPr>
            <a:r>
              <a:rPr lang="en-US" sz="1400" kern="0" spc="21" dirty="0">
                <a:solidFill>
                  <a:srgbClr val="888080"/>
                </a:solidFill>
                <a:latin typeface="Inter" pitchFamily="34" charset="0"/>
                <a:ea typeface="Inter" pitchFamily="34" charset="-122"/>
              </a:rPr>
              <a:t>Data &amp; target</a:t>
            </a:r>
          </a:p>
        </p:txBody>
      </p:sp>
      <p:sp>
        <p:nvSpPr>
          <p:cNvPr id="67" name="Text 1">
            <a:extLst>
              <a:ext uri="{FF2B5EF4-FFF2-40B4-BE49-F238E27FC236}">
                <a16:creationId xmlns:a16="http://schemas.microsoft.com/office/drawing/2014/main" id="{C7B00FD4-D2C7-BDCD-84AC-8D422BAAFF09}"/>
              </a:ext>
            </a:extLst>
          </p:cNvPr>
          <p:cNvSpPr/>
          <p:nvPr/>
        </p:nvSpPr>
        <p:spPr>
          <a:xfrm>
            <a:off x="261138" y="379598"/>
            <a:ext cx="1778457" cy="447678"/>
          </a:xfrm>
          <a:prstGeom prst="rect">
            <a:avLst/>
          </a:prstGeom>
          <a:noFill/>
          <a:ln/>
        </p:spPr>
        <p:txBody>
          <a:bodyPr wrap="square" lIns="25400" tIns="25400" rIns="25400" bIns="25400" rtlCol="0" anchor="t">
            <a:noAutofit/>
          </a:bodyPr>
          <a:lstStyle/>
          <a:p>
            <a:pPr marL="0" indent="0">
              <a:buNone/>
            </a:pPr>
            <a:r>
              <a:rPr lang="en-US" sz="1400" kern="0" spc="116" dirty="0">
                <a:solidFill>
                  <a:srgbClr val="888080"/>
                </a:solidFill>
                <a:latin typeface="JetBrains Mono" pitchFamily="34" charset="0"/>
                <a:ea typeface="JetBrains Mono" pitchFamily="34" charset="-122"/>
                <a:cs typeface="JetBrains Mono" pitchFamily="34" charset="-120"/>
              </a:rPr>
              <a:t>DS22 - Bar Ilan</a:t>
            </a:r>
            <a:br>
              <a:rPr lang="en-US" sz="1400" kern="0" spc="116" dirty="0">
                <a:solidFill>
                  <a:srgbClr val="888080"/>
                </a:solidFill>
                <a:latin typeface="JetBrains Mono" pitchFamily="34" charset="0"/>
                <a:ea typeface="JetBrains Mono" pitchFamily="34" charset="-122"/>
                <a:cs typeface="JetBrains Mono" pitchFamily="34" charset="-120"/>
              </a:rPr>
            </a:br>
            <a:r>
              <a:rPr lang="en-US" sz="1400" kern="0" spc="116" dirty="0">
                <a:solidFill>
                  <a:srgbClr val="888080"/>
                </a:solidFill>
                <a:latin typeface="JetBrains Mono" pitchFamily="34" charset="0"/>
                <a:ea typeface="JetBrains Mono" pitchFamily="34" charset="-122"/>
                <a:cs typeface="JetBrains Mono" pitchFamily="34" charset="-120"/>
              </a:rPr>
              <a:t>ML PROJECT</a:t>
            </a:r>
          </a:p>
          <a:p>
            <a:pPr marL="0" indent="0">
              <a:buNone/>
            </a:pPr>
            <a:r>
              <a:rPr lang="en-US" sz="1400" kern="0" spc="116" dirty="0">
                <a:solidFill>
                  <a:srgbClr val="888080"/>
                </a:solidFill>
                <a:latin typeface="JetBrains Mono" pitchFamily="34" charset="0"/>
                <a:ea typeface="JetBrains Mono" pitchFamily="34" charset="-122"/>
                <a:cs typeface="JetBrains Mono" pitchFamily="34" charset="-120"/>
              </a:rPr>
              <a:t>MAY 2026</a:t>
            </a:r>
            <a:endParaRPr lang="en-US" sz="1400" dirty="0"/>
          </a:p>
        </p:txBody>
      </p:sp>
      <p:sp>
        <p:nvSpPr>
          <p:cNvPr id="4" name="Text 19">
            <a:extLst>
              <a:ext uri="{FF2B5EF4-FFF2-40B4-BE49-F238E27FC236}">
                <a16:creationId xmlns:a16="http://schemas.microsoft.com/office/drawing/2014/main" id="{5F9D311D-C2BF-E43A-61A1-77A1357A8A26}"/>
              </a:ext>
            </a:extLst>
          </p:cNvPr>
          <p:cNvSpPr/>
          <p:nvPr/>
        </p:nvSpPr>
        <p:spPr>
          <a:xfrm>
            <a:off x="2781300" y="1928391"/>
            <a:ext cx="14801715" cy="4189193"/>
          </a:xfrm>
          <a:prstGeom prst="rect">
            <a:avLst/>
          </a:prstGeom>
          <a:noFill/>
          <a:ln/>
        </p:spPr>
        <p:txBody>
          <a:bodyPr wrap="square" lIns="25400" tIns="25400" rIns="25400" bIns="25400" rtlCol="0" anchor="t">
            <a:normAutofit/>
          </a:bodyPr>
          <a:lstStyle/>
          <a:p>
            <a:pPr marL="342900" indent="-342900">
              <a:buFont typeface="Arial" panose="020B0604020202020204" pitchFamily="34" charset="0"/>
              <a:buChar char="•"/>
            </a:pPr>
            <a:r>
              <a:rPr lang="en-US" sz="2000" dirty="0">
                <a:latin typeface="Inter"/>
                <a:ea typeface="Inter"/>
              </a:rPr>
              <a:t>Built a baseline classification model using the most frequent operational class for each line group. </a:t>
            </a:r>
          </a:p>
          <a:p>
            <a:pPr marL="342900" indent="-342900">
              <a:buFont typeface="Arial" panose="020B0604020202020204" pitchFamily="34" charset="0"/>
              <a:buChar char="•"/>
            </a:pPr>
            <a:r>
              <a:rPr lang="en-US" sz="2000" dirty="0">
                <a:latin typeface="Inter"/>
                <a:ea typeface="Inter"/>
              </a:rPr>
              <a:t>Grouped rides by </a:t>
            </a:r>
            <a:r>
              <a:rPr lang="en-US" sz="1600" dirty="0" err="1">
                <a:latin typeface="Inter"/>
                <a:ea typeface="Inter"/>
              </a:rPr>
              <a:t>agency_linenum_dir_alter_encoded</a:t>
            </a:r>
            <a:r>
              <a:rPr lang="en-US" sz="2000" dirty="0">
                <a:latin typeface="Inter"/>
                <a:ea typeface="Inter"/>
              </a:rPr>
              <a:t>. </a:t>
            </a:r>
          </a:p>
          <a:p>
            <a:pPr marL="342900" indent="-342900">
              <a:buFont typeface="Arial" panose="020B0604020202020204" pitchFamily="34" charset="0"/>
              <a:buChar char="•"/>
            </a:pPr>
            <a:r>
              <a:rPr lang="en-US" sz="2000" dirty="0">
                <a:latin typeface="Inter"/>
                <a:ea typeface="Inter"/>
              </a:rPr>
              <a:t>Assigned the most common class (</a:t>
            </a:r>
            <a:r>
              <a:rPr lang="en-US" sz="1600" dirty="0">
                <a:latin typeface="Inter"/>
                <a:ea typeface="Inter"/>
              </a:rPr>
              <a:t>early</a:t>
            </a:r>
            <a:r>
              <a:rPr lang="en-US" sz="2000" dirty="0">
                <a:latin typeface="Inter"/>
                <a:ea typeface="Inter"/>
              </a:rPr>
              <a:t>, </a:t>
            </a:r>
            <a:r>
              <a:rPr lang="en-US" sz="1600" dirty="0" err="1">
                <a:latin typeface="Inter"/>
                <a:ea typeface="Inter"/>
              </a:rPr>
              <a:t>on_time</a:t>
            </a:r>
            <a:r>
              <a:rPr lang="en-US" sz="2000" dirty="0">
                <a:latin typeface="Inter"/>
                <a:ea typeface="Inter"/>
              </a:rPr>
              <a:t>, or </a:t>
            </a:r>
            <a:r>
              <a:rPr lang="en-US" sz="1600" dirty="0">
                <a:latin typeface="Inter"/>
                <a:ea typeface="Inter"/>
              </a:rPr>
              <a:t>delay</a:t>
            </a:r>
            <a:r>
              <a:rPr lang="en-US" sz="2000" dirty="0">
                <a:latin typeface="Inter"/>
                <a:ea typeface="Inter"/>
              </a:rPr>
              <a:t>) from the training dataset as the prediction. </a:t>
            </a:r>
          </a:p>
          <a:p>
            <a:pPr marL="342900" indent="-342900">
              <a:buFont typeface="Arial" panose="020B0604020202020204" pitchFamily="34" charset="0"/>
              <a:buChar char="•"/>
            </a:pPr>
            <a:r>
              <a:rPr lang="en-US" sz="2000" dirty="0">
                <a:latin typeface="Inter"/>
                <a:ea typeface="Inter"/>
              </a:rPr>
              <a:t>Used the global most frequent class as a fallback for unseen groups. </a:t>
            </a:r>
          </a:p>
          <a:p>
            <a:pPr marL="342900" indent="-342900">
              <a:buFont typeface="Arial" panose="020B0604020202020204" pitchFamily="34" charset="0"/>
              <a:buChar char="•"/>
            </a:pPr>
            <a:r>
              <a:rPr lang="en-US" sz="2000" dirty="0">
                <a:latin typeface="Inter"/>
                <a:ea typeface="Inter"/>
              </a:rPr>
              <a:t>Applied the baseline model to the validation dataset. </a:t>
            </a:r>
          </a:p>
          <a:p>
            <a:pPr marL="342900" indent="-342900">
              <a:buFont typeface="Arial" panose="020B0604020202020204" pitchFamily="34" charset="0"/>
              <a:buChar char="•"/>
            </a:pPr>
            <a:r>
              <a:rPr lang="en-US" sz="2000" dirty="0">
                <a:latin typeface="Inter"/>
                <a:ea typeface="Inter"/>
              </a:rPr>
              <a:t>Evaluated performance using accuracy, classification report, and confusion matrix. </a:t>
            </a:r>
          </a:p>
          <a:p>
            <a:pPr marL="342900" indent="-342900">
              <a:buFont typeface="Arial" panose="020B0604020202020204" pitchFamily="34" charset="0"/>
              <a:buChar char="•"/>
            </a:pPr>
            <a:r>
              <a:rPr lang="en-US" sz="2000" dirty="0">
                <a:latin typeface="Inter"/>
                <a:ea typeface="Inter"/>
              </a:rPr>
              <a:t>Used the baseline as a benchmark for comparison with the machine learning </a:t>
            </a:r>
            <a:r>
              <a:rPr lang="en-US" sz="2000" dirty="0">
                <a:latin typeface="Inter"/>
              </a:rPr>
              <a:t>models</a:t>
            </a:r>
            <a:r>
              <a:rPr lang="en-US" sz="2400" dirty="0">
                <a:latin typeface="Inter"/>
                <a:ea typeface="Inter"/>
              </a:rPr>
              <a:t>.</a:t>
            </a:r>
          </a:p>
        </p:txBody>
      </p:sp>
      <p:pic>
        <p:nvPicPr>
          <p:cNvPr id="5" name="Picture 4">
            <a:extLst>
              <a:ext uri="{FF2B5EF4-FFF2-40B4-BE49-F238E27FC236}">
                <a16:creationId xmlns:a16="http://schemas.microsoft.com/office/drawing/2014/main" id="{6C62F42A-A19A-6394-7071-6466884F79A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634854" y="4815487"/>
            <a:ext cx="6281814" cy="4900013"/>
          </a:xfrm>
          <a:prstGeom prst="rect">
            <a:avLst/>
          </a:prstGeom>
        </p:spPr>
      </p:pic>
      <p:pic>
        <p:nvPicPr>
          <p:cNvPr id="6" name="Picture 5">
            <a:extLst>
              <a:ext uri="{FF2B5EF4-FFF2-40B4-BE49-F238E27FC236}">
                <a16:creationId xmlns:a16="http://schemas.microsoft.com/office/drawing/2014/main" id="{B03EDA32-99C8-E715-EC1C-A99A3A5BC58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856680" y="4815487"/>
            <a:ext cx="5703965" cy="2630497"/>
          </a:xfrm>
          <a:prstGeom prst="rect">
            <a:avLst/>
          </a:prstGeom>
        </p:spPr>
      </p:pic>
    </p:spTree>
    <p:extLst>
      <p:ext uri="{BB962C8B-B14F-4D97-AF65-F5344CB8AC3E}">
        <p14:creationId xmlns:p14="http://schemas.microsoft.com/office/powerpoint/2010/main" val="239439411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2095500" cy="10287000"/>
          </a:xfrm>
          <a:prstGeom prst="rect">
            <a:avLst/>
          </a:prstGeom>
          <a:solidFill>
            <a:srgbClr val="EBE5D6"/>
          </a:solidFill>
          <a:ln/>
        </p:spPr>
        <p:txBody>
          <a:bodyPr/>
          <a:lstStyle/>
          <a:p>
            <a:endParaRPr lang="he-IL"/>
          </a:p>
        </p:txBody>
      </p:sp>
      <p:sp>
        <p:nvSpPr>
          <p:cNvPr id="3" name="Shape 1"/>
          <p:cNvSpPr/>
          <p:nvPr/>
        </p:nvSpPr>
        <p:spPr>
          <a:xfrm>
            <a:off x="2085975" y="0"/>
            <a:ext cx="9525" cy="10287000"/>
          </a:xfrm>
          <a:prstGeom prst="rect">
            <a:avLst/>
          </a:prstGeom>
          <a:solidFill>
            <a:srgbClr val="D4CDBC"/>
          </a:solidFill>
          <a:ln/>
        </p:spPr>
        <p:txBody>
          <a:bodyPr/>
          <a:lstStyle/>
          <a:p>
            <a:endParaRPr lang="he-IL"/>
          </a:p>
        </p:txBody>
      </p:sp>
      <p:sp>
        <p:nvSpPr>
          <p:cNvPr id="19" name="Text 17"/>
          <p:cNvSpPr/>
          <p:nvPr/>
        </p:nvSpPr>
        <p:spPr>
          <a:xfrm>
            <a:off x="2781300" y="571500"/>
            <a:ext cx="15187041" cy="171450"/>
          </a:xfrm>
          <a:prstGeom prst="rect">
            <a:avLst/>
          </a:prstGeom>
          <a:noFill/>
          <a:ln/>
        </p:spPr>
        <p:txBody>
          <a:bodyPr wrap="square" lIns="25400" tIns="25400" rIns="25400" bIns="25400" rtlCol="0" anchor="ctr">
            <a:noAutofit/>
          </a:bodyPr>
          <a:lstStyle/>
          <a:p>
            <a:pPr marL="0" indent="0" algn="l">
              <a:buNone/>
            </a:pPr>
            <a:r>
              <a:rPr lang="en-US" sz="1400" kern="0" spc="182" dirty="0">
                <a:solidFill>
                  <a:srgbClr val="888080"/>
                </a:solidFill>
                <a:latin typeface="JetBrains Mono" pitchFamily="34" charset="0"/>
                <a:ea typeface="JetBrains Mono" pitchFamily="34" charset="-122"/>
                <a:cs typeface="JetBrains Mono" pitchFamily="34" charset="-120"/>
              </a:rPr>
              <a:t>MODELING · WORKFLOW</a:t>
            </a:r>
            <a:endParaRPr lang="en-US" sz="1400" dirty="0"/>
          </a:p>
        </p:txBody>
      </p:sp>
      <p:sp>
        <p:nvSpPr>
          <p:cNvPr id="20" name="Text 18"/>
          <p:cNvSpPr/>
          <p:nvPr/>
        </p:nvSpPr>
        <p:spPr>
          <a:xfrm>
            <a:off x="2781300" y="914400"/>
            <a:ext cx="15187041" cy="643830"/>
          </a:xfrm>
          <a:prstGeom prst="rect">
            <a:avLst/>
          </a:prstGeom>
          <a:noFill/>
          <a:ln/>
        </p:spPr>
        <p:txBody>
          <a:bodyPr wrap="square" lIns="25400" tIns="25400" rIns="25400" bIns="25400" rtlCol="0" anchor="t">
            <a:normAutofit fontScale="92500" lnSpcReduction="20000"/>
          </a:bodyPr>
          <a:lstStyle/>
          <a:p>
            <a:pPr marL="0" indent="0" algn="l">
              <a:lnSpc>
                <a:spcPct val="106000"/>
              </a:lnSpc>
              <a:buNone/>
            </a:pPr>
            <a:r>
              <a:rPr lang="en-US" sz="4500" kern="0" spc="-81" dirty="0">
                <a:solidFill>
                  <a:srgbClr val="1A1A1A"/>
                </a:solidFill>
                <a:latin typeface="Instrument Serif" pitchFamily="34" charset="0"/>
                <a:ea typeface="Instrument Serif" pitchFamily="34" charset="-122"/>
                <a:cs typeface="Instrument Serif" pitchFamily="34" charset="-120"/>
              </a:rPr>
              <a:t>How we picked, tuned </a:t>
            </a:r>
            <a:r>
              <a:rPr lang="en-US" sz="4500" i="1" kern="0" spc="-81" dirty="0">
                <a:solidFill>
                  <a:srgbClr val="C25A2A"/>
                </a:solidFill>
                <a:latin typeface="Instrument Serif" pitchFamily="34" charset="0"/>
                <a:ea typeface="Instrument Serif" pitchFamily="34" charset="-122"/>
                <a:cs typeface="Instrument Serif" pitchFamily="34" charset="-120"/>
              </a:rPr>
              <a:t>&amp; validated.</a:t>
            </a:r>
            <a:endParaRPr lang="en-US" sz="4500" dirty="0"/>
          </a:p>
        </p:txBody>
      </p:sp>
      <p:sp>
        <p:nvSpPr>
          <p:cNvPr id="21" name="Text 19"/>
          <p:cNvSpPr/>
          <p:nvPr/>
        </p:nvSpPr>
        <p:spPr>
          <a:xfrm>
            <a:off x="2781300" y="1691580"/>
            <a:ext cx="10791825" cy="328017"/>
          </a:xfrm>
          <a:prstGeom prst="rect">
            <a:avLst/>
          </a:prstGeom>
          <a:noFill/>
          <a:ln/>
        </p:spPr>
        <p:txBody>
          <a:bodyPr wrap="square" lIns="25400" tIns="25400" rIns="25400" bIns="25400" rtlCol="0" anchor="t">
            <a:normAutofit fontScale="92500" lnSpcReduction="20000"/>
          </a:bodyPr>
          <a:lstStyle/>
          <a:p>
            <a:pPr marL="0" indent="0" algn="l">
              <a:lnSpc>
                <a:spcPct val="145000"/>
              </a:lnSpc>
              <a:buNone/>
            </a:pPr>
            <a:r>
              <a:rPr lang="en-US" sz="1575" dirty="0">
                <a:solidFill>
                  <a:srgbClr val="4A4A4A"/>
                </a:solidFill>
                <a:latin typeface="Inter" pitchFamily="34" charset="0"/>
                <a:ea typeface="Inter" pitchFamily="34" charset="-122"/>
                <a:cs typeface="Inter" pitchFamily="34" charset="-120"/>
              </a:rPr>
              <a:t>A four-stage funnel: cast a wide net first, then go deep on the winner. Each stage gates the next.</a:t>
            </a:r>
            <a:endParaRPr lang="en-US" sz="1575" dirty="0"/>
          </a:p>
        </p:txBody>
      </p:sp>
      <p:sp>
        <p:nvSpPr>
          <p:cNvPr id="22" name="Shape 20"/>
          <p:cNvSpPr/>
          <p:nvPr/>
        </p:nvSpPr>
        <p:spPr>
          <a:xfrm>
            <a:off x="2781300" y="2152948"/>
            <a:ext cx="14744700" cy="1000125"/>
          </a:xfrm>
          <a:prstGeom prst="rect">
            <a:avLst/>
          </a:prstGeom>
          <a:solidFill>
            <a:srgbClr val="EBE5D6"/>
          </a:solidFill>
          <a:ln w="9525">
            <a:solidFill>
              <a:srgbClr val="D4CDBC"/>
            </a:solidFill>
            <a:prstDash val="solid"/>
          </a:ln>
        </p:spPr>
        <p:txBody>
          <a:bodyPr/>
          <a:lstStyle/>
          <a:p>
            <a:endParaRPr lang="he-IL"/>
          </a:p>
        </p:txBody>
      </p:sp>
      <p:sp>
        <p:nvSpPr>
          <p:cNvPr id="23" name="Text 21"/>
          <p:cNvSpPr/>
          <p:nvPr/>
        </p:nvSpPr>
        <p:spPr>
          <a:xfrm>
            <a:off x="2987496" y="2263357"/>
            <a:ext cx="14735747" cy="161925"/>
          </a:xfrm>
          <a:prstGeom prst="rect">
            <a:avLst/>
          </a:prstGeom>
          <a:noFill/>
          <a:ln/>
        </p:spPr>
        <p:txBody>
          <a:bodyPr wrap="square" lIns="25400" tIns="25400" rIns="25400" bIns="25400" rtlCol="0" anchor="t">
            <a:noAutofit/>
          </a:bodyPr>
          <a:lstStyle/>
          <a:p>
            <a:pPr marL="0" indent="0" algn="l">
              <a:buNone/>
            </a:pPr>
            <a:r>
              <a:rPr lang="en-US" sz="1400" b="1" kern="0" spc="135" dirty="0">
                <a:solidFill>
                  <a:srgbClr val="C25A2A"/>
                </a:solidFill>
                <a:latin typeface="JetBrains Mono" pitchFamily="34" charset="0"/>
                <a:ea typeface="JetBrains Mono" pitchFamily="34" charset="-122"/>
                <a:cs typeface="JetBrains Mono" pitchFamily="34" charset="-120"/>
              </a:rPr>
              <a:t>METRICS WE OPTIMISE FOR</a:t>
            </a:r>
            <a:endParaRPr lang="en-US" sz="1400" dirty="0"/>
          </a:p>
        </p:txBody>
      </p:sp>
      <p:sp>
        <p:nvSpPr>
          <p:cNvPr id="24" name="Text 22"/>
          <p:cNvSpPr/>
          <p:nvPr/>
        </p:nvSpPr>
        <p:spPr>
          <a:xfrm>
            <a:off x="2987496" y="2482432"/>
            <a:ext cx="14735747" cy="495300"/>
          </a:xfrm>
          <a:prstGeom prst="rect">
            <a:avLst/>
          </a:prstGeom>
          <a:noFill/>
          <a:ln/>
        </p:spPr>
        <p:txBody>
          <a:bodyPr wrap="square" lIns="25400" tIns="25400" rIns="25400" bIns="25400" rtlCol="0" anchor="t">
            <a:noAutofit/>
          </a:bodyPr>
          <a:lstStyle/>
          <a:p>
            <a:pPr marL="0" indent="0" algn="l">
              <a:lnSpc>
                <a:spcPct val="150000"/>
              </a:lnSpc>
              <a:buNone/>
            </a:pPr>
            <a:r>
              <a:rPr lang="en-US" sz="1400" dirty="0">
                <a:solidFill>
                  <a:srgbClr val="4A4A4A"/>
                </a:solidFill>
                <a:latin typeface="Inter" pitchFamily="34" charset="0"/>
                <a:ea typeface="Inter" pitchFamily="34" charset="-122"/>
                <a:cs typeface="Inter" pitchFamily="34" charset="-120"/>
              </a:rPr>
              <a:t>On-time is operationally cheap; what hurts passengers is missing an </a:t>
            </a:r>
            <a:r>
              <a:rPr lang="en-US" sz="1400" i="1" dirty="0">
                <a:solidFill>
                  <a:srgbClr val="4A4A4A"/>
                </a:solidFill>
                <a:latin typeface="Inter" pitchFamily="34" charset="0"/>
                <a:ea typeface="Inter" pitchFamily="34" charset="-122"/>
                <a:cs typeface="Inter" pitchFamily="34" charset="-120"/>
              </a:rPr>
              <a:t>early </a:t>
            </a:r>
            <a:r>
              <a:rPr lang="en-US" sz="1400" dirty="0">
                <a:solidFill>
                  <a:srgbClr val="4A4A4A"/>
                </a:solidFill>
                <a:latin typeface="Inter" pitchFamily="34" charset="0"/>
                <a:ea typeface="Inter" pitchFamily="34" charset="-122"/>
                <a:cs typeface="Inter" pitchFamily="34" charset="-120"/>
              </a:rPr>
              <a:t>or a </a:t>
            </a:r>
            <a:r>
              <a:rPr lang="en-US" sz="1400" i="1" dirty="0">
                <a:solidFill>
                  <a:srgbClr val="4A4A4A"/>
                </a:solidFill>
                <a:latin typeface="Inter" pitchFamily="34" charset="0"/>
                <a:ea typeface="Inter" pitchFamily="34" charset="-122"/>
                <a:cs typeface="Inter" pitchFamily="34" charset="-120"/>
              </a:rPr>
              <a:t>late</a:t>
            </a:r>
            <a:r>
              <a:rPr lang="en-US" sz="1400" dirty="0">
                <a:solidFill>
                  <a:srgbClr val="4A4A4A"/>
                </a:solidFill>
                <a:latin typeface="Inter" pitchFamily="34" charset="0"/>
                <a:ea typeface="Inter" pitchFamily="34" charset="-122"/>
                <a:cs typeface="Inter" pitchFamily="34" charset="-120"/>
              </a:rPr>
              <a:t>. So we track </a:t>
            </a:r>
            <a:r>
              <a:rPr lang="en-US" sz="1400" dirty="0">
                <a:solidFill>
                  <a:srgbClr val="1A1A1A"/>
                </a:solidFill>
                <a:latin typeface="Inter" pitchFamily="34" charset="0"/>
                <a:ea typeface="Inter" pitchFamily="34" charset="-122"/>
                <a:cs typeface="Inter" pitchFamily="34" charset="-120"/>
              </a:rPr>
              <a:t>macro-F1 </a:t>
            </a:r>
            <a:r>
              <a:rPr lang="en-US" sz="1400" dirty="0">
                <a:solidFill>
                  <a:srgbClr val="4A4A4A"/>
                </a:solidFill>
                <a:latin typeface="Inter" pitchFamily="34" charset="0"/>
                <a:ea typeface="Inter" pitchFamily="34" charset="-122"/>
                <a:cs typeface="Inter" pitchFamily="34" charset="-120"/>
              </a:rPr>
              <a:t>(which weighs the rare classes equally with the majority) and </a:t>
            </a:r>
            <a:r>
              <a:rPr lang="en-US" sz="1400" dirty="0">
                <a:solidFill>
                  <a:srgbClr val="1A1A1A"/>
                </a:solidFill>
                <a:latin typeface="Inter" pitchFamily="34" charset="0"/>
                <a:ea typeface="Inter" pitchFamily="34" charset="-122"/>
                <a:cs typeface="Inter" pitchFamily="34" charset="-120"/>
              </a:rPr>
              <a:t>per-class recall on early &amp; delay </a:t>
            </a:r>
            <a:r>
              <a:rPr lang="en-US" sz="1400" dirty="0">
                <a:solidFill>
                  <a:srgbClr val="4A4A4A"/>
                </a:solidFill>
                <a:latin typeface="Inter" pitchFamily="34" charset="0"/>
                <a:ea typeface="Inter" pitchFamily="34" charset="-122"/>
                <a:cs typeface="Inter" pitchFamily="34" charset="-120"/>
              </a:rPr>
              <a:t>— accuracy alone would let a "predict delay always" model score 71%.</a:t>
            </a:r>
            <a:endParaRPr lang="en-US" sz="1400" dirty="0"/>
          </a:p>
        </p:txBody>
      </p:sp>
      <p:sp>
        <p:nvSpPr>
          <p:cNvPr id="25" name="Shape 23"/>
          <p:cNvSpPr/>
          <p:nvPr/>
        </p:nvSpPr>
        <p:spPr>
          <a:xfrm>
            <a:off x="2781300" y="3515023"/>
            <a:ext cx="3557588" cy="5789116"/>
          </a:xfrm>
          <a:prstGeom prst="rect">
            <a:avLst/>
          </a:prstGeom>
          <a:solidFill>
            <a:srgbClr val="FFFFFF"/>
          </a:solidFill>
          <a:ln w="9525">
            <a:solidFill>
              <a:srgbClr val="D4CDBC"/>
            </a:solidFill>
            <a:prstDash val="solid"/>
          </a:ln>
        </p:spPr>
        <p:txBody>
          <a:bodyPr/>
          <a:lstStyle/>
          <a:p>
            <a:endParaRPr lang="he-IL"/>
          </a:p>
        </p:txBody>
      </p:sp>
      <p:sp>
        <p:nvSpPr>
          <p:cNvPr id="26" name="Text 24"/>
          <p:cNvSpPr/>
          <p:nvPr/>
        </p:nvSpPr>
        <p:spPr>
          <a:xfrm>
            <a:off x="3019425" y="3669703"/>
            <a:ext cx="3173778" cy="161925"/>
          </a:xfrm>
          <a:prstGeom prst="rect">
            <a:avLst/>
          </a:prstGeom>
          <a:noFill/>
          <a:ln/>
        </p:spPr>
        <p:txBody>
          <a:bodyPr wrap="square" lIns="25400" tIns="25400" rIns="25400" bIns="25400" rtlCol="0" anchor="t">
            <a:noAutofit/>
          </a:bodyPr>
          <a:lstStyle/>
          <a:p>
            <a:pPr marL="0" indent="0" algn="l">
              <a:buNone/>
            </a:pPr>
            <a:r>
              <a:rPr lang="en-US" sz="1400" b="1" kern="0" spc="135" dirty="0">
                <a:solidFill>
                  <a:srgbClr val="C25A2A"/>
                </a:solidFill>
                <a:latin typeface="JetBrains Mono" pitchFamily="34" charset="0"/>
                <a:ea typeface="JetBrains Mono" pitchFamily="34" charset="-122"/>
                <a:cs typeface="JetBrains Mono" pitchFamily="34" charset="-120"/>
              </a:rPr>
              <a:t>STEP · 01</a:t>
            </a:r>
            <a:endParaRPr lang="en-US" sz="1400" dirty="0"/>
          </a:p>
        </p:txBody>
      </p:sp>
      <p:sp>
        <p:nvSpPr>
          <p:cNvPr id="27" name="Text 25"/>
          <p:cNvSpPr/>
          <p:nvPr/>
        </p:nvSpPr>
        <p:spPr>
          <a:xfrm>
            <a:off x="3019425" y="3953173"/>
            <a:ext cx="3173778" cy="300930"/>
          </a:xfrm>
          <a:prstGeom prst="rect">
            <a:avLst/>
          </a:prstGeom>
          <a:noFill/>
          <a:ln/>
        </p:spPr>
        <p:txBody>
          <a:bodyPr wrap="square" lIns="25400" tIns="25400" rIns="25400" bIns="25400" rtlCol="0" anchor="t">
            <a:normAutofit fontScale="92500" lnSpcReduction="20000"/>
          </a:bodyPr>
          <a:lstStyle/>
          <a:p>
            <a:pPr marL="0" indent="0" algn="l">
              <a:lnSpc>
                <a:spcPct val="115000"/>
              </a:lnSpc>
              <a:buNone/>
            </a:pPr>
            <a:r>
              <a:rPr lang="en-US" sz="1800" kern="0" spc="-14" dirty="0">
                <a:solidFill>
                  <a:srgbClr val="1A1A1A"/>
                </a:solidFill>
                <a:latin typeface="Instrument Serif" pitchFamily="34" charset="0"/>
                <a:ea typeface="Instrument Serif" pitchFamily="34" charset="-122"/>
                <a:cs typeface="Instrument Serif" pitchFamily="34" charset="-120"/>
              </a:rPr>
              <a:t>Wide net.</a:t>
            </a:r>
            <a:endParaRPr lang="en-US" sz="1800" dirty="0"/>
          </a:p>
        </p:txBody>
      </p:sp>
      <p:sp>
        <p:nvSpPr>
          <p:cNvPr id="28" name="Shape 26"/>
          <p:cNvSpPr/>
          <p:nvPr/>
        </p:nvSpPr>
        <p:spPr>
          <a:xfrm>
            <a:off x="3019425" y="4368403"/>
            <a:ext cx="3081338" cy="9525"/>
          </a:xfrm>
          <a:prstGeom prst="rect">
            <a:avLst/>
          </a:prstGeom>
          <a:solidFill>
            <a:srgbClr val="D4CDBC"/>
          </a:solidFill>
          <a:ln/>
        </p:spPr>
        <p:txBody>
          <a:bodyPr/>
          <a:lstStyle/>
          <a:p>
            <a:endParaRPr lang="he-IL"/>
          </a:p>
        </p:txBody>
      </p:sp>
      <p:sp>
        <p:nvSpPr>
          <p:cNvPr id="29" name="Text 27"/>
          <p:cNvSpPr/>
          <p:nvPr/>
        </p:nvSpPr>
        <p:spPr>
          <a:xfrm>
            <a:off x="3019425" y="4587478"/>
            <a:ext cx="3173778" cy="4088011"/>
          </a:xfrm>
          <a:prstGeom prst="rect">
            <a:avLst/>
          </a:prstGeom>
          <a:noFill/>
          <a:ln/>
        </p:spPr>
        <p:txBody>
          <a:bodyPr wrap="square" lIns="25400" tIns="25400" rIns="25400" bIns="25400" rtlCol="0" anchor="t">
            <a:normAutofit/>
          </a:bodyPr>
          <a:lstStyle/>
          <a:p>
            <a:pPr marL="0" indent="0" algn="l">
              <a:lnSpc>
                <a:spcPct val="150000"/>
              </a:lnSpc>
              <a:buNone/>
            </a:pPr>
            <a:r>
              <a:rPr lang="en-US" sz="1400" dirty="0">
                <a:solidFill>
                  <a:srgbClr val="4A4A4A"/>
                </a:solidFill>
                <a:latin typeface="Inter" pitchFamily="34" charset="0"/>
                <a:ea typeface="Inter" pitchFamily="34" charset="-122"/>
                <a:cs typeface="Inter" pitchFamily="34" charset="-120"/>
              </a:rPr>
              <a:t>Run </a:t>
            </a:r>
            <a:r>
              <a:rPr lang="en-US" sz="1400" dirty="0">
                <a:solidFill>
                  <a:srgbClr val="1A1A1A"/>
                </a:solidFill>
                <a:latin typeface="Inter" pitchFamily="34" charset="0"/>
                <a:ea typeface="Inter" pitchFamily="34" charset="-122"/>
                <a:cs typeface="Inter" pitchFamily="34" charset="-120"/>
              </a:rPr>
              <a:t>every candidate model with default hyper-parameters </a:t>
            </a:r>
            <a:r>
              <a:rPr lang="en-US" sz="1400" dirty="0">
                <a:solidFill>
                  <a:srgbClr val="4A4A4A"/>
                </a:solidFill>
                <a:latin typeface="Inter" pitchFamily="34" charset="0"/>
                <a:ea typeface="Inter" pitchFamily="34" charset="-122"/>
                <a:cs typeface="Inter" pitchFamily="34" charset="-120"/>
              </a:rPr>
              <a:t>on the same train/val split. No tuning, no class-imbalance work — a fair, cheap baseline for each family.</a:t>
            </a:r>
            <a:endParaRPr lang="en-US" sz="1200" dirty="0"/>
          </a:p>
        </p:txBody>
      </p:sp>
      <p:sp>
        <p:nvSpPr>
          <p:cNvPr id="30" name="Shape 28"/>
          <p:cNvSpPr/>
          <p:nvPr/>
        </p:nvSpPr>
        <p:spPr>
          <a:xfrm>
            <a:off x="3019425" y="8865989"/>
            <a:ext cx="3081338" cy="219075"/>
          </a:xfrm>
          <a:prstGeom prst="rect">
            <a:avLst/>
          </a:prstGeom>
          <a:solidFill>
            <a:srgbClr val="EBE5D6"/>
          </a:solidFill>
          <a:ln w="9525">
            <a:solidFill>
              <a:srgbClr val="D4CDBC"/>
            </a:solidFill>
            <a:prstDash val="solid"/>
          </a:ln>
        </p:spPr>
        <p:txBody>
          <a:bodyPr/>
          <a:lstStyle/>
          <a:p>
            <a:endParaRPr lang="he-IL"/>
          </a:p>
        </p:txBody>
      </p:sp>
      <p:sp>
        <p:nvSpPr>
          <p:cNvPr id="31" name="Text 29"/>
          <p:cNvSpPr/>
          <p:nvPr/>
        </p:nvSpPr>
        <p:spPr>
          <a:xfrm>
            <a:off x="3114675" y="8913614"/>
            <a:ext cx="2983278" cy="161925"/>
          </a:xfrm>
          <a:prstGeom prst="rect">
            <a:avLst/>
          </a:prstGeom>
          <a:noFill/>
          <a:ln/>
        </p:spPr>
        <p:txBody>
          <a:bodyPr wrap="square" lIns="25400" tIns="25400" rIns="25400" bIns="25400" rtlCol="0" anchor="ctr">
            <a:noAutofit/>
          </a:bodyPr>
          <a:lstStyle/>
          <a:p>
            <a:pPr marL="0" indent="0" algn="l">
              <a:buNone/>
            </a:pPr>
            <a:r>
              <a:rPr lang="en-US" sz="1400" kern="0" spc="105" dirty="0">
                <a:solidFill>
                  <a:srgbClr val="1A1A1A"/>
                </a:solidFill>
                <a:latin typeface="JetBrains Mono" pitchFamily="34" charset="0"/>
                <a:ea typeface="JetBrains Mono" pitchFamily="34" charset="-122"/>
                <a:cs typeface="JetBrains Mono" pitchFamily="34" charset="-120"/>
              </a:rPr>
              <a:t>LOGREG · RF · XGB · LGBM</a:t>
            </a:r>
            <a:endParaRPr lang="en-US" sz="1400" dirty="0"/>
          </a:p>
        </p:txBody>
      </p:sp>
      <p:sp>
        <p:nvSpPr>
          <p:cNvPr id="32" name="Shape 30"/>
          <p:cNvSpPr/>
          <p:nvPr/>
        </p:nvSpPr>
        <p:spPr>
          <a:xfrm>
            <a:off x="6510338" y="3515023"/>
            <a:ext cx="3557588" cy="5789116"/>
          </a:xfrm>
          <a:prstGeom prst="rect">
            <a:avLst/>
          </a:prstGeom>
          <a:solidFill>
            <a:srgbClr val="FFFFFF"/>
          </a:solidFill>
          <a:ln w="9525">
            <a:solidFill>
              <a:srgbClr val="D4CDBC"/>
            </a:solidFill>
            <a:prstDash val="solid"/>
          </a:ln>
        </p:spPr>
        <p:txBody>
          <a:bodyPr/>
          <a:lstStyle/>
          <a:p>
            <a:endParaRPr lang="he-IL"/>
          </a:p>
        </p:txBody>
      </p:sp>
      <p:sp>
        <p:nvSpPr>
          <p:cNvPr id="33" name="Text 31"/>
          <p:cNvSpPr/>
          <p:nvPr/>
        </p:nvSpPr>
        <p:spPr>
          <a:xfrm>
            <a:off x="6748463" y="3669703"/>
            <a:ext cx="3173778" cy="161925"/>
          </a:xfrm>
          <a:prstGeom prst="rect">
            <a:avLst/>
          </a:prstGeom>
          <a:noFill/>
          <a:ln/>
        </p:spPr>
        <p:txBody>
          <a:bodyPr wrap="square" lIns="25400" tIns="25400" rIns="25400" bIns="25400" rtlCol="0" anchor="t">
            <a:noAutofit/>
          </a:bodyPr>
          <a:lstStyle/>
          <a:p>
            <a:pPr marL="0" indent="0" algn="l">
              <a:buNone/>
            </a:pPr>
            <a:r>
              <a:rPr lang="en-US" sz="1400" b="1" kern="0" spc="135" dirty="0">
                <a:solidFill>
                  <a:srgbClr val="C25A2A"/>
                </a:solidFill>
                <a:latin typeface="JetBrains Mono" pitchFamily="34" charset="0"/>
                <a:ea typeface="JetBrains Mono" pitchFamily="34" charset="-122"/>
                <a:cs typeface="JetBrains Mono" pitchFamily="34" charset="-120"/>
              </a:rPr>
              <a:t>STEP · 02</a:t>
            </a:r>
            <a:endParaRPr lang="en-US" sz="1400" dirty="0"/>
          </a:p>
        </p:txBody>
      </p:sp>
      <p:sp>
        <p:nvSpPr>
          <p:cNvPr id="34" name="Text 32"/>
          <p:cNvSpPr/>
          <p:nvPr/>
        </p:nvSpPr>
        <p:spPr>
          <a:xfrm>
            <a:off x="6748463" y="3953173"/>
            <a:ext cx="3173778" cy="300930"/>
          </a:xfrm>
          <a:prstGeom prst="rect">
            <a:avLst/>
          </a:prstGeom>
          <a:noFill/>
          <a:ln/>
        </p:spPr>
        <p:txBody>
          <a:bodyPr wrap="square" lIns="25400" tIns="25400" rIns="25400" bIns="25400" rtlCol="0" anchor="t">
            <a:normAutofit fontScale="92500" lnSpcReduction="20000"/>
          </a:bodyPr>
          <a:lstStyle/>
          <a:p>
            <a:pPr marL="0" indent="0" algn="l">
              <a:lnSpc>
                <a:spcPct val="115000"/>
              </a:lnSpc>
              <a:buNone/>
            </a:pPr>
            <a:r>
              <a:rPr lang="en-US" sz="1800" kern="0" spc="-14" dirty="0">
                <a:solidFill>
                  <a:srgbClr val="1A1A1A"/>
                </a:solidFill>
                <a:latin typeface="Instrument Serif" pitchFamily="34" charset="0"/>
                <a:ea typeface="Instrument Serif" pitchFamily="34" charset="-122"/>
                <a:cs typeface="Instrument Serif" pitchFamily="34" charset="-120"/>
              </a:rPr>
              <a:t>Pick the winner.</a:t>
            </a:r>
            <a:endParaRPr lang="en-US" sz="1800" dirty="0"/>
          </a:p>
        </p:txBody>
      </p:sp>
      <p:sp>
        <p:nvSpPr>
          <p:cNvPr id="35" name="Shape 33"/>
          <p:cNvSpPr/>
          <p:nvPr/>
        </p:nvSpPr>
        <p:spPr>
          <a:xfrm>
            <a:off x="6748463" y="4368403"/>
            <a:ext cx="3081338" cy="9525"/>
          </a:xfrm>
          <a:prstGeom prst="rect">
            <a:avLst/>
          </a:prstGeom>
          <a:solidFill>
            <a:srgbClr val="D4CDBC"/>
          </a:solidFill>
          <a:ln/>
        </p:spPr>
        <p:txBody>
          <a:bodyPr/>
          <a:lstStyle/>
          <a:p>
            <a:endParaRPr lang="he-IL"/>
          </a:p>
        </p:txBody>
      </p:sp>
      <p:sp>
        <p:nvSpPr>
          <p:cNvPr id="36" name="Text 34"/>
          <p:cNvSpPr/>
          <p:nvPr/>
        </p:nvSpPr>
        <p:spPr>
          <a:xfrm>
            <a:off x="6748463" y="4587478"/>
            <a:ext cx="3173778" cy="4078486"/>
          </a:xfrm>
          <a:prstGeom prst="rect">
            <a:avLst/>
          </a:prstGeom>
          <a:noFill/>
          <a:ln/>
        </p:spPr>
        <p:txBody>
          <a:bodyPr wrap="square" lIns="25400" tIns="25400" rIns="25400" bIns="25400" rtlCol="0" anchor="t">
            <a:normAutofit/>
          </a:bodyPr>
          <a:lstStyle/>
          <a:p>
            <a:pPr marL="0" indent="0" algn="l">
              <a:lnSpc>
                <a:spcPct val="150000"/>
              </a:lnSpc>
              <a:buNone/>
            </a:pPr>
            <a:r>
              <a:rPr lang="en-US" sz="1400" dirty="0">
                <a:solidFill>
                  <a:srgbClr val="4A4A4A"/>
                </a:solidFill>
                <a:latin typeface="Inter" pitchFamily="34" charset="0"/>
                <a:ea typeface="Inter" pitchFamily="34" charset="-122"/>
                <a:cs typeface="Inter" pitchFamily="34" charset="-120"/>
              </a:rPr>
              <a:t>Compare on validation macro-F1 and per-class ROC-AUC. </a:t>
            </a:r>
            <a:r>
              <a:rPr lang="en-US" sz="1400" dirty="0">
                <a:solidFill>
                  <a:srgbClr val="1A1A1A"/>
                </a:solidFill>
                <a:latin typeface="Inter" pitchFamily="34" charset="0"/>
                <a:ea typeface="Inter" pitchFamily="34" charset="-122"/>
                <a:cs typeface="Inter" pitchFamily="34" charset="-120"/>
              </a:rPr>
              <a:t>XGBoost wins </a:t>
            </a:r>
            <a:r>
              <a:rPr lang="en-US" sz="1400" dirty="0">
                <a:solidFill>
                  <a:srgbClr val="4A4A4A"/>
                </a:solidFill>
                <a:latin typeface="Inter" pitchFamily="34" charset="0"/>
                <a:ea typeface="Inter" pitchFamily="34" charset="-122"/>
                <a:cs typeface="Inter" pitchFamily="34" charset="-120"/>
              </a:rPr>
              <a:t>on every class — it becomes the only model we tune from here on.</a:t>
            </a:r>
            <a:endParaRPr lang="en-US" sz="1200" dirty="0"/>
          </a:p>
        </p:txBody>
      </p:sp>
      <p:sp>
        <p:nvSpPr>
          <p:cNvPr id="37" name="Shape 35"/>
          <p:cNvSpPr/>
          <p:nvPr/>
        </p:nvSpPr>
        <p:spPr>
          <a:xfrm>
            <a:off x="6748463" y="8856464"/>
            <a:ext cx="3081338" cy="228600"/>
          </a:xfrm>
          <a:prstGeom prst="rect">
            <a:avLst/>
          </a:prstGeom>
          <a:solidFill>
            <a:srgbClr val="C25A2A"/>
          </a:solidFill>
          <a:ln w="9525">
            <a:solidFill>
              <a:srgbClr val="C25A2A"/>
            </a:solidFill>
            <a:prstDash val="solid"/>
          </a:ln>
        </p:spPr>
        <p:txBody>
          <a:bodyPr/>
          <a:lstStyle/>
          <a:p>
            <a:endParaRPr lang="he-IL"/>
          </a:p>
        </p:txBody>
      </p:sp>
      <p:sp>
        <p:nvSpPr>
          <p:cNvPr id="38" name="Text 36"/>
          <p:cNvSpPr/>
          <p:nvPr/>
        </p:nvSpPr>
        <p:spPr>
          <a:xfrm>
            <a:off x="6843713" y="8904089"/>
            <a:ext cx="2983278" cy="171450"/>
          </a:xfrm>
          <a:prstGeom prst="rect">
            <a:avLst/>
          </a:prstGeom>
          <a:noFill/>
          <a:ln/>
        </p:spPr>
        <p:txBody>
          <a:bodyPr wrap="square" lIns="25400" tIns="25400" rIns="25400" bIns="25400" rtlCol="0" anchor="ctr">
            <a:noAutofit/>
          </a:bodyPr>
          <a:lstStyle/>
          <a:p>
            <a:pPr marL="0" indent="0" algn="l">
              <a:buNone/>
            </a:pPr>
            <a:r>
              <a:rPr lang="en-US" sz="1400" kern="0" spc="105" dirty="0">
                <a:solidFill>
                  <a:srgbClr val="FFFFFF"/>
                </a:solidFill>
                <a:latin typeface="JetBrains Mono" pitchFamily="34" charset="0"/>
                <a:ea typeface="JetBrains Mono" pitchFamily="34" charset="-122"/>
                <a:cs typeface="JetBrains Mono" pitchFamily="34" charset="-120"/>
              </a:rPr>
              <a:t>★ XGBOOST SELECTED</a:t>
            </a:r>
            <a:endParaRPr lang="en-US" sz="1400" dirty="0"/>
          </a:p>
        </p:txBody>
      </p:sp>
      <p:sp>
        <p:nvSpPr>
          <p:cNvPr id="39" name="Shape 37"/>
          <p:cNvSpPr/>
          <p:nvPr/>
        </p:nvSpPr>
        <p:spPr>
          <a:xfrm>
            <a:off x="10239375" y="3515023"/>
            <a:ext cx="3557588" cy="5789116"/>
          </a:xfrm>
          <a:prstGeom prst="rect">
            <a:avLst/>
          </a:prstGeom>
          <a:solidFill>
            <a:srgbClr val="FFFFFF"/>
          </a:solidFill>
          <a:ln w="9525">
            <a:solidFill>
              <a:srgbClr val="D4CDBC"/>
            </a:solidFill>
            <a:prstDash val="solid"/>
          </a:ln>
        </p:spPr>
        <p:txBody>
          <a:bodyPr/>
          <a:lstStyle/>
          <a:p>
            <a:endParaRPr lang="he-IL"/>
          </a:p>
        </p:txBody>
      </p:sp>
      <p:sp>
        <p:nvSpPr>
          <p:cNvPr id="40" name="Text 38"/>
          <p:cNvSpPr/>
          <p:nvPr/>
        </p:nvSpPr>
        <p:spPr>
          <a:xfrm>
            <a:off x="10477500" y="3669703"/>
            <a:ext cx="3173778" cy="161925"/>
          </a:xfrm>
          <a:prstGeom prst="rect">
            <a:avLst/>
          </a:prstGeom>
          <a:noFill/>
          <a:ln/>
        </p:spPr>
        <p:txBody>
          <a:bodyPr wrap="square" lIns="25400" tIns="25400" rIns="25400" bIns="25400" rtlCol="0" anchor="t">
            <a:noAutofit/>
          </a:bodyPr>
          <a:lstStyle/>
          <a:p>
            <a:pPr marL="0" indent="0" algn="l">
              <a:buNone/>
            </a:pPr>
            <a:r>
              <a:rPr lang="en-US" sz="1400" b="1" kern="0" spc="135" dirty="0">
                <a:solidFill>
                  <a:srgbClr val="C25A2A"/>
                </a:solidFill>
                <a:latin typeface="JetBrains Mono" pitchFamily="34" charset="0"/>
                <a:ea typeface="JetBrains Mono" pitchFamily="34" charset="-122"/>
                <a:cs typeface="JetBrains Mono" pitchFamily="34" charset="-120"/>
              </a:rPr>
              <a:t>STEP · 03</a:t>
            </a:r>
            <a:endParaRPr lang="en-US" sz="1400" dirty="0"/>
          </a:p>
        </p:txBody>
      </p:sp>
      <p:sp>
        <p:nvSpPr>
          <p:cNvPr id="41" name="Text 39"/>
          <p:cNvSpPr/>
          <p:nvPr/>
        </p:nvSpPr>
        <p:spPr>
          <a:xfrm>
            <a:off x="10477500" y="3953173"/>
            <a:ext cx="3173778" cy="300930"/>
          </a:xfrm>
          <a:prstGeom prst="rect">
            <a:avLst/>
          </a:prstGeom>
          <a:noFill/>
          <a:ln/>
        </p:spPr>
        <p:txBody>
          <a:bodyPr wrap="square" lIns="25400" tIns="25400" rIns="25400" bIns="25400" rtlCol="0" anchor="t">
            <a:normAutofit fontScale="92500" lnSpcReduction="20000"/>
          </a:bodyPr>
          <a:lstStyle/>
          <a:p>
            <a:pPr marL="0" indent="0" algn="l">
              <a:lnSpc>
                <a:spcPct val="115000"/>
              </a:lnSpc>
              <a:buNone/>
            </a:pPr>
            <a:r>
              <a:rPr lang="en-US" sz="1800" kern="0" spc="-14" dirty="0">
                <a:solidFill>
                  <a:srgbClr val="1A1A1A"/>
                </a:solidFill>
                <a:latin typeface="Instrument Serif" pitchFamily="34" charset="0"/>
                <a:ea typeface="Instrument Serif" pitchFamily="34" charset="-122"/>
                <a:cs typeface="Instrument Serif" pitchFamily="34" charset="-120"/>
              </a:rPr>
              <a:t>Go deep.</a:t>
            </a:r>
            <a:endParaRPr lang="en-US" sz="1800" dirty="0"/>
          </a:p>
        </p:txBody>
      </p:sp>
      <p:sp>
        <p:nvSpPr>
          <p:cNvPr id="42" name="Shape 40"/>
          <p:cNvSpPr/>
          <p:nvPr/>
        </p:nvSpPr>
        <p:spPr>
          <a:xfrm>
            <a:off x="10477500" y="4368403"/>
            <a:ext cx="3081338" cy="9525"/>
          </a:xfrm>
          <a:prstGeom prst="rect">
            <a:avLst/>
          </a:prstGeom>
          <a:solidFill>
            <a:srgbClr val="D4CDBC"/>
          </a:solidFill>
          <a:ln/>
        </p:spPr>
        <p:txBody>
          <a:bodyPr/>
          <a:lstStyle/>
          <a:p>
            <a:endParaRPr lang="he-IL"/>
          </a:p>
        </p:txBody>
      </p:sp>
      <p:sp>
        <p:nvSpPr>
          <p:cNvPr id="43" name="Text 41"/>
          <p:cNvSpPr/>
          <p:nvPr/>
        </p:nvSpPr>
        <p:spPr>
          <a:xfrm>
            <a:off x="10477500" y="4587478"/>
            <a:ext cx="3173778" cy="4088011"/>
          </a:xfrm>
          <a:prstGeom prst="rect">
            <a:avLst/>
          </a:prstGeom>
          <a:noFill/>
          <a:ln/>
        </p:spPr>
        <p:txBody>
          <a:bodyPr wrap="square" lIns="25400" tIns="25400" rIns="25400" bIns="25400" rtlCol="0" anchor="t">
            <a:normAutofit/>
          </a:bodyPr>
          <a:lstStyle/>
          <a:p>
            <a:pPr marL="0" indent="0" algn="l">
              <a:lnSpc>
                <a:spcPct val="150000"/>
              </a:lnSpc>
              <a:buNone/>
            </a:pPr>
            <a:r>
              <a:rPr lang="en-US" sz="1400" dirty="0">
                <a:solidFill>
                  <a:srgbClr val="4A4A4A"/>
                </a:solidFill>
                <a:latin typeface="Inter" pitchFamily="34" charset="0"/>
                <a:ea typeface="Inter" pitchFamily="34" charset="-122"/>
                <a:cs typeface="Inter" pitchFamily="34" charset="-120"/>
              </a:rPr>
              <a:t>Three parallel experiments on XGBoost: </a:t>
            </a:r>
            <a:r>
              <a:rPr lang="en-US" sz="1400" dirty="0">
                <a:solidFill>
                  <a:srgbClr val="1A1A1A"/>
                </a:solidFill>
                <a:latin typeface="Inter" pitchFamily="34" charset="0"/>
                <a:ea typeface="Inter" pitchFamily="34" charset="-122"/>
                <a:cs typeface="Inter" pitchFamily="34" charset="-120"/>
              </a:rPr>
              <a:t>hyper-parameter tuning </a:t>
            </a:r>
            <a:r>
              <a:rPr lang="en-US" sz="1400" dirty="0">
                <a:solidFill>
                  <a:srgbClr val="4A4A4A"/>
                </a:solidFill>
                <a:latin typeface="Inter" pitchFamily="34" charset="0"/>
                <a:ea typeface="Inter" pitchFamily="34" charset="-122"/>
                <a:cs typeface="Inter" pitchFamily="34" charset="-120"/>
              </a:rPr>
              <a:t>(Optuna), </a:t>
            </a:r>
            <a:r>
              <a:rPr lang="en-US" sz="1400" dirty="0">
                <a:solidFill>
                  <a:srgbClr val="1A1A1A"/>
                </a:solidFill>
                <a:latin typeface="Inter" pitchFamily="34" charset="0"/>
                <a:ea typeface="Inter" pitchFamily="34" charset="-122"/>
                <a:cs typeface="Inter" pitchFamily="34" charset="-120"/>
              </a:rPr>
              <a:t>threshold sweep </a:t>
            </a:r>
            <a:r>
              <a:rPr lang="en-US" sz="1400" dirty="0">
                <a:solidFill>
                  <a:srgbClr val="4A4A4A"/>
                </a:solidFill>
                <a:latin typeface="Inter" pitchFamily="34" charset="0"/>
                <a:ea typeface="Inter" pitchFamily="34" charset="-122"/>
                <a:cs typeface="Inter" pitchFamily="34" charset="-120"/>
              </a:rPr>
              <a:t>0.10 → 0.30, and an </a:t>
            </a:r>
            <a:r>
              <a:rPr lang="en-US" sz="1400" dirty="0">
                <a:solidFill>
                  <a:srgbClr val="1A1A1A"/>
                </a:solidFill>
                <a:latin typeface="Inter" pitchFamily="34" charset="0"/>
                <a:ea typeface="Inter" pitchFamily="34" charset="-122"/>
                <a:cs typeface="Inter" pitchFamily="34" charset="-120"/>
              </a:rPr>
              <a:t>overfit check </a:t>
            </a:r>
            <a:r>
              <a:rPr lang="en-US" sz="1400" dirty="0">
                <a:solidFill>
                  <a:srgbClr val="4A4A4A"/>
                </a:solidFill>
                <a:latin typeface="Inter" pitchFamily="34" charset="0"/>
                <a:ea typeface="Inter" pitchFamily="34" charset="-122"/>
                <a:cs typeface="Inter" pitchFamily="34" charset="-120"/>
              </a:rPr>
              <a:t>on train-vs-val gaps.</a:t>
            </a:r>
            <a:endParaRPr lang="en-US" sz="1200" dirty="0"/>
          </a:p>
        </p:txBody>
      </p:sp>
      <p:sp>
        <p:nvSpPr>
          <p:cNvPr id="44" name="Shape 42"/>
          <p:cNvSpPr/>
          <p:nvPr/>
        </p:nvSpPr>
        <p:spPr>
          <a:xfrm>
            <a:off x="10477500" y="8865989"/>
            <a:ext cx="3081338" cy="219075"/>
          </a:xfrm>
          <a:prstGeom prst="rect">
            <a:avLst/>
          </a:prstGeom>
          <a:solidFill>
            <a:srgbClr val="EBE5D6"/>
          </a:solidFill>
          <a:ln w="9525">
            <a:solidFill>
              <a:srgbClr val="D4CDBC"/>
            </a:solidFill>
            <a:prstDash val="solid"/>
          </a:ln>
        </p:spPr>
        <p:txBody>
          <a:bodyPr/>
          <a:lstStyle/>
          <a:p>
            <a:endParaRPr lang="he-IL"/>
          </a:p>
        </p:txBody>
      </p:sp>
      <p:sp>
        <p:nvSpPr>
          <p:cNvPr id="45" name="Text 43"/>
          <p:cNvSpPr/>
          <p:nvPr/>
        </p:nvSpPr>
        <p:spPr>
          <a:xfrm>
            <a:off x="10559871" y="8804948"/>
            <a:ext cx="2983278" cy="301983"/>
          </a:xfrm>
          <a:prstGeom prst="rect">
            <a:avLst/>
          </a:prstGeom>
          <a:noFill/>
          <a:ln/>
        </p:spPr>
        <p:txBody>
          <a:bodyPr wrap="square" lIns="25400" tIns="25400" rIns="25400" bIns="25400" rtlCol="0" anchor="ctr">
            <a:noAutofit/>
          </a:bodyPr>
          <a:lstStyle/>
          <a:p>
            <a:pPr marL="0" indent="0" algn="l">
              <a:buNone/>
            </a:pPr>
            <a:r>
              <a:rPr lang="en-US" sz="1400" kern="0" spc="105" dirty="0">
                <a:solidFill>
                  <a:srgbClr val="1A1A1A"/>
                </a:solidFill>
                <a:latin typeface="JetBrains Mono" pitchFamily="34" charset="0"/>
                <a:ea typeface="JetBrains Mono" pitchFamily="34" charset="-122"/>
                <a:cs typeface="JetBrains Mono" pitchFamily="34" charset="-120"/>
              </a:rPr>
              <a:t>OPTUNA · THRESHOLD · OVERFIT</a:t>
            </a:r>
            <a:endParaRPr lang="en-US" sz="1400" dirty="0"/>
          </a:p>
        </p:txBody>
      </p:sp>
      <p:sp>
        <p:nvSpPr>
          <p:cNvPr id="46" name="Shape 44"/>
          <p:cNvSpPr/>
          <p:nvPr/>
        </p:nvSpPr>
        <p:spPr>
          <a:xfrm>
            <a:off x="13968413" y="3515023"/>
            <a:ext cx="3557588" cy="5789116"/>
          </a:xfrm>
          <a:prstGeom prst="rect">
            <a:avLst/>
          </a:prstGeom>
          <a:solidFill>
            <a:srgbClr val="1A1A1A"/>
          </a:solidFill>
          <a:ln w="9525">
            <a:solidFill>
              <a:srgbClr val="1A1A1A"/>
            </a:solidFill>
            <a:prstDash val="solid"/>
          </a:ln>
        </p:spPr>
        <p:txBody>
          <a:bodyPr/>
          <a:lstStyle/>
          <a:p>
            <a:endParaRPr lang="he-IL"/>
          </a:p>
        </p:txBody>
      </p:sp>
      <p:sp>
        <p:nvSpPr>
          <p:cNvPr id="47" name="Text 45"/>
          <p:cNvSpPr/>
          <p:nvPr/>
        </p:nvSpPr>
        <p:spPr>
          <a:xfrm>
            <a:off x="14206538" y="3669703"/>
            <a:ext cx="3173778" cy="161925"/>
          </a:xfrm>
          <a:prstGeom prst="rect">
            <a:avLst/>
          </a:prstGeom>
          <a:noFill/>
          <a:ln/>
        </p:spPr>
        <p:txBody>
          <a:bodyPr wrap="square" lIns="25400" tIns="25400" rIns="25400" bIns="25400" rtlCol="0" anchor="t">
            <a:noAutofit/>
          </a:bodyPr>
          <a:lstStyle/>
          <a:p>
            <a:pPr marL="0" indent="0" algn="l">
              <a:buNone/>
            </a:pPr>
            <a:r>
              <a:rPr lang="en-US" sz="1400" b="1" kern="0" spc="135" dirty="0">
                <a:solidFill>
                  <a:srgbClr val="C25A2A"/>
                </a:solidFill>
                <a:latin typeface="JetBrains Mono" pitchFamily="34" charset="0"/>
                <a:ea typeface="JetBrains Mono" pitchFamily="34" charset="-122"/>
                <a:cs typeface="JetBrains Mono" pitchFamily="34" charset="-120"/>
              </a:rPr>
              <a:t>STEP · 04</a:t>
            </a:r>
            <a:endParaRPr lang="en-US" sz="1400" dirty="0"/>
          </a:p>
        </p:txBody>
      </p:sp>
      <p:sp>
        <p:nvSpPr>
          <p:cNvPr id="48" name="Text 46"/>
          <p:cNvSpPr/>
          <p:nvPr/>
        </p:nvSpPr>
        <p:spPr>
          <a:xfrm>
            <a:off x="14206538" y="3953173"/>
            <a:ext cx="3173778" cy="300930"/>
          </a:xfrm>
          <a:prstGeom prst="rect">
            <a:avLst/>
          </a:prstGeom>
          <a:noFill/>
          <a:ln/>
        </p:spPr>
        <p:txBody>
          <a:bodyPr wrap="square" lIns="25400" tIns="25400" rIns="25400" bIns="25400" rtlCol="0" anchor="t">
            <a:normAutofit fontScale="92500" lnSpcReduction="20000"/>
          </a:bodyPr>
          <a:lstStyle/>
          <a:p>
            <a:pPr marL="0" indent="0" algn="l">
              <a:lnSpc>
                <a:spcPct val="115000"/>
              </a:lnSpc>
              <a:buNone/>
            </a:pPr>
            <a:r>
              <a:rPr lang="en-US" sz="1800" i="1" kern="0" spc="-14" dirty="0">
                <a:solidFill>
                  <a:srgbClr val="C25A2A"/>
                </a:solidFill>
                <a:latin typeface="Instrument Serif" pitchFamily="34" charset="0"/>
                <a:ea typeface="Instrument Serif" pitchFamily="34" charset="-122"/>
                <a:cs typeface="Instrument Serif" pitchFamily="34" charset="-120"/>
              </a:rPr>
              <a:t>Lock &amp; compare.</a:t>
            </a:r>
            <a:endParaRPr lang="en-US" sz="1800" dirty="0"/>
          </a:p>
        </p:txBody>
      </p:sp>
      <p:sp>
        <p:nvSpPr>
          <p:cNvPr id="49" name="Shape 47"/>
          <p:cNvSpPr/>
          <p:nvPr/>
        </p:nvSpPr>
        <p:spPr>
          <a:xfrm>
            <a:off x="14206538" y="4368403"/>
            <a:ext cx="3081338" cy="9525"/>
          </a:xfrm>
          <a:prstGeom prst="rect">
            <a:avLst/>
          </a:prstGeom>
          <a:solidFill>
            <a:srgbClr val="FFFFFF">
              <a:alpha val="18000"/>
            </a:srgbClr>
          </a:solidFill>
          <a:ln/>
        </p:spPr>
        <p:txBody>
          <a:bodyPr/>
          <a:lstStyle/>
          <a:p>
            <a:endParaRPr lang="he-IL"/>
          </a:p>
        </p:txBody>
      </p:sp>
      <p:sp>
        <p:nvSpPr>
          <p:cNvPr id="50" name="Text 48"/>
          <p:cNvSpPr/>
          <p:nvPr/>
        </p:nvSpPr>
        <p:spPr>
          <a:xfrm>
            <a:off x="14206538" y="4587478"/>
            <a:ext cx="3173778" cy="4088011"/>
          </a:xfrm>
          <a:prstGeom prst="rect">
            <a:avLst/>
          </a:prstGeom>
          <a:noFill/>
          <a:ln/>
        </p:spPr>
        <p:txBody>
          <a:bodyPr wrap="square" lIns="25400" tIns="25400" rIns="25400" bIns="25400" rtlCol="0" anchor="t">
            <a:normAutofit/>
          </a:bodyPr>
          <a:lstStyle/>
          <a:p>
            <a:pPr marL="0" indent="0" algn="l">
              <a:lnSpc>
                <a:spcPct val="150000"/>
              </a:lnSpc>
              <a:buNone/>
            </a:pPr>
            <a:r>
              <a:rPr lang="en-US" sz="1400" dirty="0">
                <a:solidFill>
                  <a:srgbClr val="FFFFFF">
                    <a:alpha val="78000"/>
                  </a:srgbClr>
                </a:solidFill>
                <a:latin typeface="Inter" pitchFamily="34" charset="0"/>
                <a:ea typeface="Inter" pitchFamily="34" charset="-122"/>
                <a:cs typeface="Inter" pitchFamily="34" charset="-120"/>
              </a:rPr>
              <a:t>Freeze the best configuration — XGBoost + class weights + </a:t>
            </a:r>
            <a:r>
              <a:rPr lang="en-US" sz="1400" dirty="0">
                <a:solidFill>
                  <a:srgbClr val="F5F1E8"/>
                </a:solidFill>
                <a:latin typeface="Inter" pitchFamily="34" charset="0"/>
                <a:ea typeface="Inter" pitchFamily="34" charset="-122"/>
                <a:cs typeface="Inter" pitchFamily="34" charset="-120"/>
              </a:rPr>
              <a:t>threshold = 0.20 </a:t>
            </a:r>
            <a:r>
              <a:rPr lang="en-US" sz="1400" dirty="0">
                <a:solidFill>
                  <a:srgbClr val="FFFFFF">
                    <a:alpha val="78000"/>
                  </a:srgbClr>
                </a:solidFill>
                <a:latin typeface="Inter" pitchFamily="34" charset="0"/>
                <a:ea typeface="Inter" pitchFamily="34" charset="-122"/>
                <a:cs typeface="Inter" pitchFamily="34" charset="-120"/>
              </a:rPr>
              <a:t>— and benchmark it head-to-head against the </a:t>
            </a:r>
            <a:r>
              <a:rPr lang="en-US" sz="1400" dirty="0">
                <a:solidFill>
                  <a:srgbClr val="F5F1E8"/>
                </a:solidFill>
                <a:latin typeface="Inter" pitchFamily="34" charset="0"/>
                <a:ea typeface="Inter" pitchFamily="34" charset="-122"/>
                <a:cs typeface="Inter" pitchFamily="34" charset="-120"/>
              </a:rPr>
              <a:t>LogReg baseline </a:t>
            </a:r>
            <a:r>
              <a:rPr lang="en-US" sz="1400" dirty="0">
                <a:solidFill>
                  <a:srgbClr val="FFFFFF">
                    <a:alpha val="78000"/>
                  </a:srgbClr>
                </a:solidFill>
                <a:latin typeface="Inter" pitchFamily="34" charset="0"/>
                <a:ea typeface="Inter" pitchFamily="34" charset="-122"/>
                <a:cs typeface="Inter" pitchFamily="34" charset="-120"/>
              </a:rPr>
              <a:t>on the held-out test set.</a:t>
            </a:r>
            <a:endParaRPr lang="en-US" sz="1200" dirty="0"/>
          </a:p>
        </p:txBody>
      </p:sp>
      <p:sp>
        <p:nvSpPr>
          <p:cNvPr id="51" name="Shape 49"/>
          <p:cNvSpPr/>
          <p:nvPr/>
        </p:nvSpPr>
        <p:spPr>
          <a:xfrm>
            <a:off x="14206538" y="8865989"/>
            <a:ext cx="3081338" cy="219075"/>
          </a:xfrm>
          <a:prstGeom prst="rect">
            <a:avLst/>
          </a:prstGeom>
          <a:solidFill>
            <a:srgbClr val="C25A2A"/>
          </a:solidFill>
          <a:ln w="9525">
            <a:solidFill>
              <a:srgbClr val="C25A2A"/>
            </a:solidFill>
            <a:prstDash val="solid"/>
          </a:ln>
        </p:spPr>
        <p:txBody>
          <a:bodyPr/>
          <a:lstStyle/>
          <a:p>
            <a:endParaRPr lang="he-IL"/>
          </a:p>
        </p:txBody>
      </p:sp>
      <p:sp>
        <p:nvSpPr>
          <p:cNvPr id="52" name="Text 50"/>
          <p:cNvSpPr/>
          <p:nvPr/>
        </p:nvSpPr>
        <p:spPr>
          <a:xfrm>
            <a:off x="14301788" y="8913614"/>
            <a:ext cx="2983278" cy="161925"/>
          </a:xfrm>
          <a:prstGeom prst="rect">
            <a:avLst/>
          </a:prstGeom>
          <a:noFill/>
          <a:ln/>
        </p:spPr>
        <p:txBody>
          <a:bodyPr wrap="square" lIns="25400" tIns="25400" rIns="25400" bIns="25400" rtlCol="0" anchor="ctr">
            <a:noAutofit/>
          </a:bodyPr>
          <a:lstStyle/>
          <a:p>
            <a:pPr marL="0" indent="0" algn="l">
              <a:buNone/>
            </a:pPr>
            <a:r>
              <a:rPr lang="en-US" sz="1400" kern="0" spc="105" dirty="0">
                <a:solidFill>
                  <a:srgbClr val="FFFFFF"/>
                </a:solidFill>
                <a:latin typeface="JetBrains Mono" pitchFamily="34" charset="0"/>
                <a:ea typeface="JetBrains Mono" pitchFamily="34" charset="-122"/>
                <a:cs typeface="JetBrains Mono" pitchFamily="34" charset="-120"/>
              </a:rPr>
              <a:t>F1 · 0.55 → 0.68</a:t>
            </a:r>
            <a:endParaRPr lang="en-US" sz="1400" dirty="0"/>
          </a:p>
        </p:txBody>
      </p:sp>
      <p:sp>
        <p:nvSpPr>
          <p:cNvPr id="53" name="Text 51"/>
          <p:cNvSpPr/>
          <p:nvPr/>
        </p:nvSpPr>
        <p:spPr>
          <a:xfrm>
            <a:off x="2819937" y="9532739"/>
            <a:ext cx="10791825" cy="258961"/>
          </a:xfrm>
          <a:prstGeom prst="rect">
            <a:avLst/>
          </a:prstGeom>
          <a:noFill/>
          <a:ln/>
        </p:spPr>
        <p:txBody>
          <a:bodyPr wrap="square" lIns="25400" tIns="25400" rIns="25400" bIns="25400" rtlCol="0" anchor="t">
            <a:noAutofit/>
          </a:bodyPr>
          <a:lstStyle/>
          <a:p>
            <a:pPr marL="0" indent="0" algn="l">
              <a:lnSpc>
                <a:spcPct val="145000"/>
              </a:lnSpc>
              <a:buNone/>
            </a:pPr>
            <a:r>
              <a:rPr lang="en-US" sz="1400" dirty="0">
                <a:solidFill>
                  <a:srgbClr val="4A4A4A"/>
                </a:solidFill>
                <a:latin typeface="Inter" pitchFamily="34" charset="0"/>
                <a:ea typeface="Inter" pitchFamily="34" charset="-122"/>
                <a:cs typeface="Inter" pitchFamily="34" charset="-120"/>
              </a:rPr>
              <a:t>The next four slides walk through the funnel: ROC comparison, XGBoost tuning details, final test results, and baseline vs. tuned.</a:t>
            </a:r>
            <a:endParaRPr lang="en-US" sz="1400" dirty="0"/>
          </a:p>
        </p:txBody>
      </p:sp>
      <p:sp>
        <p:nvSpPr>
          <p:cNvPr id="54" name="Text 16">
            <a:extLst>
              <a:ext uri="{FF2B5EF4-FFF2-40B4-BE49-F238E27FC236}">
                <a16:creationId xmlns:a16="http://schemas.microsoft.com/office/drawing/2014/main" id="{965C72EC-DC3C-FF5F-060B-8495BB59093A}"/>
              </a:ext>
            </a:extLst>
          </p:cNvPr>
          <p:cNvSpPr/>
          <p:nvPr/>
        </p:nvSpPr>
        <p:spPr>
          <a:xfrm>
            <a:off x="266700" y="9410700"/>
            <a:ext cx="1628775" cy="342900"/>
          </a:xfrm>
          <a:prstGeom prst="rect">
            <a:avLst/>
          </a:prstGeom>
          <a:noFill/>
          <a:ln/>
        </p:spPr>
        <p:txBody>
          <a:bodyPr wrap="square" lIns="25400" tIns="25400" rIns="25400" bIns="25400" rtlCol="0" anchor="t">
            <a:noAutofit/>
          </a:bodyPr>
          <a:lstStyle/>
          <a:p>
            <a:pPr>
              <a:lnSpc>
                <a:spcPct val="160000"/>
              </a:lnSpc>
            </a:pPr>
            <a:r>
              <a:rPr lang="en-US" sz="1400" b="1" kern="0" spc="105" dirty="0">
                <a:solidFill>
                  <a:srgbClr val="1A1A1A"/>
                </a:solidFill>
                <a:latin typeface="JetBrains Mono" pitchFamily="34" charset="0"/>
                <a:ea typeface="JetBrains Mono" pitchFamily="34" charset="-122"/>
                <a:cs typeface="JetBrains Mono" pitchFamily="34" charset="-120"/>
              </a:rPr>
              <a:t>26 / 34</a:t>
            </a:r>
            <a:endParaRPr lang="en-US" sz="1400" dirty="0"/>
          </a:p>
        </p:txBody>
      </p:sp>
      <p:sp>
        <p:nvSpPr>
          <p:cNvPr id="55" name="Text 4">
            <a:extLst>
              <a:ext uri="{FF2B5EF4-FFF2-40B4-BE49-F238E27FC236}">
                <a16:creationId xmlns:a16="http://schemas.microsoft.com/office/drawing/2014/main" id="{1FF1E0D1-0741-D525-B5DC-64DA194105C7}"/>
              </a:ext>
            </a:extLst>
          </p:cNvPr>
          <p:cNvSpPr/>
          <p:nvPr/>
        </p:nvSpPr>
        <p:spPr>
          <a:xfrm>
            <a:off x="228063" y="1524367"/>
            <a:ext cx="372012" cy="200025"/>
          </a:xfrm>
          <a:prstGeom prst="rect">
            <a:avLst/>
          </a:prstGeom>
          <a:noFill/>
          <a:ln/>
        </p:spPr>
        <p:txBody>
          <a:bodyPr wrap="square" lIns="25400" tIns="25400" rIns="25400" bIns="25400" rtlCol="0" anchor="t">
            <a:noAutofit/>
          </a:bodyPr>
          <a:lstStyle/>
          <a:p>
            <a:pPr marL="0" indent="0" algn="l">
              <a:lnSpc>
                <a:spcPct val="130000"/>
              </a:lnSpc>
              <a:buNone/>
            </a:pPr>
            <a:r>
              <a:rPr lang="en-US" sz="1400" kern="0" spc="21" dirty="0">
                <a:solidFill>
                  <a:srgbClr val="888080"/>
                </a:solidFill>
                <a:latin typeface="Inter" pitchFamily="34" charset="0"/>
                <a:ea typeface="Inter" pitchFamily="34" charset="-122"/>
              </a:rPr>
              <a:t>01</a:t>
            </a:r>
          </a:p>
        </p:txBody>
      </p:sp>
      <p:sp>
        <p:nvSpPr>
          <p:cNvPr id="56" name="Text 5">
            <a:extLst>
              <a:ext uri="{FF2B5EF4-FFF2-40B4-BE49-F238E27FC236}">
                <a16:creationId xmlns:a16="http://schemas.microsoft.com/office/drawing/2014/main" id="{9BB7B7DA-BDD4-5F7A-28C7-90BAD462B885}"/>
              </a:ext>
            </a:extLst>
          </p:cNvPr>
          <p:cNvSpPr/>
          <p:nvPr/>
        </p:nvSpPr>
        <p:spPr>
          <a:xfrm>
            <a:off x="523875" y="1522975"/>
            <a:ext cx="876300" cy="476251"/>
          </a:xfrm>
          <a:prstGeom prst="rect">
            <a:avLst/>
          </a:prstGeom>
          <a:noFill/>
          <a:ln/>
        </p:spPr>
        <p:txBody>
          <a:bodyPr wrap="square" lIns="25400" tIns="25400" rIns="25400" bIns="25400" rtlCol="0" anchor="t">
            <a:normAutofit/>
          </a:bodyPr>
          <a:lstStyle/>
          <a:p>
            <a:pPr marL="0" indent="0" algn="l">
              <a:lnSpc>
                <a:spcPct val="130000"/>
              </a:lnSpc>
              <a:buNone/>
            </a:pPr>
            <a:r>
              <a:rPr lang="en-US" sz="1400" kern="0" spc="21" dirty="0">
                <a:solidFill>
                  <a:srgbClr val="888080"/>
                </a:solidFill>
                <a:latin typeface="Inter" pitchFamily="34" charset="0"/>
                <a:ea typeface="Inter" pitchFamily="34" charset="-122"/>
              </a:rPr>
              <a:t>Agenda</a:t>
            </a:r>
          </a:p>
        </p:txBody>
      </p:sp>
      <p:sp>
        <p:nvSpPr>
          <p:cNvPr id="57" name="Text 6">
            <a:extLst>
              <a:ext uri="{FF2B5EF4-FFF2-40B4-BE49-F238E27FC236}">
                <a16:creationId xmlns:a16="http://schemas.microsoft.com/office/drawing/2014/main" id="{0D00B792-EC30-A376-CE42-022FD74A3FF2}"/>
              </a:ext>
            </a:extLst>
          </p:cNvPr>
          <p:cNvSpPr/>
          <p:nvPr/>
        </p:nvSpPr>
        <p:spPr>
          <a:xfrm>
            <a:off x="228063" y="1830953"/>
            <a:ext cx="372010" cy="194877"/>
          </a:xfrm>
          <a:prstGeom prst="rect">
            <a:avLst/>
          </a:prstGeom>
          <a:noFill/>
          <a:ln/>
        </p:spPr>
        <p:txBody>
          <a:bodyPr wrap="square" lIns="25400" tIns="25400" rIns="25400" bIns="25400" rtlCol="0" anchor="t">
            <a:noAutofit/>
          </a:bodyPr>
          <a:lstStyle/>
          <a:p>
            <a:pPr marL="0" indent="0" algn="l">
              <a:lnSpc>
                <a:spcPct val="130000"/>
              </a:lnSpc>
              <a:buNone/>
            </a:pPr>
            <a:r>
              <a:rPr lang="en-US" sz="1400" kern="0" spc="21" dirty="0">
                <a:solidFill>
                  <a:srgbClr val="888080"/>
                </a:solidFill>
                <a:latin typeface="Inter" pitchFamily="34" charset="0"/>
                <a:ea typeface="Inter" pitchFamily="34" charset="-122"/>
              </a:rPr>
              <a:t>02</a:t>
            </a:r>
          </a:p>
        </p:txBody>
      </p:sp>
      <p:sp>
        <p:nvSpPr>
          <p:cNvPr id="58" name="Text 8">
            <a:extLst>
              <a:ext uri="{FF2B5EF4-FFF2-40B4-BE49-F238E27FC236}">
                <a16:creationId xmlns:a16="http://schemas.microsoft.com/office/drawing/2014/main" id="{8B1F42F4-2363-9512-5157-E57004BA849C}"/>
              </a:ext>
            </a:extLst>
          </p:cNvPr>
          <p:cNvSpPr/>
          <p:nvPr/>
        </p:nvSpPr>
        <p:spPr>
          <a:xfrm>
            <a:off x="230504" y="2152895"/>
            <a:ext cx="302895" cy="141422"/>
          </a:xfrm>
          <a:prstGeom prst="rect">
            <a:avLst/>
          </a:prstGeom>
          <a:noFill/>
          <a:ln/>
        </p:spPr>
        <p:txBody>
          <a:bodyPr wrap="square" lIns="25400" tIns="25400" rIns="25400" bIns="25400" rtlCol="0" anchor="t">
            <a:noAutofit/>
          </a:bodyPr>
          <a:lstStyle/>
          <a:p>
            <a:pPr marL="0" indent="0" algn="l">
              <a:lnSpc>
                <a:spcPct val="130000"/>
              </a:lnSpc>
              <a:buNone/>
            </a:pPr>
            <a:r>
              <a:rPr lang="en-US" sz="1400" kern="0" spc="21" dirty="0">
                <a:solidFill>
                  <a:srgbClr val="888080"/>
                </a:solidFill>
                <a:latin typeface="Inter" pitchFamily="34" charset="0"/>
                <a:ea typeface="Inter" pitchFamily="34" charset="-122"/>
              </a:rPr>
              <a:t>03</a:t>
            </a:r>
          </a:p>
        </p:txBody>
      </p:sp>
      <p:sp>
        <p:nvSpPr>
          <p:cNvPr id="59" name="Text 9">
            <a:extLst>
              <a:ext uri="{FF2B5EF4-FFF2-40B4-BE49-F238E27FC236}">
                <a16:creationId xmlns:a16="http://schemas.microsoft.com/office/drawing/2014/main" id="{8BEF94E7-E26E-6D68-CD6F-EE1AAEEF0597}"/>
              </a:ext>
            </a:extLst>
          </p:cNvPr>
          <p:cNvSpPr/>
          <p:nvPr/>
        </p:nvSpPr>
        <p:spPr>
          <a:xfrm>
            <a:off x="531240" y="2145027"/>
            <a:ext cx="1185416" cy="342476"/>
          </a:xfrm>
          <a:prstGeom prst="rect">
            <a:avLst/>
          </a:prstGeom>
          <a:noFill/>
          <a:ln/>
        </p:spPr>
        <p:txBody>
          <a:bodyPr wrap="square" lIns="25400" tIns="25400" rIns="25400" bIns="25400" rtlCol="0" anchor="t">
            <a:normAutofit/>
          </a:bodyPr>
          <a:lstStyle/>
          <a:p>
            <a:pPr marL="0" indent="0" algn="l">
              <a:lnSpc>
                <a:spcPct val="130000"/>
              </a:lnSpc>
              <a:buNone/>
            </a:pPr>
            <a:r>
              <a:rPr lang="en-US" sz="1400" kern="0" spc="21" dirty="0">
                <a:solidFill>
                  <a:srgbClr val="888080"/>
                </a:solidFill>
                <a:latin typeface="Inter" pitchFamily="34" charset="0"/>
                <a:ea typeface="Inter" pitchFamily="34" charset="-122"/>
              </a:rPr>
              <a:t>EDA</a:t>
            </a:r>
          </a:p>
        </p:txBody>
      </p:sp>
      <p:sp>
        <p:nvSpPr>
          <p:cNvPr id="60" name="Text 10">
            <a:extLst>
              <a:ext uri="{FF2B5EF4-FFF2-40B4-BE49-F238E27FC236}">
                <a16:creationId xmlns:a16="http://schemas.microsoft.com/office/drawing/2014/main" id="{1EAFED50-378B-76AF-F07A-98470C7181F1}"/>
              </a:ext>
            </a:extLst>
          </p:cNvPr>
          <p:cNvSpPr/>
          <p:nvPr/>
        </p:nvSpPr>
        <p:spPr>
          <a:xfrm>
            <a:off x="228062" y="2444125"/>
            <a:ext cx="305337" cy="172132"/>
          </a:xfrm>
          <a:prstGeom prst="rect">
            <a:avLst/>
          </a:prstGeom>
          <a:noFill/>
          <a:ln/>
        </p:spPr>
        <p:txBody>
          <a:bodyPr wrap="square" lIns="25400" tIns="25400" rIns="25400" bIns="25400" rtlCol="0" anchor="t">
            <a:noAutofit/>
          </a:bodyPr>
          <a:lstStyle/>
          <a:p>
            <a:pPr marL="0" indent="0" algn="l">
              <a:lnSpc>
                <a:spcPct val="130000"/>
              </a:lnSpc>
              <a:buNone/>
            </a:pPr>
            <a:r>
              <a:rPr lang="en-US" sz="1400" kern="0" spc="21" dirty="0">
                <a:solidFill>
                  <a:srgbClr val="888080"/>
                </a:solidFill>
                <a:latin typeface="Inter" pitchFamily="34" charset="0"/>
                <a:ea typeface="Inter" pitchFamily="34" charset="-122"/>
              </a:rPr>
              <a:t>04</a:t>
            </a:r>
          </a:p>
        </p:txBody>
      </p:sp>
      <p:sp>
        <p:nvSpPr>
          <p:cNvPr id="61" name="Text 12">
            <a:extLst>
              <a:ext uri="{FF2B5EF4-FFF2-40B4-BE49-F238E27FC236}">
                <a16:creationId xmlns:a16="http://schemas.microsoft.com/office/drawing/2014/main" id="{0B722ABE-37A2-A968-9681-08B3C9950831}"/>
              </a:ext>
            </a:extLst>
          </p:cNvPr>
          <p:cNvSpPr/>
          <p:nvPr/>
        </p:nvSpPr>
        <p:spPr>
          <a:xfrm>
            <a:off x="228062" y="2750711"/>
            <a:ext cx="372011" cy="158880"/>
          </a:xfrm>
          <a:prstGeom prst="rect">
            <a:avLst/>
          </a:prstGeom>
          <a:noFill/>
          <a:ln/>
        </p:spPr>
        <p:txBody>
          <a:bodyPr wrap="square" lIns="25400" tIns="25400" rIns="25400" bIns="25400" rtlCol="0" anchor="t">
            <a:noAutofit/>
          </a:bodyPr>
          <a:lstStyle/>
          <a:p>
            <a:pPr marL="0" indent="0" algn="l">
              <a:lnSpc>
                <a:spcPct val="130000"/>
              </a:lnSpc>
              <a:buNone/>
            </a:pPr>
            <a:r>
              <a:rPr lang="en-US" sz="1400" b="1" kern="0" spc="21" dirty="0">
                <a:solidFill>
                  <a:srgbClr val="C25A2A"/>
                </a:solidFill>
                <a:latin typeface="JetBrains Mono" pitchFamily="34" charset="0"/>
                <a:ea typeface="JetBrains Mono" pitchFamily="34" charset="-122"/>
              </a:rPr>
              <a:t>05</a:t>
            </a:r>
          </a:p>
        </p:txBody>
      </p:sp>
      <p:sp>
        <p:nvSpPr>
          <p:cNvPr id="62" name="Text 13">
            <a:extLst>
              <a:ext uri="{FF2B5EF4-FFF2-40B4-BE49-F238E27FC236}">
                <a16:creationId xmlns:a16="http://schemas.microsoft.com/office/drawing/2014/main" id="{C7708269-0516-17D3-87D0-60954D419AF1}"/>
              </a:ext>
            </a:extLst>
          </p:cNvPr>
          <p:cNvSpPr/>
          <p:nvPr/>
        </p:nvSpPr>
        <p:spPr>
          <a:xfrm>
            <a:off x="533399" y="2725489"/>
            <a:ext cx="948333" cy="761256"/>
          </a:xfrm>
          <a:prstGeom prst="rect">
            <a:avLst/>
          </a:prstGeom>
          <a:noFill/>
          <a:ln/>
        </p:spPr>
        <p:txBody>
          <a:bodyPr wrap="square" lIns="25400" tIns="25400" rIns="25400" bIns="25400" rtlCol="0" anchor="t">
            <a:normAutofit/>
          </a:bodyPr>
          <a:lstStyle/>
          <a:p>
            <a:pPr marL="0" indent="0" algn="l">
              <a:lnSpc>
                <a:spcPct val="130000"/>
              </a:lnSpc>
              <a:buNone/>
            </a:pPr>
            <a:r>
              <a:rPr lang="en-US" sz="1400" kern="0" spc="21" dirty="0">
                <a:solidFill>
                  <a:srgbClr val="1A1A1A"/>
                </a:solidFill>
                <a:latin typeface="Inter" pitchFamily="34" charset="0"/>
                <a:ea typeface="Inter" pitchFamily="34" charset="-122"/>
              </a:rPr>
              <a:t>Modeling</a:t>
            </a:r>
          </a:p>
        </p:txBody>
      </p:sp>
      <p:sp>
        <p:nvSpPr>
          <p:cNvPr id="63" name="Text 14">
            <a:extLst>
              <a:ext uri="{FF2B5EF4-FFF2-40B4-BE49-F238E27FC236}">
                <a16:creationId xmlns:a16="http://schemas.microsoft.com/office/drawing/2014/main" id="{A6476939-7F1E-BB1C-D83D-280E2A933B83}"/>
              </a:ext>
            </a:extLst>
          </p:cNvPr>
          <p:cNvSpPr/>
          <p:nvPr/>
        </p:nvSpPr>
        <p:spPr>
          <a:xfrm>
            <a:off x="235683" y="3042056"/>
            <a:ext cx="372010" cy="191463"/>
          </a:xfrm>
          <a:prstGeom prst="rect">
            <a:avLst/>
          </a:prstGeom>
          <a:noFill/>
          <a:ln/>
        </p:spPr>
        <p:txBody>
          <a:bodyPr wrap="square" lIns="25400" tIns="25400" rIns="25400" bIns="25400" rtlCol="0" anchor="t">
            <a:noAutofit/>
          </a:bodyPr>
          <a:lstStyle/>
          <a:p>
            <a:pPr marL="0" indent="0" algn="l">
              <a:lnSpc>
                <a:spcPct val="130000"/>
              </a:lnSpc>
              <a:buNone/>
            </a:pPr>
            <a:r>
              <a:rPr lang="en-US" sz="1400" kern="0" spc="21" dirty="0">
                <a:solidFill>
                  <a:srgbClr val="888080"/>
                </a:solidFill>
                <a:latin typeface="JetBrains Mono" pitchFamily="34" charset="0"/>
                <a:ea typeface="JetBrains Mono" pitchFamily="34" charset="-122"/>
                <a:cs typeface="JetBrains Mono" pitchFamily="34" charset="-120"/>
              </a:rPr>
              <a:t>06</a:t>
            </a:r>
            <a:endParaRPr lang="en-US" sz="1400" dirty="0"/>
          </a:p>
        </p:txBody>
      </p:sp>
      <p:sp>
        <p:nvSpPr>
          <p:cNvPr id="64" name="Text 15">
            <a:extLst>
              <a:ext uri="{FF2B5EF4-FFF2-40B4-BE49-F238E27FC236}">
                <a16:creationId xmlns:a16="http://schemas.microsoft.com/office/drawing/2014/main" id="{A3A71431-8A90-BA81-DB69-13E66FAD5D6C}"/>
              </a:ext>
            </a:extLst>
          </p:cNvPr>
          <p:cNvSpPr/>
          <p:nvPr/>
        </p:nvSpPr>
        <p:spPr>
          <a:xfrm>
            <a:off x="533400" y="3032075"/>
            <a:ext cx="1185416" cy="626120"/>
          </a:xfrm>
          <a:prstGeom prst="rect">
            <a:avLst/>
          </a:prstGeom>
          <a:noFill/>
          <a:ln/>
        </p:spPr>
        <p:txBody>
          <a:bodyPr wrap="square" lIns="25400" tIns="25400" rIns="25400" bIns="25400" rtlCol="0" anchor="t">
            <a:normAutofit/>
          </a:bodyPr>
          <a:lstStyle/>
          <a:p>
            <a:pPr marL="0" indent="0" algn="l">
              <a:lnSpc>
                <a:spcPct val="130000"/>
              </a:lnSpc>
              <a:buNone/>
            </a:pPr>
            <a:r>
              <a:rPr lang="en-US" sz="1400" kern="0" spc="21" dirty="0">
                <a:solidFill>
                  <a:srgbClr val="888080"/>
                </a:solidFill>
                <a:latin typeface="Inter" pitchFamily="34" charset="0"/>
                <a:ea typeface="Inter" pitchFamily="34" charset="-122"/>
                <a:cs typeface="Inter" pitchFamily="34" charset="-120"/>
              </a:rPr>
              <a:t>Conclusions</a:t>
            </a:r>
            <a:endParaRPr lang="en-US" sz="1400" dirty="0"/>
          </a:p>
        </p:txBody>
      </p:sp>
      <p:sp>
        <p:nvSpPr>
          <p:cNvPr id="65" name="Text 9">
            <a:extLst>
              <a:ext uri="{FF2B5EF4-FFF2-40B4-BE49-F238E27FC236}">
                <a16:creationId xmlns:a16="http://schemas.microsoft.com/office/drawing/2014/main" id="{C08B6DED-4069-7904-180D-912EFB21C648}"/>
              </a:ext>
            </a:extLst>
          </p:cNvPr>
          <p:cNvSpPr/>
          <p:nvPr/>
        </p:nvSpPr>
        <p:spPr>
          <a:xfrm>
            <a:off x="538609" y="2426180"/>
            <a:ext cx="1185416" cy="342476"/>
          </a:xfrm>
          <a:prstGeom prst="rect">
            <a:avLst/>
          </a:prstGeom>
          <a:noFill/>
          <a:ln/>
        </p:spPr>
        <p:txBody>
          <a:bodyPr wrap="square" lIns="25400" tIns="25400" rIns="25400" bIns="25400" rtlCol="0" anchor="t">
            <a:normAutofit/>
          </a:bodyPr>
          <a:lstStyle/>
          <a:p>
            <a:pPr marL="0" indent="0" algn="l">
              <a:lnSpc>
                <a:spcPct val="130000"/>
              </a:lnSpc>
              <a:buNone/>
            </a:pPr>
            <a:r>
              <a:rPr lang="en-US" sz="1400" kern="0" spc="21" dirty="0">
                <a:solidFill>
                  <a:srgbClr val="888080"/>
                </a:solidFill>
                <a:latin typeface="Inter" pitchFamily="34" charset="0"/>
                <a:ea typeface="Inter" pitchFamily="34" charset="-122"/>
              </a:rPr>
              <a:t>Pipeline</a:t>
            </a:r>
          </a:p>
        </p:txBody>
      </p:sp>
      <p:sp>
        <p:nvSpPr>
          <p:cNvPr id="66" name="Text 7">
            <a:extLst>
              <a:ext uri="{FF2B5EF4-FFF2-40B4-BE49-F238E27FC236}">
                <a16:creationId xmlns:a16="http://schemas.microsoft.com/office/drawing/2014/main" id="{A1903C7E-5F4B-6F3A-A7A2-7BA2AE4BCC08}"/>
              </a:ext>
            </a:extLst>
          </p:cNvPr>
          <p:cNvSpPr/>
          <p:nvPr/>
        </p:nvSpPr>
        <p:spPr>
          <a:xfrm>
            <a:off x="523875" y="1826620"/>
            <a:ext cx="1325700" cy="467696"/>
          </a:xfrm>
          <a:prstGeom prst="rect">
            <a:avLst/>
          </a:prstGeom>
          <a:noFill/>
          <a:ln/>
        </p:spPr>
        <p:txBody>
          <a:bodyPr wrap="square" lIns="25400" tIns="25400" rIns="25400" bIns="25400" rtlCol="0" anchor="t">
            <a:noAutofit/>
          </a:bodyPr>
          <a:lstStyle/>
          <a:p>
            <a:pPr marL="0" indent="0" algn="l">
              <a:lnSpc>
                <a:spcPct val="130000"/>
              </a:lnSpc>
              <a:buNone/>
            </a:pPr>
            <a:r>
              <a:rPr lang="en-US" sz="1400" kern="0" spc="21" dirty="0">
                <a:solidFill>
                  <a:srgbClr val="888080"/>
                </a:solidFill>
                <a:latin typeface="Inter" pitchFamily="34" charset="0"/>
                <a:ea typeface="Inter" pitchFamily="34" charset="-122"/>
              </a:rPr>
              <a:t>Data &amp; target</a:t>
            </a:r>
          </a:p>
        </p:txBody>
      </p:sp>
      <p:sp>
        <p:nvSpPr>
          <p:cNvPr id="67" name="Text 1">
            <a:extLst>
              <a:ext uri="{FF2B5EF4-FFF2-40B4-BE49-F238E27FC236}">
                <a16:creationId xmlns:a16="http://schemas.microsoft.com/office/drawing/2014/main" id="{9BB8E74D-8484-DD9B-D23A-F6508FD61A66}"/>
              </a:ext>
            </a:extLst>
          </p:cNvPr>
          <p:cNvSpPr/>
          <p:nvPr/>
        </p:nvSpPr>
        <p:spPr>
          <a:xfrm>
            <a:off x="261138" y="379598"/>
            <a:ext cx="1778457" cy="447678"/>
          </a:xfrm>
          <a:prstGeom prst="rect">
            <a:avLst/>
          </a:prstGeom>
          <a:noFill/>
          <a:ln/>
        </p:spPr>
        <p:txBody>
          <a:bodyPr wrap="square" lIns="25400" tIns="25400" rIns="25400" bIns="25400" rtlCol="0" anchor="t">
            <a:noAutofit/>
          </a:bodyPr>
          <a:lstStyle/>
          <a:p>
            <a:pPr marL="0" indent="0">
              <a:buNone/>
            </a:pPr>
            <a:r>
              <a:rPr lang="en-US" sz="1400" kern="0" spc="116" dirty="0">
                <a:solidFill>
                  <a:srgbClr val="888080"/>
                </a:solidFill>
                <a:latin typeface="JetBrains Mono" pitchFamily="34" charset="0"/>
                <a:ea typeface="JetBrains Mono" pitchFamily="34" charset="-122"/>
                <a:cs typeface="JetBrains Mono" pitchFamily="34" charset="-120"/>
              </a:rPr>
              <a:t>DS22 - Bar Ilan</a:t>
            </a:r>
            <a:br>
              <a:rPr lang="en-US" sz="1400" kern="0" spc="116" dirty="0">
                <a:solidFill>
                  <a:srgbClr val="888080"/>
                </a:solidFill>
                <a:latin typeface="JetBrains Mono" pitchFamily="34" charset="0"/>
                <a:ea typeface="JetBrains Mono" pitchFamily="34" charset="-122"/>
                <a:cs typeface="JetBrains Mono" pitchFamily="34" charset="-120"/>
              </a:rPr>
            </a:br>
            <a:r>
              <a:rPr lang="en-US" sz="1400" kern="0" spc="116" dirty="0">
                <a:solidFill>
                  <a:srgbClr val="888080"/>
                </a:solidFill>
                <a:latin typeface="JetBrains Mono" pitchFamily="34" charset="0"/>
                <a:ea typeface="JetBrains Mono" pitchFamily="34" charset="-122"/>
                <a:cs typeface="JetBrains Mono" pitchFamily="34" charset="-120"/>
              </a:rPr>
              <a:t>ML PROJECT</a:t>
            </a:r>
          </a:p>
          <a:p>
            <a:pPr marL="0" indent="0">
              <a:buNone/>
            </a:pPr>
            <a:r>
              <a:rPr lang="en-US" sz="1400" kern="0" spc="116" dirty="0">
                <a:solidFill>
                  <a:srgbClr val="888080"/>
                </a:solidFill>
                <a:latin typeface="JetBrains Mono" pitchFamily="34" charset="0"/>
                <a:ea typeface="JetBrains Mono" pitchFamily="34" charset="-122"/>
                <a:cs typeface="JetBrains Mono" pitchFamily="34" charset="-120"/>
              </a:rPr>
              <a:t>MAY 2026</a:t>
            </a:r>
            <a:endParaRPr lang="en-US" sz="14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3">
    <p:bg>
      <p:bgPr>
        <a:solidFill>
          <a:srgbClr val="F5F1E8"/>
        </a:solidFill>
        <a:effectLst/>
      </p:bgPr>
    </p:bg>
    <p:spTree>
      <p:nvGrpSpPr>
        <p:cNvPr id="1" name=""/>
        <p:cNvGrpSpPr/>
        <p:nvPr/>
      </p:nvGrpSpPr>
      <p:grpSpPr>
        <a:xfrm>
          <a:off x="0" y="0"/>
          <a:ext cx="0" cy="0"/>
          <a:chOff x="0" y="0"/>
          <a:chExt cx="0" cy="0"/>
        </a:xfrm>
      </p:grpSpPr>
      <p:sp>
        <p:nvSpPr>
          <p:cNvPr id="2" name="Shape 0"/>
          <p:cNvSpPr/>
          <p:nvPr/>
        </p:nvSpPr>
        <p:spPr>
          <a:xfrm>
            <a:off x="0" y="0"/>
            <a:ext cx="2095500" cy="10287000"/>
          </a:xfrm>
          <a:prstGeom prst="rect">
            <a:avLst/>
          </a:prstGeom>
          <a:solidFill>
            <a:srgbClr val="EBE5D6"/>
          </a:solidFill>
          <a:ln/>
        </p:spPr>
        <p:txBody>
          <a:bodyPr/>
          <a:lstStyle/>
          <a:p>
            <a:endParaRPr lang="he-IL"/>
          </a:p>
        </p:txBody>
      </p:sp>
      <p:sp>
        <p:nvSpPr>
          <p:cNvPr id="3" name="Shape 1"/>
          <p:cNvSpPr/>
          <p:nvPr/>
        </p:nvSpPr>
        <p:spPr>
          <a:xfrm>
            <a:off x="2085975" y="0"/>
            <a:ext cx="9525" cy="10287000"/>
          </a:xfrm>
          <a:prstGeom prst="rect">
            <a:avLst/>
          </a:prstGeom>
          <a:solidFill>
            <a:srgbClr val="D4CDBC"/>
          </a:solidFill>
          <a:ln/>
        </p:spPr>
        <p:txBody>
          <a:bodyPr/>
          <a:lstStyle/>
          <a:p>
            <a:endParaRPr lang="he-IL"/>
          </a:p>
        </p:txBody>
      </p:sp>
      <p:sp>
        <p:nvSpPr>
          <p:cNvPr id="19" name="Text 17"/>
          <p:cNvSpPr/>
          <p:nvPr/>
        </p:nvSpPr>
        <p:spPr>
          <a:xfrm>
            <a:off x="2781300" y="571500"/>
            <a:ext cx="15187041" cy="171450"/>
          </a:xfrm>
          <a:prstGeom prst="rect">
            <a:avLst/>
          </a:prstGeom>
          <a:noFill/>
          <a:ln/>
        </p:spPr>
        <p:txBody>
          <a:bodyPr wrap="square" lIns="25400" tIns="25400" rIns="25400" bIns="25400" rtlCol="0" anchor="ctr">
            <a:noAutofit/>
          </a:bodyPr>
          <a:lstStyle/>
          <a:p>
            <a:pPr marL="0" indent="0" algn="l">
              <a:buNone/>
            </a:pPr>
            <a:r>
              <a:rPr lang="en-US" sz="1400" kern="0" spc="182" dirty="0">
                <a:solidFill>
                  <a:srgbClr val="888080"/>
                </a:solidFill>
                <a:latin typeface="JetBrains Mono" pitchFamily="34" charset="0"/>
                <a:ea typeface="JetBrains Mono" pitchFamily="34" charset="-122"/>
                <a:cs typeface="JetBrains Mono" pitchFamily="34" charset="-120"/>
              </a:rPr>
              <a:t>MODELING · ROC COMPARISON</a:t>
            </a:r>
            <a:endParaRPr lang="en-US" sz="1400" dirty="0"/>
          </a:p>
        </p:txBody>
      </p:sp>
      <p:sp>
        <p:nvSpPr>
          <p:cNvPr id="20" name="Text 18"/>
          <p:cNvSpPr/>
          <p:nvPr/>
        </p:nvSpPr>
        <p:spPr>
          <a:xfrm>
            <a:off x="2781300" y="914400"/>
            <a:ext cx="15187041" cy="643830"/>
          </a:xfrm>
          <a:prstGeom prst="rect">
            <a:avLst/>
          </a:prstGeom>
          <a:noFill/>
          <a:ln/>
        </p:spPr>
        <p:txBody>
          <a:bodyPr wrap="square" lIns="25400" tIns="25400" rIns="25400" bIns="25400" rtlCol="0" anchor="t">
            <a:normAutofit fontScale="92500" lnSpcReduction="20000"/>
          </a:bodyPr>
          <a:lstStyle/>
          <a:p>
            <a:pPr marL="0" indent="0" algn="l">
              <a:lnSpc>
                <a:spcPct val="106000"/>
              </a:lnSpc>
              <a:buNone/>
            </a:pPr>
            <a:r>
              <a:rPr lang="en-US" sz="4500" kern="0" spc="-81" dirty="0">
                <a:solidFill>
                  <a:srgbClr val="1A1A1A"/>
                </a:solidFill>
                <a:latin typeface="Instrument Serif" pitchFamily="34" charset="0"/>
                <a:ea typeface="Instrument Serif" pitchFamily="34" charset="-122"/>
                <a:cs typeface="Instrument Serif" pitchFamily="34" charset="-120"/>
              </a:rPr>
              <a:t>Four models, </a:t>
            </a:r>
            <a:r>
              <a:rPr lang="en-US" sz="4500" i="1" kern="0" spc="-81" dirty="0">
                <a:solidFill>
                  <a:srgbClr val="C25A2A"/>
                </a:solidFill>
                <a:latin typeface="Instrument Serif" pitchFamily="34" charset="0"/>
                <a:ea typeface="Instrument Serif" pitchFamily="34" charset="-122"/>
                <a:cs typeface="Instrument Serif" pitchFamily="34" charset="-120"/>
              </a:rPr>
              <a:t>one winner.</a:t>
            </a:r>
            <a:endParaRPr lang="en-US" sz="4500" dirty="0"/>
          </a:p>
        </p:txBody>
      </p:sp>
      <p:sp>
        <p:nvSpPr>
          <p:cNvPr id="21" name="Shape 19"/>
          <p:cNvSpPr/>
          <p:nvPr/>
        </p:nvSpPr>
        <p:spPr>
          <a:xfrm>
            <a:off x="2781300" y="1748730"/>
            <a:ext cx="14744700" cy="6733282"/>
          </a:xfrm>
          <a:prstGeom prst="rect">
            <a:avLst/>
          </a:prstGeom>
          <a:solidFill>
            <a:srgbClr val="FFFFFF"/>
          </a:solidFill>
          <a:ln w="9525">
            <a:solidFill>
              <a:srgbClr val="D4CDBC"/>
            </a:solidFill>
            <a:prstDash val="solid"/>
          </a:ln>
        </p:spPr>
        <p:txBody>
          <a:bodyPr/>
          <a:lstStyle/>
          <a:p>
            <a:endParaRPr lang="he-IL"/>
          </a:p>
        </p:txBody>
      </p:sp>
      <p:sp>
        <p:nvSpPr>
          <p:cNvPr id="22" name="Text 20"/>
          <p:cNvSpPr/>
          <p:nvPr/>
        </p:nvSpPr>
        <p:spPr>
          <a:xfrm>
            <a:off x="2905125" y="1872555"/>
            <a:ext cx="3131622" cy="161925"/>
          </a:xfrm>
          <a:prstGeom prst="rect">
            <a:avLst/>
          </a:prstGeom>
          <a:noFill/>
          <a:ln/>
        </p:spPr>
        <p:txBody>
          <a:bodyPr wrap="square" lIns="25400" tIns="25400" rIns="25400" bIns="25400" rtlCol="0" anchor="t">
            <a:normAutofit lnSpcReduction="10000"/>
          </a:bodyPr>
          <a:lstStyle/>
          <a:p>
            <a:pPr marL="0" indent="0" algn="l">
              <a:buNone/>
            </a:pPr>
            <a:r>
              <a:rPr lang="en-US" sz="750" kern="0" spc="120" dirty="0">
                <a:solidFill>
                  <a:srgbClr val="888080"/>
                </a:solidFill>
                <a:latin typeface="JetBrains Mono" pitchFamily="34" charset="0"/>
                <a:ea typeface="JetBrains Mono" pitchFamily="34" charset="-122"/>
                <a:cs typeface="JetBrains Mono" pitchFamily="34" charset="-120"/>
              </a:rPr>
              <a:t>FIG · ROC CURVES · EARLY / DELAY / ON-TIME</a:t>
            </a:r>
            <a:endParaRPr lang="en-US" sz="750" dirty="0"/>
          </a:p>
        </p:txBody>
      </p:sp>
      <p:sp>
        <p:nvSpPr>
          <p:cNvPr id="23" name="Text 21"/>
          <p:cNvSpPr/>
          <p:nvPr/>
        </p:nvSpPr>
        <p:spPr>
          <a:xfrm>
            <a:off x="16605796" y="1872555"/>
            <a:ext cx="872579" cy="161925"/>
          </a:xfrm>
          <a:prstGeom prst="rect">
            <a:avLst/>
          </a:prstGeom>
          <a:noFill/>
          <a:ln/>
        </p:spPr>
        <p:txBody>
          <a:bodyPr wrap="square" lIns="25400" tIns="25400" rIns="25400" bIns="25400" rtlCol="0" anchor="t">
            <a:normAutofit lnSpcReduction="10000"/>
          </a:bodyPr>
          <a:lstStyle/>
          <a:p>
            <a:pPr marL="0" indent="0" algn="l">
              <a:buNone/>
            </a:pPr>
            <a:r>
              <a:rPr lang="en-US" sz="750" kern="0" spc="120" dirty="0">
                <a:solidFill>
                  <a:srgbClr val="888080"/>
                </a:solidFill>
                <a:latin typeface="JetBrains Mono" pitchFamily="34" charset="0"/>
                <a:ea typeface="JetBrains Mono" pitchFamily="34" charset="-122"/>
                <a:cs typeface="JetBrains Mono" pitchFamily="34" charset="-120"/>
              </a:rPr>
              <a:t>ONE-VS-REST</a:t>
            </a:r>
            <a:endParaRPr lang="en-US" sz="750" dirty="0"/>
          </a:p>
        </p:txBody>
      </p:sp>
      <p:sp>
        <p:nvSpPr>
          <p:cNvPr id="24" name="Shape 22"/>
          <p:cNvSpPr/>
          <p:nvPr/>
        </p:nvSpPr>
        <p:spPr>
          <a:xfrm>
            <a:off x="2905125" y="2072580"/>
            <a:ext cx="14497050" cy="6285607"/>
          </a:xfrm>
          <a:prstGeom prst="rect">
            <a:avLst/>
          </a:prstGeom>
          <a:solidFill>
            <a:srgbClr val="FFFFFF"/>
          </a:solidFill>
          <a:ln/>
        </p:spPr>
        <p:txBody>
          <a:bodyPr/>
          <a:lstStyle/>
          <a:p>
            <a:endParaRPr lang="he-IL"/>
          </a:p>
        </p:txBody>
      </p:sp>
      <p:pic>
        <p:nvPicPr>
          <p:cNvPr id="25" name="Image 0" descr="preencoded.png"/>
          <p:cNvPicPr>
            <a:picLocks noChangeAspect="1"/>
          </p:cNvPicPr>
          <p:nvPr/>
        </p:nvPicPr>
        <p:blipFill>
          <a:blip r:embed="rId3"/>
          <a:srcRect/>
          <a:stretch/>
        </p:blipFill>
        <p:spPr>
          <a:xfrm>
            <a:off x="2905125" y="2072580"/>
            <a:ext cx="14497050" cy="6285607"/>
          </a:xfrm>
          <a:prstGeom prst="rect">
            <a:avLst/>
          </a:prstGeom>
        </p:spPr>
      </p:pic>
      <p:sp>
        <p:nvSpPr>
          <p:cNvPr id="26" name="Shape 23"/>
          <p:cNvSpPr/>
          <p:nvPr/>
        </p:nvSpPr>
        <p:spPr>
          <a:xfrm>
            <a:off x="2781300" y="8653463"/>
            <a:ext cx="3571875" cy="1100138"/>
          </a:xfrm>
          <a:prstGeom prst="rect">
            <a:avLst/>
          </a:prstGeom>
          <a:solidFill>
            <a:srgbClr val="FFFFFF"/>
          </a:solidFill>
          <a:ln w="9525">
            <a:solidFill>
              <a:srgbClr val="D4CDBC"/>
            </a:solidFill>
            <a:prstDash val="solid"/>
          </a:ln>
        </p:spPr>
        <p:txBody>
          <a:bodyPr/>
          <a:lstStyle/>
          <a:p>
            <a:endParaRPr lang="he-IL" sz="1400"/>
          </a:p>
        </p:txBody>
      </p:sp>
      <p:sp>
        <p:nvSpPr>
          <p:cNvPr id="27" name="Text 24"/>
          <p:cNvSpPr/>
          <p:nvPr/>
        </p:nvSpPr>
        <p:spPr>
          <a:xfrm>
            <a:off x="3019425" y="8795264"/>
            <a:ext cx="3188494" cy="161925"/>
          </a:xfrm>
          <a:prstGeom prst="rect">
            <a:avLst/>
          </a:prstGeom>
          <a:noFill/>
          <a:ln/>
        </p:spPr>
        <p:txBody>
          <a:bodyPr wrap="square" lIns="25400" tIns="25400" rIns="25400" bIns="25400" rtlCol="0" anchor="t">
            <a:noAutofit/>
          </a:bodyPr>
          <a:lstStyle/>
          <a:p>
            <a:pPr marL="0" indent="0" algn="l">
              <a:buNone/>
            </a:pPr>
            <a:r>
              <a:rPr lang="en-US" sz="1400" b="1" kern="0" spc="135" dirty="0">
                <a:solidFill>
                  <a:srgbClr val="888080"/>
                </a:solidFill>
                <a:latin typeface="JetBrains Mono" pitchFamily="34" charset="0"/>
                <a:ea typeface="JetBrains Mono" pitchFamily="34" charset="-122"/>
                <a:cs typeface="JetBrains Mono" pitchFamily="34" charset="-120"/>
              </a:rPr>
              <a:t>LOGISTIC REGRESSION</a:t>
            </a:r>
            <a:endParaRPr lang="en-US" sz="1400" dirty="0"/>
          </a:p>
        </p:txBody>
      </p:sp>
      <p:sp>
        <p:nvSpPr>
          <p:cNvPr id="28" name="Text 25"/>
          <p:cNvSpPr/>
          <p:nvPr/>
        </p:nvSpPr>
        <p:spPr>
          <a:xfrm>
            <a:off x="3019425" y="9027218"/>
            <a:ext cx="3188494" cy="223838"/>
          </a:xfrm>
          <a:prstGeom prst="rect">
            <a:avLst/>
          </a:prstGeom>
          <a:noFill/>
          <a:ln/>
        </p:spPr>
        <p:txBody>
          <a:bodyPr wrap="square" lIns="25400" tIns="25400" rIns="25400" bIns="25400" rtlCol="0" anchor="t">
            <a:noAutofit/>
          </a:bodyPr>
          <a:lstStyle/>
          <a:p>
            <a:pPr marL="0" indent="0" algn="l">
              <a:lnSpc>
                <a:spcPct val="150000"/>
              </a:lnSpc>
              <a:buNone/>
            </a:pPr>
            <a:r>
              <a:rPr lang="en-US" sz="1400" dirty="0">
                <a:solidFill>
                  <a:srgbClr val="4A4A4A"/>
                </a:solidFill>
                <a:latin typeface="Inter" pitchFamily="34" charset="0"/>
                <a:ea typeface="Inter" pitchFamily="34" charset="-122"/>
                <a:cs typeface="Inter" pitchFamily="34" charset="-120"/>
              </a:rPr>
              <a:t>Linear baseline.</a:t>
            </a:r>
            <a:endParaRPr lang="en-US" sz="1400" dirty="0"/>
          </a:p>
        </p:txBody>
      </p:sp>
      <p:sp>
        <p:nvSpPr>
          <p:cNvPr id="29" name="Text 26"/>
          <p:cNvSpPr/>
          <p:nvPr/>
        </p:nvSpPr>
        <p:spPr>
          <a:xfrm>
            <a:off x="3019425" y="9372600"/>
            <a:ext cx="3188494" cy="200025"/>
          </a:xfrm>
          <a:prstGeom prst="rect">
            <a:avLst/>
          </a:prstGeom>
          <a:noFill/>
          <a:ln/>
        </p:spPr>
        <p:txBody>
          <a:bodyPr wrap="square" lIns="25400" tIns="25400" rIns="25400" bIns="25400" rtlCol="0" anchor="t">
            <a:noAutofit/>
          </a:bodyPr>
          <a:lstStyle/>
          <a:p>
            <a:pPr marL="0" indent="0" algn="l">
              <a:buNone/>
            </a:pPr>
            <a:r>
              <a:rPr lang="en-US" sz="1400" dirty="0">
                <a:solidFill>
                  <a:srgbClr val="1A1A1A"/>
                </a:solidFill>
                <a:latin typeface="JetBrains Mono" pitchFamily="34" charset="0"/>
                <a:ea typeface="JetBrains Mono" pitchFamily="34" charset="-122"/>
                <a:cs typeface="JetBrains Mono" pitchFamily="34" charset="-120"/>
              </a:rPr>
              <a:t>AUC: </a:t>
            </a:r>
            <a:r>
              <a:rPr lang="en-US" sz="1400" b="1" dirty="0">
                <a:solidFill>
                  <a:srgbClr val="1A1A1A"/>
                </a:solidFill>
                <a:latin typeface="JetBrains Mono" pitchFamily="34" charset="0"/>
                <a:ea typeface="JetBrains Mono" pitchFamily="34" charset="-122"/>
                <a:cs typeface="JetBrains Mono" pitchFamily="34" charset="-120"/>
              </a:rPr>
              <a:t>0.70 / 0.80 / 0.76</a:t>
            </a:r>
            <a:endParaRPr lang="en-US" sz="1400" dirty="0"/>
          </a:p>
        </p:txBody>
      </p:sp>
      <p:sp>
        <p:nvSpPr>
          <p:cNvPr id="30" name="Shape 27"/>
          <p:cNvSpPr/>
          <p:nvPr/>
        </p:nvSpPr>
        <p:spPr>
          <a:xfrm>
            <a:off x="6505575" y="8653463"/>
            <a:ext cx="3571875" cy="1100138"/>
          </a:xfrm>
          <a:prstGeom prst="rect">
            <a:avLst/>
          </a:prstGeom>
          <a:solidFill>
            <a:srgbClr val="FFFFFF"/>
          </a:solidFill>
          <a:ln w="9525">
            <a:solidFill>
              <a:srgbClr val="D4CDBC"/>
            </a:solidFill>
            <a:prstDash val="solid"/>
          </a:ln>
        </p:spPr>
        <p:txBody>
          <a:bodyPr/>
          <a:lstStyle/>
          <a:p>
            <a:endParaRPr lang="he-IL" sz="1400"/>
          </a:p>
        </p:txBody>
      </p:sp>
      <p:sp>
        <p:nvSpPr>
          <p:cNvPr id="31" name="Text 28"/>
          <p:cNvSpPr/>
          <p:nvPr/>
        </p:nvSpPr>
        <p:spPr>
          <a:xfrm>
            <a:off x="6743700" y="8795264"/>
            <a:ext cx="3188494" cy="161925"/>
          </a:xfrm>
          <a:prstGeom prst="rect">
            <a:avLst/>
          </a:prstGeom>
          <a:noFill/>
          <a:ln/>
        </p:spPr>
        <p:txBody>
          <a:bodyPr wrap="square" lIns="25400" tIns="25400" rIns="25400" bIns="25400" rtlCol="0" anchor="t">
            <a:noAutofit/>
          </a:bodyPr>
          <a:lstStyle/>
          <a:p>
            <a:pPr marL="0" indent="0" algn="l">
              <a:buNone/>
            </a:pPr>
            <a:r>
              <a:rPr lang="en-US" sz="1400" b="1" kern="0" spc="135" dirty="0">
                <a:solidFill>
                  <a:srgbClr val="888080"/>
                </a:solidFill>
                <a:latin typeface="JetBrains Mono" pitchFamily="34" charset="0"/>
                <a:ea typeface="JetBrains Mono" pitchFamily="34" charset="-122"/>
                <a:cs typeface="JetBrains Mono" pitchFamily="34" charset="-120"/>
              </a:rPr>
              <a:t>RANDOM FOREST</a:t>
            </a:r>
            <a:endParaRPr lang="en-US" sz="1400" dirty="0"/>
          </a:p>
        </p:txBody>
      </p:sp>
      <p:sp>
        <p:nvSpPr>
          <p:cNvPr id="32" name="Text 29"/>
          <p:cNvSpPr/>
          <p:nvPr/>
        </p:nvSpPr>
        <p:spPr>
          <a:xfrm>
            <a:off x="6743700" y="9027218"/>
            <a:ext cx="3188494" cy="223838"/>
          </a:xfrm>
          <a:prstGeom prst="rect">
            <a:avLst/>
          </a:prstGeom>
          <a:noFill/>
          <a:ln/>
        </p:spPr>
        <p:txBody>
          <a:bodyPr wrap="square" lIns="25400" tIns="25400" rIns="25400" bIns="25400" rtlCol="0" anchor="t">
            <a:noAutofit/>
          </a:bodyPr>
          <a:lstStyle/>
          <a:p>
            <a:pPr marL="0" indent="0" algn="l">
              <a:lnSpc>
                <a:spcPct val="150000"/>
              </a:lnSpc>
              <a:buNone/>
            </a:pPr>
            <a:r>
              <a:rPr lang="en-US" sz="1400" dirty="0">
                <a:solidFill>
                  <a:srgbClr val="4A4A4A"/>
                </a:solidFill>
                <a:latin typeface="Inter" pitchFamily="34" charset="0"/>
                <a:ea typeface="Inter" pitchFamily="34" charset="-122"/>
                <a:cs typeface="Inter" pitchFamily="34" charset="-120"/>
              </a:rPr>
              <a:t>Bagging.</a:t>
            </a:r>
            <a:endParaRPr lang="en-US" sz="1400" dirty="0"/>
          </a:p>
        </p:txBody>
      </p:sp>
      <p:sp>
        <p:nvSpPr>
          <p:cNvPr id="33" name="Text 30"/>
          <p:cNvSpPr/>
          <p:nvPr/>
        </p:nvSpPr>
        <p:spPr>
          <a:xfrm>
            <a:off x="6743700" y="9372600"/>
            <a:ext cx="3188494" cy="200025"/>
          </a:xfrm>
          <a:prstGeom prst="rect">
            <a:avLst/>
          </a:prstGeom>
          <a:noFill/>
          <a:ln/>
        </p:spPr>
        <p:txBody>
          <a:bodyPr wrap="square" lIns="25400" tIns="25400" rIns="25400" bIns="25400" rtlCol="0" anchor="t">
            <a:noAutofit/>
          </a:bodyPr>
          <a:lstStyle/>
          <a:p>
            <a:pPr marL="0" indent="0" algn="l">
              <a:buNone/>
            </a:pPr>
            <a:r>
              <a:rPr lang="en-US" sz="1400" dirty="0">
                <a:solidFill>
                  <a:srgbClr val="1A1A1A"/>
                </a:solidFill>
                <a:latin typeface="JetBrains Mono" pitchFamily="34" charset="0"/>
                <a:ea typeface="JetBrains Mono" pitchFamily="34" charset="-122"/>
                <a:cs typeface="JetBrains Mono" pitchFamily="34" charset="-120"/>
              </a:rPr>
              <a:t>AUC: </a:t>
            </a:r>
            <a:r>
              <a:rPr lang="en-US" sz="1400" b="1" dirty="0">
                <a:solidFill>
                  <a:srgbClr val="1A1A1A"/>
                </a:solidFill>
                <a:latin typeface="JetBrains Mono" pitchFamily="34" charset="0"/>
                <a:ea typeface="JetBrains Mono" pitchFamily="34" charset="-122"/>
                <a:cs typeface="JetBrains Mono" pitchFamily="34" charset="-120"/>
              </a:rPr>
              <a:t>0.79 / 0.87 / 0.87</a:t>
            </a:r>
            <a:endParaRPr lang="en-US" sz="1400" dirty="0"/>
          </a:p>
        </p:txBody>
      </p:sp>
      <p:sp>
        <p:nvSpPr>
          <p:cNvPr id="34" name="Shape 31"/>
          <p:cNvSpPr/>
          <p:nvPr/>
        </p:nvSpPr>
        <p:spPr>
          <a:xfrm>
            <a:off x="10229850" y="8653463"/>
            <a:ext cx="3571875" cy="1100138"/>
          </a:xfrm>
          <a:prstGeom prst="rect">
            <a:avLst/>
          </a:prstGeom>
          <a:solidFill>
            <a:srgbClr val="FFFFFF"/>
          </a:solidFill>
          <a:ln w="9525">
            <a:solidFill>
              <a:srgbClr val="D4CDBC"/>
            </a:solidFill>
            <a:prstDash val="solid"/>
          </a:ln>
        </p:spPr>
        <p:txBody>
          <a:bodyPr/>
          <a:lstStyle/>
          <a:p>
            <a:endParaRPr lang="he-IL" sz="1400"/>
          </a:p>
        </p:txBody>
      </p:sp>
      <p:sp>
        <p:nvSpPr>
          <p:cNvPr id="35" name="Text 32"/>
          <p:cNvSpPr/>
          <p:nvPr/>
        </p:nvSpPr>
        <p:spPr>
          <a:xfrm>
            <a:off x="10467975" y="8795264"/>
            <a:ext cx="3188494" cy="161925"/>
          </a:xfrm>
          <a:prstGeom prst="rect">
            <a:avLst/>
          </a:prstGeom>
          <a:noFill/>
          <a:ln/>
        </p:spPr>
        <p:txBody>
          <a:bodyPr wrap="square" lIns="25400" tIns="25400" rIns="25400" bIns="25400" rtlCol="0" anchor="t">
            <a:noAutofit/>
          </a:bodyPr>
          <a:lstStyle/>
          <a:p>
            <a:pPr marL="0" indent="0" algn="l">
              <a:buNone/>
            </a:pPr>
            <a:r>
              <a:rPr lang="en-US" sz="1400" b="1" kern="0" spc="135" dirty="0">
                <a:solidFill>
                  <a:srgbClr val="888080"/>
                </a:solidFill>
                <a:latin typeface="JetBrains Mono" pitchFamily="34" charset="0"/>
                <a:ea typeface="JetBrains Mono" pitchFamily="34" charset="-122"/>
                <a:cs typeface="JetBrains Mono" pitchFamily="34" charset="-120"/>
              </a:rPr>
              <a:t>LIGHTGBM</a:t>
            </a:r>
            <a:endParaRPr lang="en-US" sz="1400" dirty="0"/>
          </a:p>
        </p:txBody>
      </p:sp>
      <p:sp>
        <p:nvSpPr>
          <p:cNvPr id="36" name="Text 33"/>
          <p:cNvSpPr/>
          <p:nvPr/>
        </p:nvSpPr>
        <p:spPr>
          <a:xfrm>
            <a:off x="10467975" y="9027218"/>
            <a:ext cx="3188494" cy="223838"/>
          </a:xfrm>
          <a:prstGeom prst="rect">
            <a:avLst/>
          </a:prstGeom>
          <a:noFill/>
          <a:ln/>
        </p:spPr>
        <p:txBody>
          <a:bodyPr wrap="square" lIns="25400" tIns="25400" rIns="25400" bIns="25400" rtlCol="0" anchor="t">
            <a:noAutofit/>
          </a:bodyPr>
          <a:lstStyle/>
          <a:p>
            <a:pPr marL="0" indent="0" algn="l">
              <a:lnSpc>
                <a:spcPct val="150000"/>
              </a:lnSpc>
              <a:buNone/>
            </a:pPr>
            <a:r>
              <a:rPr lang="en-US" sz="1400" dirty="0">
                <a:solidFill>
                  <a:srgbClr val="4A4A4A"/>
                </a:solidFill>
                <a:latin typeface="Inter" pitchFamily="34" charset="0"/>
                <a:ea typeface="Inter" pitchFamily="34" charset="-122"/>
                <a:cs typeface="Inter" pitchFamily="34" charset="-120"/>
              </a:rPr>
              <a:t>Histogram boosting.</a:t>
            </a:r>
            <a:endParaRPr lang="en-US" sz="1400" dirty="0"/>
          </a:p>
        </p:txBody>
      </p:sp>
      <p:sp>
        <p:nvSpPr>
          <p:cNvPr id="37" name="Text 34"/>
          <p:cNvSpPr/>
          <p:nvPr/>
        </p:nvSpPr>
        <p:spPr>
          <a:xfrm>
            <a:off x="10467975" y="9372600"/>
            <a:ext cx="3188494" cy="200025"/>
          </a:xfrm>
          <a:prstGeom prst="rect">
            <a:avLst/>
          </a:prstGeom>
          <a:noFill/>
          <a:ln/>
        </p:spPr>
        <p:txBody>
          <a:bodyPr wrap="square" lIns="25400" tIns="25400" rIns="25400" bIns="25400" rtlCol="0" anchor="t">
            <a:noAutofit/>
          </a:bodyPr>
          <a:lstStyle/>
          <a:p>
            <a:pPr marL="0" indent="0" algn="l">
              <a:buNone/>
            </a:pPr>
            <a:r>
              <a:rPr lang="en-US" sz="1400" dirty="0">
                <a:solidFill>
                  <a:srgbClr val="1A1A1A"/>
                </a:solidFill>
                <a:latin typeface="JetBrains Mono" pitchFamily="34" charset="0"/>
                <a:ea typeface="JetBrains Mono" pitchFamily="34" charset="-122"/>
                <a:cs typeface="JetBrains Mono" pitchFamily="34" charset="-120"/>
              </a:rPr>
              <a:t>AUC: </a:t>
            </a:r>
            <a:r>
              <a:rPr lang="en-US" sz="1400" b="1" dirty="0">
                <a:solidFill>
                  <a:srgbClr val="1A1A1A"/>
                </a:solidFill>
                <a:latin typeface="JetBrains Mono" pitchFamily="34" charset="0"/>
                <a:ea typeface="JetBrains Mono" pitchFamily="34" charset="-122"/>
                <a:cs typeface="JetBrains Mono" pitchFamily="34" charset="-120"/>
              </a:rPr>
              <a:t>0.82 / 0.90 / 0.88</a:t>
            </a:r>
            <a:endParaRPr lang="en-US" sz="1400" dirty="0"/>
          </a:p>
        </p:txBody>
      </p:sp>
      <p:sp>
        <p:nvSpPr>
          <p:cNvPr id="38" name="Shape 35"/>
          <p:cNvSpPr/>
          <p:nvPr/>
        </p:nvSpPr>
        <p:spPr>
          <a:xfrm>
            <a:off x="13954125" y="8653463"/>
            <a:ext cx="3571875" cy="1100138"/>
          </a:xfrm>
          <a:prstGeom prst="rect">
            <a:avLst/>
          </a:prstGeom>
          <a:solidFill>
            <a:srgbClr val="1A1A1A"/>
          </a:solidFill>
          <a:ln w="9525">
            <a:solidFill>
              <a:srgbClr val="1A1A1A"/>
            </a:solidFill>
            <a:prstDash val="solid"/>
          </a:ln>
        </p:spPr>
        <p:txBody>
          <a:bodyPr/>
          <a:lstStyle/>
          <a:p>
            <a:endParaRPr lang="he-IL" sz="1400"/>
          </a:p>
        </p:txBody>
      </p:sp>
      <p:sp>
        <p:nvSpPr>
          <p:cNvPr id="39" name="Text 36"/>
          <p:cNvSpPr/>
          <p:nvPr/>
        </p:nvSpPr>
        <p:spPr>
          <a:xfrm>
            <a:off x="14192250" y="8795264"/>
            <a:ext cx="3188494" cy="161925"/>
          </a:xfrm>
          <a:prstGeom prst="rect">
            <a:avLst/>
          </a:prstGeom>
          <a:noFill/>
          <a:ln/>
        </p:spPr>
        <p:txBody>
          <a:bodyPr wrap="square" lIns="25400" tIns="25400" rIns="25400" bIns="25400" rtlCol="0" anchor="t">
            <a:noAutofit/>
          </a:bodyPr>
          <a:lstStyle/>
          <a:p>
            <a:pPr marL="0" indent="0" algn="l">
              <a:buNone/>
            </a:pPr>
            <a:r>
              <a:rPr lang="en-US" sz="1400" b="1" kern="0" spc="135" dirty="0">
                <a:solidFill>
                  <a:srgbClr val="C25A2A"/>
                </a:solidFill>
                <a:latin typeface="JetBrains Mono" pitchFamily="34" charset="0"/>
                <a:ea typeface="JetBrains Mono" pitchFamily="34" charset="-122"/>
                <a:cs typeface="JetBrains Mono" pitchFamily="34" charset="-120"/>
              </a:rPr>
              <a:t>XGBOOST · WINNER</a:t>
            </a:r>
            <a:endParaRPr lang="en-US" sz="1400" dirty="0"/>
          </a:p>
        </p:txBody>
      </p:sp>
      <p:sp>
        <p:nvSpPr>
          <p:cNvPr id="40" name="Text 37"/>
          <p:cNvSpPr/>
          <p:nvPr/>
        </p:nvSpPr>
        <p:spPr>
          <a:xfrm>
            <a:off x="14192250" y="9027218"/>
            <a:ext cx="3188494" cy="223838"/>
          </a:xfrm>
          <a:prstGeom prst="rect">
            <a:avLst/>
          </a:prstGeom>
          <a:noFill/>
          <a:ln/>
        </p:spPr>
        <p:txBody>
          <a:bodyPr wrap="square" lIns="25400" tIns="25400" rIns="25400" bIns="25400" rtlCol="0" anchor="t">
            <a:noAutofit/>
          </a:bodyPr>
          <a:lstStyle/>
          <a:p>
            <a:pPr marL="0" indent="0" algn="l">
              <a:lnSpc>
                <a:spcPct val="150000"/>
              </a:lnSpc>
              <a:buNone/>
            </a:pPr>
            <a:r>
              <a:rPr lang="en-US" sz="1400" dirty="0">
                <a:solidFill>
                  <a:srgbClr val="FFFFFF">
                    <a:alpha val="75000"/>
                  </a:srgbClr>
                </a:solidFill>
                <a:latin typeface="Inter" pitchFamily="34" charset="0"/>
                <a:ea typeface="Inter" pitchFamily="34" charset="-122"/>
                <a:cs typeface="Inter" pitchFamily="34" charset="-120"/>
              </a:rPr>
              <a:t>Gradient boosting.</a:t>
            </a:r>
            <a:endParaRPr lang="en-US" sz="1400" dirty="0"/>
          </a:p>
        </p:txBody>
      </p:sp>
      <p:sp>
        <p:nvSpPr>
          <p:cNvPr id="41" name="Text 38"/>
          <p:cNvSpPr/>
          <p:nvPr/>
        </p:nvSpPr>
        <p:spPr>
          <a:xfrm>
            <a:off x="14192250" y="9372600"/>
            <a:ext cx="3188494" cy="200025"/>
          </a:xfrm>
          <a:prstGeom prst="rect">
            <a:avLst/>
          </a:prstGeom>
          <a:noFill/>
          <a:ln/>
        </p:spPr>
        <p:txBody>
          <a:bodyPr wrap="square" lIns="25400" tIns="25400" rIns="25400" bIns="25400" rtlCol="0" anchor="t">
            <a:noAutofit/>
          </a:bodyPr>
          <a:lstStyle/>
          <a:p>
            <a:pPr marL="0" indent="0" algn="l">
              <a:buNone/>
            </a:pPr>
            <a:r>
              <a:rPr lang="en-US" sz="1400" dirty="0">
                <a:solidFill>
                  <a:srgbClr val="F5F1E8"/>
                </a:solidFill>
                <a:latin typeface="JetBrains Mono" pitchFamily="34" charset="0"/>
                <a:ea typeface="JetBrains Mono" pitchFamily="34" charset="-122"/>
                <a:cs typeface="JetBrains Mono" pitchFamily="34" charset="-120"/>
              </a:rPr>
              <a:t>AUC: </a:t>
            </a:r>
            <a:r>
              <a:rPr lang="en-US" sz="1400" b="1" dirty="0">
                <a:solidFill>
                  <a:srgbClr val="C25A2A"/>
                </a:solidFill>
                <a:latin typeface="JetBrains Mono" pitchFamily="34" charset="0"/>
                <a:ea typeface="JetBrains Mono" pitchFamily="34" charset="-122"/>
                <a:cs typeface="JetBrains Mono" pitchFamily="34" charset="-120"/>
              </a:rPr>
              <a:t>0.83 / 0.90 / 0.90</a:t>
            </a:r>
            <a:endParaRPr lang="en-US" sz="1400" dirty="0"/>
          </a:p>
        </p:txBody>
      </p:sp>
      <p:sp>
        <p:nvSpPr>
          <p:cNvPr id="42" name="Text 16">
            <a:extLst>
              <a:ext uri="{FF2B5EF4-FFF2-40B4-BE49-F238E27FC236}">
                <a16:creationId xmlns:a16="http://schemas.microsoft.com/office/drawing/2014/main" id="{4F9A74D7-8A56-51A0-C922-B752F01B01DC}"/>
              </a:ext>
            </a:extLst>
          </p:cNvPr>
          <p:cNvSpPr/>
          <p:nvPr/>
        </p:nvSpPr>
        <p:spPr>
          <a:xfrm>
            <a:off x="266700" y="9410700"/>
            <a:ext cx="1628775" cy="342900"/>
          </a:xfrm>
          <a:prstGeom prst="rect">
            <a:avLst/>
          </a:prstGeom>
          <a:noFill/>
          <a:ln/>
        </p:spPr>
        <p:txBody>
          <a:bodyPr wrap="square" lIns="25400" tIns="25400" rIns="25400" bIns="25400" rtlCol="0" anchor="t">
            <a:noAutofit/>
          </a:bodyPr>
          <a:lstStyle/>
          <a:p>
            <a:pPr>
              <a:lnSpc>
                <a:spcPct val="160000"/>
              </a:lnSpc>
            </a:pPr>
            <a:r>
              <a:rPr lang="en-US" sz="1400" b="1" kern="0" spc="105" dirty="0">
                <a:solidFill>
                  <a:srgbClr val="1A1A1A"/>
                </a:solidFill>
                <a:latin typeface="JetBrains Mono" pitchFamily="34" charset="0"/>
                <a:ea typeface="JetBrains Mono" pitchFamily="34" charset="-122"/>
                <a:cs typeface="JetBrains Mono" pitchFamily="34" charset="-120"/>
              </a:rPr>
              <a:t>27 / 34</a:t>
            </a:r>
            <a:endParaRPr lang="en-US" sz="1400" dirty="0"/>
          </a:p>
        </p:txBody>
      </p:sp>
      <p:sp>
        <p:nvSpPr>
          <p:cNvPr id="43" name="Text 4">
            <a:extLst>
              <a:ext uri="{FF2B5EF4-FFF2-40B4-BE49-F238E27FC236}">
                <a16:creationId xmlns:a16="http://schemas.microsoft.com/office/drawing/2014/main" id="{B95639E2-602A-9791-F381-8F43E99C3175}"/>
              </a:ext>
            </a:extLst>
          </p:cNvPr>
          <p:cNvSpPr/>
          <p:nvPr/>
        </p:nvSpPr>
        <p:spPr>
          <a:xfrm>
            <a:off x="228063" y="1524367"/>
            <a:ext cx="372012" cy="200025"/>
          </a:xfrm>
          <a:prstGeom prst="rect">
            <a:avLst/>
          </a:prstGeom>
          <a:noFill/>
          <a:ln/>
        </p:spPr>
        <p:txBody>
          <a:bodyPr wrap="square" lIns="25400" tIns="25400" rIns="25400" bIns="25400" rtlCol="0" anchor="t">
            <a:noAutofit/>
          </a:bodyPr>
          <a:lstStyle/>
          <a:p>
            <a:pPr marL="0" indent="0" algn="l">
              <a:lnSpc>
                <a:spcPct val="130000"/>
              </a:lnSpc>
              <a:buNone/>
            </a:pPr>
            <a:r>
              <a:rPr lang="en-US" sz="1400" kern="0" spc="21" dirty="0">
                <a:solidFill>
                  <a:srgbClr val="888080"/>
                </a:solidFill>
                <a:latin typeface="Inter" pitchFamily="34" charset="0"/>
                <a:ea typeface="Inter" pitchFamily="34" charset="-122"/>
              </a:rPr>
              <a:t>01</a:t>
            </a:r>
          </a:p>
        </p:txBody>
      </p:sp>
      <p:sp>
        <p:nvSpPr>
          <p:cNvPr id="44" name="Text 5">
            <a:extLst>
              <a:ext uri="{FF2B5EF4-FFF2-40B4-BE49-F238E27FC236}">
                <a16:creationId xmlns:a16="http://schemas.microsoft.com/office/drawing/2014/main" id="{825DD7F1-A1D6-3217-C194-C572541D005A}"/>
              </a:ext>
            </a:extLst>
          </p:cNvPr>
          <p:cNvSpPr/>
          <p:nvPr/>
        </p:nvSpPr>
        <p:spPr>
          <a:xfrm>
            <a:off x="523875" y="1522975"/>
            <a:ext cx="876300" cy="476251"/>
          </a:xfrm>
          <a:prstGeom prst="rect">
            <a:avLst/>
          </a:prstGeom>
          <a:noFill/>
          <a:ln/>
        </p:spPr>
        <p:txBody>
          <a:bodyPr wrap="square" lIns="25400" tIns="25400" rIns="25400" bIns="25400" rtlCol="0" anchor="t">
            <a:normAutofit/>
          </a:bodyPr>
          <a:lstStyle/>
          <a:p>
            <a:pPr marL="0" indent="0" algn="l">
              <a:lnSpc>
                <a:spcPct val="130000"/>
              </a:lnSpc>
              <a:buNone/>
            </a:pPr>
            <a:r>
              <a:rPr lang="en-US" sz="1400" kern="0" spc="21" dirty="0">
                <a:solidFill>
                  <a:srgbClr val="888080"/>
                </a:solidFill>
                <a:latin typeface="Inter" pitchFamily="34" charset="0"/>
                <a:ea typeface="Inter" pitchFamily="34" charset="-122"/>
              </a:rPr>
              <a:t>Agenda</a:t>
            </a:r>
          </a:p>
        </p:txBody>
      </p:sp>
      <p:sp>
        <p:nvSpPr>
          <p:cNvPr id="45" name="Text 6">
            <a:extLst>
              <a:ext uri="{FF2B5EF4-FFF2-40B4-BE49-F238E27FC236}">
                <a16:creationId xmlns:a16="http://schemas.microsoft.com/office/drawing/2014/main" id="{792C2E60-A298-B1C7-F8F2-C401F6C19773}"/>
              </a:ext>
            </a:extLst>
          </p:cNvPr>
          <p:cNvSpPr/>
          <p:nvPr/>
        </p:nvSpPr>
        <p:spPr>
          <a:xfrm>
            <a:off x="228063" y="1830953"/>
            <a:ext cx="372010" cy="194877"/>
          </a:xfrm>
          <a:prstGeom prst="rect">
            <a:avLst/>
          </a:prstGeom>
          <a:noFill/>
          <a:ln/>
        </p:spPr>
        <p:txBody>
          <a:bodyPr wrap="square" lIns="25400" tIns="25400" rIns="25400" bIns="25400" rtlCol="0" anchor="t">
            <a:noAutofit/>
          </a:bodyPr>
          <a:lstStyle/>
          <a:p>
            <a:pPr marL="0" indent="0" algn="l">
              <a:lnSpc>
                <a:spcPct val="130000"/>
              </a:lnSpc>
              <a:buNone/>
            </a:pPr>
            <a:r>
              <a:rPr lang="en-US" sz="1400" kern="0" spc="21" dirty="0">
                <a:solidFill>
                  <a:srgbClr val="888080"/>
                </a:solidFill>
                <a:latin typeface="Inter" pitchFamily="34" charset="0"/>
                <a:ea typeface="Inter" pitchFamily="34" charset="-122"/>
              </a:rPr>
              <a:t>02</a:t>
            </a:r>
          </a:p>
        </p:txBody>
      </p:sp>
      <p:sp>
        <p:nvSpPr>
          <p:cNvPr id="46" name="Text 8">
            <a:extLst>
              <a:ext uri="{FF2B5EF4-FFF2-40B4-BE49-F238E27FC236}">
                <a16:creationId xmlns:a16="http://schemas.microsoft.com/office/drawing/2014/main" id="{1B5E9496-4E79-F5DB-5CB6-8E2DCB67B052}"/>
              </a:ext>
            </a:extLst>
          </p:cNvPr>
          <p:cNvSpPr/>
          <p:nvPr/>
        </p:nvSpPr>
        <p:spPr>
          <a:xfrm>
            <a:off x="230504" y="2152895"/>
            <a:ext cx="302895" cy="141422"/>
          </a:xfrm>
          <a:prstGeom prst="rect">
            <a:avLst/>
          </a:prstGeom>
          <a:noFill/>
          <a:ln/>
        </p:spPr>
        <p:txBody>
          <a:bodyPr wrap="square" lIns="25400" tIns="25400" rIns="25400" bIns="25400" rtlCol="0" anchor="t">
            <a:noAutofit/>
          </a:bodyPr>
          <a:lstStyle/>
          <a:p>
            <a:pPr marL="0" indent="0" algn="l">
              <a:lnSpc>
                <a:spcPct val="130000"/>
              </a:lnSpc>
              <a:buNone/>
            </a:pPr>
            <a:r>
              <a:rPr lang="en-US" sz="1400" kern="0" spc="21" dirty="0">
                <a:solidFill>
                  <a:srgbClr val="888080"/>
                </a:solidFill>
                <a:latin typeface="Inter" pitchFamily="34" charset="0"/>
                <a:ea typeface="Inter" pitchFamily="34" charset="-122"/>
              </a:rPr>
              <a:t>03</a:t>
            </a:r>
          </a:p>
        </p:txBody>
      </p:sp>
      <p:sp>
        <p:nvSpPr>
          <p:cNvPr id="47" name="Text 9">
            <a:extLst>
              <a:ext uri="{FF2B5EF4-FFF2-40B4-BE49-F238E27FC236}">
                <a16:creationId xmlns:a16="http://schemas.microsoft.com/office/drawing/2014/main" id="{39892123-D3C5-971E-E0C4-C637D8FBA6F8}"/>
              </a:ext>
            </a:extLst>
          </p:cNvPr>
          <p:cNvSpPr/>
          <p:nvPr/>
        </p:nvSpPr>
        <p:spPr>
          <a:xfrm>
            <a:off x="531240" y="2145027"/>
            <a:ext cx="1185416" cy="342476"/>
          </a:xfrm>
          <a:prstGeom prst="rect">
            <a:avLst/>
          </a:prstGeom>
          <a:noFill/>
          <a:ln/>
        </p:spPr>
        <p:txBody>
          <a:bodyPr wrap="square" lIns="25400" tIns="25400" rIns="25400" bIns="25400" rtlCol="0" anchor="t">
            <a:normAutofit/>
          </a:bodyPr>
          <a:lstStyle/>
          <a:p>
            <a:pPr marL="0" indent="0" algn="l">
              <a:lnSpc>
                <a:spcPct val="130000"/>
              </a:lnSpc>
              <a:buNone/>
            </a:pPr>
            <a:r>
              <a:rPr lang="en-US" sz="1400" kern="0" spc="21" dirty="0">
                <a:solidFill>
                  <a:srgbClr val="888080"/>
                </a:solidFill>
                <a:latin typeface="Inter" pitchFamily="34" charset="0"/>
                <a:ea typeface="Inter" pitchFamily="34" charset="-122"/>
              </a:rPr>
              <a:t>EDA</a:t>
            </a:r>
          </a:p>
        </p:txBody>
      </p:sp>
      <p:sp>
        <p:nvSpPr>
          <p:cNvPr id="48" name="Text 10">
            <a:extLst>
              <a:ext uri="{FF2B5EF4-FFF2-40B4-BE49-F238E27FC236}">
                <a16:creationId xmlns:a16="http://schemas.microsoft.com/office/drawing/2014/main" id="{457E8836-7312-918B-F627-03DA93E00C79}"/>
              </a:ext>
            </a:extLst>
          </p:cNvPr>
          <p:cNvSpPr/>
          <p:nvPr/>
        </p:nvSpPr>
        <p:spPr>
          <a:xfrm>
            <a:off x="228062" y="2444125"/>
            <a:ext cx="305337" cy="172132"/>
          </a:xfrm>
          <a:prstGeom prst="rect">
            <a:avLst/>
          </a:prstGeom>
          <a:noFill/>
          <a:ln/>
        </p:spPr>
        <p:txBody>
          <a:bodyPr wrap="square" lIns="25400" tIns="25400" rIns="25400" bIns="25400" rtlCol="0" anchor="t">
            <a:noAutofit/>
          </a:bodyPr>
          <a:lstStyle/>
          <a:p>
            <a:pPr marL="0" indent="0" algn="l">
              <a:lnSpc>
                <a:spcPct val="130000"/>
              </a:lnSpc>
              <a:buNone/>
            </a:pPr>
            <a:r>
              <a:rPr lang="en-US" sz="1400" kern="0" spc="21" dirty="0">
                <a:solidFill>
                  <a:srgbClr val="888080"/>
                </a:solidFill>
                <a:latin typeface="Inter" pitchFamily="34" charset="0"/>
                <a:ea typeface="Inter" pitchFamily="34" charset="-122"/>
              </a:rPr>
              <a:t>04</a:t>
            </a:r>
          </a:p>
        </p:txBody>
      </p:sp>
      <p:sp>
        <p:nvSpPr>
          <p:cNvPr id="49" name="Text 12">
            <a:extLst>
              <a:ext uri="{FF2B5EF4-FFF2-40B4-BE49-F238E27FC236}">
                <a16:creationId xmlns:a16="http://schemas.microsoft.com/office/drawing/2014/main" id="{EF10D1D0-EEB7-6B09-5BF7-53BEFF6B5225}"/>
              </a:ext>
            </a:extLst>
          </p:cNvPr>
          <p:cNvSpPr/>
          <p:nvPr/>
        </p:nvSpPr>
        <p:spPr>
          <a:xfrm>
            <a:off x="228062" y="2750711"/>
            <a:ext cx="372011" cy="158880"/>
          </a:xfrm>
          <a:prstGeom prst="rect">
            <a:avLst/>
          </a:prstGeom>
          <a:noFill/>
          <a:ln/>
        </p:spPr>
        <p:txBody>
          <a:bodyPr wrap="square" lIns="25400" tIns="25400" rIns="25400" bIns="25400" rtlCol="0" anchor="t">
            <a:noAutofit/>
          </a:bodyPr>
          <a:lstStyle/>
          <a:p>
            <a:pPr marL="0" indent="0" algn="l">
              <a:lnSpc>
                <a:spcPct val="130000"/>
              </a:lnSpc>
              <a:buNone/>
            </a:pPr>
            <a:r>
              <a:rPr lang="en-US" sz="1400" b="1" kern="0" spc="21" dirty="0">
                <a:solidFill>
                  <a:srgbClr val="C25A2A"/>
                </a:solidFill>
                <a:latin typeface="JetBrains Mono" pitchFamily="34" charset="0"/>
                <a:ea typeface="JetBrains Mono" pitchFamily="34" charset="-122"/>
              </a:rPr>
              <a:t>05</a:t>
            </a:r>
          </a:p>
        </p:txBody>
      </p:sp>
      <p:sp>
        <p:nvSpPr>
          <p:cNvPr id="50" name="Text 13">
            <a:extLst>
              <a:ext uri="{FF2B5EF4-FFF2-40B4-BE49-F238E27FC236}">
                <a16:creationId xmlns:a16="http://schemas.microsoft.com/office/drawing/2014/main" id="{D3F9614D-1990-B3AB-73AA-6E6043A582F0}"/>
              </a:ext>
            </a:extLst>
          </p:cNvPr>
          <p:cNvSpPr/>
          <p:nvPr/>
        </p:nvSpPr>
        <p:spPr>
          <a:xfrm>
            <a:off x="533399" y="2725489"/>
            <a:ext cx="948333" cy="761256"/>
          </a:xfrm>
          <a:prstGeom prst="rect">
            <a:avLst/>
          </a:prstGeom>
          <a:noFill/>
          <a:ln/>
        </p:spPr>
        <p:txBody>
          <a:bodyPr wrap="square" lIns="25400" tIns="25400" rIns="25400" bIns="25400" rtlCol="0" anchor="t">
            <a:normAutofit/>
          </a:bodyPr>
          <a:lstStyle/>
          <a:p>
            <a:pPr marL="0" indent="0" algn="l">
              <a:lnSpc>
                <a:spcPct val="130000"/>
              </a:lnSpc>
              <a:buNone/>
            </a:pPr>
            <a:r>
              <a:rPr lang="en-US" sz="1400" kern="0" spc="21" dirty="0">
                <a:solidFill>
                  <a:srgbClr val="1A1A1A"/>
                </a:solidFill>
                <a:latin typeface="Inter" pitchFamily="34" charset="0"/>
                <a:ea typeface="Inter" pitchFamily="34" charset="-122"/>
              </a:rPr>
              <a:t>Modeling</a:t>
            </a:r>
          </a:p>
        </p:txBody>
      </p:sp>
      <p:sp>
        <p:nvSpPr>
          <p:cNvPr id="51" name="Text 14">
            <a:extLst>
              <a:ext uri="{FF2B5EF4-FFF2-40B4-BE49-F238E27FC236}">
                <a16:creationId xmlns:a16="http://schemas.microsoft.com/office/drawing/2014/main" id="{E3A34826-C78F-E537-C2CF-B43567462138}"/>
              </a:ext>
            </a:extLst>
          </p:cNvPr>
          <p:cNvSpPr/>
          <p:nvPr/>
        </p:nvSpPr>
        <p:spPr>
          <a:xfrm>
            <a:off x="235683" y="3042056"/>
            <a:ext cx="372010" cy="191463"/>
          </a:xfrm>
          <a:prstGeom prst="rect">
            <a:avLst/>
          </a:prstGeom>
          <a:noFill/>
          <a:ln/>
        </p:spPr>
        <p:txBody>
          <a:bodyPr wrap="square" lIns="25400" tIns="25400" rIns="25400" bIns="25400" rtlCol="0" anchor="t">
            <a:noAutofit/>
          </a:bodyPr>
          <a:lstStyle/>
          <a:p>
            <a:pPr marL="0" indent="0" algn="l">
              <a:lnSpc>
                <a:spcPct val="130000"/>
              </a:lnSpc>
              <a:buNone/>
            </a:pPr>
            <a:r>
              <a:rPr lang="en-US" sz="1400" kern="0" spc="21" dirty="0">
                <a:solidFill>
                  <a:srgbClr val="888080"/>
                </a:solidFill>
                <a:latin typeface="JetBrains Mono" pitchFamily="34" charset="0"/>
                <a:ea typeface="JetBrains Mono" pitchFamily="34" charset="-122"/>
                <a:cs typeface="JetBrains Mono" pitchFamily="34" charset="-120"/>
              </a:rPr>
              <a:t>06</a:t>
            </a:r>
            <a:endParaRPr lang="en-US" sz="1400" dirty="0"/>
          </a:p>
        </p:txBody>
      </p:sp>
      <p:sp>
        <p:nvSpPr>
          <p:cNvPr id="52" name="Text 15">
            <a:extLst>
              <a:ext uri="{FF2B5EF4-FFF2-40B4-BE49-F238E27FC236}">
                <a16:creationId xmlns:a16="http://schemas.microsoft.com/office/drawing/2014/main" id="{A02F1D0F-5992-504F-46CA-7FD1907BA9AF}"/>
              </a:ext>
            </a:extLst>
          </p:cNvPr>
          <p:cNvSpPr/>
          <p:nvPr/>
        </p:nvSpPr>
        <p:spPr>
          <a:xfrm>
            <a:off x="533400" y="3032075"/>
            <a:ext cx="1185416" cy="626120"/>
          </a:xfrm>
          <a:prstGeom prst="rect">
            <a:avLst/>
          </a:prstGeom>
          <a:noFill/>
          <a:ln/>
        </p:spPr>
        <p:txBody>
          <a:bodyPr wrap="square" lIns="25400" tIns="25400" rIns="25400" bIns="25400" rtlCol="0" anchor="t">
            <a:normAutofit/>
          </a:bodyPr>
          <a:lstStyle/>
          <a:p>
            <a:pPr marL="0" indent="0" algn="l">
              <a:lnSpc>
                <a:spcPct val="130000"/>
              </a:lnSpc>
              <a:buNone/>
            </a:pPr>
            <a:r>
              <a:rPr lang="en-US" sz="1400" kern="0" spc="21" dirty="0">
                <a:solidFill>
                  <a:srgbClr val="888080"/>
                </a:solidFill>
                <a:latin typeface="Inter" pitchFamily="34" charset="0"/>
                <a:ea typeface="Inter" pitchFamily="34" charset="-122"/>
                <a:cs typeface="Inter" pitchFamily="34" charset="-120"/>
              </a:rPr>
              <a:t>Conclusions</a:t>
            </a:r>
            <a:endParaRPr lang="en-US" sz="1400" dirty="0"/>
          </a:p>
        </p:txBody>
      </p:sp>
      <p:sp>
        <p:nvSpPr>
          <p:cNvPr id="53" name="Text 9">
            <a:extLst>
              <a:ext uri="{FF2B5EF4-FFF2-40B4-BE49-F238E27FC236}">
                <a16:creationId xmlns:a16="http://schemas.microsoft.com/office/drawing/2014/main" id="{023C9F3C-B73D-E678-B3CC-D28C0681AC4B}"/>
              </a:ext>
            </a:extLst>
          </p:cNvPr>
          <p:cNvSpPr/>
          <p:nvPr/>
        </p:nvSpPr>
        <p:spPr>
          <a:xfrm>
            <a:off x="538609" y="2426180"/>
            <a:ext cx="1185416" cy="342476"/>
          </a:xfrm>
          <a:prstGeom prst="rect">
            <a:avLst/>
          </a:prstGeom>
          <a:noFill/>
          <a:ln/>
        </p:spPr>
        <p:txBody>
          <a:bodyPr wrap="square" lIns="25400" tIns="25400" rIns="25400" bIns="25400" rtlCol="0" anchor="t">
            <a:normAutofit/>
          </a:bodyPr>
          <a:lstStyle/>
          <a:p>
            <a:pPr marL="0" indent="0" algn="l">
              <a:lnSpc>
                <a:spcPct val="130000"/>
              </a:lnSpc>
              <a:buNone/>
            </a:pPr>
            <a:r>
              <a:rPr lang="en-US" sz="1400" kern="0" spc="21" dirty="0">
                <a:solidFill>
                  <a:srgbClr val="888080"/>
                </a:solidFill>
                <a:latin typeface="Inter" pitchFamily="34" charset="0"/>
                <a:ea typeface="Inter" pitchFamily="34" charset="-122"/>
              </a:rPr>
              <a:t>Pipeline</a:t>
            </a:r>
          </a:p>
        </p:txBody>
      </p:sp>
      <p:sp>
        <p:nvSpPr>
          <p:cNvPr id="54" name="Text 7">
            <a:extLst>
              <a:ext uri="{FF2B5EF4-FFF2-40B4-BE49-F238E27FC236}">
                <a16:creationId xmlns:a16="http://schemas.microsoft.com/office/drawing/2014/main" id="{BE8BCC6E-4A83-E0C6-AF60-67E6AE6C762D}"/>
              </a:ext>
            </a:extLst>
          </p:cNvPr>
          <p:cNvSpPr/>
          <p:nvPr/>
        </p:nvSpPr>
        <p:spPr>
          <a:xfrm>
            <a:off x="523875" y="1826620"/>
            <a:ext cx="1325700" cy="467696"/>
          </a:xfrm>
          <a:prstGeom prst="rect">
            <a:avLst/>
          </a:prstGeom>
          <a:noFill/>
          <a:ln/>
        </p:spPr>
        <p:txBody>
          <a:bodyPr wrap="square" lIns="25400" tIns="25400" rIns="25400" bIns="25400" rtlCol="0" anchor="t">
            <a:noAutofit/>
          </a:bodyPr>
          <a:lstStyle/>
          <a:p>
            <a:pPr marL="0" indent="0" algn="l">
              <a:lnSpc>
                <a:spcPct val="130000"/>
              </a:lnSpc>
              <a:buNone/>
            </a:pPr>
            <a:r>
              <a:rPr lang="en-US" sz="1400" kern="0" spc="21" dirty="0">
                <a:solidFill>
                  <a:srgbClr val="888080"/>
                </a:solidFill>
                <a:latin typeface="Inter" pitchFamily="34" charset="0"/>
                <a:ea typeface="Inter" pitchFamily="34" charset="-122"/>
              </a:rPr>
              <a:t>Data &amp; target</a:t>
            </a:r>
          </a:p>
        </p:txBody>
      </p:sp>
      <p:sp>
        <p:nvSpPr>
          <p:cNvPr id="55" name="Text 1">
            <a:extLst>
              <a:ext uri="{FF2B5EF4-FFF2-40B4-BE49-F238E27FC236}">
                <a16:creationId xmlns:a16="http://schemas.microsoft.com/office/drawing/2014/main" id="{38E429B4-11D4-658F-E506-2B1873C51F6B}"/>
              </a:ext>
            </a:extLst>
          </p:cNvPr>
          <p:cNvSpPr/>
          <p:nvPr/>
        </p:nvSpPr>
        <p:spPr>
          <a:xfrm>
            <a:off x="261138" y="379598"/>
            <a:ext cx="1778457" cy="447678"/>
          </a:xfrm>
          <a:prstGeom prst="rect">
            <a:avLst/>
          </a:prstGeom>
          <a:noFill/>
          <a:ln/>
        </p:spPr>
        <p:txBody>
          <a:bodyPr wrap="square" lIns="25400" tIns="25400" rIns="25400" bIns="25400" rtlCol="0" anchor="t">
            <a:noAutofit/>
          </a:bodyPr>
          <a:lstStyle/>
          <a:p>
            <a:pPr marL="0" indent="0">
              <a:buNone/>
            </a:pPr>
            <a:r>
              <a:rPr lang="en-US" sz="1400" kern="0" spc="116" dirty="0">
                <a:solidFill>
                  <a:srgbClr val="888080"/>
                </a:solidFill>
                <a:latin typeface="JetBrains Mono" pitchFamily="34" charset="0"/>
                <a:ea typeface="JetBrains Mono" pitchFamily="34" charset="-122"/>
                <a:cs typeface="JetBrains Mono" pitchFamily="34" charset="-120"/>
              </a:rPr>
              <a:t>DS22 - Bar Ilan</a:t>
            </a:r>
            <a:br>
              <a:rPr lang="en-US" sz="1400" kern="0" spc="116" dirty="0">
                <a:solidFill>
                  <a:srgbClr val="888080"/>
                </a:solidFill>
                <a:latin typeface="JetBrains Mono" pitchFamily="34" charset="0"/>
                <a:ea typeface="JetBrains Mono" pitchFamily="34" charset="-122"/>
                <a:cs typeface="JetBrains Mono" pitchFamily="34" charset="-120"/>
              </a:rPr>
            </a:br>
            <a:r>
              <a:rPr lang="en-US" sz="1400" kern="0" spc="116" dirty="0">
                <a:solidFill>
                  <a:srgbClr val="888080"/>
                </a:solidFill>
                <a:latin typeface="JetBrains Mono" pitchFamily="34" charset="0"/>
                <a:ea typeface="JetBrains Mono" pitchFamily="34" charset="-122"/>
                <a:cs typeface="JetBrains Mono" pitchFamily="34" charset="-120"/>
              </a:rPr>
              <a:t>ML PROJECT</a:t>
            </a:r>
          </a:p>
          <a:p>
            <a:pPr marL="0" indent="0">
              <a:buNone/>
            </a:pPr>
            <a:r>
              <a:rPr lang="en-US" sz="1400" kern="0" spc="116" dirty="0">
                <a:solidFill>
                  <a:srgbClr val="888080"/>
                </a:solidFill>
                <a:latin typeface="JetBrains Mono" pitchFamily="34" charset="0"/>
                <a:ea typeface="JetBrains Mono" pitchFamily="34" charset="-122"/>
                <a:cs typeface="JetBrains Mono" pitchFamily="34" charset="-120"/>
              </a:rPr>
              <a:t>MAY 2026</a:t>
            </a:r>
            <a:endParaRPr lang="en-US" sz="14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4">
    <p:bg>
      <p:bgPr>
        <a:solidFill>
          <a:srgbClr val="F5F1E8"/>
        </a:solidFill>
        <a:effectLst/>
      </p:bgPr>
    </p:bg>
    <p:spTree>
      <p:nvGrpSpPr>
        <p:cNvPr id="1" name=""/>
        <p:cNvGrpSpPr/>
        <p:nvPr/>
      </p:nvGrpSpPr>
      <p:grpSpPr>
        <a:xfrm>
          <a:off x="0" y="0"/>
          <a:ext cx="0" cy="0"/>
          <a:chOff x="0" y="0"/>
          <a:chExt cx="0" cy="0"/>
        </a:xfrm>
      </p:grpSpPr>
      <p:sp>
        <p:nvSpPr>
          <p:cNvPr id="2" name="Shape 0"/>
          <p:cNvSpPr/>
          <p:nvPr/>
        </p:nvSpPr>
        <p:spPr>
          <a:xfrm>
            <a:off x="0" y="0"/>
            <a:ext cx="2095500" cy="10287000"/>
          </a:xfrm>
          <a:prstGeom prst="rect">
            <a:avLst/>
          </a:prstGeom>
          <a:solidFill>
            <a:srgbClr val="EBE5D6"/>
          </a:solidFill>
          <a:ln/>
        </p:spPr>
        <p:txBody>
          <a:bodyPr/>
          <a:lstStyle/>
          <a:p>
            <a:endParaRPr lang="he-IL"/>
          </a:p>
        </p:txBody>
      </p:sp>
      <p:sp>
        <p:nvSpPr>
          <p:cNvPr id="3" name="Shape 1"/>
          <p:cNvSpPr/>
          <p:nvPr/>
        </p:nvSpPr>
        <p:spPr>
          <a:xfrm>
            <a:off x="2085975" y="0"/>
            <a:ext cx="9525" cy="10287000"/>
          </a:xfrm>
          <a:prstGeom prst="rect">
            <a:avLst/>
          </a:prstGeom>
          <a:solidFill>
            <a:srgbClr val="D4CDBC"/>
          </a:solidFill>
          <a:ln/>
        </p:spPr>
        <p:txBody>
          <a:bodyPr/>
          <a:lstStyle/>
          <a:p>
            <a:endParaRPr lang="he-IL"/>
          </a:p>
        </p:txBody>
      </p:sp>
      <p:sp>
        <p:nvSpPr>
          <p:cNvPr id="19" name="Text 17"/>
          <p:cNvSpPr/>
          <p:nvPr/>
        </p:nvSpPr>
        <p:spPr>
          <a:xfrm>
            <a:off x="2781300" y="571500"/>
            <a:ext cx="15187041" cy="171450"/>
          </a:xfrm>
          <a:prstGeom prst="rect">
            <a:avLst/>
          </a:prstGeom>
          <a:noFill/>
          <a:ln/>
        </p:spPr>
        <p:txBody>
          <a:bodyPr wrap="square" lIns="25400" tIns="25400" rIns="25400" bIns="25400" rtlCol="0" anchor="ctr">
            <a:noAutofit/>
          </a:bodyPr>
          <a:lstStyle/>
          <a:p>
            <a:pPr marL="0" indent="0" algn="l">
              <a:buNone/>
            </a:pPr>
            <a:r>
              <a:rPr lang="en-US" sz="1400" kern="0" spc="182" dirty="0">
                <a:solidFill>
                  <a:srgbClr val="888080"/>
                </a:solidFill>
                <a:latin typeface="JetBrains Mono" pitchFamily="34" charset="0"/>
                <a:ea typeface="JetBrains Mono" pitchFamily="34" charset="-122"/>
                <a:cs typeface="JetBrains Mono" pitchFamily="34" charset="-120"/>
              </a:rPr>
              <a:t>XGBOOST · FOUR FOLLOW-UP EXPERIMENTS</a:t>
            </a:r>
            <a:endParaRPr lang="en-US" sz="1400" dirty="0"/>
          </a:p>
        </p:txBody>
      </p:sp>
      <p:sp>
        <p:nvSpPr>
          <p:cNvPr id="20" name="Text 18"/>
          <p:cNvSpPr/>
          <p:nvPr/>
        </p:nvSpPr>
        <p:spPr>
          <a:xfrm>
            <a:off x="2781300" y="914400"/>
            <a:ext cx="15187041" cy="643830"/>
          </a:xfrm>
          <a:prstGeom prst="rect">
            <a:avLst/>
          </a:prstGeom>
          <a:noFill/>
          <a:ln/>
        </p:spPr>
        <p:txBody>
          <a:bodyPr wrap="square" lIns="25400" tIns="25400" rIns="25400" bIns="25400" rtlCol="0" anchor="t">
            <a:normAutofit fontScale="92500" lnSpcReduction="20000"/>
          </a:bodyPr>
          <a:lstStyle/>
          <a:p>
            <a:pPr marL="0" indent="0" algn="l">
              <a:lnSpc>
                <a:spcPct val="106000"/>
              </a:lnSpc>
              <a:buNone/>
            </a:pPr>
            <a:r>
              <a:rPr lang="en-US" sz="4500" kern="0" spc="-81" dirty="0">
                <a:solidFill>
                  <a:srgbClr val="1A1A1A"/>
                </a:solidFill>
                <a:latin typeface="Instrument Serif" pitchFamily="34" charset="0"/>
                <a:ea typeface="Instrument Serif" pitchFamily="34" charset="-122"/>
                <a:cs typeface="Instrument Serif" pitchFamily="34" charset="-120"/>
              </a:rPr>
              <a:t>Tuning the winner.</a:t>
            </a:r>
            <a:endParaRPr lang="en-US" sz="4500" dirty="0"/>
          </a:p>
        </p:txBody>
      </p:sp>
      <p:sp>
        <p:nvSpPr>
          <p:cNvPr id="21" name="Shape 19"/>
          <p:cNvSpPr/>
          <p:nvPr/>
        </p:nvSpPr>
        <p:spPr>
          <a:xfrm>
            <a:off x="2781300" y="1748730"/>
            <a:ext cx="6417618" cy="2189857"/>
          </a:xfrm>
          <a:prstGeom prst="rect">
            <a:avLst/>
          </a:prstGeom>
          <a:solidFill>
            <a:srgbClr val="FFFFFF"/>
          </a:solidFill>
          <a:ln w="9525">
            <a:solidFill>
              <a:srgbClr val="D4CDBC"/>
            </a:solidFill>
            <a:prstDash val="solid"/>
          </a:ln>
        </p:spPr>
        <p:txBody>
          <a:bodyPr/>
          <a:lstStyle/>
          <a:p>
            <a:endParaRPr lang="he-IL" sz="1400"/>
          </a:p>
        </p:txBody>
      </p:sp>
      <p:sp>
        <p:nvSpPr>
          <p:cNvPr id="22" name="Text 20"/>
          <p:cNvSpPr/>
          <p:nvPr/>
        </p:nvSpPr>
        <p:spPr>
          <a:xfrm>
            <a:off x="3019425" y="1967805"/>
            <a:ext cx="6119609" cy="161925"/>
          </a:xfrm>
          <a:prstGeom prst="rect">
            <a:avLst/>
          </a:prstGeom>
          <a:noFill/>
          <a:ln/>
        </p:spPr>
        <p:txBody>
          <a:bodyPr wrap="square" lIns="25400" tIns="25400" rIns="25400" bIns="25400" rtlCol="0" anchor="t">
            <a:noAutofit/>
          </a:bodyPr>
          <a:lstStyle/>
          <a:p>
            <a:pPr marL="0" indent="0" algn="l">
              <a:buNone/>
            </a:pPr>
            <a:r>
              <a:rPr lang="en-US" sz="1400" b="1" kern="0" spc="135" dirty="0">
                <a:solidFill>
                  <a:srgbClr val="C25A2A"/>
                </a:solidFill>
                <a:latin typeface="JetBrains Mono" pitchFamily="34" charset="0"/>
                <a:ea typeface="JetBrains Mono" pitchFamily="34" charset="-122"/>
                <a:cs typeface="JetBrains Mono" pitchFamily="34" charset="-120"/>
              </a:rPr>
              <a:t>EXPERIMENT · 01 · OVERFIT CHECK</a:t>
            </a:r>
            <a:endParaRPr lang="en-US" sz="1400" dirty="0"/>
          </a:p>
        </p:txBody>
      </p:sp>
      <p:sp>
        <p:nvSpPr>
          <p:cNvPr id="23" name="Text 21"/>
          <p:cNvSpPr/>
          <p:nvPr/>
        </p:nvSpPr>
        <p:spPr>
          <a:xfrm>
            <a:off x="3019425" y="2225517"/>
            <a:ext cx="6119609" cy="315367"/>
          </a:xfrm>
          <a:prstGeom prst="rect">
            <a:avLst/>
          </a:prstGeom>
          <a:noFill/>
          <a:ln/>
        </p:spPr>
        <p:txBody>
          <a:bodyPr wrap="square" lIns="25400" tIns="25400" rIns="25400" bIns="25400" rtlCol="0" anchor="t">
            <a:normAutofit/>
          </a:bodyPr>
          <a:lstStyle/>
          <a:p>
            <a:pPr marL="0" indent="0" algn="l">
              <a:lnSpc>
                <a:spcPct val="112000"/>
              </a:lnSpc>
              <a:buNone/>
            </a:pPr>
            <a:r>
              <a:rPr lang="en-US" sz="1400" kern="0" spc="-16" dirty="0">
                <a:solidFill>
                  <a:srgbClr val="1A1A1A"/>
                </a:solidFill>
                <a:latin typeface="Instrument Serif" pitchFamily="34" charset="0"/>
                <a:ea typeface="Instrument Serif" pitchFamily="34" charset="-122"/>
                <a:cs typeface="Instrument Serif" pitchFamily="34" charset="-120"/>
              </a:rPr>
              <a:t>No significant overfit.</a:t>
            </a:r>
            <a:endParaRPr lang="en-US" sz="1400" dirty="0"/>
          </a:p>
        </p:txBody>
      </p:sp>
      <p:sp>
        <p:nvSpPr>
          <p:cNvPr id="24" name="Shape 22"/>
          <p:cNvSpPr/>
          <p:nvPr/>
        </p:nvSpPr>
        <p:spPr>
          <a:xfrm>
            <a:off x="3019425" y="2907060"/>
            <a:ext cx="1873151" cy="9525"/>
          </a:xfrm>
          <a:prstGeom prst="rect">
            <a:avLst/>
          </a:prstGeom>
          <a:solidFill>
            <a:srgbClr val="1A1A1A"/>
          </a:solidFill>
          <a:ln/>
        </p:spPr>
        <p:txBody>
          <a:bodyPr/>
          <a:lstStyle/>
          <a:p>
            <a:endParaRPr lang="he-IL" sz="1400"/>
          </a:p>
        </p:txBody>
      </p:sp>
      <p:sp>
        <p:nvSpPr>
          <p:cNvPr id="25" name="Shape 23"/>
          <p:cNvSpPr/>
          <p:nvPr/>
        </p:nvSpPr>
        <p:spPr>
          <a:xfrm>
            <a:off x="4892576" y="2907060"/>
            <a:ext cx="1294656" cy="9525"/>
          </a:xfrm>
          <a:prstGeom prst="rect">
            <a:avLst/>
          </a:prstGeom>
          <a:solidFill>
            <a:srgbClr val="1A1A1A"/>
          </a:solidFill>
          <a:ln/>
        </p:spPr>
        <p:txBody>
          <a:bodyPr/>
          <a:lstStyle/>
          <a:p>
            <a:endParaRPr lang="he-IL" sz="1400"/>
          </a:p>
        </p:txBody>
      </p:sp>
      <p:sp>
        <p:nvSpPr>
          <p:cNvPr id="26" name="Text 24"/>
          <p:cNvSpPr/>
          <p:nvPr/>
        </p:nvSpPr>
        <p:spPr>
          <a:xfrm>
            <a:off x="4968776" y="2692747"/>
            <a:ext cx="1218456" cy="157162"/>
          </a:xfrm>
          <a:prstGeom prst="rect">
            <a:avLst/>
          </a:prstGeom>
          <a:noFill/>
          <a:ln/>
        </p:spPr>
        <p:txBody>
          <a:bodyPr wrap="square" lIns="25400" tIns="25400" rIns="25400" bIns="25400" rtlCol="0" anchor="ctr">
            <a:noAutofit/>
          </a:bodyPr>
          <a:lstStyle/>
          <a:p>
            <a:pPr marL="0" indent="0" algn="l">
              <a:buNone/>
            </a:pPr>
            <a:r>
              <a:rPr lang="en-US" sz="1400" kern="0" spc="120" dirty="0">
                <a:solidFill>
                  <a:srgbClr val="888080"/>
                </a:solidFill>
                <a:latin typeface="JetBrains Mono" pitchFamily="34" charset="0"/>
                <a:ea typeface="JetBrains Mono" pitchFamily="34" charset="-122"/>
                <a:cs typeface="JetBrains Mono" pitchFamily="34" charset="-120"/>
              </a:rPr>
              <a:t>TRAIN</a:t>
            </a:r>
            <a:endParaRPr lang="en-US" sz="1400" dirty="0"/>
          </a:p>
        </p:txBody>
      </p:sp>
      <p:sp>
        <p:nvSpPr>
          <p:cNvPr id="27" name="Shape 25"/>
          <p:cNvSpPr/>
          <p:nvPr/>
        </p:nvSpPr>
        <p:spPr>
          <a:xfrm>
            <a:off x="6187232" y="2907060"/>
            <a:ext cx="1294656" cy="9525"/>
          </a:xfrm>
          <a:prstGeom prst="rect">
            <a:avLst/>
          </a:prstGeom>
          <a:solidFill>
            <a:srgbClr val="1A1A1A"/>
          </a:solidFill>
          <a:ln/>
        </p:spPr>
        <p:txBody>
          <a:bodyPr/>
          <a:lstStyle/>
          <a:p>
            <a:endParaRPr lang="he-IL" sz="1400"/>
          </a:p>
        </p:txBody>
      </p:sp>
      <p:sp>
        <p:nvSpPr>
          <p:cNvPr id="28" name="Text 26"/>
          <p:cNvSpPr/>
          <p:nvPr/>
        </p:nvSpPr>
        <p:spPr>
          <a:xfrm>
            <a:off x="6263432" y="2692747"/>
            <a:ext cx="1218456" cy="157162"/>
          </a:xfrm>
          <a:prstGeom prst="rect">
            <a:avLst/>
          </a:prstGeom>
          <a:noFill/>
          <a:ln/>
        </p:spPr>
        <p:txBody>
          <a:bodyPr wrap="square" lIns="25400" tIns="25400" rIns="25400" bIns="25400" rtlCol="0" anchor="ctr">
            <a:noAutofit/>
          </a:bodyPr>
          <a:lstStyle/>
          <a:p>
            <a:pPr marL="0" indent="0" algn="l">
              <a:buNone/>
            </a:pPr>
            <a:r>
              <a:rPr lang="en-US" sz="1400" kern="0" spc="120" dirty="0">
                <a:solidFill>
                  <a:srgbClr val="888080"/>
                </a:solidFill>
                <a:latin typeface="JetBrains Mono" pitchFamily="34" charset="0"/>
                <a:ea typeface="JetBrains Mono" pitchFamily="34" charset="-122"/>
                <a:cs typeface="JetBrains Mono" pitchFamily="34" charset="-120"/>
              </a:rPr>
              <a:t>VAL</a:t>
            </a:r>
            <a:endParaRPr lang="en-US" sz="1400" dirty="0"/>
          </a:p>
        </p:txBody>
      </p:sp>
      <p:sp>
        <p:nvSpPr>
          <p:cNvPr id="29" name="Shape 27"/>
          <p:cNvSpPr/>
          <p:nvPr/>
        </p:nvSpPr>
        <p:spPr>
          <a:xfrm>
            <a:off x="7481887" y="2907060"/>
            <a:ext cx="1478905" cy="9525"/>
          </a:xfrm>
          <a:prstGeom prst="rect">
            <a:avLst/>
          </a:prstGeom>
          <a:solidFill>
            <a:srgbClr val="1A1A1A"/>
          </a:solidFill>
          <a:ln/>
        </p:spPr>
        <p:txBody>
          <a:bodyPr/>
          <a:lstStyle/>
          <a:p>
            <a:endParaRPr lang="he-IL" sz="1400"/>
          </a:p>
        </p:txBody>
      </p:sp>
      <p:sp>
        <p:nvSpPr>
          <p:cNvPr id="30" name="Text 28"/>
          <p:cNvSpPr/>
          <p:nvPr/>
        </p:nvSpPr>
        <p:spPr>
          <a:xfrm>
            <a:off x="7481887" y="2692747"/>
            <a:ext cx="1402705" cy="157162"/>
          </a:xfrm>
          <a:prstGeom prst="rect">
            <a:avLst/>
          </a:prstGeom>
          <a:noFill/>
          <a:ln/>
        </p:spPr>
        <p:txBody>
          <a:bodyPr wrap="square" lIns="25400" tIns="25400" rIns="25400" bIns="25400" rtlCol="0" anchor="ctr">
            <a:noAutofit/>
          </a:bodyPr>
          <a:lstStyle/>
          <a:p>
            <a:pPr marL="0" indent="0" algn="r">
              <a:buNone/>
            </a:pPr>
            <a:r>
              <a:rPr lang="en-US" sz="1400" kern="0" spc="120" dirty="0">
                <a:solidFill>
                  <a:srgbClr val="888080"/>
                </a:solidFill>
                <a:latin typeface="JetBrains Mono" pitchFamily="34" charset="0"/>
                <a:ea typeface="JetBrains Mono" pitchFamily="34" charset="-122"/>
                <a:cs typeface="JetBrains Mono" pitchFamily="34" charset="-120"/>
              </a:rPr>
              <a:t>GAP</a:t>
            </a:r>
            <a:endParaRPr lang="en-US" sz="1400" dirty="0"/>
          </a:p>
        </p:txBody>
      </p:sp>
      <p:sp>
        <p:nvSpPr>
          <p:cNvPr id="31" name="Shape 29"/>
          <p:cNvSpPr/>
          <p:nvPr/>
        </p:nvSpPr>
        <p:spPr>
          <a:xfrm>
            <a:off x="3019425" y="3288060"/>
            <a:ext cx="1873151" cy="9525"/>
          </a:xfrm>
          <a:prstGeom prst="rect">
            <a:avLst/>
          </a:prstGeom>
          <a:solidFill>
            <a:srgbClr val="E6DFCF"/>
          </a:solidFill>
          <a:ln/>
        </p:spPr>
        <p:txBody>
          <a:bodyPr/>
          <a:lstStyle/>
          <a:p>
            <a:endParaRPr lang="he-IL" sz="1400"/>
          </a:p>
        </p:txBody>
      </p:sp>
      <p:sp>
        <p:nvSpPr>
          <p:cNvPr id="32" name="Text 30"/>
          <p:cNvSpPr/>
          <p:nvPr/>
        </p:nvSpPr>
        <p:spPr>
          <a:xfrm>
            <a:off x="3095625" y="3021360"/>
            <a:ext cx="1796951" cy="200025"/>
          </a:xfrm>
          <a:prstGeom prst="rect">
            <a:avLst/>
          </a:prstGeom>
          <a:noFill/>
          <a:ln/>
        </p:spPr>
        <p:txBody>
          <a:bodyPr wrap="square" lIns="25400" tIns="25400" rIns="25400" bIns="25400" rtlCol="0" anchor="ctr">
            <a:noAutofit/>
          </a:bodyPr>
          <a:lstStyle/>
          <a:p>
            <a:pPr marL="0" indent="0" algn="l">
              <a:buNone/>
            </a:pPr>
            <a:r>
              <a:rPr lang="en-US" sz="1400" dirty="0">
                <a:solidFill>
                  <a:srgbClr val="1A1A1A"/>
                </a:solidFill>
                <a:latin typeface="Inter" pitchFamily="34" charset="0"/>
                <a:ea typeface="Inter" pitchFamily="34" charset="-122"/>
                <a:cs typeface="Inter" pitchFamily="34" charset="-120"/>
              </a:rPr>
              <a:t>Accuracy</a:t>
            </a:r>
            <a:endParaRPr lang="en-US" sz="1400" dirty="0"/>
          </a:p>
        </p:txBody>
      </p:sp>
      <p:sp>
        <p:nvSpPr>
          <p:cNvPr id="33" name="Shape 31"/>
          <p:cNvSpPr/>
          <p:nvPr/>
        </p:nvSpPr>
        <p:spPr>
          <a:xfrm>
            <a:off x="4892576" y="3288060"/>
            <a:ext cx="1294656" cy="9525"/>
          </a:xfrm>
          <a:prstGeom prst="rect">
            <a:avLst/>
          </a:prstGeom>
          <a:solidFill>
            <a:srgbClr val="E6DFCF"/>
          </a:solidFill>
          <a:ln/>
        </p:spPr>
        <p:txBody>
          <a:bodyPr/>
          <a:lstStyle/>
          <a:p>
            <a:endParaRPr lang="he-IL" sz="1400"/>
          </a:p>
        </p:txBody>
      </p:sp>
      <p:sp>
        <p:nvSpPr>
          <p:cNvPr id="34" name="Text 32"/>
          <p:cNvSpPr/>
          <p:nvPr/>
        </p:nvSpPr>
        <p:spPr>
          <a:xfrm>
            <a:off x="4968776" y="3021360"/>
            <a:ext cx="1218456" cy="200025"/>
          </a:xfrm>
          <a:prstGeom prst="rect">
            <a:avLst/>
          </a:prstGeom>
          <a:noFill/>
          <a:ln/>
        </p:spPr>
        <p:txBody>
          <a:bodyPr wrap="square" lIns="25400" tIns="25400" rIns="25400" bIns="25400" rtlCol="0" anchor="ctr">
            <a:noAutofit/>
          </a:bodyPr>
          <a:lstStyle/>
          <a:p>
            <a:pPr marL="0" indent="0" algn="l">
              <a:buNone/>
            </a:pPr>
            <a:r>
              <a:rPr lang="en-US" sz="1400" dirty="0">
                <a:solidFill>
                  <a:srgbClr val="1A1A1A"/>
                </a:solidFill>
                <a:latin typeface="JetBrains Mono" pitchFamily="34" charset="0"/>
                <a:ea typeface="JetBrains Mono" pitchFamily="34" charset="-122"/>
                <a:cs typeface="JetBrains Mono" pitchFamily="34" charset="-120"/>
              </a:rPr>
              <a:t>0.858</a:t>
            </a:r>
            <a:endParaRPr lang="en-US" sz="1400" dirty="0"/>
          </a:p>
        </p:txBody>
      </p:sp>
      <p:sp>
        <p:nvSpPr>
          <p:cNvPr id="35" name="Shape 33"/>
          <p:cNvSpPr/>
          <p:nvPr/>
        </p:nvSpPr>
        <p:spPr>
          <a:xfrm>
            <a:off x="6187232" y="3288060"/>
            <a:ext cx="1294656" cy="9525"/>
          </a:xfrm>
          <a:prstGeom prst="rect">
            <a:avLst/>
          </a:prstGeom>
          <a:solidFill>
            <a:srgbClr val="E6DFCF"/>
          </a:solidFill>
          <a:ln/>
        </p:spPr>
        <p:txBody>
          <a:bodyPr/>
          <a:lstStyle/>
          <a:p>
            <a:endParaRPr lang="he-IL" sz="1400"/>
          </a:p>
        </p:txBody>
      </p:sp>
      <p:sp>
        <p:nvSpPr>
          <p:cNvPr id="36" name="Text 34"/>
          <p:cNvSpPr/>
          <p:nvPr/>
        </p:nvSpPr>
        <p:spPr>
          <a:xfrm>
            <a:off x="6263432" y="3021360"/>
            <a:ext cx="1218456" cy="200025"/>
          </a:xfrm>
          <a:prstGeom prst="rect">
            <a:avLst/>
          </a:prstGeom>
          <a:noFill/>
          <a:ln/>
        </p:spPr>
        <p:txBody>
          <a:bodyPr wrap="square" lIns="25400" tIns="25400" rIns="25400" bIns="25400" rtlCol="0" anchor="ctr">
            <a:noAutofit/>
          </a:bodyPr>
          <a:lstStyle/>
          <a:p>
            <a:pPr marL="0" indent="0" algn="l">
              <a:buNone/>
            </a:pPr>
            <a:r>
              <a:rPr lang="en-US" sz="1400" dirty="0">
                <a:solidFill>
                  <a:srgbClr val="1A1A1A"/>
                </a:solidFill>
                <a:latin typeface="JetBrains Mono" pitchFamily="34" charset="0"/>
                <a:ea typeface="JetBrains Mono" pitchFamily="34" charset="-122"/>
                <a:cs typeface="JetBrains Mono" pitchFamily="34" charset="-120"/>
              </a:rPr>
              <a:t>0.823</a:t>
            </a:r>
            <a:endParaRPr lang="en-US" sz="1400" dirty="0"/>
          </a:p>
        </p:txBody>
      </p:sp>
      <p:sp>
        <p:nvSpPr>
          <p:cNvPr id="37" name="Shape 35"/>
          <p:cNvSpPr/>
          <p:nvPr/>
        </p:nvSpPr>
        <p:spPr>
          <a:xfrm>
            <a:off x="7481887" y="3288060"/>
            <a:ext cx="1478905" cy="9525"/>
          </a:xfrm>
          <a:prstGeom prst="rect">
            <a:avLst/>
          </a:prstGeom>
          <a:solidFill>
            <a:srgbClr val="E6DFCF"/>
          </a:solidFill>
          <a:ln/>
        </p:spPr>
        <p:txBody>
          <a:bodyPr/>
          <a:lstStyle/>
          <a:p>
            <a:endParaRPr lang="he-IL" sz="1400"/>
          </a:p>
        </p:txBody>
      </p:sp>
      <p:sp>
        <p:nvSpPr>
          <p:cNvPr id="38" name="Text 36"/>
          <p:cNvSpPr/>
          <p:nvPr/>
        </p:nvSpPr>
        <p:spPr>
          <a:xfrm>
            <a:off x="7481887" y="3021360"/>
            <a:ext cx="1402705" cy="200025"/>
          </a:xfrm>
          <a:prstGeom prst="rect">
            <a:avLst/>
          </a:prstGeom>
          <a:noFill/>
          <a:ln/>
        </p:spPr>
        <p:txBody>
          <a:bodyPr wrap="square" lIns="25400" tIns="25400" rIns="25400" bIns="25400" rtlCol="0" anchor="ctr">
            <a:noAutofit/>
          </a:bodyPr>
          <a:lstStyle/>
          <a:p>
            <a:pPr marL="0" indent="0" algn="r">
              <a:buNone/>
            </a:pPr>
            <a:r>
              <a:rPr lang="en-US" sz="1400" dirty="0">
                <a:solidFill>
                  <a:srgbClr val="1A1A1A"/>
                </a:solidFill>
                <a:latin typeface="JetBrains Mono" pitchFamily="34" charset="0"/>
                <a:ea typeface="JetBrains Mono" pitchFamily="34" charset="-122"/>
                <a:cs typeface="JetBrains Mono" pitchFamily="34" charset="-120"/>
              </a:rPr>
              <a:t>+0.035</a:t>
            </a:r>
            <a:endParaRPr lang="en-US" sz="1400" dirty="0"/>
          </a:p>
        </p:txBody>
      </p:sp>
      <p:sp>
        <p:nvSpPr>
          <p:cNvPr id="39" name="Shape 37"/>
          <p:cNvSpPr/>
          <p:nvPr/>
        </p:nvSpPr>
        <p:spPr>
          <a:xfrm>
            <a:off x="3019425" y="3705225"/>
            <a:ext cx="1873151" cy="9525"/>
          </a:xfrm>
          <a:prstGeom prst="rect">
            <a:avLst/>
          </a:prstGeom>
          <a:solidFill>
            <a:srgbClr val="E6DFCF"/>
          </a:solidFill>
          <a:ln/>
        </p:spPr>
        <p:txBody>
          <a:bodyPr/>
          <a:lstStyle/>
          <a:p>
            <a:endParaRPr lang="he-IL" sz="1400"/>
          </a:p>
        </p:txBody>
      </p:sp>
      <p:sp>
        <p:nvSpPr>
          <p:cNvPr id="40" name="Text 38"/>
          <p:cNvSpPr/>
          <p:nvPr/>
        </p:nvSpPr>
        <p:spPr>
          <a:xfrm>
            <a:off x="3095625" y="3402360"/>
            <a:ext cx="1796951" cy="236190"/>
          </a:xfrm>
          <a:prstGeom prst="rect">
            <a:avLst/>
          </a:prstGeom>
          <a:noFill/>
          <a:ln/>
        </p:spPr>
        <p:txBody>
          <a:bodyPr wrap="square" lIns="25400" tIns="25400" rIns="25400" bIns="25400" rtlCol="0" anchor="ctr">
            <a:noAutofit/>
          </a:bodyPr>
          <a:lstStyle/>
          <a:p>
            <a:pPr marL="0" indent="0" algn="l">
              <a:buNone/>
            </a:pPr>
            <a:r>
              <a:rPr lang="en-US" sz="1400" dirty="0">
                <a:solidFill>
                  <a:srgbClr val="1A1A1A"/>
                </a:solidFill>
                <a:latin typeface="Inter" pitchFamily="34" charset="0"/>
                <a:ea typeface="Inter" pitchFamily="34" charset="-122"/>
                <a:cs typeface="Inter" pitchFamily="34" charset="-120"/>
              </a:rPr>
              <a:t>F1</a:t>
            </a:r>
            <a:r>
              <a:rPr lang="en-US" sz="1400" baseline="-40000" dirty="0">
                <a:solidFill>
                  <a:srgbClr val="1A1A1A"/>
                </a:solidFill>
                <a:latin typeface="Inter" pitchFamily="34" charset="0"/>
                <a:ea typeface="Inter" pitchFamily="34" charset="-122"/>
                <a:cs typeface="Inter" pitchFamily="34" charset="-120"/>
              </a:rPr>
              <a:t>macro</a:t>
            </a:r>
            <a:endParaRPr lang="en-US" sz="1400" dirty="0"/>
          </a:p>
        </p:txBody>
      </p:sp>
      <p:sp>
        <p:nvSpPr>
          <p:cNvPr id="41" name="Shape 39"/>
          <p:cNvSpPr/>
          <p:nvPr/>
        </p:nvSpPr>
        <p:spPr>
          <a:xfrm>
            <a:off x="4892576" y="3705225"/>
            <a:ext cx="1294656" cy="9525"/>
          </a:xfrm>
          <a:prstGeom prst="rect">
            <a:avLst/>
          </a:prstGeom>
          <a:solidFill>
            <a:srgbClr val="E6DFCF"/>
          </a:solidFill>
          <a:ln/>
        </p:spPr>
        <p:txBody>
          <a:bodyPr/>
          <a:lstStyle/>
          <a:p>
            <a:endParaRPr lang="he-IL" sz="1400"/>
          </a:p>
        </p:txBody>
      </p:sp>
      <p:sp>
        <p:nvSpPr>
          <p:cNvPr id="42" name="Text 40"/>
          <p:cNvSpPr/>
          <p:nvPr/>
        </p:nvSpPr>
        <p:spPr>
          <a:xfrm>
            <a:off x="4968776" y="3402360"/>
            <a:ext cx="1218456" cy="236190"/>
          </a:xfrm>
          <a:prstGeom prst="rect">
            <a:avLst/>
          </a:prstGeom>
          <a:noFill/>
          <a:ln/>
        </p:spPr>
        <p:txBody>
          <a:bodyPr wrap="square" lIns="25400" tIns="25400" rIns="25400" bIns="25400" rtlCol="0" anchor="ctr">
            <a:noAutofit/>
          </a:bodyPr>
          <a:lstStyle/>
          <a:p>
            <a:pPr marL="0" indent="0" algn="l">
              <a:buNone/>
            </a:pPr>
            <a:r>
              <a:rPr lang="en-US" sz="1400" dirty="0">
                <a:solidFill>
                  <a:srgbClr val="1A1A1A"/>
                </a:solidFill>
                <a:latin typeface="JetBrains Mono" pitchFamily="34" charset="0"/>
                <a:ea typeface="JetBrains Mono" pitchFamily="34" charset="-122"/>
                <a:cs typeface="JetBrains Mono" pitchFamily="34" charset="-120"/>
              </a:rPr>
              <a:t>0.737</a:t>
            </a:r>
            <a:endParaRPr lang="en-US" sz="1400" dirty="0"/>
          </a:p>
        </p:txBody>
      </p:sp>
      <p:sp>
        <p:nvSpPr>
          <p:cNvPr id="43" name="Shape 41"/>
          <p:cNvSpPr/>
          <p:nvPr/>
        </p:nvSpPr>
        <p:spPr>
          <a:xfrm>
            <a:off x="6187232" y="3705225"/>
            <a:ext cx="1294656" cy="9525"/>
          </a:xfrm>
          <a:prstGeom prst="rect">
            <a:avLst/>
          </a:prstGeom>
          <a:solidFill>
            <a:srgbClr val="E6DFCF"/>
          </a:solidFill>
          <a:ln/>
        </p:spPr>
        <p:txBody>
          <a:bodyPr/>
          <a:lstStyle/>
          <a:p>
            <a:endParaRPr lang="he-IL" sz="1400"/>
          </a:p>
        </p:txBody>
      </p:sp>
      <p:sp>
        <p:nvSpPr>
          <p:cNvPr id="44" name="Text 42"/>
          <p:cNvSpPr/>
          <p:nvPr/>
        </p:nvSpPr>
        <p:spPr>
          <a:xfrm>
            <a:off x="6263432" y="3402360"/>
            <a:ext cx="1218456" cy="236190"/>
          </a:xfrm>
          <a:prstGeom prst="rect">
            <a:avLst/>
          </a:prstGeom>
          <a:noFill/>
          <a:ln/>
        </p:spPr>
        <p:txBody>
          <a:bodyPr wrap="square" lIns="25400" tIns="25400" rIns="25400" bIns="25400" rtlCol="0" anchor="ctr">
            <a:noAutofit/>
          </a:bodyPr>
          <a:lstStyle/>
          <a:p>
            <a:pPr marL="0" indent="0" algn="l">
              <a:buNone/>
            </a:pPr>
            <a:r>
              <a:rPr lang="en-US" sz="1400" dirty="0">
                <a:solidFill>
                  <a:srgbClr val="1A1A1A"/>
                </a:solidFill>
                <a:latin typeface="JetBrains Mono" pitchFamily="34" charset="0"/>
                <a:ea typeface="JetBrains Mono" pitchFamily="34" charset="-122"/>
                <a:cs typeface="JetBrains Mono" pitchFamily="34" charset="-120"/>
              </a:rPr>
              <a:t>0.663</a:t>
            </a:r>
            <a:endParaRPr lang="en-US" sz="1400" dirty="0"/>
          </a:p>
        </p:txBody>
      </p:sp>
      <p:sp>
        <p:nvSpPr>
          <p:cNvPr id="45" name="Shape 43"/>
          <p:cNvSpPr/>
          <p:nvPr/>
        </p:nvSpPr>
        <p:spPr>
          <a:xfrm>
            <a:off x="7481887" y="3705225"/>
            <a:ext cx="1478905" cy="9525"/>
          </a:xfrm>
          <a:prstGeom prst="rect">
            <a:avLst/>
          </a:prstGeom>
          <a:solidFill>
            <a:srgbClr val="E6DFCF"/>
          </a:solidFill>
          <a:ln/>
        </p:spPr>
        <p:txBody>
          <a:bodyPr/>
          <a:lstStyle/>
          <a:p>
            <a:endParaRPr lang="he-IL" sz="1400"/>
          </a:p>
        </p:txBody>
      </p:sp>
      <p:sp>
        <p:nvSpPr>
          <p:cNvPr id="46" name="Text 44"/>
          <p:cNvSpPr/>
          <p:nvPr/>
        </p:nvSpPr>
        <p:spPr>
          <a:xfrm>
            <a:off x="7481887" y="3402360"/>
            <a:ext cx="1402705" cy="236190"/>
          </a:xfrm>
          <a:prstGeom prst="rect">
            <a:avLst/>
          </a:prstGeom>
          <a:noFill/>
          <a:ln/>
        </p:spPr>
        <p:txBody>
          <a:bodyPr wrap="square" lIns="25400" tIns="25400" rIns="25400" bIns="25400" rtlCol="0" anchor="ctr">
            <a:noAutofit/>
          </a:bodyPr>
          <a:lstStyle/>
          <a:p>
            <a:pPr marL="0" indent="0" algn="r">
              <a:buNone/>
            </a:pPr>
            <a:r>
              <a:rPr lang="en-US" sz="1400" dirty="0">
                <a:solidFill>
                  <a:srgbClr val="1A1A1A"/>
                </a:solidFill>
                <a:latin typeface="JetBrains Mono" pitchFamily="34" charset="0"/>
                <a:ea typeface="JetBrains Mono" pitchFamily="34" charset="-122"/>
                <a:cs typeface="JetBrains Mono" pitchFamily="34" charset="-120"/>
              </a:rPr>
              <a:t>+0.075</a:t>
            </a:r>
            <a:endParaRPr lang="en-US" sz="1400" dirty="0"/>
          </a:p>
        </p:txBody>
      </p:sp>
      <p:sp>
        <p:nvSpPr>
          <p:cNvPr id="47" name="Shape 45"/>
          <p:cNvSpPr/>
          <p:nvPr/>
        </p:nvSpPr>
        <p:spPr>
          <a:xfrm>
            <a:off x="2781300" y="4110038"/>
            <a:ext cx="6417618" cy="1858417"/>
          </a:xfrm>
          <a:prstGeom prst="rect">
            <a:avLst/>
          </a:prstGeom>
          <a:solidFill>
            <a:srgbClr val="FFFFFF"/>
          </a:solidFill>
          <a:ln w="9525">
            <a:solidFill>
              <a:srgbClr val="D4CDBC"/>
            </a:solidFill>
            <a:prstDash val="solid"/>
          </a:ln>
        </p:spPr>
        <p:txBody>
          <a:bodyPr/>
          <a:lstStyle/>
          <a:p>
            <a:endParaRPr lang="he-IL" sz="1400"/>
          </a:p>
        </p:txBody>
      </p:sp>
      <p:sp>
        <p:nvSpPr>
          <p:cNvPr id="48" name="Text 46"/>
          <p:cNvSpPr/>
          <p:nvPr/>
        </p:nvSpPr>
        <p:spPr>
          <a:xfrm>
            <a:off x="3019425" y="4329113"/>
            <a:ext cx="6119609" cy="161925"/>
          </a:xfrm>
          <a:prstGeom prst="rect">
            <a:avLst/>
          </a:prstGeom>
          <a:noFill/>
          <a:ln/>
        </p:spPr>
        <p:txBody>
          <a:bodyPr wrap="square" lIns="25400" tIns="25400" rIns="25400" bIns="25400" rtlCol="0" anchor="t">
            <a:noAutofit/>
          </a:bodyPr>
          <a:lstStyle/>
          <a:p>
            <a:pPr marL="0" indent="0" algn="l">
              <a:buNone/>
            </a:pPr>
            <a:r>
              <a:rPr lang="en-US" sz="1400" b="1" kern="0" spc="135" dirty="0">
                <a:solidFill>
                  <a:srgbClr val="C25A2A"/>
                </a:solidFill>
                <a:latin typeface="JetBrains Mono" pitchFamily="34" charset="0"/>
                <a:ea typeface="JetBrains Mono" pitchFamily="34" charset="-122"/>
                <a:cs typeface="JetBrains Mono" pitchFamily="34" charset="-120"/>
              </a:rPr>
              <a:t>EXPERIMENT · 02 · SMOTE</a:t>
            </a:r>
            <a:endParaRPr lang="en-US" sz="1400" dirty="0"/>
          </a:p>
        </p:txBody>
      </p:sp>
      <p:sp>
        <p:nvSpPr>
          <p:cNvPr id="49" name="Text 47"/>
          <p:cNvSpPr/>
          <p:nvPr/>
        </p:nvSpPr>
        <p:spPr>
          <a:xfrm>
            <a:off x="3019425" y="4586825"/>
            <a:ext cx="6119609" cy="315367"/>
          </a:xfrm>
          <a:prstGeom prst="rect">
            <a:avLst/>
          </a:prstGeom>
          <a:noFill/>
          <a:ln/>
        </p:spPr>
        <p:txBody>
          <a:bodyPr wrap="square" lIns="25400" tIns="25400" rIns="25400" bIns="25400" rtlCol="0" anchor="t">
            <a:normAutofit/>
          </a:bodyPr>
          <a:lstStyle/>
          <a:p>
            <a:pPr marL="0" indent="0" algn="l">
              <a:lnSpc>
                <a:spcPct val="112000"/>
              </a:lnSpc>
              <a:buNone/>
            </a:pPr>
            <a:r>
              <a:rPr lang="en-US" sz="1400" kern="0" spc="-16" dirty="0">
                <a:solidFill>
                  <a:srgbClr val="1A1A1A"/>
                </a:solidFill>
                <a:latin typeface="Instrument Serif" pitchFamily="34" charset="0"/>
                <a:ea typeface="Instrument Serif" pitchFamily="34" charset="-122"/>
                <a:cs typeface="Instrument Serif" pitchFamily="34" charset="-120"/>
              </a:rPr>
              <a:t>Synthetic minority oversampling — </a:t>
            </a:r>
            <a:r>
              <a:rPr lang="en-US" sz="1400" i="1" kern="0" spc="-16" dirty="0">
                <a:solidFill>
                  <a:srgbClr val="1A1A1A"/>
                </a:solidFill>
                <a:latin typeface="Instrument Serif" pitchFamily="34" charset="0"/>
                <a:ea typeface="Instrument Serif" pitchFamily="34" charset="-122"/>
                <a:cs typeface="Instrument Serif" pitchFamily="34" charset="-120"/>
              </a:rPr>
              <a:t>did not improve</a:t>
            </a:r>
            <a:r>
              <a:rPr lang="en-US" sz="1400" kern="0" spc="-16" dirty="0">
                <a:solidFill>
                  <a:srgbClr val="1A1A1A"/>
                </a:solidFill>
                <a:latin typeface="Instrument Serif" pitchFamily="34" charset="0"/>
                <a:ea typeface="Instrument Serif" pitchFamily="34" charset="-122"/>
                <a:cs typeface="Instrument Serif" pitchFamily="34" charset="-120"/>
              </a:rPr>
              <a:t>.</a:t>
            </a:r>
            <a:endParaRPr lang="en-US" sz="1400" dirty="0"/>
          </a:p>
        </p:txBody>
      </p:sp>
      <p:sp>
        <p:nvSpPr>
          <p:cNvPr id="50" name="Text 48"/>
          <p:cNvSpPr/>
          <p:nvPr/>
        </p:nvSpPr>
        <p:spPr>
          <a:xfrm>
            <a:off x="3019425" y="4856309"/>
            <a:ext cx="6119609" cy="495300"/>
          </a:xfrm>
          <a:prstGeom prst="rect">
            <a:avLst/>
          </a:prstGeom>
          <a:noFill/>
          <a:ln/>
        </p:spPr>
        <p:txBody>
          <a:bodyPr wrap="square" lIns="25400" tIns="25400" rIns="25400" bIns="25400" rtlCol="0" anchor="t">
            <a:noAutofit/>
          </a:bodyPr>
          <a:lstStyle/>
          <a:p>
            <a:pPr marL="0" indent="0" algn="l">
              <a:lnSpc>
                <a:spcPct val="150000"/>
              </a:lnSpc>
              <a:buNone/>
            </a:pPr>
            <a:r>
              <a:rPr lang="en-US" sz="1400" dirty="0">
                <a:solidFill>
                  <a:srgbClr val="4A4A4A"/>
                </a:solidFill>
                <a:latin typeface="Inter" pitchFamily="34" charset="0"/>
                <a:ea typeface="Inter" pitchFamily="34" charset="-122"/>
                <a:cs typeface="Inter" pitchFamily="34" charset="-120"/>
              </a:rPr>
              <a:t>Targeted the early class. Synthetic samples introduced label noise that the model couldn't capitalize on.</a:t>
            </a:r>
            <a:endParaRPr lang="en-US" sz="1400" dirty="0"/>
          </a:p>
        </p:txBody>
      </p:sp>
      <p:sp>
        <p:nvSpPr>
          <p:cNvPr id="51" name="Shape 49"/>
          <p:cNvSpPr/>
          <p:nvPr/>
        </p:nvSpPr>
        <p:spPr>
          <a:xfrm>
            <a:off x="3019425" y="5530304"/>
            <a:ext cx="5941368" cy="219075"/>
          </a:xfrm>
          <a:prstGeom prst="rect">
            <a:avLst/>
          </a:prstGeom>
          <a:solidFill>
            <a:srgbClr val="EBE5D6"/>
          </a:solidFill>
          <a:ln w="9525">
            <a:solidFill>
              <a:srgbClr val="D4CDBC"/>
            </a:solidFill>
            <a:prstDash val="solid"/>
          </a:ln>
        </p:spPr>
        <p:txBody>
          <a:bodyPr/>
          <a:lstStyle/>
          <a:p>
            <a:endParaRPr lang="he-IL" sz="1400"/>
          </a:p>
        </p:txBody>
      </p:sp>
      <p:sp>
        <p:nvSpPr>
          <p:cNvPr id="52" name="Text 50"/>
          <p:cNvSpPr/>
          <p:nvPr/>
        </p:nvSpPr>
        <p:spPr>
          <a:xfrm>
            <a:off x="3114675" y="5577929"/>
            <a:ext cx="5929109" cy="161925"/>
          </a:xfrm>
          <a:prstGeom prst="rect">
            <a:avLst/>
          </a:prstGeom>
          <a:noFill/>
          <a:ln/>
        </p:spPr>
        <p:txBody>
          <a:bodyPr wrap="square" lIns="25400" tIns="25400" rIns="25400" bIns="25400" rtlCol="0" anchor="ctr">
            <a:noAutofit/>
          </a:bodyPr>
          <a:lstStyle/>
          <a:p>
            <a:pPr marL="0" indent="0" algn="l">
              <a:buNone/>
            </a:pPr>
            <a:r>
              <a:rPr lang="en-US" sz="1400" kern="0" spc="105" dirty="0">
                <a:solidFill>
                  <a:srgbClr val="1A1A1A"/>
                </a:solidFill>
                <a:latin typeface="JetBrains Mono" pitchFamily="34" charset="0"/>
                <a:ea typeface="JetBrains Mono" pitchFamily="34" charset="-122"/>
                <a:cs typeface="JetBrains Mono" pitchFamily="34" charset="-120"/>
              </a:rPr>
              <a:t>DROPPED</a:t>
            </a:r>
            <a:endParaRPr lang="en-US" sz="1400" dirty="0"/>
          </a:p>
        </p:txBody>
      </p:sp>
      <p:sp>
        <p:nvSpPr>
          <p:cNvPr id="53" name="Shape 51"/>
          <p:cNvSpPr/>
          <p:nvPr/>
        </p:nvSpPr>
        <p:spPr>
          <a:xfrm>
            <a:off x="2781300" y="6127025"/>
            <a:ext cx="6417618" cy="1858417"/>
          </a:xfrm>
          <a:prstGeom prst="rect">
            <a:avLst/>
          </a:prstGeom>
          <a:solidFill>
            <a:srgbClr val="FFFFFF"/>
          </a:solidFill>
          <a:ln w="9525">
            <a:solidFill>
              <a:srgbClr val="D4CDBC"/>
            </a:solidFill>
            <a:prstDash val="solid"/>
          </a:ln>
        </p:spPr>
        <p:txBody>
          <a:bodyPr/>
          <a:lstStyle/>
          <a:p>
            <a:endParaRPr lang="he-IL" sz="1400"/>
          </a:p>
        </p:txBody>
      </p:sp>
      <p:sp>
        <p:nvSpPr>
          <p:cNvPr id="54" name="Text 52"/>
          <p:cNvSpPr/>
          <p:nvPr/>
        </p:nvSpPr>
        <p:spPr>
          <a:xfrm>
            <a:off x="3019425" y="6358979"/>
            <a:ext cx="6119609" cy="161925"/>
          </a:xfrm>
          <a:prstGeom prst="rect">
            <a:avLst/>
          </a:prstGeom>
          <a:noFill/>
          <a:ln/>
        </p:spPr>
        <p:txBody>
          <a:bodyPr wrap="square" lIns="25400" tIns="25400" rIns="25400" bIns="25400" rtlCol="0" anchor="t">
            <a:noAutofit/>
          </a:bodyPr>
          <a:lstStyle/>
          <a:p>
            <a:pPr marL="0" indent="0" algn="l">
              <a:buNone/>
            </a:pPr>
            <a:r>
              <a:rPr lang="en-US" sz="1400" b="1" kern="0" spc="135" dirty="0">
                <a:solidFill>
                  <a:srgbClr val="C25A2A"/>
                </a:solidFill>
                <a:latin typeface="JetBrains Mono" pitchFamily="34" charset="0"/>
                <a:ea typeface="JetBrains Mono" pitchFamily="34" charset="-122"/>
                <a:cs typeface="JetBrains Mono" pitchFamily="34" charset="-120"/>
              </a:rPr>
              <a:t>EXPERIMENT · 04 · OPTUNA</a:t>
            </a:r>
            <a:endParaRPr lang="en-US" sz="1400" dirty="0"/>
          </a:p>
        </p:txBody>
      </p:sp>
      <p:sp>
        <p:nvSpPr>
          <p:cNvPr id="55" name="Text 53"/>
          <p:cNvSpPr/>
          <p:nvPr/>
        </p:nvSpPr>
        <p:spPr>
          <a:xfrm>
            <a:off x="3019425" y="6603812"/>
            <a:ext cx="6119609" cy="315367"/>
          </a:xfrm>
          <a:prstGeom prst="rect">
            <a:avLst/>
          </a:prstGeom>
          <a:noFill/>
          <a:ln/>
        </p:spPr>
        <p:txBody>
          <a:bodyPr wrap="square" lIns="25400" tIns="25400" rIns="25400" bIns="25400" rtlCol="0" anchor="t">
            <a:normAutofit/>
          </a:bodyPr>
          <a:lstStyle/>
          <a:p>
            <a:pPr marL="0" indent="0" algn="l">
              <a:lnSpc>
                <a:spcPct val="112000"/>
              </a:lnSpc>
              <a:buNone/>
            </a:pPr>
            <a:r>
              <a:rPr lang="en-US" sz="1400" kern="0" spc="-16" dirty="0">
                <a:solidFill>
                  <a:srgbClr val="1A1A1A"/>
                </a:solidFill>
                <a:latin typeface="Instrument Serif" pitchFamily="34" charset="0"/>
                <a:ea typeface="Instrument Serif" pitchFamily="34" charset="-122"/>
                <a:cs typeface="Instrument Serif" pitchFamily="34" charset="-120"/>
              </a:rPr>
              <a:t>Bayesian hyperparameter tuning.</a:t>
            </a:r>
            <a:endParaRPr lang="en-US" sz="1400" dirty="0"/>
          </a:p>
        </p:txBody>
      </p:sp>
      <p:sp>
        <p:nvSpPr>
          <p:cNvPr id="56" name="Text 54"/>
          <p:cNvSpPr/>
          <p:nvPr/>
        </p:nvSpPr>
        <p:spPr>
          <a:xfrm>
            <a:off x="3019425" y="6886176"/>
            <a:ext cx="6119609" cy="495300"/>
          </a:xfrm>
          <a:prstGeom prst="rect">
            <a:avLst/>
          </a:prstGeom>
          <a:noFill/>
          <a:ln/>
        </p:spPr>
        <p:txBody>
          <a:bodyPr wrap="square" lIns="25400" tIns="25400" rIns="25400" bIns="25400" rtlCol="0" anchor="t">
            <a:noAutofit/>
          </a:bodyPr>
          <a:lstStyle/>
          <a:p>
            <a:pPr marL="0" indent="0" algn="l">
              <a:lnSpc>
                <a:spcPct val="150000"/>
              </a:lnSpc>
              <a:buNone/>
            </a:pPr>
            <a:r>
              <a:rPr lang="en-US" sz="1400" dirty="0">
                <a:solidFill>
                  <a:srgbClr val="4A4A4A"/>
                </a:solidFill>
                <a:latin typeface="Inter" pitchFamily="34" charset="0"/>
                <a:ea typeface="Inter" pitchFamily="34" charset="-122"/>
                <a:cs typeface="Inter" pitchFamily="34" charset="-120"/>
              </a:rPr>
              <a:t>Searched depth, learning rate, subsample, colsample, regularization. </a:t>
            </a:r>
            <a:r>
              <a:rPr lang="en-US" sz="1400" dirty="0">
                <a:solidFill>
                  <a:srgbClr val="1A1A1A"/>
                </a:solidFill>
                <a:latin typeface="Inter" pitchFamily="34" charset="0"/>
                <a:ea typeface="Inter" pitchFamily="34" charset="-122"/>
                <a:cs typeface="Inter" pitchFamily="34" charset="-120"/>
              </a:rPr>
              <a:t>No further improvement </a:t>
            </a:r>
            <a:r>
              <a:rPr lang="en-US" sz="1400" dirty="0">
                <a:solidFill>
                  <a:srgbClr val="4A4A4A"/>
                </a:solidFill>
                <a:latin typeface="Inter" pitchFamily="34" charset="0"/>
                <a:ea typeface="Inter" pitchFamily="34" charset="-122"/>
                <a:cs typeface="Inter" pitchFamily="34" charset="-120"/>
              </a:rPr>
              <a:t>on top of threshold tuning.</a:t>
            </a:r>
            <a:endParaRPr lang="en-US" sz="1400" dirty="0"/>
          </a:p>
        </p:txBody>
      </p:sp>
      <p:sp>
        <p:nvSpPr>
          <p:cNvPr id="57" name="Shape 55"/>
          <p:cNvSpPr/>
          <p:nvPr/>
        </p:nvSpPr>
        <p:spPr>
          <a:xfrm>
            <a:off x="3019425" y="7560171"/>
            <a:ext cx="5941368" cy="219075"/>
          </a:xfrm>
          <a:prstGeom prst="rect">
            <a:avLst/>
          </a:prstGeom>
          <a:solidFill>
            <a:srgbClr val="EBE5D6"/>
          </a:solidFill>
          <a:ln w="9525">
            <a:solidFill>
              <a:srgbClr val="D4CDBC"/>
            </a:solidFill>
            <a:prstDash val="solid"/>
          </a:ln>
        </p:spPr>
        <p:txBody>
          <a:bodyPr/>
          <a:lstStyle/>
          <a:p>
            <a:endParaRPr lang="he-IL" sz="1400"/>
          </a:p>
        </p:txBody>
      </p:sp>
      <p:sp>
        <p:nvSpPr>
          <p:cNvPr id="58" name="Text 56"/>
          <p:cNvSpPr/>
          <p:nvPr/>
        </p:nvSpPr>
        <p:spPr>
          <a:xfrm>
            <a:off x="3114675" y="7607796"/>
            <a:ext cx="5929109" cy="161925"/>
          </a:xfrm>
          <a:prstGeom prst="rect">
            <a:avLst/>
          </a:prstGeom>
          <a:noFill/>
          <a:ln/>
        </p:spPr>
        <p:txBody>
          <a:bodyPr wrap="square" lIns="25400" tIns="25400" rIns="25400" bIns="25400" rtlCol="0" anchor="ctr">
            <a:noAutofit/>
          </a:bodyPr>
          <a:lstStyle/>
          <a:p>
            <a:pPr marL="0" indent="0" algn="l">
              <a:buNone/>
            </a:pPr>
            <a:r>
              <a:rPr lang="en-US" sz="1400" kern="0" spc="105" dirty="0">
                <a:solidFill>
                  <a:srgbClr val="1A1A1A"/>
                </a:solidFill>
                <a:latin typeface="JetBrains Mono" pitchFamily="34" charset="0"/>
                <a:ea typeface="JetBrains Mono" pitchFamily="34" charset="-122"/>
                <a:cs typeface="JetBrains Mono" pitchFamily="34" charset="-120"/>
              </a:rPr>
              <a:t>EVALUATED</a:t>
            </a:r>
            <a:endParaRPr lang="en-US" sz="1400" dirty="0"/>
          </a:p>
        </p:txBody>
      </p:sp>
      <p:sp>
        <p:nvSpPr>
          <p:cNvPr id="59" name="Shape 57"/>
          <p:cNvSpPr/>
          <p:nvPr/>
        </p:nvSpPr>
        <p:spPr>
          <a:xfrm>
            <a:off x="9503718" y="1748729"/>
            <a:ext cx="8022282" cy="4378295"/>
          </a:xfrm>
          <a:prstGeom prst="rect">
            <a:avLst/>
          </a:prstGeom>
          <a:solidFill>
            <a:srgbClr val="1A1A1A"/>
          </a:solidFill>
          <a:ln w="9525">
            <a:solidFill>
              <a:srgbClr val="1A1A1A"/>
            </a:solidFill>
            <a:prstDash val="solid"/>
          </a:ln>
        </p:spPr>
        <p:txBody>
          <a:bodyPr/>
          <a:lstStyle/>
          <a:p>
            <a:endParaRPr lang="he-IL" sz="1400"/>
          </a:p>
        </p:txBody>
      </p:sp>
      <p:sp>
        <p:nvSpPr>
          <p:cNvPr id="60" name="Text 58"/>
          <p:cNvSpPr/>
          <p:nvPr/>
        </p:nvSpPr>
        <p:spPr>
          <a:xfrm>
            <a:off x="9741843" y="1967805"/>
            <a:ext cx="7772413" cy="171450"/>
          </a:xfrm>
          <a:prstGeom prst="rect">
            <a:avLst/>
          </a:prstGeom>
          <a:noFill/>
          <a:ln/>
        </p:spPr>
        <p:txBody>
          <a:bodyPr wrap="square" lIns="25400" tIns="25400" rIns="25400" bIns="25400" rtlCol="0" anchor="t">
            <a:noAutofit/>
          </a:bodyPr>
          <a:lstStyle/>
          <a:p>
            <a:pPr marL="0" indent="0" algn="l">
              <a:buNone/>
            </a:pPr>
            <a:r>
              <a:rPr lang="en-US" sz="1400" b="1" kern="0" spc="135" dirty="0">
                <a:solidFill>
                  <a:srgbClr val="C25A2A"/>
                </a:solidFill>
                <a:latin typeface="JetBrains Mono" pitchFamily="34" charset="0"/>
                <a:ea typeface="JetBrains Mono" pitchFamily="34" charset="-122"/>
                <a:cs typeface="JetBrains Mono" pitchFamily="34" charset="-120"/>
              </a:rPr>
              <a:t>EXPERIMENT · 03 · THRESHOLD TUNING ★</a:t>
            </a:r>
            <a:endParaRPr lang="en-US" sz="1400" dirty="0"/>
          </a:p>
        </p:txBody>
      </p:sp>
      <p:sp>
        <p:nvSpPr>
          <p:cNvPr id="61" name="Text 59"/>
          <p:cNvSpPr/>
          <p:nvPr/>
        </p:nvSpPr>
        <p:spPr>
          <a:xfrm>
            <a:off x="9741843" y="2196405"/>
            <a:ext cx="7772413" cy="315367"/>
          </a:xfrm>
          <a:prstGeom prst="rect">
            <a:avLst/>
          </a:prstGeom>
          <a:noFill/>
          <a:ln/>
        </p:spPr>
        <p:txBody>
          <a:bodyPr wrap="square" lIns="25400" tIns="25400" rIns="25400" bIns="25400" rtlCol="0" anchor="t">
            <a:normAutofit/>
          </a:bodyPr>
          <a:lstStyle/>
          <a:p>
            <a:pPr marL="0" indent="0" algn="l">
              <a:lnSpc>
                <a:spcPct val="112000"/>
              </a:lnSpc>
              <a:buNone/>
            </a:pPr>
            <a:r>
              <a:rPr lang="en-US" sz="1400" i="1" kern="0" spc="-16" dirty="0">
                <a:solidFill>
                  <a:srgbClr val="C25A2A"/>
                </a:solidFill>
                <a:latin typeface="Instrument Serif" pitchFamily="34" charset="0"/>
                <a:ea typeface="Instrument Serif" pitchFamily="34" charset="-122"/>
                <a:cs typeface="Instrument Serif" pitchFamily="34" charset="-120"/>
              </a:rPr>
              <a:t>The lever that worked.</a:t>
            </a:r>
            <a:endParaRPr lang="en-US" sz="1400" dirty="0"/>
          </a:p>
        </p:txBody>
      </p:sp>
      <p:sp>
        <p:nvSpPr>
          <p:cNvPr id="62" name="Text 60"/>
          <p:cNvSpPr/>
          <p:nvPr/>
        </p:nvSpPr>
        <p:spPr>
          <a:xfrm>
            <a:off x="9741843" y="2568922"/>
            <a:ext cx="7772413" cy="306437"/>
          </a:xfrm>
          <a:prstGeom prst="rect">
            <a:avLst/>
          </a:prstGeom>
          <a:noFill/>
          <a:ln/>
        </p:spPr>
        <p:txBody>
          <a:bodyPr wrap="square" lIns="25400" tIns="25400" rIns="25400" bIns="25400" rtlCol="0" anchor="t">
            <a:noAutofit/>
          </a:bodyPr>
          <a:lstStyle/>
          <a:p>
            <a:pPr marL="0" indent="0" algn="l">
              <a:lnSpc>
                <a:spcPct val="150000"/>
              </a:lnSpc>
              <a:buNone/>
            </a:pPr>
            <a:r>
              <a:rPr lang="en-US" sz="1400" dirty="0">
                <a:solidFill>
                  <a:srgbClr val="FFFFFF">
                    <a:alpha val="78000"/>
                  </a:srgbClr>
                </a:solidFill>
                <a:latin typeface="Inter" pitchFamily="34" charset="0"/>
                <a:ea typeface="Inter" pitchFamily="34" charset="-122"/>
                <a:cs typeface="Inter" pitchFamily="34" charset="-120"/>
              </a:rPr>
              <a:t>Sweeping the decision threshold from 0.10 to 0.30, optimizing F1</a:t>
            </a:r>
            <a:r>
              <a:rPr lang="en-US" sz="1400" baseline="-40000" dirty="0">
                <a:solidFill>
                  <a:srgbClr val="FFFFFF">
                    <a:alpha val="78000"/>
                  </a:srgbClr>
                </a:solidFill>
                <a:latin typeface="Inter" pitchFamily="34" charset="0"/>
                <a:ea typeface="Inter" pitchFamily="34" charset="-122"/>
                <a:cs typeface="Inter" pitchFamily="34" charset="-120"/>
              </a:rPr>
              <a:t>delay+early</a:t>
            </a:r>
            <a:r>
              <a:rPr lang="en-US" sz="1400" dirty="0">
                <a:solidFill>
                  <a:srgbClr val="FFFFFF">
                    <a:alpha val="78000"/>
                  </a:srgbClr>
                </a:solidFill>
                <a:latin typeface="Inter" pitchFamily="34" charset="0"/>
                <a:ea typeface="Inter" pitchFamily="34" charset="-122"/>
                <a:cs typeface="Inter" pitchFamily="34" charset="-120"/>
              </a:rPr>
              <a:t>.</a:t>
            </a:r>
            <a:endParaRPr lang="en-US" sz="1400" dirty="0"/>
          </a:p>
        </p:txBody>
      </p:sp>
      <p:sp>
        <p:nvSpPr>
          <p:cNvPr id="63" name="Shape 61"/>
          <p:cNvSpPr/>
          <p:nvPr/>
        </p:nvSpPr>
        <p:spPr>
          <a:xfrm>
            <a:off x="9741843" y="3337322"/>
            <a:ext cx="1918246" cy="9525"/>
          </a:xfrm>
          <a:prstGeom prst="rect">
            <a:avLst/>
          </a:prstGeom>
          <a:solidFill>
            <a:srgbClr val="FFFFFF">
              <a:alpha val="50000"/>
            </a:srgbClr>
          </a:solidFill>
          <a:ln/>
        </p:spPr>
        <p:txBody>
          <a:bodyPr/>
          <a:lstStyle/>
          <a:p>
            <a:endParaRPr lang="he-IL" sz="1400"/>
          </a:p>
        </p:txBody>
      </p:sp>
      <p:sp>
        <p:nvSpPr>
          <p:cNvPr id="64" name="Text 62"/>
          <p:cNvSpPr/>
          <p:nvPr/>
        </p:nvSpPr>
        <p:spPr>
          <a:xfrm>
            <a:off x="9818043" y="3103959"/>
            <a:ext cx="1842046" cy="176213"/>
          </a:xfrm>
          <a:prstGeom prst="rect">
            <a:avLst/>
          </a:prstGeom>
          <a:noFill/>
          <a:ln/>
        </p:spPr>
        <p:txBody>
          <a:bodyPr wrap="square" lIns="25400" tIns="25400" rIns="25400" bIns="25400" rtlCol="0" anchor="ctr">
            <a:noAutofit/>
          </a:bodyPr>
          <a:lstStyle/>
          <a:p>
            <a:pPr marL="0" indent="0" algn="l">
              <a:buNone/>
            </a:pPr>
            <a:r>
              <a:rPr lang="en-US" sz="1400" kern="0" spc="120" dirty="0">
                <a:solidFill>
                  <a:srgbClr val="FFFFFF">
                    <a:alpha val="55000"/>
                  </a:srgbClr>
                </a:solidFill>
                <a:latin typeface="JetBrains Mono" pitchFamily="34" charset="0"/>
                <a:ea typeface="JetBrains Mono" pitchFamily="34" charset="-122"/>
                <a:cs typeface="JetBrains Mono" pitchFamily="34" charset="-120"/>
              </a:rPr>
              <a:t>THRESHOLD</a:t>
            </a:r>
            <a:endParaRPr lang="en-US" sz="1400" dirty="0"/>
          </a:p>
        </p:txBody>
      </p:sp>
      <p:sp>
        <p:nvSpPr>
          <p:cNvPr id="65" name="Shape 63"/>
          <p:cNvSpPr/>
          <p:nvPr/>
        </p:nvSpPr>
        <p:spPr>
          <a:xfrm>
            <a:off x="11660088" y="3337322"/>
            <a:ext cx="1250007" cy="9525"/>
          </a:xfrm>
          <a:prstGeom prst="rect">
            <a:avLst/>
          </a:prstGeom>
          <a:solidFill>
            <a:srgbClr val="FFFFFF">
              <a:alpha val="50000"/>
            </a:srgbClr>
          </a:solidFill>
          <a:ln/>
        </p:spPr>
        <p:txBody>
          <a:bodyPr/>
          <a:lstStyle/>
          <a:p>
            <a:endParaRPr lang="he-IL" sz="1400"/>
          </a:p>
        </p:txBody>
      </p:sp>
      <p:sp>
        <p:nvSpPr>
          <p:cNvPr id="66" name="Text 64"/>
          <p:cNvSpPr/>
          <p:nvPr/>
        </p:nvSpPr>
        <p:spPr>
          <a:xfrm>
            <a:off x="11736288" y="3103959"/>
            <a:ext cx="1173807" cy="176213"/>
          </a:xfrm>
          <a:prstGeom prst="rect">
            <a:avLst/>
          </a:prstGeom>
          <a:noFill/>
          <a:ln/>
        </p:spPr>
        <p:txBody>
          <a:bodyPr wrap="square" lIns="25400" tIns="25400" rIns="25400" bIns="25400" rtlCol="0" anchor="ctr">
            <a:noAutofit/>
          </a:bodyPr>
          <a:lstStyle/>
          <a:p>
            <a:pPr marL="0" indent="0" algn="l">
              <a:buNone/>
            </a:pPr>
            <a:r>
              <a:rPr lang="en-US" sz="1400" kern="0" spc="120" dirty="0">
                <a:solidFill>
                  <a:srgbClr val="FFFFFF">
                    <a:alpha val="55000"/>
                  </a:srgbClr>
                </a:solidFill>
                <a:latin typeface="JetBrains Mono" pitchFamily="34" charset="0"/>
                <a:ea typeface="JetBrains Mono" pitchFamily="34" charset="-122"/>
                <a:cs typeface="JetBrains Mono" pitchFamily="34" charset="-120"/>
              </a:rPr>
              <a:t>ACC</a:t>
            </a:r>
            <a:endParaRPr lang="en-US" sz="1400" dirty="0"/>
          </a:p>
        </p:txBody>
      </p:sp>
      <p:sp>
        <p:nvSpPr>
          <p:cNvPr id="67" name="Shape 65"/>
          <p:cNvSpPr/>
          <p:nvPr/>
        </p:nvSpPr>
        <p:spPr>
          <a:xfrm>
            <a:off x="12910096" y="3337322"/>
            <a:ext cx="1459111" cy="9525"/>
          </a:xfrm>
          <a:prstGeom prst="rect">
            <a:avLst/>
          </a:prstGeom>
          <a:solidFill>
            <a:srgbClr val="FFFFFF">
              <a:alpha val="50000"/>
            </a:srgbClr>
          </a:solidFill>
          <a:ln/>
        </p:spPr>
        <p:txBody>
          <a:bodyPr/>
          <a:lstStyle/>
          <a:p>
            <a:endParaRPr lang="he-IL" sz="1400"/>
          </a:p>
        </p:txBody>
      </p:sp>
      <p:sp>
        <p:nvSpPr>
          <p:cNvPr id="68" name="Text 66"/>
          <p:cNvSpPr/>
          <p:nvPr/>
        </p:nvSpPr>
        <p:spPr>
          <a:xfrm>
            <a:off x="12986296" y="3103959"/>
            <a:ext cx="1382911" cy="176213"/>
          </a:xfrm>
          <a:prstGeom prst="rect">
            <a:avLst/>
          </a:prstGeom>
          <a:noFill/>
          <a:ln/>
        </p:spPr>
        <p:txBody>
          <a:bodyPr wrap="square" lIns="25400" tIns="25400" rIns="25400" bIns="25400" rtlCol="0" anchor="ctr">
            <a:noAutofit/>
          </a:bodyPr>
          <a:lstStyle/>
          <a:p>
            <a:pPr marL="0" indent="0" algn="l">
              <a:buNone/>
            </a:pPr>
            <a:r>
              <a:rPr lang="en-US" sz="1400" kern="0" spc="120" dirty="0">
                <a:solidFill>
                  <a:srgbClr val="FFFFFF">
                    <a:alpha val="55000"/>
                  </a:srgbClr>
                </a:solidFill>
                <a:latin typeface="JetBrains Mono" pitchFamily="34" charset="0"/>
                <a:ea typeface="JetBrains Mono" pitchFamily="34" charset="-122"/>
                <a:cs typeface="JetBrains Mono" pitchFamily="34" charset="-120"/>
              </a:rPr>
              <a:t>F1</a:t>
            </a:r>
            <a:r>
              <a:rPr lang="en-US" sz="1400" kern="0" spc="120" baseline="-40000" dirty="0">
                <a:solidFill>
                  <a:srgbClr val="FFFFFF">
                    <a:alpha val="55000"/>
                  </a:srgbClr>
                </a:solidFill>
                <a:latin typeface="JetBrains Mono" pitchFamily="34" charset="0"/>
                <a:ea typeface="JetBrains Mono" pitchFamily="34" charset="-122"/>
                <a:cs typeface="JetBrains Mono" pitchFamily="34" charset="-120"/>
              </a:rPr>
              <a:t>EARLY</a:t>
            </a:r>
            <a:endParaRPr lang="en-US" sz="1400" dirty="0"/>
          </a:p>
        </p:txBody>
      </p:sp>
      <p:sp>
        <p:nvSpPr>
          <p:cNvPr id="69" name="Shape 67"/>
          <p:cNvSpPr/>
          <p:nvPr/>
        </p:nvSpPr>
        <p:spPr>
          <a:xfrm>
            <a:off x="14369207" y="3337322"/>
            <a:ext cx="1459111" cy="9525"/>
          </a:xfrm>
          <a:prstGeom prst="rect">
            <a:avLst/>
          </a:prstGeom>
          <a:solidFill>
            <a:srgbClr val="FFFFFF">
              <a:alpha val="50000"/>
            </a:srgbClr>
          </a:solidFill>
          <a:ln/>
        </p:spPr>
        <p:txBody>
          <a:bodyPr/>
          <a:lstStyle/>
          <a:p>
            <a:endParaRPr lang="he-IL" sz="1400"/>
          </a:p>
        </p:txBody>
      </p:sp>
      <p:sp>
        <p:nvSpPr>
          <p:cNvPr id="70" name="Text 68"/>
          <p:cNvSpPr/>
          <p:nvPr/>
        </p:nvSpPr>
        <p:spPr>
          <a:xfrm>
            <a:off x="14445407" y="3103959"/>
            <a:ext cx="1382911" cy="176213"/>
          </a:xfrm>
          <a:prstGeom prst="rect">
            <a:avLst/>
          </a:prstGeom>
          <a:noFill/>
          <a:ln/>
        </p:spPr>
        <p:txBody>
          <a:bodyPr wrap="square" lIns="25400" tIns="25400" rIns="25400" bIns="25400" rtlCol="0" anchor="ctr">
            <a:noAutofit/>
          </a:bodyPr>
          <a:lstStyle/>
          <a:p>
            <a:pPr marL="0" indent="0" algn="l">
              <a:buNone/>
            </a:pPr>
            <a:r>
              <a:rPr lang="en-US" sz="1400" kern="0" spc="120" dirty="0">
                <a:solidFill>
                  <a:srgbClr val="FFFFFF">
                    <a:alpha val="55000"/>
                  </a:srgbClr>
                </a:solidFill>
                <a:latin typeface="JetBrains Mono" pitchFamily="34" charset="0"/>
                <a:ea typeface="JetBrains Mono" pitchFamily="34" charset="-122"/>
                <a:cs typeface="JetBrains Mono" pitchFamily="34" charset="-120"/>
              </a:rPr>
              <a:t>F1</a:t>
            </a:r>
            <a:r>
              <a:rPr lang="en-US" sz="1400" kern="0" spc="120" baseline="-40000" dirty="0">
                <a:solidFill>
                  <a:srgbClr val="FFFFFF">
                    <a:alpha val="55000"/>
                  </a:srgbClr>
                </a:solidFill>
                <a:latin typeface="JetBrains Mono" pitchFamily="34" charset="0"/>
                <a:ea typeface="JetBrains Mono" pitchFamily="34" charset="-122"/>
                <a:cs typeface="JetBrains Mono" pitchFamily="34" charset="-120"/>
              </a:rPr>
              <a:t>DELAY</a:t>
            </a:r>
            <a:endParaRPr lang="en-US" sz="1400" dirty="0"/>
          </a:p>
        </p:txBody>
      </p:sp>
      <p:sp>
        <p:nvSpPr>
          <p:cNvPr id="71" name="Shape 69"/>
          <p:cNvSpPr/>
          <p:nvPr/>
        </p:nvSpPr>
        <p:spPr>
          <a:xfrm>
            <a:off x="15828318" y="3337322"/>
            <a:ext cx="1459557" cy="9525"/>
          </a:xfrm>
          <a:prstGeom prst="rect">
            <a:avLst/>
          </a:prstGeom>
          <a:solidFill>
            <a:srgbClr val="FFFFFF">
              <a:alpha val="50000"/>
            </a:srgbClr>
          </a:solidFill>
          <a:ln/>
        </p:spPr>
        <p:txBody>
          <a:bodyPr/>
          <a:lstStyle/>
          <a:p>
            <a:endParaRPr lang="he-IL" sz="1400"/>
          </a:p>
        </p:txBody>
      </p:sp>
      <p:sp>
        <p:nvSpPr>
          <p:cNvPr id="72" name="Text 70"/>
          <p:cNvSpPr/>
          <p:nvPr/>
        </p:nvSpPr>
        <p:spPr>
          <a:xfrm>
            <a:off x="15904518" y="3103959"/>
            <a:ext cx="1383357" cy="176213"/>
          </a:xfrm>
          <a:prstGeom prst="rect">
            <a:avLst/>
          </a:prstGeom>
          <a:noFill/>
          <a:ln/>
        </p:spPr>
        <p:txBody>
          <a:bodyPr wrap="square" lIns="25400" tIns="25400" rIns="25400" bIns="25400" rtlCol="0" anchor="ctr">
            <a:noAutofit/>
          </a:bodyPr>
          <a:lstStyle/>
          <a:p>
            <a:pPr marL="0" indent="0" algn="l">
              <a:buNone/>
            </a:pPr>
            <a:r>
              <a:rPr lang="en-US" sz="1400" kern="0" spc="120" dirty="0">
                <a:solidFill>
                  <a:srgbClr val="FFFFFF">
                    <a:alpha val="55000"/>
                  </a:srgbClr>
                </a:solidFill>
                <a:latin typeface="JetBrains Mono" pitchFamily="34" charset="0"/>
                <a:ea typeface="JetBrains Mono" pitchFamily="34" charset="-122"/>
                <a:cs typeface="JetBrains Mono" pitchFamily="34" charset="-120"/>
              </a:rPr>
              <a:t>F1</a:t>
            </a:r>
            <a:r>
              <a:rPr lang="en-US" sz="1400" kern="0" spc="120" baseline="-40000" dirty="0">
                <a:solidFill>
                  <a:srgbClr val="FFFFFF">
                    <a:alpha val="55000"/>
                  </a:srgbClr>
                </a:solidFill>
                <a:latin typeface="JetBrains Mono" pitchFamily="34" charset="0"/>
                <a:ea typeface="JetBrains Mono" pitchFamily="34" charset="-122"/>
                <a:cs typeface="JetBrains Mono" pitchFamily="34" charset="-120"/>
              </a:rPr>
              <a:t>DE+EA</a:t>
            </a:r>
            <a:endParaRPr lang="en-US" sz="1400" dirty="0"/>
          </a:p>
        </p:txBody>
      </p:sp>
      <p:sp>
        <p:nvSpPr>
          <p:cNvPr id="73" name="Shape 71"/>
          <p:cNvSpPr/>
          <p:nvPr/>
        </p:nvSpPr>
        <p:spPr>
          <a:xfrm>
            <a:off x="9741843" y="3718322"/>
            <a:ext cx="1918246" cy="9525"/>
          </a:xfrm>
          <a:prstGeom prst="rect">
            <a:avLst/>
          </a:prstGeom>
          <a:solidFill>
            <a:srgbClr val="FFFFFF">
              <a:alpha val="20000"/>
            </a:srgbClr>
          </a:solidFill>
          <a:ln/>
        </p:spPr>
        <p:txBody>
          <a:bodyPr/>
          <a:lstStyle/>
          <a:p>
            <a:endParaRPr lang="he-IL" sz="1400"/>
          </a:p>
        </p:txBody>
      </p:sp>
      <p:sp>
        <p:nvSpPr>
          <p:cNvPr id="74" name="Text 72"/>
          <p:cNvSpPr/>
          <p:nvPr/>
        </p:nvSpPr>
        <p:spPr>
          <a:xfrm>
            <a:off x="9818043" y="3451622"/>
            <a:ext cx="1842046" cy="200025"/>
          </a:xfrm>
          <a:prstGeom prst="rect">
            <a:avLst/>
          </a:prstGeom>
          <a:noFill/>
          <a:ln/>
        </p:spPr>
        <p:txBody>
          <a:bodyPr wrap="square" lIns="25400" tIns="25400" rIns="25400" bIns="25400" rtlCol="0" anchor="ctr">
            <a:noAutofit/>
          </a:bodyPr>
          <a:lstStyle/>
          <a:p>
            <a:pPr marL="0" indent="0" algn="l">
              <a:buNone/>
            </a:pPr>
            <a:r>
              <a:rPr lang="en-US" sz="1400" dirty="0">
                <a:solidFill>
                  <a:srgbClr val="F5F1E8"/>
                </a:solidFill>
                <a:latin typeface="JetBrains Mono" pitchFamily="34" charset="0"/>
                <a:ea typeface="JetBrains Mono" pitchFamily="34" charset="-122"/>
                <a:cs typeface="JetBrains Mono" pitchFamily="34" charset="-120"/>
              </a:rPr>
              <a:t>0.10</a:t>
            </a:r>
            <a:endParaRPr lang="en-US" sz="1400" dirty="0"/>
          </a:p>
        </p:txBody>
      </p:sp>
      <p:sp>
        <p:nvSpPr>
          <p:cNvPr id="75" name="Shape 73"/>
          <p:cNvSpPr/>
          <p:nvPr/>
        </p:nvSpPr>
        <p:spPr>
          <a:xfrm>
            <a:off x="11660088" y="3718322"/>
            <a:ext cx="1250007" cy="9525"/>
          </a:xfrm>
          <a:prstGeom prst="rect">
            <a:avLst/>
          </a:prstGeom>
          <a:solidFill>
            <a:srgbClr val="FFFFFF">
              <a:alpha val="20000"/>
            </a:srgbClr>
          </a:solidFill>
          <a:ln/>
        </p:spPr>
        <p:txBody>
          <a:bodyPr/>
          <a:lstStyle/>
          <a:p>
            <a:endParaRPr lang="he-IL" sz="1400"/>
          </a:p>
        </p:txBody>
      </p:sp>
      <p:sp>
        <p:nvSpPr>
          <p:cNvPr id="76" name="Text 74"/>
          <p:cNvSpPr/>
          <p:nvPr/>
        </p:nvSpPr>
        <p:spPr>
          <a:xfrm>
            <a:off x="11736288" y="3451622"/>
            <a:ext cx="1173807" cy="200025"/>
          </a:xfrm>
          <a:prstGeom prst="rect">
            <a:avLst/>
          </a:prstGeom>
          <a:noFill/>
          <a:ln/>
        </p:spPr>
        <p:txBody>
          <a:bodyPr wrap="square" lIns="25400" tIns="25400" rIns="25400" bIns="25400" rtlCol="0" anchor="ctr">
            <a:noAutofit/>
          </a:bodyPr>
          <a:lstStyle/>
          <a:p>
            <a:pPr marL="0" indent="0" algn="l">
              <a:buNone/>
            </a:pPr>
            <a:r>
              <a:rPr lang="en-US" sz="1400" dirty="0">
                <a:solidFill>
                  <a:srgbClr val="FFFFFF">
                    <a:alpha val="85000"/>
                  </a:srgbClr>
                </a:solidFill>
                <a:latin typeface="JetBrains Mono" pitchFamily="34" charset="0"/>
                <a:ea typeface="JetBrains Mono" pitchFamily="34" charset="-122"/>
                <a:cs typeface="JetBrains Mono" pitchFamily="34" charset="-120"/>
              </a:rPr>
              <a:t>0.803</a:t>
            </a:r>
            <a:endParaRPr lang="en-US" sz="1400" dirty="0"/>
          </a:p>
        </p:txBody>
      </p:sp>
      <p:sp>
        <p:nvSpPr>
          <p:cNvPr id="77" name="Shape 75"/>
          <p:cNvSpPr/>
          <p:nvPr/>
        </p:nvSpPr>
        <p:spPr>
          <a:xfrm>
            <a:off x="12910096" y="3718322"/>
            <a:ext cx="1459111" cy="9525"/>
          </a:xfrm>
          <a:prstGeom prst="rect">
            <a:avLst/>
          </a:prstGeom>
          <a:solidFill>
            <a:srgbClr val="FFFFFF">
              <a:alpha val="20000"/>
            </a:srgbClr>
          </a:solidFill>
          <a:ln/>
        </p:spPr>
        <p:txBody>
          <a:bodyPr/>
          <a:lstStyle/>
          <a:p>
            <a:endParaRPr lang="he-IL" sz="1400"/>
          </a:p>
        </p:txBody>
      </p:sp>
      <p:sp>
        <p:nvSpPr>
          <p:cNvPr id="78" name="Text 76"/>
          <p:cNvSpPr/>
          <p:nvPr/>
        </p:nvSpPr>
        <p:spPr>
          <a:xfrm>
            <a:off x="12986296" y="3451622"/>
            <a:ext cx="1382911" cy="200025"/>
          </a:xfrm>
          <a:prstGeom prst="rect">
            <a:avLst/>
          </a:prstGeom>
          <a:noFill/>
          <a:ln/>
        </p:spPr>
        <p:txBody>
          <a:bodyPr wrap="square" lIns="25400" tIns="25400" rIns="25400" bIns="25400" rtlCol="0" anchor="ctr">
            <a:noAutofit/>
          </a:bodyPr>
          <a:lstStyle/>
          <a:p>
            <a:pPr marL="0" indent="0" algn="l">
              <a:buNone/>
            </a:pPr>
            <a:r>
              <a:rPr lang="en-US" sz="1400" dirty="0">
                <a:solidFill>
                  <a:srgbClr val="FFFFFF">
                    <a:alpha val="85000"/>
                  </a:srgbClr>
                </a:solidFill>
                <a:latin typeface="JetBrains Mono" pitchFamily="34" charset="0"/>
                <a:ea typeface="JetBrains Mono" pitchFamily="34" charset="-122"/>
                <a:cs typeface="JetBrains Mono" pitchFamily="34" charset="-120"/>
              </a:rPr>
              <a:t>0.452</a:t>
            </a:r>
            <a:endParaRPr lang="en-US" sz="1400" dirty="0"/>
          </a:p>
        </p:txBody>
      </p:sp>
      <p:sp>
        <p:nvSpPr>
          <p:cNvPr id="79" name="Shape 77"/>
          <p:cNvSpPr/>
          <p:nvPr/>
        </p:nvSpPr>
        <p:spPr>
          <a:xfrm>
            <a:off x="14369207" y="3718322"/>
            <a:ext cx="1459111" cy="9525"/>
          </a:xfrm>
          <a:prstGeom prst="rect">
            <a:avLst/>
          </a:prstGeom>
          <a:solidFill>
            <a:srgbClr val="FFFFFF">
              <a:alpha val="20000"/>
            </a:srgbClr>
          </a:solidFill>
          <a:ln/>
        </p:spPr>
        <p:txBody>
          <a:bodyPr/>
          <a:lstStyle/>
          <a:p>
            <a:endParaRPr lang="he-IL" sz="1400"/>
          </a:p>
        </p:txBody>
      </p:sp>
      <p:sp>
        <p:nvSpPr>
          <p:cNvPr id="80" name="Text 78"/>
          <p:cNvSpPr/>
          <p:nvPr/>
        </p:nvSpPr>
        <p:spPr>
          <a:xfrm>
            <a:off x="14445407" y="3451622"/>
            <a:ext cx="1382911" cy="200025"/>
          </a:xfrm>
          <a:prstGeom prst="rect">
            <a:avLst/>
          </a:prstGeom>
          <a:noFill/>
          <a:ln/>
        </p:spPr>
        <p:txBody>
          <a:bodyPr wrap="square" lIns="25400" tIns="25400" rIns="25400" bIns="25400" rtlCol="0" anchor="ctr">
            <a:noAutofit/>
          </a:bodyPr>
          <a:lstStyle/>
          <a:p>
            <a:pPr marL="0" indent="0" algn="l">
              <a:buNone/>
            </a:pPr>
            <a:r>
              <a:rPr lang="en-US" sz="1400" dirty="0">
                <a:solidFill>
                  <a:srgbClr val="FFFFFF">
                    <a:alpha val="85000"/>
                  </a:srgbClr>
                </a:solidFill>
                <a:latin typeface="JetBrains Mono" pitchFamily="34" charset="0"/>
                <a:ea typeface="JetBrains Mono" pitchFamily="34" charset="-122"/>
                <a:cs typeface="JetBrains Mono" pitchFamily="34" charset="-120"/>
              </a:rPr>
              <a:t>0.893</a:t>
            </a:r>
            <a:endParaRPr lang="en-US" sz="1400" dirty="0"/>
          </a:p>
        </p:txBody>
      </p:sp>
      <p:sp>
        <p:nvSpPr>
          <p:cNvPr id="81" name="Shape 79"/>
          <p:cNvSpPr/>
          <p:nvPr/>
        </p:nvSpPr>
        <p:spPr>
          <a:xfrm>
            <a:off x="15828318" y="3718322"/>
            <a:ext cx="1459557" cy="9525"/>
          </a:xfrm>
          <a:prstGeom prst="rect">
            <a:avLst/>
          </a:prstGeom>
          <a:solidFill>
            <a:srgbClr val="FFFFFF">
              <a:alpha val="20000"/>
            </a:srgbClr>
          </a:solidFill>
          <a:ln/>
        </p:spPr>
        <p:txBody>
          <a:bodyPr/>
          <a:lstStyle/>
          <a:p>
            <a:endParaRPr lang="he-IL" sz="1400"/>
          </a:p>
        </p:txBody>
      </p:sp>
      <p:sp>
        <p:nvSpPr>
          <p:cNvPr id="82" name="Text 80"/>
          <p:cNvSpPr/>
          <p:nvPr/>
        </p:nvSpPr>
        <p:spPr>
          <a:xfrm>
            <a:off x="15904518" y="3451622"/>
            <a:ext cx="1383357" cy="200025"/>
          </a:xfrm>
          <a:prstGeom prst="rect">
            <a:avLst/>
          </a:prstGeom>
          <a:noFill/>
          <a:ln/>
        </p:spPr>
        <p:txBody>
          <a:bodyPr wrap="square" lIns="25400" tIns="25400" rIns="25400" bIns="25400" rtlCol="0" anchor="ctr">
            <a:noAutofit/>
          </a:bodyPr>
          <a:lstStyle/>
          <a:p>
            <a:pPr marL="0" indent="0" algn="l">
              <a:buNone/>
            </a:pPr>
            <a:r>
              <a:rPr lang="en-US" sz="1400" dirty="0">
                <a:solidFill>
                  <a:srgbClr val="FFFFFF">
                    <a:alpha val="85000"/>
                  </a:srgbClr>
                </a:solidFill>
                <a:latin typeface="JetBrains Mono" pitchFamily="34" charset="0"/>
                <a:ea typeface="JetBrains Mono" pitchFamily="34" charset="-122"/>
                <a:cs typeface="JetBrains Mono" pitchFamily="34" charset="-120"/>
              </a:rPr>
              <a:t>0.672</a:t>
            </a:r>
            <a:endParaRPr lang="en-US" sz="1400" dirty="0"/>
          </a:p>
        </p:txBody>
      </p:sp>
      <p:sp>
        <p:nvSpPr>
          <p:cNvPr id="83" name="Shape 81"/>
          <p:cNvSpPr/>
          <p:nvPr/>
        </p:nvSpPr>
        <p:spPr>
          <a:xfrm>
            <a:off x="9741843" y="4099322"/>
            <a:ext cx="1918246" cy="9525"/>
          </a:xfrm>
          <a:prstGeom prst="rect">
            <a:avLst/>
          </a:prstGeom>
          <a:solidFill>
            <a:srgbClr val="FFFFFF">
              <a:alpha val="20000"/>
            </a:srgbClr>
          </a:solidFill>
          <a:ln/>
        </p:spPr>
        <p:txBody>
          <a:bodyPr/>
          <a:lstStyle/>
          <a:p>
            <a:endParaRPr lang="he-IL" sz="1400"/>
          </a:p>
        </p:txBody>
      </p:sp>
      <p:sp>
        <p:nvSpPr>
          <p:cNvPr id="84" name="Text 82"/>
          <p:cNvSpPr/>
          <p:nvPr/>
        </p:nvSpPr>
        <p:spPr>
          <a:xfrm>
            <a:off x="9818043" y="3832622"/>
            <a:ext cx="1842046" cy="200025"/>
          </a:xfrm>
          <a:prstGeom prst="rect">
            <a:avLst/>
          </a:prstGeom>
          <a:noFill/>
          <a:ln/>
        </p:spPr>
        <p:txBody>
          <a:bodyPr wrap="square" lIns="25400" tIns="25400" rIns="25400" bIns="25400" rtlCol="0" anchor="ctr">
            <a:noAutofit/>
          </a:bodyPr>
          <a:lstStyle/>
          <a:p>
            <a:pPr marL="0" indent="0" algn="l">
              <a:buNone/>
            </a:pPr>
            <a:r>
              <a:rPr lang="en-US" sz="1400" dirty="0">
                <a:solidFill>
                  <a:srgbClr val="F5F1E8"/>
                </a:solidFill>
                <a:latin typeface="JetBrains Mono" pitchFamily="34" charset="0"/>
                <a:ea typeface="JetBrains Mono" pitchFamily="34" charset="-122"/>
                <a:cs typeface="JetBrains Mono" pitchFamily="34" charset="-120"/>
              </a:rPr>
              <a:t>0.15</a:t>
            </a:r>
            <a:endParaRPr lang="en-US" sz="1400" dirty="0"/>
          </a:p>
        </p:txBody>
      </p:sp>
      <p:sp>
        <p:nvSpPr>
          <p:cNvPr id="85" name="Shape 83"/>
          <p:cNvSpPr/>
          <p:nvPr/>
        </p:nvSpPr>
        <p:spPr>
          <a:xfrm>
            <a:off x="11660088" y="4099322"/>
            <a:ext cx="1250007" cy="9525"/>
          </a:xfrm>
          <a:prstGeom prst="rect">
            <a:avLst/>
          </a:prstGeom>
          <a:solidFill>
            <a:srgbClr val="FFFFFF">
              <a:alpha val="20000"/>
            </a:srgbClr>
          </a:solidFill>
          <a:ln/>
        </p:spPr>
        <p:txBody>
          <a:bodyPr/>
          <a:lstStyle/>
          <a:p>
            <a:endParaRPr lang="he-IL" sz="1400"/>
          </a:p>
        </p:txBody>
      </p:sp>
      <p:sp>
        <p:nvSpPr>
          <p:cNvPr id="86" name="Text 84"/>
          <p:cNvSpPr/>
          <p:nvPr/>
        </p:nvSpPr>
        <p:spPr>
          <a:xfrm>
            <a:off x="11736288" y="3832622"/>
            <a:ext cx="1173807" cy="200025"/>
          </a:xfrm>
          <a:prstGeom prst="rect">
            <a:avLst/>
          </a:prstGeom>
          <a:noFill/>
          <a:ln/>
        </p:spPr>
        <p:txBody>
          <a:bodyPr wrap="square" lIns="25400" tIns="25400" rIns="25400" bIns="25400" rtlCol="0" anchor="ctr">
            <a:noAutofit/>
          </a:bodyPr>
          <a:lstStyle/>
          <a:p>
            <a:pPr marL="0" indent="0" algn="l">
              <a:buNone/>
            </a:pPr>
            <a:r>
              <a:rPr lang="en-US" sz="1400" dirty="0">
                <a:solidFill>
                  <a:srgbClr val="FFFFFF">
                    <a:alpha val="85000"/>
                  </a:srgbClr>
                </a:solidFill>
                <a:latin typeface="JetBrains Mono" pitchFamily="34" charset="0"/>
                <a:ea typeface="JetBrains Mono" pitchFamily="34" charset="-122"/>
                <a:cs typeface="JetBrains Mono" pitchFamily="34" charset="-120"/>
              </a:rPr>
              <a:t>0.816</a:t>
            </a:r>
            <a:endParaRPr lang="en-US" sz="1400" dirty="0"/>
          </a:p>
        </p:txBody>
      </p:sp>
      <p:sp>
        <p:nvSpPr>
          <p:cNvPr id="87" name="Shape 85"/>
          <p:cNvSpPr/>
          <p:nvPr/>
        </p:nvSpPr>
        <p:spPr>
          <a:xfrm>
            <a:off x="12910096" y="4099322"/>
            <a:ext cx="1459111" cy="9525"/>
          </a:xfrm>
          <a:prstGeom prst="rect">
            <a:avLst/>
          </a:prstGeom>
          <a:solidFill>
            <a:srgbClr val="FFFFFF">
              <a:alpha val="20000"/>
            </a:srgbClr>
          </a:solidFill>
          <a:ln/>
        </p:spPr>
        <p:txBody>
          <a:bodyPr/>
          <a:lstStyle/>
          <a:p>
            <a:endParaRPr lang="he-IL" sz="1400"/>
          </a:p>
        </p:txBody>
      </p:sp>
      <p:sp>
        <p:nvSpPr>
          <p:cNvPr id="88" name="Text 86"/>
          <p:cNvSpPr/>
          <p:nvPr/>
        </p:nvSpPr>
        <p:spPr>
          <a:xfrm>
            <a:off x="12986296" y="3832622"/>
            <a:ext cx="1382911" cy="200025"/>
          </a:xfrm>
          <a:prstGeom prst="rect">
            <a:avLst/>
          </a:prstGeom>
          <a:noFill/>
          <a:ln/>
        </p:spPr>
        <p:txBody>
          <a:bodyPr wrap="square" lIns="25400" tIns="25400" rIns="25400" bIns="25400" rtlCol="0" anchor="ctr">
            <a:noAutofit/>
          </a:bodyPr>
          <a:lstStyle/>
          <a:p>
            <a:pPr marL="0" indent="0" algn="l">
              <a:buNone/>
            </a:pPr>
            <a:r>
              <a:rPr lang="en-US" sz="1400" dirty="0">
                <a:solidFill>
                  <a:srgbClr val="FFFFFF">
                    <a:alpha val="85000"/>
                  </a:srgbClr>
                </a:solidFill>
                <a:latin typeface="JetBrains Mono" pitchFamily="34" charset="0"/>
                <a:ea typeface="JetBrains Mono" pitchFamily="34" charset="-122"/>
                <a:cs typeface="JetBrains Mono" pitchFamily="34" charset="-120"/>
              </a:rPr>
              <a:t>0.493</a:t>
            </a:r>
            <a:endParaRPr lang="en-US" sz="1400" dirty="0"/>
          </a:p>
        </p:txBody>
      </p:sp>
      <p:sp>
        <p:nvSpPr>
          <p:cNvPr id="89" name="Shape 87"/>
          <p:cNvSpPr/>
          <p:nvPr/>
        </p:nvSpPr>
        <p:spPr>
          <a:xfrm>
            <a:off x="14369207" y="4099322"/>
            <a:ext cx="1459111" cy="9525"/>
          </a:xfrm>
          <a:prstGeom prst="rect">
            <a:avLst/>
          </a:prstGeom>
          <a:solidFill>
            <a:srgbClr val="FFFFFF">
              <a:alpha val="20000"/>
            </a:srgbClr>
          </a:solidFill>
          <a:ln/>
        </p:spPr>
        <p:txBody>
          <a:bodyPr/>
          <a:lstStyle/>
          <a:p>
            <a:endParaRPr lang="he-IL" sz="1400"/>
          </a:p>
        </p:txBody>
      </p:sp>
      <p:sp>
        <p:nvSpPr>
          <p:cNvPr id="90" name="Text 88"/>
          <p:cNvSpPr/>
          <p:nvPr/>
        </p:nvSpPr>
        <p:spPr>
          <a:xfrm>
            <a:off x="14445407" y="3832622"/>
            <a:ext cx="1382911" cy="200025"/>
          </a:xfrm>
          <a:prstGeom prst="rect">
            <a:avLst/>
          </a:prstGeom>
          <a:noFill/>
          <a:ln/>
        </p:spPr>
        <p:txBody>
          <a:bodyPr wrap="square" lIns="25400" tIns="25400" rIns="25400" bIns="25400" rtlCol="0" anchor="ctr">
            <a:noAutofit/>
          </a:bodyPr>
          <a:lstStyle/>
          <a:p>
            <a:pPr marL="0" indent="0" algn="l">
              <a:buNone/>
            </a:pPr>
            <a:r>
              <a:rPr lang="en-US" sz="1400" dirty="0">
                <a:solidFill>
                  <a:srgbClr val="FFFFFF">
                    <a:alpha val="85000"/>
                  </a:srgbClr>
                </a:solidFill>
                <a:latin typeface="JetBrains Mono" pitchFamily="34" charset="0"/>
                <a:ea typeface="JetBrains Mono" pitchFamily="34" charset="-122"/>
                <a:cs typeface="JetBrains Mono" pitchFamily="34" charset="-120"/>
              </a:rPr>
              <a:t>0.895</a:t>
            </a:r>
            <a:endParaRPr lang="en-US" sz="1400" dirty="0"/>
          </a:p>
        </p:txBody>
      </p:sp>
      <p:sp>
        <p:nvSpPr>
          <p:cNvPr id="91" name="Shape 89"/>
          <p:cNvSpPr/>
          <p:nvPr/>
        </p:nvSpPr>
        <p:spPr>
          <a:xfrm>
            <a:off x="15828318" y="4099322"/>
            <a:ext cx="1459557" cy="9525"/>
          </a:xfrm>
          <a:prstGeom prst="rect">
            <a:avLst/>
          </a:prstGeom>
          <a:solidFill>
            <a:srgbClr val="FFFFFF">
              <a:alpha val="20000"/>
            </a:srgbClr>
          </a:solidFill>
          <a:ln/>
        </p:spPr>
        <p:txBody>
          <a:bodyPr/>
          <a:lstStyle/>
          <a:p>
            <a:endParaRPr lang="he-IL" sz="1400"/>
          </a:p>
        </p:txBody>
      </p:sp>
      <p:sp>
        <p:nvSpPr>
          <p:cNvPr id="92" name="Text 90"/>
          <p:cNvSpPr/>
          <p:nvPr/>
        </p:nvSpPr>
        <p:spPr>
          <a:xfrm>
            <a:off x="15904518" y="3832622"/>
            <a:ext cx="1383357" cy="200025"/>
          </a:xfrm>
          <a:prstGeom prst="rect">
            <a:avLst/>
          </a:prstGeom>
          <a:noFill/>
          <a:ln/>
        </p:spPr>
        <p:txBody>
          <a:bodyPr wrap="square" lIns="25400" tIns="25400" rIns="25400" bIns="25400" rtlCol="0" anchor="ctr">
            <a:noAutofit/>
          </a:bodyPr>
          <a:lstStyle/>
          <a:p>
            <a:pPr marL="0" indent="0" algn="l">
              <a:buNone/>
            </a:pPr>
            <a:r>
              <a:rPr lang="en-US" sz="1400" dirty="0">
                <a:solidFill>
                  <a:srgbClr val="FFFFFF">
                    <a:alpha val="85000"/>
                  </a:srgbClr>
                </a:solidFill>
                <a:latin typeface="JetBrains Mono" pitchFamily="34" charset="0"/>
                <a:ea typeface="JetBrains Mono" pitchFamily="34" charset="-122"/>
                <a:cs typeface="JetBrains Mono" pitchFamily="34" charset="-120"/>
              </a:rPr>
              <a:t>0.694</a:t>
            </a:r>
            <a:endParaRPr lang="en-US" sz="1400" dirty="0"/>
          </a:p>
        </p:txBody>
      </p:sp>
      <p:sp>
        <p:nvSpPr>
          <p:cNvPr id="93" name="Shape 91"/>
          <p:cNvSpPr/>
          <p:nvPr/>
        </p:nvSpPr>
        <p:spPr>
          <a:xfrm>
            <a:off x="9741843" y="4108847"/>
            <a:ext cx="7546032" cy="390525"/>
          </a:xfrm>
          <a:prstGeom prst="rect">
            <a:avLst/>
          </a:prstGeom>
          <a:solidFill>
            <a:srgbClr val="C25A2A">
              <a:alpha val="18000"/>
            </a:srgbClr>
          </a:solidFill>
          <a:ln/>
        </p:spPr>
        <p:txBody>
          <a:bodyPr/>
          <a:lstStyle/>
          <a:p>
            <a:endParaRPr lang="he-IL" sz="1400"/>
          </a:p>
        </p:txBody>
      </p:sp>
      <p:sp>
        <p:nvSpPr>
          <p:cNvPr id="94" name="Shape 92"/>
          <p:cNvSpPr/>
          <p:nvPr/>
        </p:nvSpPr>
        <p:spPr>
          <a:xfrm>
            <a:off x="9741843" y="4489847"/>
            <a:ext cx="1918246" cy="9525"/>
          </a:xfrm>
          <a:prstGeom prst="rect">
            <a:avLst/>
          </a:prstGeom>
          <a:solidFill>
            <a:srgbClr val="FFFFFF">
              <a:alpha val="20000"/>
            </a:srgbClr>
          </a:solidFill>
          <a:ln/>
        </p:spPr>
        <p:txBody>
          <a:bodyPr/>
          <a:lstStyle/>
          <a:p>
            <a:endParaRPr lang="he-IL" sz="1400"/>
          </a:p>
        </p:txBody>
      </p:sp>
      <p:sp>
        <p:nvSpPr>
          <p:cNvPr id="95" name="Text 93"/>
          <p:cNvSpPr/>
          <p:nvPr/>
        </p:nvSpPr>
        <p:spPr>
          <a:xfrm>
            <a:off x="9818043" y="4213622"/>
            <a:ext cx="1842046" cy="209550"/>
          </a:xfrm>
          <a:prstGeom prst="rect">
            <a:avLst/>
          </a:prstGeom>
          <a:noFill/>
          <a:ln/>
        </p:spPr>
        <p:txBody>
          <a:bodyPr wrap="square" lIns="25400" tIns="25400" rIns="25400" bIns="25400" rtlCol="0" anchor="ctr">
            <a:noAutofit/>
          </a:bodyPr>
          <a:lstStyle/>
          <a:p>
            <a:pPr marL="0" indent="0" algn="l">
              <a:buNone/>
            </a:pPr>
            <a:r>
              <a:rPr lang="en-US" sz="1400" b="1" dirty="0">
                <a:solidFill>
                  <a:srgbClr val="C25A2A"/>
                </a:solidFill>
                <a:latin typeface="JetBrains Mono" pitchFamily="34" charset="0"/>
                <a:ea typeface="JetBrains Mono" pitchFamily="34" charset="-122"/>
                <a:cs typeface="JetBrains Mono" pitchFamily="34" charset="-120"/>
              </a:rPr>
              <a:t>0.20 ★</a:t>
            </a:r>
            <a:endParaRPr lang="en-US" sz="1400" dirty="0"/>
          </a:p>
        </p:txBody>
      </p:sp>
      <p:sp>
        <p:nvSpPr>
          <p:cNvPr id="96" name="Shape 94"/>
          <p:cNvSpPr/>
          <p:nvPr/>
        </p:nvSpPr>
        <p:spPr>
          <a:xfrm>
            <a:off x="11660088" y="4489847"/>
            <a:ext cx="1250007" cy="9525"/>
          </a:xfrm>
          <a:prstGeom prst="rect">
            <a:avLst/>
          </a:prstGeom>
          <a:solidFill>
            <a:srgbClr val="FFFFFF">
              <a:alpha val="20000"/>
            </a:srgbClr>
          </a:solidFill>
          <a:ln/>
        </p:spPr>
        <p:txBody>
          <a:bodyPr/>
          <a:lstStyle/>
          <a:p>
            <a:endParaRPr lang="he-IL" sz="1400"/>
          </a:p>
        </p:txBody>
      </p:sp>
      <p:sp>
        <p:nvSpPr>
          <p:cNvPr id="97" name="Text 95"/>
          <p:cNvSpPr/>
          <p:nvPr/>
        </p:nvSpPr>
        <p:spPr>
          <a:xfrm>
            <a:off x="11736288" y="4213622"/>
            <a:ext cx="1173807" cy="209550"/>
          </a:xfrm>
          <a:prstGeom prst="rect">
            <a:avLst/>
          </a:prstGeom>
          <a:noFill/>
          <a:ln/>
        </p:spPr>
        <p:txBody>
          <a:bodyPr wrap="square" lIns="25400" tIns="25400" rIns="25400" bIns="25400" rtlCol="0" anchor="ctr">
            <a:noAutofit/>
          </a:bodyPr>
          <a:lstStyle/>
          <a:p>
            <a:pPr marL="0" indent="0" algn="l">
              <a:buNone/>
            </a:pPr>
            <a:r>
              <a:rPr lang="en-US" sz="1400" b="1" dirty="0">
                <a:solidFill>
                  <a:srgbClr val="F5F1E8"/>
                </a:solidFill>
                <a:latin typeface="JetBrains Mono" pitchFamily="34" charset="0"/>
                <a:ea typeface="JetBrains Mono" pitchFamily="34" charset="-122"/>
                <a:cs typeface="JetBrains Mono" pitchFamily="34" charset="-120"/>
              </a:rPr>
              <a:t>0.821</a:t>
            </a:r>
            <a:endParaRPr lang="en-US" sz="1400" dirty="0"/>
          </a:p>
        </p:txBody>
      </p:sp>
      <p:sp>
        <p:nvSpPr>
          <p:cNvPr id="98" name="Shape 96"/>
          <p:cNvSpPr/>
          <p:nvPr/>
        </p:nvSpPr>
        <p:spPr>
          <a:xfrm>
            <a:off x="12910096" y="4489847"/>
            <a:ext cx="1459111" cy="9525"/>
          </a:xfrm>
          <a:prstGeom prst="rect">
            <a:avLst/>
          </a:prstGeom>
          <a:solidFill>
            <a:srgbClr val="FFFFFF">
              <a:alpha val="20000"/>
            </a:srgbClr>
          </a:solidFill>
          <a:ln/>
        </p:spPr>
        <p:txBody>
          <a:bodyPr/>
          <a:lstStyle/>
          <a:p>
            <a:endParaRPr lang="he-IL" sz="1400"/>
          </a:p>
        </p:txBody>
      </p:sp>
      <p:sp>
        <p:nvSpPr>
          <p:cNvPr id="99" name="Text 97"/>
          <p:cNvSpPr/>
          <p:nvPr/>
        </p:nvSpPr>
        <p:spPr>
          <a:xfrm>
            <a:off x="12986296" y="4213622"/>
            <a:ext cx="1382911" cy="209550"/>
          </a:xfrm>
          <a:prstGeom prst="rect">
            <a:avLst/>
          </a:prstGeom>
          <a:noFill/>
          <a:ln/>
        </p:spPr>
        <p:txBody>
          <a:bodyPr wrap="square" lIns="25400" tIns="25400" rIns="25400" bIns="25400" rtlCol="0" anchor="ctr">
            <a:noAutofit/>
          </a:bodyPr>
          <a:lstStyle/>
          <a:p>
            <a:pPr marL="0" indent="0" algn="l">
              <a:buNone/>
            </a:pPr>
            <a:r>
              <a:rPr lang="en-US" sz="1400" b="1" dirty="0">
                <a:solidFill>
                  <a:srgbClr val="F5F1E8"/>
                </a:solidFill>
                <a:latin typeface="JetBrains Mono" pitchFamily="34" charset="0"/>
                <a:ea typeface="JetBrains Mono" pitchFamily="34" charset="-122"/>
                <a:cs typeface="JetBrains Mono" pitchFamily="34" charset="-120"/>
              </a:rPr>
              <a:t>0.511</a:t>
            </a:r>
            <a:endParaRPr lang="en-US" sz="1400" dirty="0"/>
          </a:p>
        </p:txBody>
      </p:sp>
      <p:sp>
        <p:nvSpPr>
          <p:cNvPr id="100" name="Shape 98"/>
          <p:cNvSpPr/>
          <p:nvPr/>
        </p:nvSpPr>
        <p:spPr>
          <a:xfrm>
            <a:off x="14369207" y="4489847"/>
            <a:ext cx="1459111" cy="9525"/>
          </a:xfrm>
          <a:prstGeom prst="rect">
            <a:avLst/>
          </a:prstGeom>
          <a:solidFill>
            <a:srgbClr val="FFFFFF">
              <a:alpha val="20000"/>
            </a:srgbClr>
          </a:solidFill>
          <a:ln/>
        </p:spPr>
        <p:txBody>
          <a:bodyPr/>
          <a:lstStyle/>
          <a:p>
            <a:endParaRPr lang="he-IL" sz="1400"/>
          </a:p>
        </p:txBody>
      </p:sp>
      <p:sp>
        <p:nvSpPr>
          <p:cNvPr id="101" name="Text 99"/>
          <p:cNvSpPr/>
          <p:nvPr/>
        </p:nvSpPr>
        <p:spPr>
          <a:xfrm>
            <a:off x="14445407" y="4213622"/>
            <a:ext cx="1382911" cy="209550"/>
          </a:xfrm>
          <a:prstGeom prst="rect">
            <a:avLst/>
          </a:prstGeom>
          <a:noFill/>
          <a:ln/>
        </p:spPr>
        <p:txBody>
          <a:bodyPr wrap="square" lIns="25400" tIns="25400" rIns="25400" bIns="25400" rtlCol="0" anchor="ctr">
            <a:noAutofit/>
          </a:bodyPr>
          <a:lstStyle/>
          <a:p>
            <a:pPr marL="0" indent="0" algn="l">
              <a:buNone/>
            </a:pPr>
            <a:r>
              <a:rPr lang="en-US" sz="1400" b="1" dirty="0">
                <a:solidFill>
                  <a:srgbClr val="F5F1E8"/>
                </a:solidFill>
                <a:latin typeface="JetBrains Mono" pitchFamily="34" charset="0"/>
                <a:ea typeface="JetBrains Mono" pitchFamily="34" charset="-122"/>
                <a:cs typeface="JetBrains Mono" pitchFamily="34" charset="-120"/>
              </a:rPr>
              <a:t>0.895</a:t>
            </a:r>
            <a:endParaRPr lang="en-US" sz="1400" dirty="0"/>
          </a:p>
        </p:txBody>
      </p:sp>
      <p:sp>
        <p:nvSpPr>
          <p:cNvPr id="102" name="Shape 100"/>
          <p:cNvSpPr/>
          <p:nvPr/>
        </p:nvSpPr>
        <p:spPr>
          <a:xfrm>
            <a:off x="15828318" y="4489847"/>
            <a:ext cx="1459557" cy="9525"/>
          </a:xfrm>
          <a:prstGeom prst="rect">
            <a:avLst/>
          </a:prstGeom>
          <a:solidFill>
            <a:srgbClr val="FFFFFF">
              <a:alpha val="20000"/>
            </a:srgbClr>
          </a:solidFill>
          <a:ln/>
        </p:spPr>
        <p:txBody>
          <a:bodyPr/>
          <a:lstStyle/>
          <a:p>
            <a:endParaRPr lang="he-IL" sz="1400"/>
          </a:p>
        </p:txBody>
      </p:sp>
      <p:sp>
        <p:nvSpPr>
          <p:cNvPr id="103" name="Text 101"/>
          <p:cNvSpPr/>
          <p:nvPr/>
        </p:nvSpPr>
        <p:spPr>
          <a:xfrm>
            <a:off x="15904518" y="4213622"/>
            <a:ext cx="1383357" cy="209550"/>
          </a:xfrm>
          <a:prstGeom prst="rect">
            <a:avLst/>
          </a:prstGeom>
          <a:noFill/>
          <a:ln/>
        </p:spPr>
        <p:txBody>
          <a:bodyPr wrap="square" lIns="25400" tIns="25400" rIns="25400" bIns="25400" rtlCol="0" anchor="ctr">
            <a:noAutofit/>
          </a:bodyPr>
          <a:lstStyle/>
          <a:p>
            <a:pPr marL="0" indent="0" algn="l">
              <a:buNone/>
            </a:pPr>
            <a:r>
              <a:rPr lang="en-US" sz="1400" b="1" dirty="0">
                <a:solidFill>
                  <a:srgbClr val="C25A2A"/>
                </a:solidFill>
                <a:latin typeface="JetBrains Mono" pitchFamily="34" charset="0"/>
                <a:ea typeface="JetBrains Mono" pitchFamily="34" charset="-122"/>
                <a:cs typeface="JetBrains Mono" pitchFamily="34" charset="-120"/>
              </a:rPr>
              <a:t>0.703</a:t>
            </a:r>
            <a:endParaRPr lang="en-US" sz="1400" dirty="0"/>
          </a:p>
        </p:txBody>
      </p:sp>
      <p:sp>
        <p:nvSpPr>
          <p:cNvPr id="104" name="Shape 102"/>
          <p:cNvSpPr/>
          <p:nvPr/>
        </p:nvSpPr>
        <p:spPr>
          <a:xfrm>
            <a:off x="9741843" y="4870847"/>
            <a:ext cx="1918246" cy="9525"/>
          </a:xfrm>
          <a:prstGeom prst="rect">
            <a:avLst/>
          </a:prstGeom>
          <a:solidFill>
            <a:srgbClr val="FFFFFF">
              <a:alpha val="20000"/>
            </a:srgbClr>
          </a:solidFill>
          <a:ln/>
        </p:spPr>
        <p:txBody>
          <a:bodyPr/>
          <a:lstStyle/>
          <a:p>
            <a:endParaRPr lang="he-IL" sz="1400"/>
          </a:p>
        </p:txBody>
      </p:sp>
      <p:sp>
        <p:nvSpPr>
          <p:cNvPr id="105" name="Text 103"/>
          <p:cNvSpPr/>
          <p:nvPr/>
        </p:nvSpPr>
        <p:spPr>
          <a:xfrm>
            <a:off x="9818043" y="4604147"/>
            <a:ext cx="1842046" cy="200025"/>
          </a:xfrm>
          <a:prstGeom prst="rect">
            <a:avLst/>
          </a:prstGeom>
          <a:noFill/>
          <a:ln/>
        </p:spPr>
        <p:txBody>
          <a:bodyPr wrap="square" lIns="25400" tIns="25400" rIns="25400" bIns="25400" rtlCol="0" anchor="ctr">
            <a:noAutofit/>
          </a:bodyPr>
          <a:lstStyle/>
          <a:p>
            <a:pPr marL="0" indent="0" algn="l">
              <a:buNone/>
            </a:pPr>
            <a:r>
              <a:rPr lang="en-US" sz="1400" dirty="0">
                <a:solidFill>
                  <a:srgbClr val="F5F1E8"/>
                </a:solidFill>
                <a:latin typeface="JetBrains Mono" pitchFamily="34" charset="0"/>
                <a:ea typeface="JetBrains Mono" pitchFamily="34" charset="-122"/>
                <a:cs typeface="JetBrains Mono" pitchFamily="34" charset="-120"/>
              </a:rPr>
              <a:t>0.25</a:t>
            </a:r>
            <a:endParaRPr lang="en-US" sz="1400" dirty="0"/>
          </a:p>
        </p:txBody>
      </p:sp>
      <p:sp>
        <p:nvSpPr>
          <p:cNvPr id="106" name="Shape 104"/>
          <p:cNvSpPr/>
          <p:nvPr/>
        </p:nvSpPr>
        <p:spPr>
          <a:xfrm>
            <a:off x="11660088" y="4870847"/>
            <a:ext cx="1250007" cy="9525"/>
          </a:xfrm>
          <a:prstGeom prst="rect">
            <a:avLst/>
          </a:prstGeom>
          <a:solidFill>
            <a:srgbClr val="FFFFFF">
              <a:alpha val="20000"/>
            </a:srgbClr>
          </a:solidFill>
          <a:ln/>
        </p:spPr>
        <p:txBody>
          <a:bodyPr/>
          <a:lstStyle/>
          <a:p>
            <a:endParaRPr lang="he-IL" sz="1400"/>
          </a:p>
        </p:txBody>
      </p:sp>
      <p:sp>
        <p:nvSpPr>
          <p:cNvPr id="107" name="Text 105"/>
          <p:cNvSpPr/>
          <p:nvPr/>
        </p:nvSpPr>
        <p:spPr>
          <a:xfrm>
            <a:off x="11736288" y="4604147"/>
            <a:ext cx="1173807" cy="200025"/>
          </a:xfrm>
          <a:prstGeom prst="rect">
            <a:avLst/>
          </a:prstGeom>
          <a:noFill/>
          <a:ln/>
        </p:spPr>
        <p:txBody>
          <a:bodyPr wrap="square" lIns="25400" tIns="25400" rIns="25400" bIns="25400" rtlCol="0" anchor="ctr">
            <a:noAutofit/>
          </a:bodyPr>
          <a:lstStyle/>
          <a:p>
            <a:pPr marL="0" indent="0" algn="l">
              <a:buNone/>
            </a:pPr>
            <a:r>
              <a:rPr lang="en-US" sz="1400" dirty="0">
                <a:solidFill>
                  <a:srgbClr val="FFFFFF">
                    <a:alpha val="85000"/>
                  </a:srgbClr>
                </a:solidFill>
                <a:latin typeface="JetBrains Mono" pitchFamily="34" charset="0"/>
                <a:ea typeface="JetBrains Mono" pitchFamily="34" charset="-122"/>
                <a:cs typeface="JetBrains Mono" pitchFamily="34" charset="-120"/>
              </a:rPr>
              <a:t>0.824</a:t>
            </a:r>
            <a:endParaRPr lang="en-US" sz="1400" dirty="0"/>
          </a:p>
        </p:txBody>
      </p:sp>
      <p:sp>
        <p:nvSpPr>
          <p:cNvPr id="108" name="Shape 106"/>
          <p:cNvSpPr/>
          <p:nvPr/>
        </p:nvSpPr>
        <p:spPr>
          <a:xfrm>
            <a:off x="12910096" y="4870847"/>
            <a:ext cx="1459111" cy="9525"/>
          </a:xfrm>
          <a:prstGeom prst="rect">
            <a:avLst/>
          </a:prstGeom>
          <a:solidFill>
            <a:srgbClr val="FFFFFF">
              <a:alpha val="20000"/>
            </a:srgbClr>
          </a:solidFill>
          <a:ln/>
        </p:spPr>
        <p:txBody>
          <a:bodyPr/>
          <a:lstStyle/>
          <a:p>
            <a:endParaRPr lang="he-IL" sz="1400"/>
          </a:p>
        </p:txBody>
      </p:sp>
      <p:sp>
        <p:nvSpPr>
          <p:cNvPr id="109" name="Text 107"/>
          <p:cNvSpPr/>
          <p:nvPr/>
        </p:nvSpPr>
        <p:spPr>
          <a:xfrm>
            <a:off x="12986296" y="4604147"/>
            <a:ext cx="1382911" cy="200025"/>
          </a:xfrm>
          <a:prstGeom prst="rect">
            <a:avLst/>
          </a:prstGeom>
          <a:noFill/>
          <a:ln/>
        </p:spPr>
        <p:txBody>
          <a:bodyPr wrap="square" lIns="25400" tIns="25400" rIns="25400" bIns="25400" rtlCol="0" anchor="ctr">
            <a:noAutofit/>
          </a:bodyPr>
          <a:lstStyle/>
          <a:p>
            <a:pPr marL="0" indent="0" algn="l">
              <a:buNone/>
            </a:pPr>
            <a:r>
              <a:rPr lang="en-US" sz="1400" dirty="0">
                <a:solidFill>
                  <a:srgbClr val="FFFFFF">
                    <a:alpha val="85000"/>
                  </a:srgbClr>
                </a:solidFill>
                <a:latin typeface="JetBrains Mono" pitchFamily="34" charset="0"/>
                <a:ea typeface="JetBrains Mono" pitchFamily="34" charset="-122"/>
                <a:cs typeface="JetBrains Mono" pitchFamily="34" charset="-120"/>
              </a:rPr>
              <a:t>0.509</a:t>
            </a:r>
            <a:endParaRPr lang="en-US" sz="1400" dirty="0"/>
          </a:p>
        </p:txBody>
      </p:sp>
      <p:sp>
        <p:nvSpPr>
          <p:cNvPr id="110" name="Shape 108"/>
          <p:cNvSpPr/>
          <p:nvPr/>
        </p:nvSpPr>
        <p:spPr>
          <a:xfrm>
            <a:off x="14369207" y="4870847"/>
            <a:ext cx="1459111" cy="9525"/>
          </a:xfrm>
          <a:prstGeom prst="rect">
            <a:avLst/>
          </a:prstGeom>
          <a:solidFill>
            <a:srgbClr val="FFFFFF">
              <a:alpha val="20000"/>
            </a:srgbClr>
          </a:solidFill>
          <a:ln/>
        </p:spPr>
        <p:txBody>
          <a:bodyPr/>
          <a:lstStyle/>
          <a:p>
            <a:endParaRPr lang="he-IL" sz="1400"/>
          </a:p>
        </p:txBody>
      </p:sp>
      <p:sp>
        <p:nvSpPr>
          <p:cNvPr id="111" name="Text 109"/>
          <p:cNvSpPr/>
          <p:nvPr/>
        </p:nvSpPr>
        <p:spPr>
          <a:xfrm>
            <a:off x="14445407" y="4604147"/>
            <a:ext cx="1382911" cy="200025"/>
          </a:xfrm>
          <a:prstGeom prst="rect">
            <a:avLst/>
          </a:prstGeom>
          <a:noFill/>
          <a:ln/>
        </p:spPr>
        <p:txBody>
          <a:bodyPr wrap="square" lIns="25400" tIns="25400" rIns="25400" bIns="25400" rtlCol="0" anchor="ctr">
            <a:noAutofit/>
          </a:bodyPr>
          <a:lstStyle/>
          <a:p>
            <a:pPr marL="0" indent="0" algn="l">
              <a:buNone/>
            </a:pPr>
            <a:r>
              <a:rPr lang="en-US" sz="1400" dirty="0">
                <a:solidFill>
                  <a:srgbClr val="FFFFFF">
                    <a:alpha val="85000"/>
                  </a:srgbClr>
                </a:solidFill>
                <a:latin typeface="JetBrains Mono" pitchFamily="34" charset="0"/>
                <a:ea typeface="JetBrains Mono" pitchFamily="34" charset="-122"/>
                <a:cs typeface="JetBrains Mono" pitchFamily="34" charset="-120"/>
              </a:rPr>
              <a:t>0.895</a:t>
            </a:r>
            <a:endParaRPr lang="en-US" sz="1400" dirty="0"/>
          </a:p>
        </p:txBody>
      </p:sp>
      <p:sp>
        <p:nvSpPr>
          <p:cNvPr id="112" name="Shape 110"/>
          <p:cNvSpPr/>
          <p:nvPr/>
        </p:nvSpPr>
        <p:spPr>
          <a:xfrm>
            <a:off x="15828318" y="4870847"/>
            <a:ext cx="1459557" cy="9525"/>
          </a:xfrm>
          <a:prstGeom prst="rect">
            <a:avLst/>
          </a:prstGeom>
          <a:solidFill>
            <a:srgbClr val="FFFFFF">
              <a:alpha val="20000"/>
            </a:srgbClr>
          </a:solidFill>
          <a:ln/>
        </p:spPr>
        <p:txBody>
          <a:bodyPr/>
          <a:lstStyle/>
          <a:p>
            <a:endParaRPr lang="he-IL" sz="1400"/>
          </a:p>
        </p:txBody>
      </p:sp>
      <p:sp>
        <p:nvSpPr>
          <p:cNvPr id="113" name="Text 111"/>
          <p:cNvSpPr/>
          <p:nvPr/>
        </p:nvSpPr>
        <p:spPr>
          <a:xfrm>
            <a:off x="15904518" y="4604147"/>
            <a:ext cx="1383357" cy="200025"/>
          </a:xfrm>
          <a:prstGeom prst="rect">
            <a:avLst/>
          </a:prstGeom>
          <a:noFill/>
          <a:ln/>
        </p:spPr>
        <p:txBody>
          <a:bodyPr wrap="square" lIns="25400" tIns="25400" rIns="25400" bIns="25400" rtlCol="0" anchor="ctr">
            <a:noAutofit/>
          </a:bodyPr>
          <a:lstStyle/>
          <a:p>
            <a:pPr marL="0" indent="0" algn="l">
              <a:buNone/>
            </a:pPr>
            <a:r>
              <a:rPr lang="en-US" sz="1400" dirty="0">
                <a:solidFill>
                  <a:srgbClr val="FFFFFF">
                    <a:alpha val="85000"/>
                  </a:srgbClr>
                </a:solidFill>
                <a:latin typeface="JetBrains Mono" pitchFamily="34" charset="0"/>
                <a:ea typeface="JetBrains Mono" pitchFamily="34" charset="-122"/>
                <a:cs typeface="JetBrains Mono" pitchFamily="34" charset="-120"/>
              </a:rPr>
              <a:t>0.702</a:t>
            </a:r>
            <a:endParaRPr lang="en-US" sz="1400" dirty="0"/>
          </a:p>
        </p:txBody>
      </p:sp>
      <p:sp>
        <p:nvSpPr>
          <p:cNvPr id="114" name="Shape 112"/>
          <p:cNvSpPr/>
          <p:nvPr/>
        </p:nvSpPr>
        <p:spPr>
          <a:xfrm>
            <a:off x="9741843" y="5251847"/>
            <a:ext cx="1918246" cy="9525"/>
          </a:xfrm>
          <a:prstGeom prst="rect">
            <a:avLst/>
          </a:prstGeom>
          <a:solidFill>
            <a:srgbClr val="FFFFFF">
              <a:alpha val="20000"/>
            </a:srgbClr>
          </a:solidFill>
          <a:ln/>
        </p:spPr>
        <p:txBody>
          <a:bodyPr/>
          <a:lstStyle/>
          <a:p>
            <a:endParaRPr lang="he-IL" sz="1400"/>
          </a:p>
        </p:txBody>
      </p:sp>
      <p:sp>
        <p:nvSpPr>
          <p:cNvPr id="115" name="Text 113"/>
          <p:cNvSpPr/>
          <p:nvPr/>
        </p:nvSpPr>
        <p:spPr>
          <a:xfrm>
            <a:off x="9818043" y="4985147"/>
            <a:ext cx="1842046" cy="200025"/>
          </a:xfrm>
          <a:prstGeom prst="rect">
            <a:avLst/>
          </a:prstGeom>
          <a:noFill/>
          <a:ln/>
        </p:spPr>
        <p:txBody>
          <a:bodyPr wrap="square" lIns="25400" tIns="25400" rIns="25400" bIns="25400" rtlCol="0" anchor="ctr">
            <a:noAutofit/>
          </a:bodyPr>
          <a:lstStyle/>
          <a:p>
            <a:pPr marL="0" indent="0" algn="l">
              <a:buNone/>
            </a:pPr>
            <a:r>
              <a:rPr lang="en-US" sz="1400" dirty="0">
                <a:solidFill>
                  <a:srgbClr val="F5F1E8"/>
                </a:solidFill>
                <a:latin typeface="JetBrains Mono" pitchFamily="34" charset="0"/>
                <a:ea typeface="JetBrains Mono" pitchFamily="34" charset="-122"/>
                <a:cs typeface="JetBrains Mono" pitchFamily="34" charset="-120"/>
              </a:rPr>
              <a:t>0.30</a:t>
            </a:r>
            <a:endParaRPr lang="en-US" sz="1400" dirty="0"/>
          </a:p>
        </p:txBody>
      </p:sp>
      <p:sp>
        <p:nvSpPr>
          <p:cNvPr id="116" name="Shape 114"/>
          <p:cNvSpPr/>
          <p:nvPr/>
        </p:nvSpPr>
        <p:spPr>
          <a:xfrm>
            <a:off x="11660088" y="5251847"/>
            <a:ext cx="1250007" cy="9525"/>
          </a:xfrm>
          <a:prstGeom prst="rect">
            <a:avLst/>
          </a:prstGeom>
          <a:solidFill>
            <a:srgbClr val="FFFFFF">
              <a:alpha val="20000"/>
            </a:srgbClr>
          </a:solidFill>
          <a:ln/>
        </p:spPr>
        <p:txBody>
          <a:bodyPr/>
          <a:lstStyle/>
          <a:p>
            <a:endParaRPr lang="he-IL" sz="1400"/>
          </a:p>
        </p:txBody>
      </p:sp>
      <p:sp>
        <p:nvSpPr>
          <p:cNvPr id="117" name="Text 115"/>
          <p:cNvSpPr/>
          <p:nvPr/>
        </p:nvSpPr>
        <p:spPr>
          <a:xfrm>
            <a:off x="11736288" y="4985147"/>
            <a:ext cx="1173807" cy="200025"/>
          </a:xfrm>
          <a:prstGeom prst="rect">
            <a:avLst/>
          </a:prstGeom>
          <a:noFill/>
          <a:ln/>
        </p:spPr>
        <p:txBody>
          <a:bodyPr wrap="square" lIns="25400" tIns="25400" rIns="25400" bIns="25400" rtlCol="0" anchor="ctr">
            <a:noAutofit/>
          </a:bodyPr>
          <a:lstStyle/>
          <a:p>
            <a:pPr marL="0" indent="0" algn="l">
              <a:buNone/>
            </a:pPr>
            <a:r>
              <a:rPr lang="en-US" sz="1400" dirty="0">
                <a:solidFill>
                  <a:srgbClr val="FFFFFF">
                    <a:alpha val="85000"/>
                  </a:srgbClr>
                </a:solidFill>
                <a:latin typeface="JetBrains Mono" pitchFamily="34" charset="0"/>
                <a:ea typeface="JetBrains Mono" pitchFamily="34" charset="-122"/>
                <a:cs typeface="JetBrains Mono" pitchFamily="34" charset="-120"/>
              </a:rPr>
              <a:t>0.823</a:t>
            </a:r>
            <a:endParaRPr lang="en-US" sz="1400" dirty="0"/>
          </a:p>
        </p:txBody>
      </p:sp>
      <p:sp>
        <p:nvSpPr>
          <p:cNvPr id="118" name="Shape 116"/>
          <p:cNvSpPr/>
          <p:nvPr/>
        </p:nvSpPr>
        <p:spPr>
          <a:xfrm>
            <a:off x="12910096" y="5251847"/>
            <a:ext cx="1459111" cy="9525"/>
          </a:xfrm>
          <a:prstGeom prst="rect">
            <a:avLst/>
          </a:prstGeom>
          <a:solidFill>
            <a:srgbClr val="FFFFFF">
              <a:alpha val="20000"/>
            </a:srgbClr>
          </a:solidFill>
          <a:ln/>
        </p:spPr>
        <p:txBody>
          <a:bodyPr/>
          <a:lstStyle/>
          <a:p>
            <a:endParaRPr lang="he-IL" sz="1400"/>
          </a:p>
        </p:txBody>
      </p:sp>
      <p:sp>
        <p:nvSpPr>
          <p:cNvPr id="119" name="Text 117"/>
          <p:cNvSpPr/>
          <p:nvPr/>
        </p:nvSpPr>
        <p:spPr>
          <a:xfrm>
            <a:off x="12986296" y="4985147"/>
            <a:ext cx="1382911" cy="200025"/>
          </a:xfrm>
          <a:prstGeom prst="rect">
            <a:avLst/>
          </a:prstGeom>
          <a:noFill/>
          <a:ln/>
        </p:spPr>
        <p:txBody>
          <a:bodyPr wrap="square" lIns="25400" tIns="25400" rIns="25400" bIns="25400" rtlCol="0" anchor="ctr">
            <a:noAutofit/>
          </a:bodyPr>
          <a:lstStyle/>
          <a:p>
            <a:pPr marL="0" indent="0" algn="l">
              <a:buNone/>
            </a:pPr>
            <a:r>
              <a:rPr lang="en-US" sz="1400" dirty="0">
                <a:solidFill>
                  <a:srgbClr val="FFFFFF">
                    <a:alpha val="85000"/>
                  </a:srgbClr>
                </a:solidFill>
                <a:latin typeface="JetBrains Mono" pitchFamily="34" charset="0"/>
                <a:ea typeface="JetBrains Mono" pitchFamily="34" charset="-122"/>
                <a:cs typeface="JetBrains Mono" pitchFamily="34" charset="-120"/>
              </a:rPr>
              <a:t>0.485</a:t>
            </a:r>
            <a:endParaRPr lang="en-US" sz="1400" dirty="0"/>
          </a:p>
        </p:txBody>
      </p:sp>
      <p:sp>
        <p:nvSpPr>
          <p:cNvPr id="120" name="Shape 118"/>
          <p:cNvSpPr/>
          <p:nvPr/>
        </p:nvSpPr>
        <p:spPr>
          <a:xfrm>
            <a:off x="14369207" y="5251847"/>
            <a:ext cx="1459111" cy="9525"/>
          </a:xfrm>
          <a:prstGeom prst="rect">
            <a:avLst/>
          </a:prstGeom>
          <a:solidFill>
            <a:srgbClr val="FFFFFF">
              <a:alpha val="20000"/>
            </a:srgbClr>
          </a:solidFill>
          <a:ln/>
        </p:spPr>
        <p:txBody>
          <a:bodyPr/>
          <a:lstStyle/>
          <a:p>
            <a:endParaRPr lang="he-IL" sz="1400"/>
          </a:p>
        </p:txBody>
      </p:sp>
      <p:sp>
        <p:nvSpPr>
          <p:cNvPr id="121" name="Text 119"/>
          <p:cNvSpPr/>
          <p:nvPr/>
        </p:nvSpPr>
        <p:spPr>
          <a:xfrm>
            <a:off x="14445407" y="4985147"/>
            <a:ext cx="1382911" cy="200025"/>
          </a:xfrm>
          <a:prstGeom prst="rect">
            <a:avLst/>
          </a:prstGeom>
          <a:noFill/>
          <a:ln/>
        </p:spPr>
        <p:txBody>
          <a:bodyPr wrap="square" lIns="25400" tIns="25400" rIns="25400" bIns="25400" rtlCol="0" anchor="ctr">
            <a:noAutofit/>
          </a:bodyPr>
          <a:lstStyle/>
          <a:p>
            <a:pPr marL="0" indent="0" algn="l">
              <a:buNone/>
            </a:pPr>
            <a:r>
              <a:rPr lang="en-US" sz="1400" dirty="0">
                <a:solidFill>
                  <a:srgbClr val="FFFFFF">
                    <a:alpha val="85000"/>
                  </a:srgbClr>
                </a:solidFill>
                <a:latin typeface="JetBrains Mono" pitchFamily="34" charset="0"/>
                <a:ea typeface="JetBrains Mono" pitchFamily="34" charset="-122"/>
                <a:cs typeface="JetBrains Mono" pitchFamily="34" charset="-120"/>
              </a:rPr>
              <a:t>0.895</a:t>
            </a:r>
            <a:endParaRPr lang="en-US" sz="1400" dirty="0"/>
          </a:p>
        </p:txBody>
      </p:sp>
      <p:sp>
        <p:nvSpPr>
          <p:cNvPr id="122" name="Shape 120"/>
          <p:cNvSpPr/>
          <p:nvPr/>
        </p:nvSpPr>
        <p:spPr>
          <a:xfrm>
            <a:off x="15828318" y="5251847"/>
            <a:ext cx="1459557" cy="9525"/>
          </a:xfrm>
          <a:prstGeom prst="rect">
            <a:avLst/>
          </a:prstGeom>
          <a:solidFill>
            <a:srgbClr val="FFFFFF">
              <a:alpha val="20000"/>
            </a:srgbClr>
          </a:solidFill>
          <a:ln/>
        </p:spPr>
        <p:txBody>
          <a:bodyPr/>
          <a:lstStyle/>
          <a:p>
            <a:endParaRPr lang="he-IL" sz="1400"/>
          </a:p>
        </p:txBody>
      </p:sp>
      <p:sp>
        <p:nvSpPr>
          <p:cNvPr id="123" name="Text 121"/>
          <p:cNvSpPr/>
          <p:nvPr/>
        </p:nvSpPr>
        <p:spPr>
          <a:xfrm>
            <a:off x="15904518" y="4985147"/>
            <a:ext cx="1383357" cy="200025"/>
          </a:xfrm>
          <a:prstGeom prst="rect">
            <a:avLst/>
          </a:prstGeom>
          <a:noFill/>
          <a:ln/>
        </p:spPr>
        <p:txBody>
          <a:bodyPr wrap="square" lIns="25400" tIns="25400" rIns="25400" bIns="25400" rtlCol="0" anchor="ctr">
            <a:noAutofit/>
          </a:bodyPr>
          <a:lstStyle/>
          <a:p>
            <a:pPr marL="0" indent="0" algn="l">
              <a:buNone/>
            </a:pPr>
            <a:r>
              <a:rPr lang="en-US" sz="1400" dirty="0">
                <a:solidFill>
                  <a:srgbClr val="FFFFFF">
                    <a:alpha val="85000"/>
                  </a:srgbClr>
                </a:solidFill>
                <a:latin typeface="JetBrains Mono" pitchFamily="34" charset="0"/>
                <a:ea typeface="JetBrains Mono" pitchFamily="34" charset="-122"/>
                <a:cs typeface="JetBrains Mono" pitchFamily="34" charset="-120"/>
              </a:rPr>
              <a:t>0.690</a:t>
            </a:r>
            <a:endParaRPr lang="en-US" sz="1400" dirty="0"/>
          </a:p>
        </p:txBody>
      </p:sp>
      <p:sp>
        <p:nvSpPr>
          <p:cNvPr id="124" name="Text 122"/>
          <p:cNvSpPr/>
          <p:nvPr/>
        </p:nvSpPr>
        <p:spPr>
          <a:xfrm>
            <a:off x="9741843" y="5361384"/>
            <a:ext cx="7772413" cy="223838"/>
          </a:xfrm>
          <a:prstGeom prst="rect">
            <a:avLst/>
          </a:prstGeom>
          <a:noFill/>
          <a:ln/>
        </p:spPr>
        <p:txBody>
          <a:bodyPr wrap="square" lIns="25400" tIns="25400" rIns="25400" bIns="25400" rtlCol="0" anchor="t">
            <a:noAutofit/>
          </a:bodyPr>
          <a:lstStyle/>
          <a:p>
            <a:pPr marL="0" indent="0" algn="l">
              <a:lnSpc>
                <a:spcPct val="150000"/>
              </a:lnSpc>
              <a:buNone/>
            </a:pPr>
            <a:r>
              <a:rPr lang="en-US" sz="1400" dirty="0">
                <a:solidFill>
                  <a:srgbClr val="FFFFFF">
                    <a:alpha val="78000"/>
                  </a:srgbClr>
                </a:solidFill>
                <a:latin typeface="Inter" pitchFamily="34" charset="0"/>
                <a:ea typeface="Inter" pitchFamily="34" charset="-122"/>
                <a:cs typeface="Inter" pitchFamily="34" charset="-120"/>
              </a:rPr>
              <a:t>Threshold </a:t>
            </a:r>
            <a:r>
              <a:rPr lang="en-US" sz="1400" dirty="0">
                <a:solidFill>
                  <a:srgbClr val="F5F1E8"/>
                </a:solidFill>
                <a:latin typeface="Inter" pitchFamily="34" charset="0"/>
                <a:ea typeface="Inter" pitchFamily="34" charset="-122"/>
                <a:cs typeface="Inter" pitchFamily="34" charset="-120"/>
              </a:rPr>
              <a:t>0.20 </a:t>
            </a:r>
            <a:r>
              <a:rPr lang="en-US" sz="1400" dirty="0">
                <a:solidFill>
                  <a:srgbClr val="FFFFFF">
                    <a:alpha val="78000"/>
                  </a:srgbClr>
                </a:solidFill>
                <a:latin typeface="Inter" pitchFamily="34" charset="0"/>
                <a:ea typeface="Inter" pitchFamily="34" charset="-122"/>
                <a:cs typeface="Inter" pitchFamily="34" charset="-120"/>
              </a:rPr>
              <a:t>maximizes the recall-on-rare-classes metric while keeping accuracy near the peak — adopted in the final model.</a:t>
            </a:r>
            <a:endParaRPr lang="en-US" sz="1400" dirty="0"/>
          </a:p>
        </p:txBody>
      </p:sp>
      <p:sp>
        <p:nvSpPr>
          <p:cNvPr id="125" name="Text 16">
            <a:extLst>
              <a:ext uri="{FF2B5EF4-FFF2-40B4-BE49-F238E27FC236}">
                <a16:creationId xmlns:a16="http://schemas.microsoft.com/office/drawing/2014/main" id="{CB0D75A3-DFF1-2793-BF21-E62358555350}"/>
              </a:ext>
            </a:extLst>
          </p:cNvPr>
          <p:cNvSpPr/>
          <p:nvPr/>
        </p:nvSpPr>
        <p:spPr>
          <a:xfrm>
            <a:off x="266700" y="9410700"/>
            <a:ext cx="1628775" cy="342900"/>
          </a:xfrm>
          <a:prstGeom prst="rect">
            <a:avLst/>
          </a:prstGeom>
          <a:noFill/>
          <a:ln/>
        </p:spPr>
        <p:txBody>
          <a:bodyPr wrap="square" lIns="25400" tIns="25400" rIns="25400" bIns="25400" rtlCol="0" anchor="t">
            <a:noAutofit/>
          </a:bodyPr>
          <a:lstStyle/>
          <a:p>
            <a:pPr>
              <a:lnSpc>
                <a:spcPct val="160000"/>
              </a:lnSpc>
            </a:pPr>
            <a:r>
              <a:rPr lang="en-US" sz="1400" b="1" kern="0" spc="105" dirty="0">
                <a:solidFill>
                  <a:srgbClr val="1A1A1A"/>
                </a:solidFill>
                <a:latin typeface="JetBrains Mono" pitchFamily="34" charset="0"/>
                <a:ea typeface="JetBrains Mono" pitchFamily="34" charset="-122"/>
                <a:cs typeface="JetBrains Mono" pitchFamily="34" charset="-120"/>
              </a:rPr>
              <a:t>28 / 34</a:t>
            </a:r>
            <a:endParaRPr lang="en-US" sz="1400" dirty="0"/>
          </a:p>
        </p:txBody>
      </p:sp>
      <p:sp>
        <p:nvSpPr>
          <p:cNvPr id="126" name="Text 4">
            <a:extLst>
              <a:ext uri="{FF2B5EF4-FFF2-40B4-BE49-F238E27FC236}">
                <a16:creationId xmlns:a16="http://schemas.microsoft.com/office/drawing/2014/main" id="{1180F4BF-8967-304D-DF4B-4E8B9B6D8FAC}"/>
              </a:ext>
            </a:extLst>
          </p:cNvPr>
          <p:cNvSpPr/>
          <p:nvPr/>
        </p:nvSpPr>
        <p:spPr>
          <a:xfrm>
            <a:off x="228063" y="1524367"/>
            <a:ext cx="372012" cy="200025"/>
          </a:xfrm>
          <a:prstGeom prst="rect">
            <a:avLst/>
          </a:prstGeom>
          <a:noFill/>
          <a:ln/>
        </p:spPr>
        <p:txBody>
          <a:bodyPr wrap="square" lIns="25400" tIns="25400" rIns="25400" bIns="25400" rtlCol="0" anchor="t">
            <a:noAutofit/>
          </a:bodyPr>
          <a:lstStyle/>
          <a:p>
            <a:pPr marL="0" indent="0" algn="l">
              <a:lnSpc>
                <a:spcPct val="130000"/>
              </a:lnSpc>
              <a:buNone/>
            </a:pPr>
            <a:r>
              <a:rPr lang="en-US" sz="1400" kern="0" spc="21" dirty="0">
                <a:solidFill>
                  <a:srgbClr val="888080"/>
                </a:solidFill>
                <a:latin typeface="Inter" pitchFamily="34" charset="0"/>
                <a:ea typeface="Inter" pitchFamily="34" charset="-122"/>
              </a:rPr>
              <a:t>01</a:t>
            </a:r>
          </a:p>
        </p:txBody>
      </p:sp>
      <p:sp>
        <p:nvSpPr>
          <p:cNvPr id="127" name="Text 5">
            <a:extLst>
              <a:ext uri="{FF2B5EF4-FFF2-40B4-BE49-F238E27FC236}">
                <a16:creationId xmlns:a16="http://schemas.microsoft.com/office/drawing/2014/main" id="{1BFD07AF-AFFC-F16B-C4E8-37CAC7A7B143}"/>
              </a:ext>
            </a:extLst>
          </p:cNvPr>
          <p:cNvSpPr/>
          <p:nvPr/>
        </p:nvSpPr>
        <p:spPr>
          <a:xfrm>
            <a:off x="523875" y="1522975"/>
            <a:ext cx="876300" cy="476251"/>
          </a:xfrm>
          <a:prstGeom prst="rect">
            <a:avLst/>
          </a:prstGeom>
          <a:noFill/>
          <a:ln/>
        </p:spPr>
        <p:txBody>
          <a:bodyPr wrap="square" lIns="25400" tIns="25400" rIns="25400" bIns="25400" rtlCol="0" anchor="t">
            <a:normAutofit/>
          </a:bodyPr>
          <a:lstStyle/>
          <a:p>
            <a:pPr marL="0" indent="0" algn="l">
              <a:lnSpc>
                <a:spcPct val="130000"/>
              </a:lnSpc>
              <a:buNone/>
            </a:pPr>
            <a:r>
              <a:rPr lang="en-US" sz="1400" kern="0" spc="21" dirty="0">
                <a:solidFill>
                  <a:srgbClr val="888080"/>
                </a:solidFill>
                <a:latin typeface="Inter" pitchFamily="34" charset="0"/>
                <a:ea typeface="Inter" pitchFamily="34" charset="-122"/>
              </a:rPr>
              <a:t>Agenda</a:t>
            </a:r>
          </a:p>
        </p:txBody>
      </p:sp>
      <p:sp>
        <p:nvSpPr>
          <p:cNvPr id="128" name="Text 6">
            <a:extLst>
              <a:ext uri="{FF2B5EF4-FFF2-40B4-BE49-F238E27FC236}">
                <a16:creationId xmlns:a16="http://schemas.microsoft.com/office/drawing/2014/main" id="{485E3331-7BA4-CCF5-8E89-F1DEACE05966}"/>
              </a:ext>
            </a:extLst>
          </p:cNvPr>
          <p:cNvSpPr/>
          <p:nvPr/>
        </p:nvSpPr>
        <p:spPr>
          <a:xfrm>
            <a:off x="228063" y="1830953"/>
            <a:ext cx="372010" cy="194877"/>
          </a:xfrm>
          <a:prstGeom prst="rect">
            <a:avLst/>
          </a:prstGeom>
          <a:noFill/>
          <a:ln/>
        </p:spPr>
        <p:txBody>
          <a:bodyPr wrap="square" lIns="25400" tIns="25400" rIns="25400" bIns="25400" rtlCol="0" anchor="t">
            <a:noAutofit/>
          </a:bodyPr>
          <a:lstStyle/>
          <a:p>
            <a:pPr marL="0" indent="0" algn="l">
              <a:lnSpc>
                <a:spcPct val="130000"/>
              </a:lnSpc>
              <a:buNone/>
            </a:pPr>
            <a:r>
              <a:rPr lang="en-US" sz="1400" kern="0" spc="21" dirty="0">
                <a:solidFill>
                  <a:srgbClr val="888080"/>
                </a:solidFill>
                <a:latin typeface="Inter" pitchFamily="34" charset="0"/>
                <a:ea typeface="Inter" pitchFamily="34" charset="-122"/>
              </a:rPr>
              <a:t>02</a:t>
            </a:r>
          </a:p>
        </p:txBody>
      </p:sp>
      <p:sp>
        <p:nvSpPr>
          <p:cNvPr id="129" name="Text 8">
            <a:extLst>
              <a:ext uri="{FF2B5EF4-FFF2-40B4-BE49-F238E27FC236}">
                <a16:creationId xmlns:a16="http://schemas.microsoft.com/office/drawing/2014/main" id="{9CF2B73A-3FF0-7529-97E8-5305B0D3E8B4}"/>
              </a:ext>
            </a:extLst>
          </p:cNvPr>
          <p:cNvSpPr/>
          <p:nvPr/>
        </p:nvSpPr>
        <p:spPr>
          <a:xfrm>
            <a:off x="230504" y="2152895"/>
            <a:ext cx="302895" cy="141422"/>
          </a:xfrm>
          <a:prstGeom prst="rect">
            <a:avLst/>
          </a:prstGeom>
          <a:noFill/>
          <a:ln/>
        </p:spPr>
        <p:txBody>
          <a:bodyPr wrap="square" lIns="25400" tIns="25400" rIns="25400" bIns="25400" rtlCol="0" anchor="t">
            <a:noAutofit/>
          </a:bodyPr>
          <a:lstStyle/>
          <a:p>
            <a:pPr marL="0" indent="0" algn="l">
              <a:lnSpc>
                <a:spcPct val="130000"/>
              </a:lnSpc>
              <a:buNone/>
            </a:pPr>
            <a:r>
              <a:rPr lang="en-US" sz="1400" kern="0" spc="21" dirty="0">
                <a:solidFill>
                  <a:srgbClr val="888080"/>
                </a:solidFill>
                <a:latin typeface="Inter" pitchFamily="34" charset="0"/>
                <a:ea typeface="Inter" pitchFamily="34" charset="-122"/>
              </a:rPr>
              <a:t>03</a:t>
            </a:r>
          </a:p>
        </p:txBody>
      </p:sp>
      <p:sp>
        <p:nvSpPr>
          <p:cNvPr id="130" name="Text 9">
            <a:extLst>
              <a:ext uri="{FF2B5EF4-FFF2-40B4-BE49-F238E27FC236}">
                <a16:creationId xmlns:a16="http://schemas.microsoft.com/office/drawing/2014/main" id="{A0DAA158-A29E-423F-97AA-D42CDBEEC85C}"/>
              </a:ext>
            </a:extLst>
          </p:cNvPr>
          <p:cNvSpPr/>
          <p:nvPr/>
        </p:nvSpPr>
        <p:spPr>
          <a:xfrm>
            <a:off x="531240" y="2145027"/>
            <a:ext cx="1185416" cy="342476"/>
          </a:xfrm>
          <a:prstGeom prst="rect">
            <a:avLst/>
          </a:prstGeom>
          <a:noFill/>
          <a:ln/>
        </p:spPr>
        <p:txBody>
          <a:bodyPr wrap="square" lIns="25400" tIns="25400" rIns="25400" bIns="25400" rtlCol="0" anchor="t">
            <a:normAutofit/>
          </a:bodyPr>
          <a:lstStyle/>
          <a:p>
            <a:pPr marL="0" indent="0" algn="l">
              <a:lnSpc>
                <a:spcPct val="130000"/>
              </a:lnSpc>
              <a:buNone/>
            </a:pPr>
            <a:r>
              <a:rPr lang="en-US" sz="1400" kern="0" spc="21" dirty="0">
                <a:solidFill>
                  <a:srgbClr val="888080"/>
                </a:solidFill>
                <a:latin typeface="Inter" pitchFamily="34" charset="0"/>
                <a:ea typeface="Inter" pitchFamily="34" charset="-122"/>
              </a:rPr>
              <a:t>EDA</a:t>
            </a:r>
          </a:p>
        </p:txBody>
      </p:sp>
      <p:sp>
        <p:nvSpPr>
          <p:cNvPr id="131" name="Text 10">
            <a:extLst>
              <a:ext uri="{FF2B5EF4-FFF2-40B4-BE49-F238E27FC236}">
                <a16:creationId xmlns:a16="http://schemas.microsoft.com/office/drawing/2014/main" id="{FFB846E9-8B4B-1B12-5F75-35227401B34C}"/>
              </a:ext>
            </a:extLst>
          </p:cNvPr>
          <p:cNvSpPr/>
          <p:nvPr/>
        </p:nvSpPr>
        <p:spPr>
          <a:xfrm>
            <a:off x="228062" y="2444125"/>
            <a:ext cx="305337" cy="172132"/>
          </a:xfrm>
          <a:prstGeom prst="rect">
            <a:avLst/>
          </a:prstGeom>
          <a:noFill/>
          <a:ln/>
        </p:spPr>
        <p:txBody>
          <a:bodyPr wrap="square" lIns="25400" tIns="25400" rIns="25400" bIns="25400" rtlCol="0" anchor="t">
            <a:noAutofit/>
          </a:bodyPr>
          <a:lstStyle/>
          <a:p>
            <a:pPr marL="0" indent="0" algn="l">
              <a:lnSpc>
                <a:spcPct val="130000"/>
              </a:lnSpc>
              <a:buNone/>
            </a:pPr>
            <a:r>
              <a:rPr lang="en-US" sz="1400" kern="0" spc="21" dirty="0">
                <a:solidFill>
                  <a:srgbClr val="888080"/>
                </a:solidFill>
                <a:latin typeface="Inter" pitchFamily="34" charset="0"/>
                <a:ea typeface="Inter" pitchFamily="34" charset="-122"/>
              </a:rPr>
              <a:t>04</a:t>
            </a:r>
          </a:p>
        </p:txBody>
      </p:sp>
      <p:sp>
        <p:nvSpPr>
          <p:cNvPr id="132" name="Text 12">
            <a:extLst>
              <a:ext uri="{FF2B5EF4-FFF2-40B4-BE49-F238E27FC236}">
                <a16:creationId xmlns:a16="http://schemas.microsoft.com/office/drawing/2014/main" id="{D0EB8F1C-D835-8B0E-87DE-6F3AC7040852}"/>
              </a:ext>
            </a:extLst>
          </p:cNvPr>
          <p:cNvSpPr/>
          <p:nvPr/>
        </p:nvSpPr>
        <p:spPr>
          <a:xfrm>
            <a:off x="228062" y="2750711"/>
            <a:ext cx="372011" cy="158880"/>
          </a:xfrm>
          <a:prstGeom prst="rect">
            <a:avLst/>
          </a:prstGeom>
          <a:noFill/>
          <a:ln/>
        </p:spPr>
        <p:txBody>
          <a:bodyPr wrap="square" lIns="25400" tIns="25400" rIns="25400" bIns="25400" rtlCol="0" anchor="t">
            <a:noAutofit/>
          </a:bodyPr>
          <a:lstStyle/>
          <a:p>
            <a:pPr marL="0" indent="0" algn="l">
              <a:lnSpc>
                <a:spcPct val="130000"/>
              </a:lnSpc>
              <a:buNone/>
            </a:pPr>
            <a:r>
              <a:rPr lang="en-US" sz="1400" b="1" kern="0" spc="21" dirty="0">
                <a:solidFill>
                  <a:srgbClr val="C25A2A"/>
                </a:solidFill>
                <a:latin typeface="JetBrains Mono" pitchFamily="34" charset="0"/>
                <a:ea typeface="JetBrains Mono" pitchFamily="34" charset="-122"/>
              </a:rPr>
              <a:t>05</a:t>
            </a:r>
          </a:p>
        </p:txBody>
      </p:sp>
      <p:sp>
        <p:nvSpPr>
          <p:cNvPr id="133" name="Text 13">
            <a:extLst>
              <a:ext uri="{FF2B5EF4-FFF2-40B4-BE49-F238E27FC236}">
                <a16:creationId xmlns:a16="http://schemas.microsoft.com/office/drawing/2014/main" id="{1739EE9D-7983-4B25-1854-18993B256876}"/>
              </a:ext>
            </a:extLst>
          </p:cNvPr>
          <p:cNvSpPr/>
          <p:nvPr/>
        </p:nvSpPr>
        <p:spPr>
          <a:xfrm>
            <a:off x="533399" y="2725489"/>
            <a:ext cx="948333" cy="761256"/>
          </a:xfrm>
          <a:prstGeom prst="rect">
            <a:avLst/>
          </a:prstGeom>
          <a:noFill/>
          <a:ln/>
        </p:spPr>
        <p:txBody>
          <a:bodyPr wrap="square" lIns="25400" tIns="25400" rIns="25400" bIns="25400" rtlCol="0" anchor="t">
            <a:normAutofit/>
          </a:bodyPr>
          <a:lstStyle/>
          <a:p>
            <a:pPr marL="0" indent="0" algn="l">
              <a:lnSpc>
                <a:spcPct val="130000"/>
              </a:lnSpc>
              <a:buNone/>
            </a:pPr>
            <a:r>
              <a:rPr lang="en-US" sz="1400" kern="0" spc="21" dirty="0">
                <a:solidFill>
                  <a:srgbClr val="1A1A1A"/>
                </a:solidFill>
                <a:latin typeface="Inter" pitchFamily="34" charset="0"/>
                <a:ea typeface="Inter" pitchFamily="34" charset="-122"/>
              </a:rPr>
              <a:t>Modeling</a:t>
            </a:r>
          </a:p>
        </p:txBody>
      </p:sp>
      <p:sp>
        <p:nvSpPr>
          <p:cNvPr id="134" name="Text 14">
            <a:extLst>
              <a:ext uri="{FF2B5EF4-FFF2-40B4-BE49-F238E27FC236}">
                <a16:creationId xmlns:a16="http://schemas.microsoft.com/office/drawing/2014/main" id="{12BB66FA-5B4D-7B29-35E3-1F6D1482EFEF}"/>
              </a:ext>
            </a:extLst>
          </p:cNvPr>
          <p:cNvSpPr/>
          <p:nvPr/>
        </p:nvSpPr>
        <p:spPr>
          <a:xfrm>
            <a:off x="235683" y="3042056"/>
            <a:ext cx="372010" cy="191463"/>
          </a:xfrm>
          <a:prstGeom prst="rect">
            <a:avLst/>
          </a:prstGeom>
          <a:noFill/>
          <a:ln/>
        </p:spPr>
        <p:txBody>
          <a:bodyPr wrap="square" lIns="25400" tIns="25400" rIns="25400" bIns="25400" rtlCol="0" anchor="t">
            <a:noAutofit/>
          </a:bodyPr>
          <a:lstStyle/>
          <a:p>
            <a:pPr marL="0" indent="0" algn="l">
              <a:lnSpc>
                <a:spcPct val="130000"/>
              </a:lnSpc>
              <a:buNone/>
            </a:pPr>
            <a:r>
              <a:rPr lang="en-US" sz="1400" kern="0" spc="21" dirty="0">
                <a:solidFill>
                  <a:srgbClr val="888080"/>
                </a:solidFill>
                <a:latin typeface="JetBrains Mono" pitchFamily="34" charset="0"/>
                <a:ea typeface="JetBrains Mono" pitchFamily="34" charset="-122"/>
                <a:cs typeface="JetBrains Mono" pitchFamily="34" charset="-120"/>
              </a:rPr>
              <a:t>06</a:t>
            </a:r>
            <a:endParaRPr lang="en-US" sz="1400" dirty="0"/>
          </a:p>
        </p:txBody>
      </p:sp>
      <p:sp>
        <p:nvSpPr>
          <p:cNvPr id="135" name="Text 15">
            <a:extLst>
              <a:ext uri="{FF2B5EF4-FFF2-40B4-BE49-F238E27FC236}">
                <a16:creationId xmlns:a16="http://schemas.microsoft.com/office/drawing/2014/main" id="{1C377273-EE4D-2DAB-ACB1-FCE8E58A4F71}"/>
              </a:ext>
            </a:extLst>
          </p:cNvPr>
          <p:cNvSpPr/>
          <p:nvPr/>
        </p:nvSpPr>
        <p:spPr>
          <a:xfrm>
            <a:off x="533400" y="3032075"/>
            <a:ext cx="1185416" cy="626120"/>
          </a:xfrm>
          <a:prstGeom prst="rect">
            <a:avLst/>
          </a:prstGeom>
          <a:noFill/>
          <a:ln/>
        </p:spPr>
        <p:txBody>
          <a:bodyPr wrap="square" lIns="25400" tIns="25400" rIns="25400" bIns="25400" rtlCol="0" anchor="t">
            <a:normAutofit/>
          </a:bodyPr>
          <a:lstStyle/>
          <a:p>
            <a:pPr marL="0" indent="0" algn="l">
              <a:lnSpc>
                <a:spcPct val="130000"/>
              </a:lnSpc>
              <a:buNone/>
            </a:pPr>
            <a:r>
              <a:rPr lang="en-US" sz="1400" kern="0" spc="21" dirty="0">
                <a:solidFill>
                  <a:srgbClr val="888080"/>
                </a:solidFill>
                <a:latin typeface="Inter" pitchFamily="34" charset="0"/>
                <a:ea typeface="Inter" pitchFamily="34" charset="-122"/>
                <a:cs typeface="Inter" pitchFamily="34" charset="-120"/>
              </a:rPr>
              <a:t>Conclusions</a:t>
            </a:r>
            <a:endParaRPr lang="en-US" sz="1400" dirty="0"/>
          </a:p>
        </p:txBody>
      </p:sp>
      <p:sp>
        <p:nvSpPr>
          <p:cNvPr id="136" name="Text 9">
            <a:extLst>
              <a:ext uri="{FF2B5EF4-FFF2-40B4-BE49-F238E27FC236}">
                <a16:creationId xmlns:a16="http://schemas.microsoft.com/office/drawing/2014/main" id="{8EAA6A10-20C4-0344-2F63-98EDC596FCAA}"/>
              </a:ext>
            </a:extLst>
          </p:cNvPr>
          <p:cNvSpPr/>
          <p:nvPr/>
        </p:nvSpPr>
        <p:spPr>
          <a:xfrm>
            <a:off x="538609" y="2426180"/>
            <a:ext cx="1185416" cy="342476"/>
          </a:xfrm>
          <a:prstGeom prst="rect">
            <a:avLst/>
          </a:prstGeom>
          <a:noFill/>
          <a:ln/>
        </p:spPr>
        <p:txBody>
          <a:bodyPr wrap="square" lIns="25400" tIns="25400" rIns="25400" bIns="25400" rtlCol="0" anchor="t">
            <a:normAutofit/>
          </a:bodyPr>
          <a:lstStyle/>
          <a:p>
            <a:pPr marL="0" indent="0" algn="l">
              <a:lnSpc>
                <a:spcPct val="130000"/>
              </a:lnSpc>
              <a:buNone/>
            </a:pPr>
            <a:r>
              <a:rPr lang="en-US" sz="1400" kern="0" spc="21" dirty="0">
                <a:solidFill>
                  <a:srgbClr val="888080"/>
                </a:solidFill>
                <a:latin typeface="Inter" pitchFamily="34" charset="0"/>
                <a:ea typeface="Inter" pitchFamily="34" charset="-122"/>
              </a:rPr>
              <a:t>Pipeline</a:t>
            </a:r>
          </a:p>
        </p:txBody>
      </p:sp>
      <p:sp>
        <p:nvSpPr>
          <p:cNvPr id="137" name="Text 7">
            <a:extLst>
              <a:ext uri="{FF2B5EF4-FFF2-40B4-BE49-F238E27FC236}">
                <a16:creationId xmlns:a16="http://schemas.microsoft.com/office/drawing/2014/main" id="{B26ACBBC-19E7-293E-95CE-D0580669CDBD}"/>
              </a:ext>
            </a:extLst>
          </p:cNvPr>
          <p:cNvSpPr/>
          <p:nvPr/>
        </p:nvSpPr>
        <p:spPr>
          <a:xfrm>
            <a:off x="523875" y="1826620"/>
            <a:ext cx="1325700" cy="467696"/>
          </a:xfrm>
          <a:prstGeom prst="rect">
            <a:avLst/>
          </a:prstGeom>
          <a:noFill/>
          <a:ln/>
        </p:spPr>
        <p:txBody>
          <a:bodyPr wrap="square" lIns="25400" tIns="25400" rIns="25400" bIns="25400" rtlCol="0" anchor="t">
            <a:noAutofit/>
          </a:bodyPr>
          <a:lstStyle/>
          <a:p>
            <a:pPr marL="0" indent="0" algn="l">
              <a:lnSpc>
                <a:spcPct val="130000"/>
              </a:lnSpc>
              <a:buNone/>
            </a:pPr>
            <a:r>
              <a:rPr lang="en-US" sz="1400" kern="0" spc="21" dirty="0">
                <a:solidFill>
                  <a:srgbClr val="888080"/>
                </a:solidFill>
                <a:latin typeface="Inter" pitchFamily="34" charset="0"/>
                <a:ea typeface="Inter" pitchFamily="34" charset="-122"/>
              </a:rPr>
              <a:t>Data &amp; target</a:t>
            </a:r>
          </a:p>
        </p:txBody>
      </p:sp>
      <p:sp>
        <p:nvSpPr>
          <p:cNvPr id="138" name="Text 1">
            <a:extLst>
              <a:ext uri="{FF2B5EF4-FFF2-40B4-BE49-F238E27FC236}">
                <a16:creationId xmlns:a16="http://schemas.microsoft.com/office/drawing/2014/main" id="{60192B60-D664-E958-25E1-D46EC28B22AE}"/>
              </a:ext>
            </a:extLst>
          </p:cNvPr>
          <p:cNvSpPr/>
          <p:nvPr/>
        </p:nvSpPr>
        <p:spPr>
          <a:xfrm>
            <a:off x="261138" y="379598"/>
            <a:ext cx="1778457" cy="447678"/>
          </a:xfrm>
          <a:prstGeom prst="rect">
            <a:avLst/>
          </a:prstGeom>
          <a:noFill/>
          <a:ln/>
        </p:spPr>
        <p:txBody>
          <a:bodyPr wrap="square" lIns="25400" tIns="25400" rIns="25400" bIns="25400" rtlCol="0" anchor="t">
            <a:noAutofit/>
          </a:bodyPr>
          <a:lstStyle/>
          <a:p>
            <a:pPr marL="0" indent="0">
              <a:buNone/>
            </a:pPr>
            <a:r>
              <a:rPr lang="en-US" sz="1400" kern="0" spc="116" dirty="0">
                <a:solidFill>
                  <a:srgbClr val="888080"/>
                </a:solidFill>
                <a:latin typeface="JetBrains Mono" pitchFamily="34" charset="0"/>
                <a:ea typeface="JetBrains Mono" pitchFamily="34" charset="-122"/>
                <a:cs typeface="JetBrains Mono" pitchFamily="34" charset="-120"/>
              </a:rPr>
              <a:t>DS22 - Bar Ilan</a:t>
            </a:r>
            <a:br>
              <a:rPr lang="en-US" sz="1400" kern="0" spc="116" dirty="0">
                <a:solidFill>
                  <a:srgbClr val="888080"/>
                </a:solidFill>
                <a:latin typeface="JetBrains Mono" pitchFamily="34" charset="0"/>
                <a:ea typeface="JetBrains Mono" pitchFamily="34" charset="-122"/>
                <a:cs typeface="JetBrains Mono" pitchFamily="34" charset="-120"/>
              </a:rPr>
            </a:br>
            <a:r>
              <a:rPr lang="en-US" sz="1400" kern="0" spc="116" dirty="0">
                <a:solidFill>
                  <a:srgbClr val="888080"/>
                </a:solidFill>
                <a:latin typeface="JetBrains Mono" pitchFamily="34" charset="0"/>
                <a:ea typeface="JetBrains Mono" pitchFamily="34" charset="-122"/>
                <a:cs typeface="JetBrains Mono" pitchFamily="34" charset="-120"/>
              </a:rPr>
              <a:t>ML PROJECT</a:t>
            </a:r>
          </a:p>
          <a:p>
            <a:pPr marL="0" indent="0">
              <a:buNone/>
            </a:pPr>
            <a:r>
              <a:rPr lang="en-US" sz="1400" kern="0" spc="116" dirty="0">
                <a:solidFill>
                  <a:srgbClr val="888080"/>
                </a:solidFill>
                <a:latin typeface="JetBrains Mono" pitchFamily="34" charset="0"/>
                <a:ea typeface="JetBrains Mono" pitchFamily="34" charset="-122"/>
                <a:cs typeface="JetBrains Mono" pitchFamily="34" charset="-120"/>
              </a:rPr>
              <a:t>MAY 2026</a:t>
            </a:r>
            <a:endParaRPr lang="en-US" sz="14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5">
    <p:bg>
      <p:bgPr>
        <a:solidFill>
          <a:srgbClr val="F5F1E8"/>
        </a:solidFill>
        <a:effectLst/>
      </p:bgPr>
    </p:bg>
    <p:spTree>
      <p:nvGrpSpPr>
        <p:cNvPr id="1" name=""/>
        <p:cNvGrpSpPr/>
        <p:nvPr/>
      </p:nvGrpSpPr>
      <p:grpSpPr>
        <a:xfrm>
          <a:off x="0" y="0"/>
          <a:ext cx="0" cy="0"/>
          <a:chOff x="0" y="0"/>
          <a:chExt cx="0" cy="0"/>
        </a:xfrm>
      </p:grpSpPr>
      <p:sp>
        <p:nvSpPr>
          <p:cNvPr id="2" name="Shape 0"/>
          <p:cNvSpPr/>
          <p:nvPr/>
        </p:nvSpPr>
        <p:spPr>
          <a:xfrm>
            <a:off x="0" y="0"/>
            <a:ext cx="2095500" cy="10287000"/>
          </a:xfrm>
          <a:prstGeom prst="rect">
            <a:avLst/>
          </a:prstGeom>
          <a:solidFill>
            <a:srgbClr val="EBE5D6"/>
          </a:solidFill>
          <a:ln/>
        </p:spPr>
        <p:txBody>
          <a:bodyPr/>
          <a:lstStyle/>
          <a:p>
            <a:endParaRPr lang="he-IL"/>
          </a:p>
        </p:txBody>
      </p:sp>
      <p:sp>
        <p:nvSpPr>
          <p:cNvPr id="3" name="Shape 1"/>
          <p:cNvSpPr/>
          <p:nvPr/>
        </p:nvSpPr>
        <p:spPr>
          <a:xfrm>
            <a:off x="2085975" y="0"/>
            <a:ext cx="9525" cy="10287000"/>
          </a:xfrm>
          <a:prstGeom prst="rect">
            <a:avLst/>
          </a:prstGeom>
          <a:solidFill>
            <a:srgbClr val="D4CDBC"/>
          </a:solidFill>
          <a:ln/>
        </p:spPr>
        <p:txBody>
          <a:bodyPr/>
          <a:lstStyle/>
          <a:p>
            <a:endParaRPr lang="he-IL"/>
          </a:p>
        </p:txBody>
      </p:sp>
      <p:sp>
        <p:nvSpPr>
          <p:cNvPr id="19" name="Text 17"/>
          <p:cNvSpPr/>
          <p:nvPr/>
        </p:nvSpPr>
        <p:spPr>
          <a:xfrm>
            <a:off x="2781300" y="571500"/>
            <a:ext cx="15187041" cy="171450"/>
          </a:xfrm>
          <a:prstGeom prst="rect">
            <a:avLst/>
          </a:prstGeom>
          <a:noFill/>
          <a:ln/>
        </p:spPr>
        <p:txBody>
          <a:bodyPr wrap="square" lIns="25400" tIns="25400" rIns="25400" bIns="25400" rtlCol="0" anchor="ctr">
            <a:noAutofit/>
          </a:bodyPr>
          <a:lstStyle/>
          <a:p>
            <a:pPr marL="0" indent="0" algn="l">
              <a:buNone/>
            </a:pPr>
            <a:r>
              <a:rPr lang="en-US" sz="1400" kern="0" spc="182" dirty="0">
                <a:solidFill>
                  <a:srgbClr val="888080"/>
                </a:solidFill>
                <a:latin typeface="JetBrains Mono" pitchFamily="34" charset="0"/>
                <a:ea typeface="JetBrains Mono" pitchFamily="34" charset="-122"/>
                <a:cs typeface="JetBrains Mono" pitchFamily="34" charset="-120"/>
              </a:rPr>
              <a:t>FINAL MODEL · TEST SET · N = 13,588</a:t>
            </a:r>
            <a:endParaRPr lang="en-US" sz="1400" dirty="0"/>
          </a:p>
        </p:txBody>
      </p:sp>
      <p:sp>
        <p:nvSpPr>
          <p:cNvPr id="20" name="Text 18"/>
          <p:cNvSpPr/>
          <p:nvPr/>
        </p:nvSpPr>
        <p:spPr>
          <a:xfrm>
            <a:off x="2781300" y="914400"/>
            <a:ext cx="15187041" cy="643830"/>
          </a:xfrm>
          <a:prstGeom prst="rect">
            <a:avLst/>
          </a:prstGeom>
          <a:noFill/>
          <a:ln/>
        </p:spPr>
        <p:txBody>
          <a:bodyPr wrap="square" lIns="25400" tIns="25400" rIns="25400" bIns="25400" rtlCol="0" anchor="t">
            <a:normAutofit fontScale="92500" lnSpcReduction="20000"/>
          </a:bodyPr>
          <a:lstStyle/>
          <a:p>
            <a:pPr marL="0" indent="0" algn="l">
              <a:lnSpc>
                <a:spcPct val="106000"/>
              </a:lnSpc>
              <a:buNone/>
            </a:pPr>
            <a:r>
              <a:rPr lang="en-US" sz="4500" kern="0" spc="-81" dirty="0">
                <a:solidFill>
                  <a:srgbClr val="1A1A1A"/>
                </a:solidFill>
                <a:latin typeface="Instrument Serif" pitchFamily="34" charset="0"/>
                <a:ea typeface="Instrument Serif" pitchFamily="34" charset="-122"/>
                <a:cs typeface="Instrument Serif" pitchFamily="34" charset="-120"/>
              </a:rPr>
              <a:t>Final XGBoost on the test set.</a:t>
            </a:r>
            <a:endParaRPr lang="en-US" sz="4500" dirty="0"/>
          </a:p>
        </p:txBody>
      </p:sp>
      <p:sp>
        <p:nvSpPr>
          <p:cNvPr id="21" name="Shape 19"/>
          <p:cNvSpPr/>
          <p:nvPr/>
        </p:nvSpPr>
        <p:spPr>
          <a:xfrm>
            <a:off x="2781300" y="1748730"/>
            <a:ext cx="7219950" cy="6828600"/>
          </a:xfrm>
          <a:prstGeom prst="rect">
            <a:avLst/>
          </a:prstGeom>
          <a:solidFill>
            <a:srgbClr val="FFFFFF"/>
          </a:solidFill>
          <a:ln w="9525">
            <a:solidFill>
              <a:srgbClr val="D4CDBC"/>
            </a:solidFill>
            <a:prstDash val="solid"/>
          </a:ln>
        </p:spPr>
        <p:txBody>
          <a:bodyPr/>
          <a:lstStyle/>
          <a:p>
            <a:endParaRPr lang="he-IL"/>
          </a:p>
        </p:txBody>
      </p:sp>
      <p:sp>
        <p:nvSpPr>
          <p:cNvPr id="22" name="Text 20"/>
          <p:cNvSpPr/>
          <p:nvPr/>
        </p:nvSpPr>
        <p:spPr>
          <a:xfrm>
            <a:off x="2905125" y="1872555"/>
            <a:ext cx="3429930" cy="161925"/>
          </a:xfrm>
          <a:prstGeom prst="rect">
            <a:avLst/>
          </a:prstGeom>
          <a:noFill/>
          <a:ln/>
        </p:spPr>
        <p:txBody>
          <a:bodyPr wrap="square" lIns="25400" tIns="25400" rIns="25400" bIns="25400" rtlCol="0" anchor="t">
            <a:normAutofit lnSpcReduction="10000"/>
          </a:bodyPr>
          <a:lstStyle/>
          <a:p>
            <a:pPr marL="0" indent="0" algn="l">
              <a:buNone/>
            </a:pPr>
            <a:r>
              <a:rPr lang="en-US" sz="750" kern="0" spc="120" dirty="0">
                <a:solidFill>
                  <a:srgbClr val="888080"/>
                </a:solidFill>
                <a:latin typeface="JetBrains Mono" pitchFamily="34" charset="0"/>
                <a:ea typeface="JetBrains Mono" pitchFamily="34" charset="-122"/>
                <a:cs typeface="JetBrains Mono" pitchFamily="34" charset="-120"/>
              </a:rPr>
              <a:t>FIG · CONFUSION MATRIX · CLASSIFICATION REPORT</a:t>
            </a:r>
            <a:endParaRPr lang="en-US" sz="750" dirty="0"/>
          </a:p>
        </p:txBody>
      </p:sp>
      <p:sp>
        <p:nvSpPr>
          <p:cNvPr id="23" name="Text 21"/>
          <p:cNvSpPr/>
          <p:nvPr/>
        </p:nvSpPr>
        <p:spPr>
          <a:xfrm>
            <a:off x="9298186" y="1872555"/>
            <a:ext cx="655439" cy="161925"/>
          </a:xfrm>
          <a:prstGeom prst="rect">
            <a:avLst/>
          </a:prstGeom>
          <a:noFill/>
          <a:ln/>
        </p:spPr>
        <p:txBody>
          <a:bodyPr wrap="square" lIns="25400" tIns="25400" rIns="25400" bIns="25400" rtlCol="0" anchor="t">
            <a:normAutofit lnSpcReduction="10000"/>
          </a:bodyPr>
          <a:lstStyle/>
          <a:p>
            <a:pPr marL="0" indent="0" algn="l">
              <a:buNone/>
            </a:pPr>
            <a:r>
              <a:rPr lang="en-US" sz="750" kern="0" spc="120" dirty="0">
                <a:solidFill>
                  <a:srgbClr val="888080"/>
                </a:solidFill>
                <a:latin typeface="JetBrains Mono" pitchFamily="34" charset="0"/>
                <a:ea typeface="JetBrains Mono" pitchFamily="34" charset="-122"/>
                <a:cs typeface="JetBrains Mono" pitchFamily="34" charset="-120"/>
              </a:rPr>
              <a:t>THR 0.20</a:t>
            </a:r>
            <a:endParaRPr lang="en-US" sz="750" dirty="0"/>
          </a:p>
        </p:txBody>
      </p:sp>
      <p:sp>
        <p:nvSpPr>
          <p:cNvPr id="24" name="Shape 22"/>
          <p:cNvSpPr/>
          <p:nvPr/>
        </p:nvSpPr>
        <p:spPr>
          <a:xfrm>
            <a:off x="2905125" y="2072580"/>
            <a:ext cx="6972300" cy="6341865"/>
          </a:xfrm>
          <a:prstGeom prst="rect">
            <a:avLst/>
          </a:prstGeom>
          <a:solidFill>
            <a:srgbClr val="FFFFFF"/>
          </a:solidFill>
          <a:ln/>
        </p:spPr>
        <p:txBody>
          <a:bodyPr/>
          <a:lstStyle/>
          <a:p>
            <a:endParaRPr lang="he-IL"/>
          </a:p>
        </p:txBody>
      </p:sp>
      <p:pic>
        <p:nvPicPr>
          <p:cNvPr id="25" name="Image 0" descr="preencoded.png"/>
          <p:cNvPicPr>
            <a:picLocks noChangeAspect="1"/>
          </p:cNvPicPr>
          <p:nvPr/>
        </p:nvPicPr>
        <p:blipFill>
          <a:blip r:embed="rId3"/>
          <a:srcRect l="6836" t="41142" r="4832" b="1566"/>
          <a:stretch>
            <a:fillRect/>
          </a:stretch>
        </p:blipFill>
        <p:spPr>
          <a:xfrm>
            <a:off x="3148688" y="2437997"/>
            <a:ext cx="6550143" cy="5231844"/>
          </a:xfrm>
          <a:prstGeom prst="rect">
            <a:avLst/>
          </a:prstGeom>
        </p:spPr>
      </p:pic>
      <p:sp>
        <p:nvSpPr>
          <p:cNvPr id="26" name="Shape 23"/>
          <p:cNvSpPr/>
          <p:nvPr/>
        </p:nvSpPr>
        <p:spPr>
          <a:xfrm>
            <a:off x="10306050" y="1748730"/>
            <a:ext cx="2292251" cy="1218009"/>
          </a:xfrm>
          <a:prstGeom prst="rect">
            <a:avLst/>
          </a:prstGeom>
          <a:solidFill>
            <a:srgbClr val="FFFFFF"/>
          </a:solidFill>
          <a:ln w="9525">
            <a:solidFill>
              <a:srgbClr val="D4CDBC"/>
            </a:solidFill>
            <a:prstDash val="solid"/>
          </a:ln>
        </p:spPr>
        <p:txBody>
          <a:bodyPr/>
          <a:lstStyle/>
          <a:p>
            <a:endParaRPr lang="he-IL" sz="1400"/>
          </a:p>
        </p:txBody>
      </p:sp>
      <p:sp>
        <p:nvSpPr>
          <p:cNvPr id="27" name="Text 24"/>
          <p:cNvSpPr/>
          <p:nvPr/>
        </p:nvSpPr>
        <p:spPr>
          <a:xfrm>
            <a:off x="10544175" y="1967805"/>
            <a:ext cx="1892201" cy="161925"/>
          </a:xfrm>
          <a:prstGeom prst="rect">
            <a:avLst/>
          </a:prstGeom>
          <a:noFill/>
          <a:ln/>
        </p:spPr>
        <p:txBody>
          <a:bodyPr wrap="square" lIns="25400" tIns="25400" rIns="25400" bIns="25400" rtlCol="0" anchor="t">
            <a:noAutofit/>
          </a:bodyPr>
          <a:lstStyle/>
          <a:p>
            <a:pPr marL="0" indent="0" algn="l">
              <a:buNone/>
            </a:pPr>
            <a:r>
              <a:rPr lang="en-US" sz="1400" b="1" kern="0" spc="135" dirty="0">
                <a:solidFill>
                  <a:srgbClr val="888080"/>
                </a:solidFill>
                <a:latin typeface="JetBrains Mono" pitchFamily="34" charset="0"/>
                <a:ea typeface="JetBrains Mono" pitchFamily="34" charset="-122"/>
                <a:cs typeface="JetBrains Mono" pitchFamily="34" charset="-120"/>
              </a:rPr>
              <a:t>ACCURACY</a:t>
            </a:r>
            <a:endParaRPr lang="en-US" sz="1400" dirty="0"/>
          </a:p>
        </p:txBody>
      </p:sp>
      <p:sp>
        <p:nvSpPr>
          <p:cNvPr id="28" name="Text 25"/>
          <p:cNvSpPr/>
          <p:nvPr/>
        </p:nvSpPr>
        <p:spPr>
          <a:xfrm>
            <a:off x="10544175" y="2238396"/>
            <a:ext cx="1892201" cy="598884"/>
          </a:xfrm>
          <a:prstGeom prst="rect">
            <a:avLst/>
          </a:prstGeom>
          <a:noFill/>
          <a:ln/>
        </p:spPr>
        <p:txBody>
          <a:bodyPr wrap="square" lIns="25400" tIns="25400" rIns="25400" bIns="25400" rtlCol="0" anchor="t">
            <a:normAutofit fontScale="92500" lnSpcReduction="20000"/>
          </a:bodyPr>
          <a:lstStyle/>
          <a:p>
            <a:pPr marL="0" indent="0" algn="l">
              <a:lnSpc>
                <a:spcPct val="92000"/>
              </a:lnSpc>
              <a:buNone/>
            </a:pPr>
            <a:r>
              <a:rPr lang="en-US" sz="4800" kern="0" spc="-120" dirty="0">
                <a:solidFill>
                  <a:srgbClr val="C25A2A"/>
                </a:solidFill>
                <a:latin typeface="Instrument Serif" pitchFamily="34" charset="0"/>
                <a:ea typeface="Instrument Serif" pitchFamily="34" charset="-122"/>
                <a:cs typeface="Instrument Serif" pitchFamily="34" charset="-120"/>
              </a:rPr>
              <a:t>82</a:t>
            </a:r>
            <a:r>
              <a:rPr lang="en-US" sz="2100" kern="0" spc="-120" dirty="0">
                <a:solidFill>
                  <a:srgbClr val="C25A2A"/>
                </a:solidFill>
                <a:latin typeface="Instrument Serif" pitchFamily="34" charset="0"/>
                <a:ea typeface="Instrument Serif" pitchFamily="34" charset="-122"/>
                <a:cs typeface="Instrument Serif" pitchFamily="34" charset="-120"/>
              </a:rPr>
              <a:t>%</a:t>
            </a:r>
            <a:endParaRPr lang="en-US" sz="4800" dirty="0"/>
          </a:p>
        </p:txBody>
      </p:sp>
      <p:sp>
        <p:nvSpPr>
          <p:cNvPr id="29" name="Shape 26"/>
          <p:cNvSpPr/>
          <p:nvPr/>
        </p:nvSpPr>
        <p:spPr>
          <a:xfrm>
            <a:off x="12769751" y="1748730"/>
            <a:ext cx="2292400" cy="1218009"/>
          </a:xfrm>
          <a:prstGeom prst="rect">
            <a:avLst/>
          </a:prstGeom>
          <a:solidFill>
            <a:srgbClr val="FFFFFF"/>
          </a:solidFill>
          <a:ln w="9525">
            <a:solidFill>
              <a:srgbClr val="D4CDBC"/>
            </a:solidFill>
            <a:prstDash val="solid"/>
          </a:ln>
        </p:spPr>
        <p:txBody>
          <a:bodyPr/>
          <a:lstStyle/>
          <a:p>
            <a:endParaRPr lang="he-IL" sz="1400"/>
          </a:p>
        </p:txBody>
      </p:sp>
      <p:sp>
        <p:nvSpPr>
          <p:cNvPr id="30" name="Text 27"/>
          <p:cNvSpPr/>
          <p:nvPr/>
        </p:nvSpPr>
        <p:spPr>
          <a:xfrm>
            <a:off x="13007876" y="1967805"/>
            <a:ext cx="1892350" cy="161925"/>
          </a:xfrm>
          <a:prstGeom prst="rect">
            <a:avLst/>
          </a:prstGeom>
          <a:noFill/>
          <a:ln/>
        </p:spPr>
        <p:txBody>
          <a:bodyPr wrap="square" lIns="25400" tIns="25400" rIns="25400" bIns="25400" rtlCol="0" anchor="t">
            <a:noAutofit/>
          </a:bodyPr>
          <a:lstStyle/>
          <a:p>
            <a:pPr marL="0" indent="0" algn="l">
              <a:buNone/>
            </a:pPr>
            <a:r>
              <a:rPr lang="en-US" sz="1400" b="1" kern="0" spc="135" dirty="0">
                <a:solidFill>
                  <a:srgbClr val="888080"/>
                </a:solidFill>
                <a:latin typeface="JetBrains Mono" pitchFamily="34" charset="0"/>
                <a:ea typeface="JetBrains Mono" pitchFamily="34" charset="-122"/>
                <a:cs typeface="JetBrains Mono" pitchFamily="34" charset="-120"/>
              </a:rPr>
              <a:t>F1 · WEIGHTED</a:t>
            </a:r>
            <a:endParaRPr lang="en-US" sz="1400" dirty="0"/>
          </a:p>
        </p:txBody>
      </p:sp>
      <p:sp>
        <p:nvSpPr>
          <p:cNvPr id="31" name="Text 28"/>
          <p:cNvSpPr/>
          <p:nvPr/>
        </p:nvSpPr>
        <p:spPr>
          <a:xfrm>
            <a:off x="13007876" y="2238396"/>
            <a:ext cx="1892350" cy="598884"/>
          </a:xfrm>
          <a:prstGeom prst="rect">
            <a:avLst/>
          </a:prstGeom>
          <a:noFill/>
          <a:ln/>
        </p:spPr>
        <p:txBody>
          <a:bodyPr wrap="square" lIns="25400" tIns="25400" rIns="25400" bIns="25400" rtlCol="0" anchor="t">
            <a:normAutofit fontScale="92500" lnSpcReduction="20000"/>
          </a:bodyPr>
          <a:lstStyle/>
          <a:p>
            <a:pPr marL="0" indent="0" algn="l">
              <a:lnSpc>
                <a:spcPct val="92000"/>
              </a:lnSpc>
              <a:buNone/>
            </a:pPr>
            <a:r>
              <a:rPr lang="en-US" sz="4800" kern="0" spc="-120" dirty="0">
                <a:solidFill>
                  <a:srgbClr val="1A1A1A"/>
                </a:solidFill>
                <a:latin typeface="Instrument Serif" pitchFamily="34" charset="0"/>
                <a:ea typeface="Instrument Serif" pitchFamily="34" charset="-122"/>
                <a:cs typeface="Instrument Serif" pitchFamily="34" charset="-120"/>
              </a:rPr>
              <a:t>0.81</a:t>
            </a:r>
            <a:endParaRPr lang="en-US" sz="4800" dirty="0"/>
          </a:p>
        </p:txBody>
      </p:sp>
      <p:sp>
        <p:nvSpPr>
          <p:cNvPr id="32" name="Shape 29"/>
          <p:cNvSpPr/>
          <p:nvPr/>
        </p:nvSpPr>
        <p:spPr>
          <a:xfrm>
            <a:off x="15233600" y="1748730"/>
            <a:ext cx="2292400" cy="1218009"/>
          </a:xfrm>
          <a:prstGeom prst="rect">
            <a:avLst/>
          </a:prstGeom>
          <a:solidFill>
            <a:srgbClr val="FFFFFF"/>
          </a:solidFill>
          <a:ln w="9525">
            <a:solidFill>
              <a:srgbClr val="D4CDBC"/>
            </a:solidFill>
            <a:prstDash val="solid"/>
          </a:ln>
        </p:spPr>
        <p:txBody>
          <a:bodyPr/>
          <a:lstStyle/>
          <a:p>
            <a:endParaRPr lang="he-IL" sz="1400"/>
          </a:p>
        </p:txBody>
      </p:sp>
      <p:sp>
        <p:nvSpPr>
          <p:cNvPr id="33" name="Text 30"/>
          <p:cNvSpPr/>
          <p:nvPr/>
        </p:nvSpPr>
        <p:spPr>
          <a:xfrm>
            <a:off x="15471725" y="1967805"/>
            <a:ext cx="1892350" cy="161925"/>
          </a:xfrm>
          <a:prstGeom prst="rect">
            <a:avLst/>
          </a:prstGeom>
          <a:noFill/>
          <a:ln/>
        </p:spPr>
        <p:txBody>
          <a:bodyPr wrap="square" lIns="25400" tIns="25400" rIns="25400" bIns="25400" rtlCol="0" anchor="t">
            <a:noAutofit/>
          </a:bodyPr>
          <a:lstStyle/>
          <a:p>
            <a:pPr marL="0" indent="0" algn="l">
              <a:buNone/>
            </a:pPr>
            <a:r>
              <a:rPr lang="en-US" sz="1400" b="1" kern="0" spc="135" dirty="0">
                <a:solidFill>
                  <a:srgbClr val="888080"/>
                </a:solidFill>
                <a:latin typeface="JetBrains Mono" pitchFamily="34" charset="0"/>
                <a:ea typeface="JetBrains Mono" pitchFamily="34" charset="-122"/>
                <a:cs typeface="JetBrains Mono" pitchFamily="34" charset="-120"/>
              </a:rPr>
              <a:t>F1 · MACRO</a:t>
            </a:r>
            <a:endParaRPr lang="en-US" sz="1400" dirty="0"/>
          </a:p>
        </p:txBody>
      </p:sp>
      <p:sp>
        <p:nvSpPr>
          <p:cNvPr id="34" name="Text 31"/>
          <p:cNvSpPr/>
          <p:nvPr/>
        </p:nvSpPr>
        <p:spPr>
          <a:xfrm>
            <a:off x="15471725" y="2238396"/>
            <a:ext cx="1892350" cy="598884"/>
          </a:xfrm>
          <a:prstGeom prst="rect">
            <a:avLst/>
          </a:prstGeom>
          <a:noFill/>
          <a:ln/>
        </p:spPr>
        <p:txBody>
          <a:bodyPr wrap="square" lIns="25400" tIns="25400" rIns="25400" bIns="25400" rtlCol="0" anchor="t">
            <a:normAutofit fontScale="92500" lnSpcReduction="20000"/>
          </a:bodyPr>
          <a:lstStyle/>
          <a:p>
            <a:pPr marL="0" indent="0" algn="l">
              <a:lnSpc>
                <a:spcPct val="92000"/>
              </a:lnSpc>
              <a:buNone/>
            </a:pPr>
            <a:r>
              <a:rPr lang="en-US" sz="4800" kern="0" spc="-120" dirty="0">
                <a:solidFill>
                  <a:srgbClr val="1A1A1A"/>
                </a:solidFill>
                <a:latin typeface="Instrument Serif" pitchFamily="34" charset="0"/>
                <a:ea typeface="Instrument Serif" pitchFamily="34" charset="-122"/>
                <a:cs typeface="Instrument Serif" pitchFamily="34" charset="-120"/>
              </a:rPr>
              <a:t>0.68</a:t>
            </a:r>
            <a:endParaRPr lang="en-US" sz="4800" dirty="0"/>
          </a:p>
        </p:txBody>
      </p:sp>
      <p:sp>
        <p:nvSpPr>
          <p:cNvPr id="35" name="Shape 32"/>
          <p:cNvSpPr/>
          <p:nvPr/>
        </p:nvSpPr>
        <p:spPr>
          <a:xfrm>
            <a:off x="10306050" y="3138190"/>
            <a:ext cx="7219950" cy="2295525"/>
          </a:xfrm>
          <a:prstGeom prst="rect">
            <a:avLst/>
          </a:prstGeom>
          <a:solidFill>
            <a:srgbClr val="EBE5D6"/>
          </a:solidFill>
          <a:ln w="9525">
            <a:solidFill>
              <a:srgbClr val="D4CDBC"/>
            </a:solidFill>
            <a:prstDash val="solid"/>
          </a:ln>
        </p:spPr>
        <p:txBody>
          <a:bodyPr/>
          <a:lstStyle/>
          <a:p>
            <a:endParaRPr lang="he-IL" sz="1400"/>
          </a:p>
        </p:txBody>
      </p:sp>
      <p:sp>
        <p:nvSpPr>
          <p:cNvPr id="36" name="Text 33"/>
          <p:cNvSpPr/>
          <p:nvPr/>
        </p:nvSpPr>
        <p:spPr>
          <a:xfrm>
            <a:off x="10544175" y="3357265"/>
            <a:ext cx="6946011" cy="161925"/>
          </a:xfrm>
          <a:prstGeom prst="rect">
            <a:avLst/>
          </a:prstGeom>
          <a:noFill/>
          <a:ln/>
        </p:spPr>
        <p:txBody>
          <a:bodyPr wrap="square" lIns="25400" tIns="25400" rIns="25400" bIns="25400" rtlCol="0" anchor="t">
            <a:noAutofit/>
          </a:bodyPr>
          <a:lstStyle/>
          <a:p>
            <a:pPr marL="0" indent="0" algn="l">
              <a:buNone/>
            </a:pPr>
            <a:r>
              <a:rPr lang="en-US" sz="1400" b="1" kern="0" spc="135" dirty="0">
                <a:solidFill>
                  <a:srgbClr val="C25A2A"/>
                </a:solidFill>
                <a:latin typeface="JetBrains Mono" pitchFamily="34" charset="0"/>
                <a:ea typeface="JetBrains Mono" pitchFamily="34" charset="-122"/>
                <a:cs typeface="JetBrains Mono" pitchFamily="34" charset="-120"/>
              </a:rPr>
              <a:t>PER-CLASS</a:t>
            </a:r>
            <a:endParaRPr lang="en-US" sz="1400" dirty="0"/>
          </a:p>
        </p:txBody>
      </p:sp>
      <p:sp>
        <p:nvSpPr>
          <p:cNvPr id="37" name="Shape 34"/>
          <p:cNvSpPr/>
          <p:nvPr/>
        </p:nvSpPr>
        <p:spPr>
          <a:xfrm>
            <a:off x="10544175" y="3885902"/>
            <a:ext cx="1891754" cy="9525"/>
          </a:xfrm>
          <a:prstGeom prst="rect">
            <a:avLst/>
          </a:prstGeom>
          <a:solidFill>
            <a:srgbClr val="1A1A1A"/>
          </a:solidFill>
          <a:ln/>
        </p:spPr>
        <p:txBody>
          <a:bodyPr/>
          <a:lstStyle/>
          <a:p>
            <a:endParaRPr lang="he-IL" sz="1400"/>
          </a:p>
        </p:txBody>
      </p:sp>
      <p:sp>
        <p:nvSpPr>
          <p:cNvPr id="38" name="Text 35"/>
          <p:cNvSpPr/>
          <p:nvPr/>
        </p:nvSpPr>
        <p:spPr>
          <a:xfrm>
            <a:off x="10620375" y="3671590"/>
            <a:ext cx="1815554" cy="157162"/>
          </a:xfrm>
          <a:prstGeom prst="rect">
            <a:avLst/>
          </a:prstGeom>
          <a:noFill/>
          <a:ln/>
        </p:spPr>
        <p:txBody>
          <a:bodyPr wrap="square" lIns="25400" tIns="25400" rIns="25400" bIns="25400" rtlCol="0" anchor="ctr">
            <a:noAutofit/>
          </a:bodyPr>
          <a:lstStyle/>
          <a:p>
            <a:pPr marL="0" indent="0" algn="l">
              <a:buNone/>
            </a:pPr>
            <a:r>
              <a:rPr lang="en-US" sz="1400" kern="0" spc="120" dirty="0">
                <a:solidFill>
                  <a:srgbClr val="888080"/>
                </a:solidFill>
                <a:latin typeface="JetBrains Mono" pitchFamily="34" charset="0"/>
                <a:ea typeface="JetBrains Mono" pitchFamily="34" charset="-122"/>
                <a:cs typeface="JetBrains Mono" pitchFamily="34" charset="-120"/>
              </a:rPr>
              <a:t>CLASS</a:t>
            </a:r>
            <a:endParaRPr lang="en-US" sz="1400" dirty="0"/>
          </a:p>
        </p:txBody>
      </p:sp>
      <p:sp>
        <p:nvSpPr>
          <p:cNvPr id="39" name="Shape 36"/>
          <p:cNvSpPr/>
          <p:nvPr/>
        </p:nvSpPr>
        <p:spPr>
          <a:xfrm>
            <a:off x="12435929" y="3885902"/>
            <a:ext cx="1016794" cy="9525"/>
          </a:xfrm>
          <a:prstGeom prst="rect">
            <a:avLst/>
          </a:prstGeom>
          <a:solidFill>
            <a:srgbClr val="1A1A1A"/>
          </a:solidFill>
          <a:ln/>
        </p:spPr>
        <p:txBody>
          <a:bodyPr/>
          <a:lstStyle/>
          <a:p>
            <a:endParaRPr lang="he-IL" sz="1400"/>
          </a:p>
        </p:txBody>
      </p:sp>
      <p:sp>
        <p:nvSpPr>
          <p:cNvPr id="40" name="Text 37"/>
          <p:cNvSpPr/>
          <p:nvPr/>
        </p:nvSpPr>
        <p:spPr>
          <a:xfrm>
            <a:off x="12512129" y="3671590"/>
            <a:ext cx="940594" cy="157162"/>
          </a:xfrm>
          <a:prstGeom prst="rect">
            <a:avLst/>
          </a:prstGeom>
          <a:noFill/>
          <a:ln/>
        </p:spPr>
        <p:txBody>
          <a:bodyPr wrap="square" lIns="25400" tIns="25400" rIns="25400" bIns="25400" rtlCol="0" anchor="ctr">
            <a:noAutofit/>
          </a:bodyPr>
          <a:lstStyle/>
          <a:p>
            <a:pPr marL="0" indent="0" algn="l">
              <a:buNone/>
            </a:pPr>
            <a:r>
              <a:rPr lang="en-US" sz="1400" kern="0" spc="120" dirty="0">
                <a:solidFill>
                  <a:srgbClr val="888080"/>
                </a:solidFill>
                <a:latin typeface="JetBrains Mono" pitchFamily="34" charset="0"/>
                <a:ea typeface="JetBrains Mono" pitchFamily="34" charset="-122"/>
                <a:cs typeface="JetBrains Mono" pitchFamily="34" charset="-120"/>
              </a:rPr>
              <a:t>PREC</a:t>
            </a:r>
            <a:endParaRPr lang="en-US" sz="1400" dirty="0"/>
          </a:p>
        </p:txBody>
      </p:sp>
      <p:sp>
        <p:nvSpPr>
          <p:cNvPr id="41" name="Shape 38"/>
          <p:cNvSpPr/>
          <p:nvPr/>
        </p:nvSpPr>
        <p:spPr>
          <a:xfrm>
            <a:off x="13452723" y="3885902"/>
            <a:ext cx="1327249" cy="9525"/>
          </a:xfrm>
          <a:prstGeom prst="rect">
            <a:avLst/>
          </a:prstGeom>
          <a:solidFill>
            <a:srgbClr val="1A1A1A"/>
          </a:solidFill>
          <a:ln/>
        </p:spPr>
        <p:txBody>
          <a:bodyPr/>
          <a:lstStyle/>
          <a:p>
            <a:endParaRPr lang="he-IL" sz="1400"/>
          </a:p>
        </p:txBody>
      </p:sp>
      <p:sp>
        <p:nvSpPr>
          <p:cNvPr id="42" name="Text 39"/>
          <p:cNvSpPr/>
          <p:nvPr/>
        </p:nvSpPr>
        <p:spPr>
          <a:xfrm>
            <a:off x="13528923" y="3671590"/>
            <a:ext cx="1251049" cy="157162"/>
          </a:xfrm>
          <a:prstGeom prst="rect">
            <a:avLst/>
          </a:prstGeom>
          <a:noFill/>
          <a:ln/>
        </p:spPr>
        <p:txBody>
          <a:bodyPr wrap="square" lIns="25400" tIns="25400" rIns="25400" bIns="25400" rtlCol="0" anchor="ctr">
            <a:noAutofit/>
          </a:bodyPr>
          <a:lstStyle/>
          <a:p>
            <a:pPr marL="0" indent="0" algn="l">
              <a:buNone/>
            </a:pPr>
            <a:r>
              <a:rPr lang="en-US" sz="1400" kern="0" spc="120" dirty="0">
                <a:solidFill>
                  <a:srgbClr val="888080"/>
                </a:solidFill>
                <a:latin typeface="JetBrains Mono" pitchFamily="34" charset="0"/>
                <a:ea typeface="JetBrains Mono" pitchFamily="34" charset="-122"/>
                <a:cs typeface="JetBrains Mono" pitchFamily="34" charset="-120"/>
              </a:rPr>
              <a:t>RECALL</a:t>
            </a:r>
            <a:endParaRPr lang="en-US" sz="1400" dirty="0"/>
          </a:p>
        </p:txBody>
      </p:sp>
      <p:sp>
        <p:nvSpPr>
          <p:cNvPr id="43" name="Shape 40"/>
          <p:cNvSpPr/>
          <p:nvPr/>
        </p:nvSpPr>
        <p:spPr>
          <a:xfrm>
            <a:off x="14779972" y="3885902"/>
            <a:ext cx="1016794" cy="9525"/>
          </a:xfrm>
          <a:prstGeom prst="rect">
            <a:avLst/>
          </a:prstGeom>
          <a:solidFill>
            <a:srgbClr val="1A1A1A"/>
          </a:solidFill>
          <a:ln/>
        </p:spPr>
        <p:txBody>
          <a:bodyPr/>
          <a:lstStyle/>
          <a:p>
            <a:endParaRPr lang="he-IL" sz="1400"/>
          </a:p>
        </p:txBody>
      </p:sp>
      <p:sp>
        <p:nvSpPr>
          <p:cNvPr id="44" name="Text 41"/>
          <p:cNvSpPr/>
          <p:nvPr/>
        </p:nvSpPr>
        <p:spPr>
          <a:xfrm>
            <a:off x="14856172" y="3671590"/>
            <a:ext cx="940594" cy="157162"/>
          </a:xfrm>
          <a:prstGeom prst="rect">
            <a:avLst/>
          </a:prstGeom>
          <a:noFill/>
          <a:ln/>
        </p:spPr>
        <p:txBody>
          <a:bodyPr wrap="square" lIns="25400" tIns="25400" rIns="25400" bIns="25400" rtlCol="0" anchor="ctr">
            <a:noAutofit/>
          </a:bodyPr>
          <a:lstStyle/>
          <a:p>
            <a:pPr marL="0" indent="0" algn="l">
              <a:buNone/>
            </a:pPr>
            <a:r>
              <a:rPr lang="en-US" sz="1400" kern="0" spc="120" dirty="0">
                <a:solidFill>
                  <a:srgbClr val="888080"/>
                </a:solidFill>
                <a:latin typeface="JetBrains Mono" pitchFamily="34" charset="0"/>
                <a:ea typeface="JetBrains Mono" pitchFamily="34" charset="-122"/>
                <a:cs typeface="JetBrains Mono" pitchFamily="34" charset="-120"/>
              </a:rPr>
              <a:t>F1</a:t>
            </a:r>
            <a:endParaRPr lang="en-US" sz="1400" dirty="0"/>
          </a:p>
        </p:txBody>
      </p:sp>
      <p:sp>
        <p:nvSpPr>
          <p:cNvPr id="45" name="Shape 42"/>
          <p:cNvSpPr/>
          <p:nvPr/>
        </p:nvSpPr>
        <p:spPr>
          <a:xfrm>
            <a:off x="15796766" y="3885902"/>
            <a:ext cx="1491109" cy="9525"/>
          </a:xfrm>
          <a:prstGeom prst="rect">
            <a:avLst/>
          </a:prstGeom>
          <a:solidFill>
            <a:srgbClr val="1A1A1A"/>
          </a:solidFill>
          <a:ln/>
        </p:spPr>
        <p:txBody>
          <a:bodyPr/>
          <a:lstStyle/>
          <a:p>
            <a:endParaRPr lang="he-IL" sz="1400"/>
          </a:p>
        </p:txBody>
      </p:sp>
      <p:sp>
        <p:nvSpPr>
          <p:cNvPr id="46" name="Text 43"/>
          <p:cNvSpPr/>
          <p:nvPr/>
        </p:nvSpPr>
        <p:spPr>
          <a:xfrm>
            <a:off x="15872966" y="3671590"/>
            <a:ext cx="1414909" cy="157162"/>
          </a:xfrm>
          <a:prstGeom prst="rect">
            <a:avLst/>
          </a:prstGeom>
          <a:noFill/>
          <a:ln/>
        </p:spPr>
        <p:txBody>
          <a:bodyPr wrap="square" lIns="25400" tIns="25400" rIns="25400" bIns="25400" rtlCol="0" anchor="ctr">
            <a:noAutofit/>
          </a:bodyPr>
          <a:lstStyle/>
          <a:p>
            <a:pPr marL="0" indent="0" algn="l">
              <a:buNone/>
            </a:pPr>
            <a:r>
              <a:rPr lang="en-US" sz="1400" kern="0" spc="120" dirty="0">
                <a:solidFill>
                  <a:srgbClr val="888080"/>
                </a:solidFill>
                <a:latin typeface="JetBrains Mono" pitchFamily="34" charset="0"/>
                <a:ea typeface="JetBrains Mono" pitchFamily="34" charset="-122"/>
                <a:cs typeface="JetBrains Mono" pitchFamily="34" charset="-120"/>
              </a:rPr>
              <a:t>SUPPORT</a:t>
            </a:r>
            <a:endParaRPr lang="en-US" sz="1400" dirty="0"/>
          </a:p>
        </p:txBody>
      </p:sp>
      <p:sp>
        <p:nvSpPr>
          <p:cNvPr id="47" name="Shape 44"/>
          <p:cNvSpPr/>
          <p:nvPr/>
        </p:nvSpPr>
        <p:spPr>
          <a:xfrm>
            <a:off x="10544175" y="4324052"/>
            <a:ext cx="1891754" cy="9525"/>
          </a:xfrm>
          <a:prstGeom prst="rect">
            <a:avLst/>
          </a:prstGeom>
          <a:solidFill>
            <a:srgbClr val="E6DFCF"/>
          </a:solidFill>
          <a:ln/>
        </p:spPr>
        <p:txBody>
          <a:bodyPr/>
          <a:lstStyle/>
          <a:p>
            <a:endParaRPr lang="he-IL" sz="1400"/>
          </a:p>
        </p:txBody>
      </p:sp>
      <p:sp>
        <p:nvSpPr>
          <p:cNvPr id="48" name="Shape 45"/>
          <p:cNvSpPr/>
          <p:nvPr/>
        </p:nvSpPr>
        <p:spPr>
          <a:xfrm>
            <a:off x="10620375" y="3990677"/>
            <a:ext cx="1138036" cy="233364"/>
          </a:xfrm>
          <a:prstGeom prst="rect">
            <a:avLst/>
          </a:prstGeom>
          <a:solidFill>
            <a:srgbClr val="B73A3A"/>
          </a:solidFill>
          <a:ln w="9525">
            <a:solidFill>
              <a:srgbClr val="B73A3A"/>
            </a:solidFill>
            <a:prstDash val="solid"/>
          </a:ln>
        </p:spPr>
        <p:txBody>
          <a:bodyPr/>
          <a:lstStyle/>
          <a:p>
            <a:endParaRPr lang="he-IL" sz="1400"/>
          </a:p>
        </p:txBody>
      </p:sp>
      <p:sp>
        <p:nvSpPr>
          <p:cNvPr id="49" name="Text 46"/>
          <p:cNvSpPr/>
          <p:nvPr/>
        </p:nvSpPr>
        <p:spPr>
          <a:xfrm>
            <a:off x="10715625" y="4052591"/>
            <a:ext cx="762000" cy="161924"/>
          </a:xfrm>
          <a:prstGeom prst="rect">
            <a:avLst/>
          </a:prstGeom>
          <a:noFill/>
          <a:ln/>
        </p:spPr>
        <p:txBody>
          <a:bodyPr wrap="square" lIns="25400" tIns="25400" rIns="25400" bIns="25400" rtlCol="0" anchor="ctr">
            <a:noAutofit/>
          </a:bodyPr>
          <a:lstStyle/>
          <a:p>
            <a:pPr marL="0" indent="0" algn="l">
              <a:buNone/>
            </a:pPr>
            <a:r>
              <a:rPr lang="en-US" sz="1400" kern="0" spc="105" dirty="0">
                <a:solidFill>
                  <a:srgbClr val="FFFFFF"/>
                </a:solidFill>
                <a:latin typeface="JetBrains Mono" pitchFamily="34" charset="0"/>
                <a:ea typeface="JetBrains Mono" pitchFamily="34" charset="-122"/>
                <a:cs typeface="JetBrains Mono" pitchFamily="34" charset="-120"/>
              </a:rPr>
              <a:t>DELAY</a:t>
            </a:r>
            <a:endParaRPr lang="en-US" sz="1400" dirty="0"/>
          </a:p>
        </p:txBody>
      </p:sp>
      <p:sp>
        <p:nvSpPr>
          <p:cNvPr id="50" name="Shape 47"/>
          <p:cNvSpPr/>
          <p:nvPr/>
        </p:nvSpPr>
        <p:spPr>
          <a:xfrm>
            <a:off x="12435929" y="4324052"/>
            <a:ext cx="1016794" cy="9525"/>
          </a:xfrm>
          <a:prstGeom prst="rect">
            <a:avLst/>
          </a:prstGeom>
          <a:solidFill>
            <a:srgbClr val="E6DFCF"/>
          </a:solidFill>
          <a:ln/>
        </p:spPr>
        <p:txBody>
          <a:bodyPr/>
          <a:lstStyle/>
          <a:p>
            <a:endParaRPr lang="he-IL" sz="1400"/>
          </a:p>
        </p:txBody>
      </p:sp>
      <p:sp>
        <p:nvSpPr>
          <p:cNvPr id="51" name="Text 48"/>
          <p:cNvSpPr/>
          <p:nvPr/>
        </p:nvSpPr>
        <p:spPr>
          <a:xfrm>
            <a:off x="12512129" y="4000202"/>
            <a:ext cx="940594" cy="257175"/>
          </a:xfrm>
          <a:prstGeom prst="rect">
            <a:avLst/>
          </a:prstGeom>
          <a:noFill/>
          <a:ln/>
        </p:spPr>
        <p:txBody>
          <a:bodyPr wrap="square" lIns="25400" tIns="25400" rIns="25400" bIns="25400" rtlCol="0" anchor="ctr">
            <a:noAutofit/>
          </a:bodyPr>
          <a:lstStyle/>
          <a:p>
            <a:pPr marL="0" indent="0" algn="l">
              <a:buNone/>
            </a:pPr>
            <a:r>
              <a:rPr lang="en-US" sz="1400" dirty="0">
                <a:solidFill>
                  <a:srgbClr val="1A1A1A"/>
                </a:solidFill>
                <a:latin typeface="JetBrains Mono" pitchFamily="34" charset="0"/>
                <a:ea typeface="JetBrains Mono" pitchFamily="34" charset="-122"/>
                <a:cs typeface="JetBrains Mono" pitchFamily="34" charset="-120"/>
              </a:rPr>
              <a:t>0.86</a:t>
            </a:r>
            <a:endParaRPr lang="en-US" sz="1400" dirty="0"/>
          </a:p>
        </p:txBody>
      </p:sp>
      <p:sp>
        <p:nvSpPr>
          <p:cNvPr id="52" name="Shape 49"/>
          <p:cNvSpPr/>
          <p:nvPr/>
        </p:nvSpPr>
        <p:spPr>
          <a:xfrm>
            <a:off x="13452723" y="4324052"/>
            <a:ext cx="1327249" cy="9525"/>
          </a:xfrm>
          <a:prstGeom prst="rect">
            <a:avLst/>
          </a:prstGeom>
          <a:solidFill>
            <a:srgbClr val="E6DFCF"/>
          </a:solidFill>
          <a:ln/>
        </p:spPr>
        <p:txBody>
          <a:bodyPr/>
          <a:lstStyle/>
          <a:p>
            <a:endParaRPr lang="he-IL" sz="1400"/>
          </a:p>
        </p:txBody>
      </p:sp>
      <p:sp>
        <p:nvSpPr>
          <p:cNvPr id="53" name="Text 50"/>
          <p:cNvSpPr/>
          <p:nvPr/>
        </p:nvSpPr>
        <p:spPr>
          <a:xfrm>
            <a:off x="13528923" y="4000202"/>
            <a:ext cx="1251049" cy="257175"/>
          </a:xfrm>
          <a:prstGeom prst="rect">
            <a:avLst/>
          </a:prstGeom>
          <a:noFill/>
          <a:ln/>
        </p:spPr>
        <p:txBody>
          <a:bodyPr wrap="square" lIns="25400" tIns="25400" rIns="25400" bIns="25400" rtlCol="0" anchor="ctr">
            <a:noAutofit/>
          </a:bodyPr>
          <a:lstStyle/>
          <a:p>
            <a:pPr marL="0" indent="0" algn="l">
              <a:buNone/>
            </a:pPr>
            <a:r>
              <a:rPr lang="en-US" sz="1400" dirty="0">
                <a:solidFill>
                  <a:srgbClr val="1A1A1A"/>
                </a:solidFill>
                <a:latin typeface="JetBrains Mono" pitchFamily="34" charset="0"/>
                <a:ea typeface="JetBrains Mono" pitchFamily="34" charset="-122"/>
                <a:cs typeface="JetBrains Mono" pitchFamily="34" charset="-120"/>
              </a:rPr>
              <a:t>0.94</a:t>
            </a:r>
            <a:endParaRPr lang="en-US" sz="1400" dirty="0"/>
          </a:p>
        </p:txBody>
      </p:sp>
      <p:sp>
        <p:nvSpPr>
          <p:cNvPr id="54" name="Shape 51"/>
          <p:cNvSpPr/>
          <p:nvPr/>
        </p:nvSpPr>
        <p:spPr>
          <a:xfrm>
            <a:off x="14779972" y="4324052"/>
            <a:ext cx="1016794" cy="9525"/>
          </a:xfrm>
          <a:prstGeom prst="rect">
            <a:avLst/>
          </a:prstGeom>
          <a:solidFill>
            <a:srgbClr val="E6DFCF"/>
          </a:solidFill>
          <a:ln/>
        </p:spPr>
        <p:txBody>
          <a:bodyPr/>
          <a:lstStyle/>
          <a:p>
            <a:endParaRPr lang="he-IL" sz="1400"/>
          </a:p>
        </p:txBody>
      </p:sp>
      <p:sp>
        <p:nvSpPr>
          <p:cNvPr id="55" name="Text 52"/>
          <p:cNvSpPr/>
          <p:nvPr/>
        </p:nvSpPr>
        <p:spPr>
          <a:xfrm>
            <a:off x="14856172" y="4000202"/>
            <a:ext cx="940594" cy="257175"/>
          </a:xfrm>
          <a:prstGeom prst="rect">
            <a:avLst/>
          </a:prstGeom>
          <a:noFill/>
          <a:ln/>
        </p:spPr>
        <p:txBody>
          <a:bodyPr wrap="square" lIns="25400" tIns="25400" rIns="25400" bIns="25400" rtlCol="0" anchor="ctr">
            <a:noAutofit/>
          </a:bodyPr>
          <a:lstStyle/>
          <a:p>
            <a:pPr marL="0" indent="0" algn="l">
              <a:buNone/>
            </a:pPr>
            <a:r>
              <a:rPr lang="en-US" sz="1400" dirty="0">
                <a:solidFill>
                  <a:srgbClr val="1A1A1A"/>
                </a:solidFill>
                <a:latin typeface="JetBrains Mono" pitchFamily="34" charset="0"/>
                <a:ea typeface="JetBrains Mono" pitchFamily="34" charset="-122"/>
                <a:cs typeface="JetBrains Mono" pitchFamily="34" charset="-120"/>
              </a:rPr>
              <a:t>0.90</a:t>
            </a:r>
            <a:endParaRPr lang="en-US" sz="1400" dirty="0"/>
          </a:p>
        </p:txBody>
      </p:sp>
      <p:sp>
        <p:nvSpPr>
          <p:cNvPr id="56" name="Shape 53"/>
          <p:cNvSpPr/>
          <p:nvPr/>
        </p:nvSpPr>
        <p:spPr>
          <a:xfrm>
            <a:off x="15796766" y="4324052"/>
            <a:ext cx="1491109" cy="9525"/>
          </a:xfrm>
          <a:prstGeom prst="rect">
            <a:avLst/>
          </a:prstGeom>
          <a:solidFill>
            <a:srgbClr val="E6DFCF"/>
          </a:solidFill>
          <a:ln/>
        </p:spPr>
        <p:txBody>
          <a:bodyPr/>
          <a:lstStyle/>
          <a:p>
            <a:endParaRPr lang="he-IL" sz="1400"/>
          </a:p>
        </p:txBody>
      </p:sp>
      <p:sp>
        <p:nvSpPr>
          <p:cNvPr id="57" name="Text 54"/>
          <p:cNvSpPr/>
          <p:nvPr/>
        </p:nvSpPr>
        <p:spPr>
          <a:xfrm>
            <a:off x="15872966" y="4000202"/>
            <a:ext cx="1414909" cy="257175"/>
          </a:xfrm>
          <a:prstGeom prst="rect">
            <a:avLst/>
          </a:prstGeom>
          <a:noFill/>
          <a:ln/>
        </p:spPr>
        <p:txBody>
          <a:bodyPr wrap="square" lIns="25400" tIns="25400" rIns="25400" bIns="25400" rtlCol="0" anchor="ctr">
            <a:noAutofit/>
          </a:bodyPr>
          <a:lstStyle/>
          <a:p>
            <a:pPr marL="0" indent="0" algn="l">
              <a:buNone/>
            </a:pPr>
            <a:r>
              <a:rPr lang="en-US" sz="1400" dirty="0">
                <a:solidFill>
                  <a:srgbClr val="1A1A1A"/>
                </a:solidFill>
                <a:latin typeface="JetBrains Mono" pitchFamily="34" charset="0"/>
                <a:ea typeface="JetBrains Mono" pitchFamily="34" charset="-122"/>
                <a:cs typeface="JetBrains Mono" pitchFamily="34" charset="-120"/>
              </a:rPr>
              <a:t>9,607</a:t>
            </a:r>
            <a:endParaRPr lang="en-US" sz="1400" dirty="0"/>
          </a:p>
        </p:txBody>
      </p:sp>
      <p:sp>
        <p:nvSpPr>
          <p:cNvPr id="58" name="Shape 55"/>
          <p:cNvSpPr/>
          <p:nvPr/>
        </p:nvSpPr>
        <p:spPr>
          <a:xfrm>
            <a:off x="10544175" y="4762202"/>
            <a:ext cx="1891754" cy="9525"/>
          </a:xfrm>
          <a:prstGeom prst="rect">
            <a:avLst/>
          </a:prstGeom>
          <a:solidFill>
            <a:srgbClr val="E6DFCF"/>
          </a:solidFill>
          <a:ln/>
        </p:spPr>
        <p:txBody>
          <a:bodyPr/>
          <a:lstStyle/>
          <a:p>
            <a:endParaRPr lang="he-IL" sz="1400"/>
          </a:p>
        </p:txBody>
      </p:sp>
      <p:sp>
        <p:nvSpPr>
          <p:cNvPr id="59" name="Shape 56"/>
          <p:cNvSpPr/>
          <p:nvPr/>
        </p:nvSpPr>
        <p:spPr>
          <a:xfrm>
            <a:off x="10620375" y="4395491"/>
            <a:ext cx="1138036" cy="266700"/>
          </a:xfrm>
          <a:prstGeom prst="rect">
            <a:avLst/>
          </a:prstGeom>
          <a:solidFill>
            <a:srgbClr val="2A6FB8"/>
          </a:solidFill>
          <a:ln w="9525">
            <a:solidFill>
              <a:srgbClr val="2A6FB8"/>
            </a:solidFill>
            <a:prstDash val="solid"/>
          </a:ln>
        </p:spPr>
        <p:txBody>
          <a:bodyPr/>
          <a:lstStyle/>
          <a:p>
            <a:endParaRPr lang="he-IL" sz="1400"/>
          </a:p>
        </p:txBody>
      </p:sp>
      <p:sp>
        <p:nvSpPr>
          <p:cNvPr id="60" name="Text 57"/>
          <p:cNvSpPr/>
          <p:nvPr/>
        </p:nvSpPr>
        <p:spPr>
          <a:xfrm>
            <a:off x="10715625" y="4490741"/>
            <a:ext cx="940594" cy="142876"/>
          </a:xfrm>
          <a:prstGeom prst="rect">
            <a:avLst/>
          </a:prstGeom>
          <a:noFill/>
          <a:ln/>
        </p:spPr>
        <p:txBody>
          <a:bodyPr wrap="square" lIns="25400" tIns="25400" rIns="25400" bIns="25400" rtlCol="0" anchor="ctr">
            <a:noAutofit/>
          </a:bodyPr>
          <a:lstStyle/>
          <a:p>
            <a:pPr marL="0" indent="0" algn="l">
              <a:buNone/>
            </a:pPr>
            <a:r>
              <a:rPr lang="en-US" sz="1400" kern="0" spc="105" dirty="0">
                <a:solidFill>
                  <a:srgbClr val="FFFFFF"/>
                </a:solidFill>
                <a:latin typeface="JetBrains Mono" pitchFamily="34" charset="0"/>
                <a:ea typeface="JetBrains Mono" pitchFamily="34" charset="-122"/>
                <a:cs typeface="JetBrains Mono" pitchFamily="34" charset="-120"/>
              </a:rPr>
              <a:t>EARLY</a:t>
            </a:r>
            <a:endParaRPr lang="en-US" sz="1400" dirty="0"/>
          </a:p>
        </p:txBody>
      </p:sp>
      <p:sp>
        <p:nvSpPr>
          <p:cNvPr id="61" name="Shape 58"/>
          <p:cNvSpPr/>
          <p:nvPr/>
        </p:nvSpPr>
        <p:spPr>
          <a:xfrm>
            <a:off x="12435929" y="4762202"/>
            <a:ext cx="1016794" cy="9525"/>
          </a:xfrm>
          <a:prstGeom prst="rect">
            <a:avLst/>
          </a:prstGeom>
          <a:solidFill>
            <a:srgbClr val="E6DFCF"/>
          </a:solidFill>
          <a:ln/>
        </p:spPr>
        <p:txBody>
          <a:bodyPr/>
          <a:lstStyle/>
          <a:p>
            <a:endParaRPr lang="he-IL" sz="1400"/>
          </a:p>
        </p:txBody>
      </p:sp>
      <p:sp>
        <p:nvSpPr>
          <p:cNvPr id="62" name="Text 59"/>
          <p:cNvSpPr/>
          <p:nvPr/>
        </p:nvSpPr>
        <p:spPr>
          <a:xfrm>
            <a:off x="12512129" y="4438352"/>
            <a:ext cx="940594" cy="257175"/>
          </a:xfrm>
          <a:prstGeom prst="rect">
            <a:avLst/>
          </a:prstGeom>
          <a:noFill/>
          <a:ln/>
        </p:spPr>
        <p:txBody>
          <a:bodyPr wrap="square" lIns="25400" tIns="25400" rIns="25400" bIns="25400" rtlCol="0" anchor="ctr">
            <a:noAutofit/>
          </a:bodyPr>
          <a:lstStyle/>
          <a:p>
            <a:pPr marL="0" indent="0" algn="l">
              <a:buNone/>
            </a:pPr>
            <a:r>
              <a:rPr lang="en-US" sz="1400" dirty="0">
                <a:solidFill>
                  <a:srgbClr val="1A1A1A"/>
                </a:solidFill>
                <a:latin typeface="JetBrains Mono" pitchFamily="34" charset="0"/>
                <a:ea typeface="JetBrains Mono" pitchFamily="34" charset="-122"/>
                <a:cs typeface="JetBrains Mono" pitchFamily="34" charset="-120"/>
              </a:rPr>
              <a:t>0.55</a:t>
            </a:r>
            <a:endParaRPr lang="en-US" sz="1400" dirty="0"/>
          </a:p>
        </p:txBody>
      </p:sp>
      <p:sp>
        <p:nvSpPr>
          <p:cNvPr id="63" name="Shape 60"/>
          <p:cNvSpPr/>
          <p:nvPr/>
        </p:nvSpPr>
        <p:spPr>
          <a:xfrm>
            <a:off x="13452723" y="4762202"/>
            <a:ext cx="1327249" cy="9525"/>
          </a:xfrm>
          <a:prstGeom prst="rect">
            <a:avLst/>
          </a:prstGeom>
          <a:solidFill>
            <a:srgbClr val="E6DFCF"/>
          </a:solidFill>
          <a:ln/>
        </p:spPr>
        <p:txBody>
          <a:bodyPr/>
          <a:lstStyle/>
          <a:p>
            <a:endParaRPr lang="he-IL" sz="1400"/>
          </a:p>
        </p:txBody>
      </p:sp>
      <p:sp>
        <p:nvSpPr>
          <p:cNvPr id="64" name="Text 61"/>
          <p:cNvSpPr/>
          <p:nvPr/>
        </p:nvSpPr>
        <p:spPr>
          <a:xfrm>
            <a:off x="13528923" y="4438352"/>
            <a:ext cx="1251049" cy="257175"/>
          </a:xfrm>
          <a:prstGeom prst="rect">
            <a:avLst/>
          </a:prstGeom>
          <a:noFill/>
          <a:ln/>
        </p:spPr>
        <p:txBody>
          <a:bodyPr wrap="square" lIns="25400" tIns="25400" rIns="25400" bIns="25400" rtlCol="0" anchor="ctr">
            <a:noAutofit/>
          </a:bodyPr>
          <a:lstStyle/>
          <a:p>
            <a:pPr marL="0" indent="0" algn="l">
              <a:buNone/>
            </a:pPr>
            <a:r>
              <a:rPr lang="en-US" sz="1400" dirty="0">
                <a:solidFill>
                  <a:srgbClr val="1A1A1A"/>
                </a:solidFill>
                <a:latin typeface="JetBrains Mono" pitchFamily="34" charset="0"/>
                <a:ea typeface="JetBrains Mono" pitchFamily="34" charset="-122"/>
                <a:cs typeface="JetBrains Mono" pitchFamily="34" charset="-120"/>
              </a:rPr>
              <a:t>0.47</a:t>
            </a:r>
            <a:endParaRPr lang="en-US" sz="1400" dirty="0"/>
          </a:p>
        </p:txBody>
      </p:sp>
      <p:sp>
        <p:nvSpPr>
          <p:cNvPr id="65" name="Shape 62"/>
          <p:cNvSpPr/>
          <p:nvPr/>
        </p:nvSpPr>
        <p:spPr>
          <a:xfrm>
            <a:off x="14779972" y="4762202"/>
            <a:ext cx="1016794" cy="9525"/>
          </a:xfrm>
          <a:prstGeom prst="rect">
            <a:avLst/>
          </a:prstGeom>
          <a:solidFill>
            <a:srgbClr val="E6DFCF"/>
          </a:solidFill>
          <a:ln/>
        </p:spPr>
        <p:txBody>
          <a:bodyPr/>
          <a:lstStyle/>
          <a:p>
            <a:endParaRPr lang="he-IL" sz="1400"/>
          </a:p>
        </p:txBody>
      </p:sp>
      <p:sp>
        <p:nvSpPr>
          <p:cNvPr id="66" name="Text 63"/>
          <p:cNvSpPr/>
          <p:nvPr/>
        </p:nvSpPr>
        <p:spPr>
          <a:xfrm>
            <a:off x="14856172" y="4438352"/>
            <a:ext cx="940594" cy="257175"/>
          </a:xfrm>
          <a:prstGeom prst="rect">
            <a:avLst/>
          </a:prstGeom>
          <a:noFill/>
          <a:ln/>
        </p:spPr>
        <p:txBody>
          <a:bodyPr wrap="square" lIns="25400" tIns="25400" rIns="25400" bIns="25400" rtlCol="0" anchor="ctr">
            <a:noAutofit/>
          </a:bodyPr>
          <a:lstStyle/>
          <a:p>
            <a:pPr marL="0" indent="0" algn="l">
              <a:buNone/>
            </a:pPr>
            <a:r>
              <a:rPr lang="en-US" sz="1400" dirty="0">
                <a:solidFill>
                  <a:srgbClr val="1A1A1A"/>
                </a:solidFill>
                <a:latin typeface="JetBrains Mono" pitchFamily="34" charset="0"/>
                <a:ea typeface="JetBrains Mono" pitchFamily="34" charset="-122"/>
                <a:cs typeface="JetBrains Mono" pitchFamily="34" charset="-120"/>
              </a:rPr>
              <a:t>0.51</a:t>
            </a:r>
            <a:endParaRPr lang="en-US" sz="1400" dirty="0"/>
          </a:p>
        </p:txBody>
      </p:sp>
      <p:sp>
        <p:nvSpPr>
          <p:cNvPr id="67" name="Shape 64"/>
          <p:cNvSpPr/>
          <p:nvPr/>
        </p:nvSpPr>
        <p:spPr>
          <a:xfrm>
            <a:off x="15796766" y="4762202"/>
            <a:ext cx="1491109" cy="9525"/>
          </a:xfrm>
          <a:prstGeom prst="rect">
            <a:avLst/>
          </a:prstGeom>
          <a:solidFill>
            <a:srgbClr val="E6DFCF"/>
          </a:solidFill>
          <a:ln/>
        </p:spPr>
        <p:txBody>
          <a:bodyPr/>
          <a:lstStyle/>
          <a:p>
            <a:endParaRPr lang="he-IL" sz="1400"/>
          </a:p>
        </p:txBody>
      </p:sp>
      <p:sp>
        <p:nvSpPr>
          <p:cNvPr id="68" name="Text 65"/>
          <p:cNvSpPr/>
          <p:nvPr/>
        </p:nvSpPr>
        <p:spPr>
          <a:xfrm>
            <a:off x="15872966" y="4438352"/>
            <a:ext cx="1414909" cy="257175"/>
          </a:xfrm>
          <a:prstGeom prst="rect">
            <a:avLst/>
          </a:prstGeom>
          <a:noFill/>
          <a:ln/>
        </p:spPr>
        <p:txBody>
          <a:bodyPr wrap="square" lIns="25400" tIns="25400" rIns="25400" bIns="25400" rtlCol="0" anchor="ctr">
            <a:noAutofit/>
          </a:bodyPr>
          <a:lstStyle/>
          <a:p>
            <a:pPr marL="0" indent="0" algn="l">
              <a:buNone/>
            </a:pPr>
            <a:r>
              <a:rPr lang="en-US" sz="1400" dirty="0">
                <a:solidFill>
                  <a:srgbClr val="1A1A1A"/>
                </a:solidFill>
                <a:latin typeface="JetBrains Mono" pitchFamily="34" charset="0"/>
                <a:ea typeface="JetBrains Mono" pitchFamily="34" charset="-122"/>
                <a:cs typeface="JetBrains Mono" pitchFamily="34" charset="-120"/>
              </a:rPr>
              <a:t>707</a:t>
            </a:r>
            <a:endParaRPr lang="en-US" sz="1400" dirty="0"/>
          </a:p>
        </p:txBody>
      </p:sp>
      <p:sp>
        <p:nvSpPr>
          <p:cNvPr id="69" name="Shape 66"/>
          <p:cNvSpPr/>
          <p:nvPr/>
        </p:nvSpPr>
        <p:spPr>
          <a:xfrm>
            <a:off x="10544175" y="5200352"/>
            <a:ext cx="1891754" cy="9525"/>
          </a:xfrm>
          <a:prstGeom prst="rect">
            <a:avLst/>
          </a:prstGeom>
          <a:solidFill>
            <a:srgbClr val="E6DFCF"/>
          </a:solidFill>
          <a:ln/>
        </p:spPr>
        <p:txBody>
          <a:bodyPr/>
          <a:lstStyle/>
          <a:p>
            <a:endParaRPr lang="he-IL" sz="1400"/>
          </a:p>
        </p:txBody>
      </p:sp>
      <p:sp>
        <p:nvSpPr>
          <p:cNvPr id="70" name="Shape 67"/>
          <p:cNvSpPr/>
          <p:nvPr/>
        </p:nvSpPr>
        <p:spPr>
          <a:xfrm>
            <a:off x="10620375" y="4800301"/>
            <a:ext cx="1138036" cy="300040"/>
          </a:xfrm>
          <a:prstGeom prst="rect">
            <a:avLst/>
          </a:prstGeom>
          <a:solidFill>
            <a:srgbClr val="4D8C4F"/>
          </a:solidFill>
          <a:ln w="9525">
            <a:solidFill>
              <a:srgbClr val="4D8C4F"/>
            </a:solidFill>
            <a:prstDash val="solid"/>
          </a:ln>
        </p:spPr>
        <p:txBody>
          <a:bodyPr/>
          <a:lstStyle/>
          <a:p>
            <a:endParaRPr lang="he-IL" sz="1400"/>
          </a:p>
        </p:txBody>
      </p:sp>
      <p:sp>
        <p:nvSpPr>
          <p:cNvPr id="71" name="Text 68"/>
          <p:cNvSpPr/>
          <p:nvPr/>
        </p:nvSpPr>
        <p:spPr>
          <a:xfrm>
            <a:off x="10715625" y="4928891"/>
            <a:ext cx="1042786" cy="133352"/>
          </a:xfrm>
          <a:prstGeom prst="rect">
            <a:avLst/>
          </a:prstGeom>
          <a:noFill/>
          <a:ln/>
        </p:spPr>
        <p:txBody>
          <a:bodyPr wrap="square" lIns="25400" tIns="25400" rIns="25400" bIns="25400" rtlCol="0" anchor="ctr">
            <a:noAutofit/>
          </a:bodyPr>
          <a:lstStyle/>
          <a:p>
            <a:pPr marL="0" indent="0" algn="l">
              <a:buNone/>
            </a:pPr>
            <a:r>
              <a:rPr lang="en-US" sz="1400" kern="0" spc="105" dirty="0">
                <a:solidFill>
                  <a:srgbClr val="FFFFFF"/>
                </a:solidFill>
                <a:latin typeface="JetBrains Mono" pitchFamily="34" charset="0"/>
                <a:ea typeface="JetBrains Mono" pitchFamily="34" charset="-122"/>
                <a:cs typeface="JetBrains Mono" pitchFamily="34" charset="-120"/>
              </a:rPr>
              <a:t>ON-TIME</a:t>
            </a:r>
            <a:endParaRPr lang="en-US" sz="1400" dirty="0"/>
          </a:p>
        </p:txBody>
      </p:sp>
      <p:sp>
        <p:nvSpPr>
          <p:cNvPr id="72" name="Shape 69"/>
          <p:cNvSpPr/>
          <p:nvPr/>
        </p:nvSpPr>
        <p:spPr>
          <a:xfrm>
            <a:off x="12435929" y="5200352"/>
            <a:ext cx="1016794" cy="9525"/>
          </a:xfrm>
          <a:prstGeom prst="rect">
            <a:avLst/>
          </a:prstGeom>
          <a:solidFill>
            <a:srgbClr val="E6DFCF"/>
          </a:solidFill>
          <a:ln/>
        </p:spPr>
        <p:txBody>
          <a:bodyPr/>
          <a:lstStyle/>
          <a:p>
            <a:endParaRPr lang="he-IL" sz="1400"/>
          </a:p>
        </p:txBody>
      </p:sp>
      <p:sp>
        <p:nvSpPr>
          <p:cNvPr id="73" name="Text 70"/>
          <p:cNvSpPr/>
          <p:nvPr/>
        </p:nvSpPr>
        <p:spPr>
          <a:xfrm>
            <a:off x="12512129" y="4876502"/>
            <a:ext cx="940594" cy="257175"/>
          </a:xfrm>
          <a:prstGeom prst="rect">
            <a:avLst/>
          </a:prstGeom>
          <a:noFill/>
          <a:ln/>
        </p:spPr>
        <p:txBody>
          <a:bodyPr wrap="square" lIns="25400" tIns="25400" rIns="25400" bIns="25400" rtlCol="0" anchor="ctr">
            <a:noAutofit/>
          </a:bodyPr>
          <a:lstStyle/>
          <a:p>
            <a:pPr marL="0" indent="0" algn="l">
              <a:buNone/>
            </a:pPr>
            <a:r>
              <a:rPr lang="en-US" sz="1400" dirty="0">
                <a:solidFill>
                  <a:srgbClr val="1A1A1A"/>
                </a:solidFill>
                <a:latin typeface="JetBrains Mono" pitchFamily="34" charset="0"/>
                <a:ea typeface="JetBrains Mono" pitchFamily="34" charset="-122"/>
                <a:cs typeface="JetBrains Mono" pitchFamily="34" charset="-120"/>
              </a:rPr>
              <a:t>0.73</a:t>
            </a:r>
            <a:endParaRPr lang="en-US" sz="1400" dirty="0"/>
          </a:p>
        </p:txBody>
      </p:sp>
      <p:sp>
        <p:nvSpPr>
          <p:cNvPr id="74" name="Shape 71"/>
          <p:cNvSpPr/>
          <p:nvPr/>
        </p:nvSpPr>
        <p:spPr>
          <a:xfrm>
            <a:off x="13452723" y="5200352"/>
            <a:ext cx="1327249" cy="9525"/>
          </a:xfrm>
          <a:prstGeom prst="rect">
            <a:avLst/>
          </a:prstGeom>
          <a:solidFill>
            <a:srgbClr val="E6DFCF"/>
          </a:solidFill>
          <a:ln/>
        </p:spPr>
        <p:txBody>
          <a:bodyPr/>
          <a:lstStyle/>
          <a:p>
            <a:endParaRPr lang="he-IL" sz="1400"/>
          </a:p>
        </p:txBody>
      </p:sp>
      <p:sp>
        <p:nvSpPr>
          <p:cNvPr id="75" name="Text 72"/>
          <p:cNvSpPr/>
          <p:nvPr/>
        </p:nvSpPr>
        <p:spPr>
          <a:xfrm>
            <a:off x="13528923" y="4876502"/>
            <a:ext cx="1251049" cy="257175"/>
          </a:xfrm>
          <a:prstGeom prst="rect">
            <a:avLst/>
          </a:prstGeom>
          <a:noFill/>
          <a:ln/>
        </p:spPr>
        <p:txBody>
          <a:bodyPr wrap="square" lIns="25400" tIns="25400" rIns="25400" bIns="25400" rtlCol="0" anchor="ctr">
            <a:noAutofit/>
          </a:bodyPr>
          <a:lstStyle/>
          <a:p>
            <a:pPr marL="0" indent="0" algn="l">
              <a:buNone/>
            </a:pPr>
            <a:r>
              <a:rPr lang="en-US" sz="1400" dirty="0">
                <a:solidFill>
                  <a:srgbClr val="1A1A1A"/>
                </a:solidFill>
                <a:latin typeface="JetBrains Mono" pitchFamily="34" charset="0"/>
                <a:ea typeface="JetBrains Mono" pitchFamily="34" charset="-122"/>
                <a:cs typeface="JetBrains Mono" pitchFamily="34" charset="-120"/>
              </a:rPr>
              <a:t>0.57</a:t>
            </a:r>
            <a:endParaRPr lang="en-US" sz="1400" dirty="0"/>
          </a:p>
        </p:txBody>
      </p:sp>
      <p:sp>
        <p:nvSpPr>
          <p:cNvPr id="76" name="Shape 73"/>
          <p:cNvSpPr/>
          <p:nvPr/>
        </p:nvSpPr>
        <p:spPr>
          <a:xfrm>
            <a:off x="14779972" y="5200352"/>
            <a:ext cx="1016794" cy="9525"/>
          </a:xfrm>
          <a:prstGeom prst="rect">
            <a:avLst/>
          </a:prstGeom>
          <a:solidFill>
            <a:srgbClr val="E6DFCF"/>
          </a:solidFill>
          <a:ln/>
        </p:spPr>
        <p:txBody>
          <a:bodyPr/>
          <a:lstStyle/>
          <a:p>
            <a:endParaRPr lang="he-IL" sz="1400"/>
          </a:p>
        </p:txBody>
      </p:sp>
      <p:sp>
        <p:nvSpPr>
          <p:cNvPr id="77" name="Text 74"/>
          <p:cNvSpPr/>
          <p:nvPr/>
        </p:nvSpPr>
        <p:spPr>
          <a:xfrm>
            <a:off x="14856172" y="4876502"/>
            <a:ext cx="940594" cy="257175"/>
          </a:xfrm>
          <a:prstGeom prst="rect">
            <a:avLst/>
          </a:prstGeom>
          <a:noFill/>
          <a:ln/>
        </p:spPr>
        <p:txBody>
          <a:bodyPr wrap="square" lIns="25400" tIns="25400" rIns="25400" bIns="25400" rtlCol="0" anchor="ctr">
            <a:noAutofit/>
          </a:bodyPr>
          <a:lstStyle/>
          <a:p>
            <a:pPr marL="0" indent="0" algn="l">
              <a:buNone/>
            </a:pPr>
            <a:r>
              <a:rPr lang="en-US" sz="1400" dirty="0">
                <a:solidFill>
                  <a:srgbClr val="1A1A1A"/>
                </a:solidFill>
                <a:latin typeface="JetBrains Mono" pitchFamily="34" charset="0"/>
                <a:ea typeface="JetBrains Mono" pitchFamily="34" charset="-122"/>
                <a:cs typeface="JetBrains Mono" pitchFamily="34" charset="-120"/>
              </a:rPr>
              <a:t>0.64</a:t>
            </a:r>
            <a:endParaRPr lang="en-US" sz="1400" dirty="0"/>
          </a:p>
        </p:txBody>
      </p:sp>
      <p:sp>
        <p:nvSpPr>
          <p:cNvPr id="78" name="Shape 75"/>
          <p:cNvSpPr/>
          <p:nvPr/>
        </p:nvSpPr>
        <p:spPr>
          <a:xfrm>
            <a:off x="15796766" y="5200352"/>
            <a:ext cx="1491109" cy="9525"/>
          </a:xfrm>
          <a:prstGeom prst="rect">
            <a:avLst/>
          </a:prstGeom>
          <a:solidFill>
            <a:srgbClr val="E6DFCF"/>
          </a:solidFill>
          <a:ln/>
        </p:spPr>
        <p:txBody>
          <a:bodyPr/>
          <a:lstStyle/>
          <a:p>
            <a:endParaRPr lang="he-IL" sz="1400"/>
          </a:p>
        </p:txBody>
      </p:sp>
      <p:sp>
        <p:nvSpPr>
          <p:cNvPr id="79" name="Text 76"/>
          <p:cNvSpPr/>
          <p:nvPr/>
        </p:nvSpPr>
        <p:spPr>
          <a:xfrm>
            <a:off x="15872966" y="4876502"/>
            <a:ext cx="1414909" cy="257175"/>
          </a:xfrm>
          <a:prstGeom prst="rect">
            <a:avLst/>
          </a:prstGeom>
          <a:noFill/>
          <a:ln/>
        </p:spPr>
        <p:txBody>
          <a:bodyPr wrap="square" lIns="25400" tIns="25400" rIns="25400" bIns="25400" rtlCol="0" anchor="ctr">
            <a:noAutofit/>
          </a:bodyPr>
          <a:lstStyle/>
          <a:p>
            <a:pPr marL="0" indent="0" algn="l">
              <a:buNone/>
            </a:pPr>
            <a:r>
              <a:rPr lang="en-US" sz="1400" dirty="0">
                <a:solidFill>
                  <a:srgbClr val="1A1A1A"/>
                </a:solidFill>
                <a:latin typeface="JetBrains Mono" pitchFamily="34" charset="0"/>
                <a:ea typeface="JetBrains Mono" pitchFamily="34" charset="-122"/>
                <a:cs typeface="JetBrains Mono" pitchFamily="34" charset="-120"/>
              </a:rPr>
              <a:t>3,274</a:t>
            </a:r>
            <a:endParaRPr lang="en-US" sz="1400" dirty="0"/>
          </a:p>
        </p:txBody>
      </p:sp>
      <p:sp>
        <p:nvSpPr>
          <p:cNvPr id="80" name="Shape 77"/>
          <p:cNvSpPr/>
          <p:nvPr/>
        </p:nvSpPr>
        <p:spPr>
          <a:xfrm>
            <a:off x="10306050" y="5605164"/>
            <a:ext cx="7219950" cy="1684277"/>
          </a:xfrm>
          <a:prstGeom prst="rect">
            <a:avLst/>
          </a:prstGeom>
          <a:solidFill>
            <a:srgbClr val="1A1A1A"/>
          </a:solidFill>
          <a:ln w="9525">
            <a:solidFill>
              <a:srgbClr val="1A1A1A"/>
            </a:solidFill>
            <a:prstDash val="solid"/>
          </a:ln>
        </p:spPr>
        <p:txBody>
          <a:bodyPr/>
          <a:lstStyle/>
          <a:p>
            <a:endParaRPr lang="he-IL" sz="1400"/>
          </a:p>
        </p:txBody>
      </p:sp>
      <p:sp>
        <p:nvSpPr>
          <p:cNvPr id="81" name="Text 78"/>
          <p:cNvSpPr/>
          <p:nvPr/>
        </p:nvSpPr>
        <p:spPr>
          <a:xfrm>
            <a:off x="10544175" y="5824240"/>
            <a:ext cx="6946011" cy="161925"/>
          </a:xfrm>
          <a:prstGeom prst="rect">
            <a:avLst/>
          </a:prstGeom>
          <a:noFill/>
          <a:ln/>
        </p:spPr>
        <p:txBody>
          <a:bodyPr wrap="square" lIns="25400" tIns="25400" rIns="25400" bIns="25400" rtlCol="0" anchor="t">
            <a:noAutofit/>
          </a:bodyPr>
          <a:lstStyle/>
          <a:p>
            <a:pPr marL="0" indent="0" algn="l">
              <a:buNone/>
            </a:pPr>
            <a:r>
              <a:rPr lang="en-US" sz="1400" b="1" kern="0" spc="135" dirty="0">
                <a:solidFill>
                  <a:srgbClr val="C25A2A"/>
                </a:solidFill>
                <a:latin typeface="JetBrains Mono" pitchFamily="34" charset="0"/>
                <a:ea typeface="JetBrains Mono" pitchFamily="34" charset="-122"/>
                <a:cs typeface="JetBrains Mono" pitchFamily="34" charset="-120"/>
              </a:rPr>
              <a:t>READING THE ERRORS</a:t>
            </a:r>
            <a:endParaRPr lang="en-US" sz="1400" dirty="0"/>
          </a:p>
        </p:txBody>
      </p:sp>
      <p:sp>
        <p:nvSpPr>
          <p:cNvPr id="82" name="Text 79"/>
          <p:cNvSpPr/>
          <p:nvPr/>
        </p:nvSpPr>
        <p:spPr>
          <a:xfrm>
            <a:off x="10544175" y="6043315"/>
            <a:ext cx="6946011" cy="251371"/>
          </a:xfrm>
          <a:prstGeom prst="rect">
            <a:avLst/>
          </a:prstGeom>
          <a:noFill/>
          <a:ln/>
        </p:spPr>
        <p:txBody>
          <a:bodyPr wrap="square" lIns="25400" tIns="25400" rIns="25400" bIns="25400" rtlCol="0" anchor="t">
            <a:noAutofit/>
          </a:bodyPr>
          <a:lstStyle/>
          <a:p>
            <a:pPr marL="0" indent="0" algn="l">
              <a:lnSpc>
                <a:spcPct val="112000"/>
              </a:lnSpc>
              <a:buNone/>
            </a:pPr>
            <a:r>
              <a:rPr lang="en-US" sz="1400" kern="0" spc="-12" dirty="0">
                <a:solidFill>
                  <a:srgbClr val="F5F1E8"/>
                </a:solidFill>
                <a:latin typeface="Instrument Serif" pitchFamily="34" charset="0"/>
                <a:ea typeface="Instrument Serif" pitchFamily="34" charset="-122"/>
                <a:cs typeface="Instrument Serif" pitchFamily="34" charset="-120"/>
              </a:rPr>
              <a:t>Conservative mistakes.</a:t>
            </a:r>
            <a:endParaRPr lang="en-US" sz="1400" dirty="0"/>
          </a:p>
        </p:txBody>
      </p:sp>
      <p:sp>
        <p:nvSpPr>
          <p:cNvPr id="83" name="Text 80"/>
          <p:cNvSpPr/>
          <p:nvPr/>
        </p:nvSpPr>
        <p:spPr>
          <a:xfrm>
            <a:off x="10544175" y="6351836"/>
            <a:ext cx="6946011" cy="495300"/>
          </a:xfrm>
          <a:prstGeom prst="rect">
            <a:avLst/>
          </a:prstGeom>
          <a:noFill/>
          <a:ln/>
        </p:spPr>
        <p:txBody>
          <a:bodyPr wrap="square" lIns="25400" tIns="25400" rIns="25400" bIns="25400" rtlCol="0" anchor="t">
            <a:noAutofit/>
          </a:bodyPr>
          <a:lstStyle/>
          <a:p>
            <a:pPr marL="0" indent="0" algn="l">
              <a:lnSpc>
                <a:spcPct val="150000"/>
              </a:lnSpc>
              <a:buNone/>
            </a:pPr>
            <a:r>
              <a:rPr lang="en-US" sz="1400" dirty="0">
                <a:solidFill>
                  <a:srgbClr val="FFFFFF">
                    <a:alpha val="78000"/>
                  </a:srgbClr>
                </a:solidFill>
                <a:latin typeface="Inter" pitchFamily="34" charset="0"/>
                <a:ea typeface="Inter" pitchFamily="34" charset="-122"/>
                <a:cs typeface="Inter" pitchFamily="34" charset="-120"/>
              </a:rPr>
              <a:t>Delay recall is </a:t>
            </a:r>
            <a:r>
              <a:rPr lang="en-US" sz="1400" dirty="0">
                <a:solidFill>
                  <a:srgbClr val="F5F1E8"/>
                </a:solidFill>
                <a:latin typeface="Inter" pitchFamily="34" charset="0"/>
                <a:ea typeface="Inter" pitchFamily="34" charset="-122"/>
                <a:cs typeface="Inter" pitchFamily="34" charset="-120"/>
              </a:rPr>
              <a:t>94%</a:t>
            </a:r>
            <a:r>
              <a:rPr lang="en-US" sz="1400" dirty="0">
                <a:solidFill>
                  <a:srgbClr val="FFFFFF">
                    <a:alpha val="78000"/>
                  </a:srgbClr>
                </a:solidFill>
                <a:latin typeface="Inter" pitchFamily="34" charset="0"/>
                <a:ea typeface="Inter" pitchFamily="34" charset="-122"/>
                <a:cs typeface="Inter" pitchFamily="34" charset="-120"/>
              </a:rPr>
              <a:t>. Most errors are </a:t>
            </a:r>
            <a:r>
              <a:rPr lang="en-US" sz="1400" i="1" dirty="0">
                <a:solidFill>
                  <a:srgbClr val="FFFFFF">
                    <a:alpha val="78000"/>
                  </a:srgbClr>
                </a:solidFill>
                <a:latin typeface="Inter" pitchFamily="34" charset="0"/>
                <a:ea typeface="Inter" pitchFamily="34" charset="-122"/>
                <a:cs typeface="Inter" pitchFamily="34" charset="-120"/>
              </a:rPr>
              <a:t>on-time → delay </a:t>
            </a:r>
            <a:r>
              <a:rPr lang="en-US" sz="1400" dirty="0">
                <a:solidFill>
                  <a:srgbClr val="FFFFFF">
                    <a:alpha val="78000"/>
                  </a:srgbClr>
                </a:solidFill>
                <a:latin typeface="Inter" pitchFamily="34" charset="0"/>
                <a:ea typeface="Inter" pitchFamily="34" charset="-122"/>
                <a:cs typeface="Inter" pitchFamily="34" charset="-120"/>
              </a:rPr>
              <a:t>— a useful failure mode if the operator is acting on the prediction.</a:t>
            </a:r>
            <a:endParaRPr lang="en-US" sz="1400" dirty="0"/>
          </a:p>
        </p:txBody>
      </p:sp>
      <p:sp>
        <p:nvSpPr>
          <p:cNvPr id="84" name="Text 16">
            <a:extLst>
              <a:ext uri="{FF2B5EF4-FFF2-40B4-BE49-F238E27FC236}">
                <a16:creationId xmlns:a16="http://schemas.microsoft.com/office/drawing/2014/main" id="{A7F4E689-2F5D-1539-0027-5B62A189B2F5}"/>
              </a:ext>
            </a:extLst>
          </p:cNvPr>
          <p:cNvSpPr/>
          <p:nvPr/>
        </p:nvSpPr>
        <p:spPr>
          <a:xfrm>
            <a:off x="266700" y="9410700"/>
            <a:ext cx="1628775" cy="342900"/>
          </a:xfrm>
          <a:prstGeom prst="rect">
            <a:avLst/>
          </a:prstGeom>
          <a:noFill/>
          <a:ln/>
        </p:spPr>
        <p:txBody>
          <a:bodyPr wrap="square" lIns="25400" tIns="25400" rIns="25400" bIns="25400" rtlCol="0" anchor="t">
            <a:noAutofit/>
          </a:bodyPr>
          <a:lstStyle/>
          <a:p>
            <a:pPr>
              <a:lnSpc>
                <a:spcPct val="160000"/>
              </a:lnSpc>
            </a:pPr>
            <a:r>
              <a:rPr lang="en-US" sz="1400" b="1" kern="0" spc="105" dirty="0">
                <a:solidFill>
                  <a:srgbClr val="1A1A1A"/>
                </a:solidFill>
                <a:latin typeface="JetBrains Mono" pitchFamily="34" charset="0"/>
                <a:ea typeface="JetBrains Mono" pitchFamily="34" charset="-122"/>
                <a:cs typeface="JetBrains Mono" pitchFamily="34" charset="-120"/>
              </a:rPr>
              <a:t>29 / 34</a:t>
            </a:r>
            <a:endParaRPr lang="en-US" sz="1400" dirty="0"/>
          </a:p>
        </p:txBody>
      </p:sp>
      <p:sp>
        <p:nvSpPr>
          <p:cNvPr id="85" name="Text 4">
            <a:extLst>
              <a:ext uri="{FF2B5EF4-FFF2-40B4-BE49-F238E27FC236}">
                <a16:creationId xmlns:a16="http://schemas.microsoft.com/office/drawing/2014/main" id="{33603E03-2418-F3AD-1CEE-4754F42FB4F7}"/>
              </a:ext>
            </a:extLst>
          </p:cNvPr>
          <p:cNvSpPr/>
          <p:nvPr/>
        </p:nvSpPr>
        <p:spPr>
          <a:xfrm>
            <a:off x="228063" y="1524367"/>
            <a:ext cx="372012" cy="200025"/>
          </a:xfrm>
          <a:prstGeom prst="rect">
            <a:avLst/>
          </a:prstGeom>
          <a:noFill/>
          <a:ln/>
        </p:spPr>
        <p:txBody>
          <a:bodyPr wrap="square" lIns="25400" tIns="25400" rIns="25400" bIns="25400" rtlCol="0" anchor="t">
            <a:noAutofit/>
          </a:bodyPr>
          <a:lstStyle/>
          <a:p>
            <a:pPr marL="0" indent="0" algn="l">
              <a:lnSpc>
                <a:spcPct val="130000"/>
              </a:lnSpc>
              <a:buNone/>
            </a:pPr>
            <a:r>
              <a:rPr lang="en-US" sz="1400" kern="0" spc="21" dirty="0">
                <a:solidFill>
                  <a:srgbClr val="888080"/>
                </a:solidFill>
                <a:latin typeface="Inter" pitchFamily="34" charset="0"/>
                <a:ea typeface="Inter" pitchFamily="34" charset="-122"/>
              </a:rPr>
              <a:t>01</a:t>
            </a:r>
          </a:p>
        </p:txBody>
      </p:sp>
      <p:sp>
        <p:nvSpPr>
          <p:cNvPr id="86" name="Text 5">
            <a:extLst>
              <a:ext uri="{FF2B5EF4-FFF2-40B4-BE49-F238E27FC236}">
                <a16:creationId xmlns:a16="http://schemas.microsoft.com/office/drawing/2014/main" id="{2FE2576D-F67F-0698-4DCD-83A0CED53165}"/>
              </a:ext>
            </a:extLst>
          </p:cNvPr>
          <p:cNvSpPr/>
          <p:nvPr/>
        </p:nvSpPr>
        <p:spPr>
          <a:xfrm>
            <a:off x="523875" y="1522975"/>
            <a:ext cx="876300" cy="476251"/>
          </a:xfrm>
          <a:prstGeom prst="rect">
            <a:avLst/>
          </a:prstGeom>
          <a:noFill/>
          <a:ln/>
        </p:spPr>
        <p:txBody>
          <a:bodyPr wrap="square" lIns="25400" tIns="25400" rIns="25400" bIns="25400" rtlCol="0" anchor="t">
            <a:normAutofit/>
          </a:bodyPr>
          <a:lstStyle/>
          <a:p>
            <a:pPr marL="0" indent="0" algn="l">
              <a:lnSpc>
                <a:spcPct val="130000"/>
              </a:lnSpc>
              <a:buNone/>
            </a:pPr>
            <a:r>
              <a:rPr lang="en-US" sz="1400" kern="0" spc="21" dirty="0">
                <a:solidFill>
                  <a:srgbClr val="888080"/>
                </a:solidFill>
                <a:latin typeface="Inter" pitchFamily="34" charset="0"/>
                <a:ea typeface="Inter" pitchFamily="34" charset="-122"/>
              </a:rPr>
              <a:t>Agenda</a:t>
            </a:r>
          </a:p>
        </p:txBody>
      </p:sp>
      <p:sp>
        <p:nvSpPr>
          <p:cNvPr id="87" name="Text 6">
            <a:extLst>
              <a:ext uri="{FF2B5EF4-FFF2-40B4-BE49-F238E27FC236}">
                <a16:creationId xmlns:a16="http://schemas.microsoft.com/office/drawing/2014/main" id="{E0AB4850-C0AE-DE5C-DEE0-3DFC093075B2}"/>
              </a:ext>
            </a:extLst>
          </p:cNvPr>
          <p:cNvSpPr/>
          <p:nvPr/>
        </p:nvSpPr>
        <p:spPr>
          <a:xfrm>
            <a:off x="228063" y="1830953"/>
            <a:ext cx="372010" cy="194877"/>
          </a:xfrm>
          <a:prstGeom prst="rect">
            <a:avLst/>
          </a:prstGeom>
          <a:noFill/>
          <a:ln/>
        </p:spPr>
        <p:txBody>
          <a:bodyPr wrap="square" lIns="25400" tIns="25400" rIns="25400" bIns="25400" rtlCol="0" anchor="t">
            <a:noAutofit/>
          </a:bodyPr>
          <a:lstStyle/>
          <a:p>
            <a:pPr marL="0" indent="0" algn="l">
              <a:lnSpc>
                <a:spcPct val="130000"/>
              </a:lnSpc>
              <a:buNone/>
            </a:pPr>
            <a:r>
              <a:rPr lang="en-US" sz="1400" kern="0" spc="21" dirty="0">
                <a:solidFill>
                  <a:srgbClr val="888080"/>
                </a:solidFill>
                <a:latin typeface="Inter" pitchFamily="34" charset="0"/>
                <a:ea typeface="Inter" pitchFamily="34" charset="-122"/>
              </a:rPr>
              <a:t>02</a:t>
            </a:r>
          </a:p>
        </p:txBody>
      </p:sp>
      <p:sp>
        <p:nvSpPr>
          <p:cNvPr id="88" name="Text 8">
            <a:extLst>
              <a:ext uri="{FF2B5EF4-FFF2-40B4-BE49-F238E27FC236}">
                <a16:creationId xmlns:a16="http://schemas.microsoft.com/office/drawing/2014/main" id="{AA2BDD9B-D097-95CA-42FF-B793A12AABEE}"/>
              </a:ext>
            </a:extLst>
          </p:cNvPr>
          <p:cNvSpPr/>
          <p:nvPr/>
        </p:nvSpPr>
        <p:spPr>
          <a:xfrm>
            <a:off x="230504" y="2152895"/>
            <a:ext cx="302895" cy="141422"/>
          </a:xfrm>
          <a:prstGeom prst="rect">
            <a:avLst/>
          </a:prstGeom>
          <a:noFill/>
          <a:ln/>
        </p:spPr>
        <p:txBody>
          <a:bodyPr wrap="square" lIns="25400" tIns="25400" rIns="25400" bIns="25400" rtlCol="0" anchor="t">
            <a:noAutofit/>
          </a:bodyPr>
          <a:lstStyle/>
          <a:p>
            <a:pPr marL="0" indent="0" algn="l">
              <a:lnSpc>
                <a:spcPct val="130000"/>
              </a:lnSpc>
              <a:buNone/>
            </a:pPr>
            <a:r>
              <a:rPr lang="en-US" sz="1400" kern="0" spc="21" dirty="0">
                <a:solidFill>
                  <a:srgbClr val="888080"/>
                </a:solidFill>
                <a:latin typeface="Inter" pitchFamily="34" charset="0"/>
                <a:ea typeface="Inter" pitchFamily="34" charset="-122"/>
              </a:rPr>
              <a:t>03</a:t>
            </a:r>
          </a:p>
        </p:txBody>
      </p:sp>
      <p:sp>
        <p:nvSpPr>
          <p:cNvPr id="89" name="Text 9">
            <a:extLst>
              <a:ext uri="{FF2B5EF4-FFF2-40B4-BE49-F238E27FC236}">
                <a16:creationId xmlns:a16="http://schemas.microsoft.com/office/drawing/2014/main" id="{8238262F-2A7D-95DD-F72E-C7BE2349A942}"/>
              </a:ext>
            </a:extLst>
          </p:cNvPr>
          <p:cNvSpPr/>
          <p:nvPr/>
        </p:nvSpPr>
        <p:spPr>
          <a:xfrm>
            <a:off x="531240" y="2145027"/>
            <a:ext cx="1185416" cy="342476"/>
          </a:xfrm>
          <a:prstGeom prst="rect">
            <a:avLst/>
          </a:prstGeom>
          <a:noFill/>
          <a:ln/>
        </p:spPr>
        <p:txBody>
          <a:bodyPr wrap="square" lIns="25400" tIns="25400" rIns="25400" bIns="25400" rtlCol="0" anchor="t">
            <a:normAutofit/>
          </a:bodyPr>
          <a:lstStyle/>
          <a:p>
            <a:pPr marL="0" indent="0" algn="l">
              <a:lnSpc>
                <a:spcPct val="130000"/>
              </a:lnSpc>
              <a:buNone/>
            </a:pPr>
            <a:r>
              <a:rPr lang="en-US" sz="1400" kern="0" spc="21" dirty="0">
                <a:solidFill>
                  <a:srgbClr val="888080"/>
                </a:solidFill>
                <a:latin typeface="Inter" pitchFamily="34" charset="0"/>
                <a:ea typeface="Inter" pitchFamily="34" charset="-122"/>
              </a:rPr>
              <a:t>EDA</a:t>
            </a:r>
          </a:p>
        </p:txBody>
      </p:sp>
      <p:sp>
        <p:nvSpPr>
          <p:cNvPr id="90" name="Text 10">
            <a:extLst>
              <a:ext uri="{FF2B5EF4-FFF2-40B4-BE49-F238E27FC236}">
                <a16:creationId xmlns:a16="http://schemas.microsoft.com/office/drawing/2014/main" id="{20A9301B-64F4-2969-83B2-1BD85367E9CA}"/>
              </a:ext>
            </a:extLst>
          </p:cNvPr>
          <p:cNvSpPr/>
          <p:nvPr/>
        </p:nvSpPr>
        <p:spPr>
          <a:xfrm>
            <a:off x="228062" y="2444125"/>
            <a:ext cx="305337" cy="172132"/>
          </a:xfrm>
          <a:prstGeom prst="rect">
            <a:avLst/>
          </a:prstGeom>
          <a:noFill/>
          <a:ln/>
        </p:spPr>
        <p:txBody>
          <a:bodyPr wrap="square" lIns="25400" tIns="25400" rIns="25400" bIns="25400" rtlCol="0" anchor="t">
            <a:noAutofit/>
          </a:bodyPr>
          <a:lstStyle/>
          <a:p>
            <a:pPr marL="0" indent="0" algn="l">
              <a:lnSpc>
                <a:spcPct val="130000"/>
              </a:lnSpc>
              <a:buNone/>
            </a:pPr>
            <a:r>
              <a:rPr lang="en-US" sz="1400" kern="0" spc="21" dirty="0">
                <a:solidFill>
                  <a:srgbClr val="888080"/>
                </a:solidFill>
                <a:latin typeface="Inter" pitchFamily="34" charset="0"/>
                <a:ea typeface="Inter" pitchFamily="34" charset="-122"/>
              </a:rPr>
              <a:t>04</a:t>
            </a:r>
          </a:p>
        </p:txBody>
      </p:sp>
      <p:sp>
        <p:nvSpPr>
          <p:cNvPr id="91" name="Text 12">
            <a:extLst>
              <a:ext uri="{FF2B5EF4-FFF2-40B4-BE49-F238E27FC236}">
                <a16:creationId xmlns:a16="http://schemas.microsoft.com/office/drawing/2014/main" id="{6C5A26C2-ACF2-1E65-8932-B878E6C3804E}"/>
              </a:ext>
            </a:extLst>
          </p:cNvPr>
          <p:cNvSpPr/>
          <p:nvPr/>
        </p:nvSpPr>
        <p:spPr>
          <a:xfrm>
            <a:off x="228062" y="2750711"/>
            <a:ext cx="372011" cy="158880"/>
          </a:xfrm>
          <a:prstGeom prst="rect">
            <a:avLst/>
          </a:prstGeom>
          <a:noFill/>
          <a:ln/>
        </p:spPr>
        <p:txBody>
          <a:bodyPr wrap="square" lIns="25400" tIns="25400" rIns="25400" bIns="25400" rtlCol="0" anchor="t">
            <a:noAutofit/>
          </a:bodyPr>
          <a:lstStyle/>
          <a:p>
            <a:pPr marL="0" indent="0" algn="l">
              <a:lnSpc>
                <a:spcPct val="130000"/>
              </a:lnSpc>
              <a:buNone/>
            </a:pPr>
            <a:r>
              <a:rPr lang="en-US" sz="1400" b="1" kern="0" spc="21" dirty="0">
                <a:solidFill>
                  <a:srgbClr val="C25A2A"/>
                </a:solidFill>
                <a:latin typeface="JetBrains Mono" pitchFamily="34" charset="0"/>
                <a:ea typeface="JetBrains Mono" pitchFamily="34" charset="-122"/>
              </a:rPr>
              <a:t>05</a:t>
            </a:r>
          </a:p>
        </p:txBody>
      </p:sp>
      <p:sp>
        <p:nvSpPr>
          <p:cNvPr id="92" name="Text 13">
            <a:extLst>
              <a:ext uri="{FF2B5EF4-FFF2-40B4-BE49-F238E27FC236}">
                <a16:creationId xmlns:a16="http://schemas.microsoft.com/office/drawing/2014/main" id="{A0B07491-7F63-E4BB-FD81-8045A3F46233}"/>
              </a:ext>
            </a:extLst>
          </p:cNvPr>
          <p:cNvSpPr/>
          <p:nvPr/>
        </p:nvSpPr>
        <p:spPr>
          <a:xfrm>
            <a:off x="533399" y="2725489"/>
            <a:ext cx="948333" cy="761256"/>
          </a:xfrm>
          <a:prstGeom prst="rect">
            <a:avLst/>
          </a:prstGeom>
          <a:noFill/>
          <a:ln/>
        </p:spPr>
        <p:txBody>
          <a:bodyPr wrap="square" lIns="25400" tIns="25400" rIns="25400" bIns="25400" rtlCol="0" anchor="t">
            <a:normAutofit/>
          </a:bodyPr>
          <a:lstStyle/>
          <a:p>
            <a:pPr marL="0" indent="0" algn="l">
              <a:lnSpc>
                <a:spcPct val="130000"/>
              </a:lnSpc>
              <a:buNone/>
            </a:pPr>
            <a:r>
              <a:rPr lang="en-US" sz="1400" kern="0" spc="21" dirty="0">
                <a:solidFill>
                  <a:srgbClr val="1A1A1A"/>
                </a:solidFill>
                <a:latin typeface="Inter" pitchFamily="34" charset="0"/>
                <a:ea typeface="Inter" pitchFamily="34" charset="-122"/>
              </a:rPr>
              <a:t>Modeling</a:t>
            </a:r>
          </a:p>
        </p:txBody>
      </p:sp>
      <p:sp>
        <p:nvSpPr>
          <p:cNvPr id="93" name="Text 14">
            <a:extLst>
              <a:ext uri="{FF2B5EF4-FFF2-40B4-BE49-F238E27FC236}">
                <a16:creationId xmlns:a16="http://schemas.microsoft.com/office/drawing/2014/main" id="{C389B9FA-2CFC-D552-0CDB-262844B40AA2}"/>
              </a:ext>
            </a:extLst>
          </p:cNvPr>
          <p:cNvSpPr/>
          <p:nvPr/>
        </p:nvSpPr>
        <p:spPr>
          <a:xfrm>
            <a:off x="235683" y="3042056"/>
            <a:ext cx="372010" cy="191463"/>
          </a:xfrm>
          <a:prstGeom prst="rect">
            <a:avLst/>
          </a:prstGeom>
          <a:noFill/>
          <a:ln/>
        </p:spPr>
        <p:txBody>
          <a:bodyPr wrap="square" lIns="25400" tIns="25400" rIns="25400" bIns="25400" rtlCol="0" anchor="t">
            <a:noAutofit/>
          </a:bodyPr>
          <a:lstStyle/>
          <a:p>
            <a:pPr marL="0" indent="0" algn="l">
              <a:lnSpc>
                <a:spcPct val="130000"/>
              </a:lnSpc>
              <a:buNone/>
            </a:pPr>
            <a:r>
              <a:rPr lang="en-US" sz="1400" kern="0" spc="21" dirty="0">
                <a:solidFill>
                  <a:srgbClr val="888080"/>
                </a:solidFill>
                <a:latin typeface="JetBrains Mono" pitchFamily="34" charset="0"/>
                <a:ea typeface="JetBrains Mono" pitchFamily="34" charset="-122"/>
                <a:cs typeface="JetBrains Mono" pitchFamily="34" charset="-120"/>
              </a:rPr>
              <a:t>06</a:t>
            </a:r>
            <a:endParaRPr lang="en-US" sz="1400" dirty="0"/>
          </a:p>
        </p:txBody>
      </p:sp>
      <p:sp>
        <p:nvSpPr>
          <p:cNvPr id="94" name="Text 15">
            <a:extLst>
              <a:ext uri="{FF2B5EF4-FFF2-40B4-BE49-F238E27FC236}">
                <a16:creationId xmlns:a16="http://schemas.microsoft.com/office/drawing/2014/main" id="{13C54B54-5B76-F89F-78B8-5F0B98CE101F}"/>
              </a:ext>
            </a:extLst>
          </p:cNvPr>
          <p:cNvSpPr/>
          <p:nvPr/>
        </p:nvSpPr>
        <p:spPr>
          <a:xfrm>
            <a:off x="533400" y="3032075"/>
            <a:ext cx="1185416" cy="626120"/>
          </a:xfrm>
          <a:prstGeom prst="rect">
            <a:avLst/>
          </a:prstGeom>
          <a:noFill/>
          <a:ln/>
        </p:spPr>
        <p:txBody>
          <a:bodyPr wrap="square" lIns="25400" tIns="25400" rIns="25400" bIns="25400" rtlCol="0" anchor="t">
            <a:normAutofit/>
          </a:bodyPr>
          <a:lstStyle/>
          <a:p>
            <a:pPr marL="0" indent="0" algn="l">
              <a:lnSpc>
                <a:spcPct val="130000"/>
              </a:lnSpc>
              <a:buNone/>
            </a:pPr>
            <a:r>
              <a:rPr lang="en-US" sz="1400" kern="0" spc="21" dirty="0">
                <a:solidFill>
                  <a:srgbClr val="888080"/>
                </a:solidFill>
                <a:latin typeface="Inter" pitchFamily="34" charset="0"/>
                <a:ea typeface="Inter" pitchFamily="34" charset="-122"/>
                <a:cs typeface="Inter" pitchFamily="34" charset="-120"/>
              </a:rPr>
              <a:t>Conclusions</a:t>
            </a:r>
            <a:endParaRPr lang="en-US" sz="1400" dirty="0"/>
          </a:p>
        </p:txBody>
      </p:sp>
      <p:sp>
        <p:nvSpPr>
          <p:cNvPr id="95" name="Text 9">
            <a:extLst>
              <a:ext uri="{FF2B5EF4-FFF2-40B4-BE49-F238E27FC236}">
                <a16:creationId xmlns:a16="http://schemas.microsoft.com/office/drawing/2014/main" id="{3C641613-034E-2EA4-C33C-0734621AFFC1}"/>
              </a:ext>
            </a:extLst>
          </p:cNvPr>
          <p:cNvSpPr/>
          <p:nvPr/>
        </p:nvSpPr>
        <p:spPr>
          <a:xfrm>
            <a:off x="538609" y="2426180"/>
            <a:ext cx="1185416" cy="342476"/>
          </a:xfrm>
          <a:prstGeom prst="rect">
            <a:avLst/>
          </a:prstGeom>
          <a:noFill/>
          <a:ln/>
        </p:spPr>
        <p:txBody>
          <a:bodyPr wrap="square" lIns="25400" tIns="25400" rIns="25400" bIns="25400" rtlCol="0" anchor="t">
            <a:normAutofit/>
          </a:bodyPr>
          <a:lstStyle/>
          <a:p>
            <a:pPr marL="0" indent="0" algn="l">
              <a:lnSpc>
                <a:spcPct val="130000"/>
              </a:lnSpc>
              <a:buNone/>
            </a:pPr>
            <a:r>
              <a:rPr lang="en-US" sz="1400" kern="0" spc="21" dirty="0">
                <a:solidFill>
                  <a:srgbClr val="888080"/>
                </a:solidFill>
                <a:latin typeface="Inter" pitchFamily="34" charset="0"/>
                <a:ea typeface="Inter" pitchFamily="34" charset="-122"/>
              </a:rPr>
              <a:t>Pipeline</a:t>
            </a:r>
          </a:p>
        </p:txBody>
      </p:sp>
      <p:sp>
        <p:nvSpPr>
          <p:cNvPr id="96" name="Text 7">
            <a:extLst>
              <a:ext uri="{FF2B5EF4-FFF2-40B4-BE49-F238E27FC236}">
                <a16:creationId xmlns:a16="http://schemas.microsoft.com/office/drawing/2014/main" id="{E4ADE924-8B57-9E76-AC81-422D5F588B34}"/>
              </a:ext>
            </a:extLst>
          </p:cNvPr>
          <p:cNvSpPr/>
          <p:nvPr/>
        </p:nvSpPr>
        <p:spPr>
          <a:xfrm>
            <a:off x="523875" y="1826620"/>
            <a:ext cx="1325700" cy="467696"/>
          </a:xfrm>
          <a:prstGeom prst="rect">
            <a:avLst/>
          </a:prstGeom>
          <a:noFill/>
          <a:ln/>
        </p:spPr>
        <p:txBody>
          <a:bodyPr wrap="square" lIns="25400" tIns="25400" rIns="25400" bIns="25400" rtlCol="0" anchor="t">
            <a:noAutofit/>
          </a:bodyPr>
          <a:lstStyle/>
          <a:p>
            <a:pPr marL="0" indent="0" algn="l">
              <a:lnSpc>
                <a:spcPct val="130000"/>
              </a:lnSpc>
              <a:buNone/>
            </a:pPr>
            <a:r>
              <a:rPr lang="en-US" sz="1400" kern="0" spc="21" dirty="0">
                <a:solidFill>
                  <a:srgbClr val="888080"/>
                </a:solidFill>
                <a:latin typeface="Inter" pitchFamily="34" charset="0"/>
                <a:ea typeface="Inter" pitchFamily="34" charset="-122"/>
              </a:rPr>
              <a:t>Data &amp; target</a:t>
            </a:r>
          </a:p>
        </p:txBody>
      </p:sp>
      <p:sp>
        <p:nvSpPr>
          <p:cNvPr id="97" name="Text 1">
            <a:extLst>
              <a:ext uri="{FF2B5EF4-FFF2-40B4-BE49-F238E27FC236}">
                <a16:creationId xmlns:a16="http://schemas.microsoft.com/office/drawing/2014/main" id="{E8E1C581-D47F-B402-13A2-0F4CDD43092A}"/>
              </a:ext>
            </a:extLst>
          </p:cNvPr>
          <p:cNvSpPr/>
          <p:nvPr/>
        </p:nvSpPr>
        <p:spPr>
          <a:xfrm>
            <a:off x="261138" y="379598"/>
            <a:ext cx="1778457" cy="447678"/>
          </a:xfrm>
          <a:prstGeom prst="rect">
            <a:avLst/>
          </a:prstGeom>
          <a:noFill/>
          <a:ln/>
        </p:spPr>
        <p:txBody>
          <a:bodyPr wrap="square" lIns="25400" tIns="25400" rIns="25400" bIns="25400" rtlCol="0" anchor="t">
            <a:noAutofit/>
          </a:bodyPr>
          <a:lstStyle/>
          <a:p>
            <a:pPr marL="0" indent="0">
              <a:buNone/>
            </a:pPr>
            <a:r>
              <a:rPr lang="en-US" sz="1400" kern="0" spc="116" dirty="0">
                <a:solidFill>
                  <a:srgbClr val="888080"/>
                </a:solidFill>
                <a:latin typeface="JetBrains Mono" pitchFamily="34" charset="0"/>
                <a:ea typeface="JetBrains Mono" pitchFamily="34" charset="-122"/>
                <a:cs typeface="JetBrains Mono" pitchFamily="34" charset="-120"/>
              </a:rPr>
              <a:t>DS22 - Bar Ilan</a:t>
            </a:r>
            <a:br>
              <a:rPr lang="en-US" sz="1400" kern="0" spc="116" dirty="0">
                <a:solidFill>
                  <a:srgbClr val="888080"/>
                </a:solidFill>
                <a:latin typeface="JetBrains Mono" pitchFamily="34" charset="0"/>
                <a:ea typeface="JetBrains Mono" pitchFamily="34" charset="-122"/>
                <a:cs typeface="JetBrains Mono" pitchFamily="34" charset="-120"/>
              </a:rPr>
            </a:br>
            <a:r>
              <a:rPr lang="en-US" sz="1400" kern="0" spc="116" dirty="0">
                <a:solidFill>
                  <a:srgbClr val="888080"/>
                </a:solidFill>
                <a:latin typeface="JetBrains Mono" pitchFamily="34" charset="0"/>
                <a:ea typeface="JetBrains Mono" pitchFamily="34" charset="-122"/>
                <a:cs typeface="JetBrains Mono" pitchFamily="34" charset="-120"/>
              </a:rPr>
              <a:t>ML PROJECT</a:t>
            </a:r>
          </a:p>
          <a:p>
            <a:pPr marL="0" indent="0">
              <a:buNone/>
            </a:pPr>
            <a:r>
              <a:rPr lang="en-US" sz="1400" kern="0" spc="116" dirty="0">
                <a:solidFill>
                  <a:srgbClr val="888080"/>
                </a:solidFill>
                <a:latin typeface="JetBrains Mono" pitchFamily="34" charset="0"/>
                <a:ea typeface="JetBrains Mono" pitchFamily="34" charset="-122"/>
                <a:cs typeface="JetBrains Mono" pitchFamily="34" charset="-120"/>
              </a:rPr>
              <a:t>MAY 2026</a:t>
            </a:r>
            <a:endParaRPr lang="en-US" sz="14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26">
    <p:bg>
      <p:bgPr>
        <a:solidFill>
          <a:srgbClr val="F5F1E8"/>
        </a:solidFill>
        <a:effectLst/>
      </p:bgPr>
    </p:bg>
    <p:spTree>
      <p:nvGrpSpPr>
        <p:cNvPr id="1" name=""/>
        <p:cNvGrpSpPr/>
        <p:nvPr/>
      </p:nvGrpSpPr>
      <p:grpSpPr>
        <a:xfrm>
          <a:off x="0" y="0"/>
          <a:ext cx="0" cy="0"/>
          <a:chOff x="0" y="0"/>
          <a:chExt cx="0" cy="0"/>
        </a:xfrm>
      </p:grpSpPr>
      <p:sp>
        <p:nvSpPr>
          <p:cNvPr id="2" name="Shape 0"/>
          <p:cNvSpPr/>
          <p:nvPr/>
        </p:nvSpPr>
        <p:spPr>
          <a:xfrm>
            <a:off x="0" y="0"/>
            <a:ext cx="2095500" cy="10287000"/>
          </a:xfrm>
          <a:prstGeom prst="rect">
            <a:avLst/>
          </a:prstGeom>
          <a:solidFill>
            <a:srgbClr val="EBE5D6"/>
          </a:solidFill>
          <a:ln/>
        </p:spPr>
        <p:txBody>
          <a:bodyPr/>
          <a:lstStyle/>
          <a:p>
            <a:endParaRPr lang="he-IL"/>
          </a:p>
        </p:txBody>
      </p:sp>
      <p:sp>
        <p:nvSpPr>
          <p:cNvPr id="3" name="Shape 1"/>
          <p:cNvSpPr/>
          <p:nvPr/>
        </p:nvSpPr>
        <p:spPr>
          <a:xfrm>
            <a:off x="2085975" y="0"/>
            <a:ext cx="9525" cy="10287000"/>
          </a:xfrm>
          <a:prstGeom prst="rect">
            <a:avLst/>
          </a:prstGeom>
          <a:solidFill>
            <a:srgbClr val="D4CDBC"/>
          </a:solidFill>
          <a:ln/>
        </p:spPr>
        <p:txBody>
          <a:bodyPr/>
          <a:lstStyle/>
          <a:p>
            <a:endParaRPr lang="he-IL"/>
          </a:p>
        </p:txBody>
      </p:sp>
      <p:sp>
        <p:nvSpPr>
          <p:cNvPr id="19" name="Text 17"/>
          <p:cNvSpPr/>
          <p:nvPr/>
        </p:nvSpPr>
        <p:spPr>
          <a:xfrm>
            <a:off x="2781300" y="571500"/>
            <a:ext cx="15187041" cy="171450"/>
          </a:xfrm>
          <a:prstGeom prst="rect">
            <a:avLst/>
          </a:prstGeom>
          <a:noFill/>
          <a:ln/>
        </p:spPr>
        <p:txBody>
          <a:bodyPr wrap="square" lIns="25400" tIns="25400" rIns="25400" bIns="25400" rtlCol="0" anchor="ctr">
            <a:noAutofit/>
          </a:bodyPr>
          <a:lstStyle/>
          <a:p>
            <a:pPr marL="0" indent="0" algn="l">
              <a:buNone/>
            </a:pPr>
            <a:r>
              <a:rPr lang="en-US" sz="1400" kern="0" spc="182" dirty="0">
                <a:solidFill>
                  <a:srgbClr val="888080"/>
                </a:solidFill>
                <a:latin typeface="JetBrains Mono" pitchFamily="34" charset="0"/>
                <a:ea typeface="JetBrains Mono" pitchFamily="34" charset="-122"/>
                <a:cs typeface="JetBrains Mono" pitchFamily="34" charset="-120"/>
              </a:rPr>
              <a:t>SHAP · FEATURE IMPORTANCE PER CLASS</a:t>
            </a:r>
            <a:endParaRPr lang="en-US" sz="1400" dirty="0"/>
          </a:p>
        </p:txBody>
      </p:sp>
      <p:sp>
        <p:nvSpPr>
          <p:cNvPr id="20" name="Text 18"/>
          <p:cNvSpPr/>
          <p:nvPr/>
        </p:nvSpPr>
        <p:spPr>
          <a:xfrm>
            <a:off x="2781300" y="914400"/>
            <a:ext cx="15187041" cy="643830"/>
          </a:xfrm>
          <a:prstGeom prst="rect">
            <a:avLst/>
          </a:prstGeom>
          <a:noFill/>
          <a:ln/>
        </p:spPr>
        <p:txBody>
          <a:bodyPr wrap="square" lIns="25400" tIns="25400" rIns="25400" bIns="25400" rtlCol="0" anchor="t">
            <a:normAutofit fontScale="92500" lnSpcReduction="20000"/>
          </a:bodyPr>
          <a:lstStyle/>
          <a:p>
            <a:pPr marL="0" indent="0" algn="l">
              <a:lnSpc>
                <a:spcPct val="106000"/>
              </a:lnSpc>
              <a:buNone/>
            </a:pPr>
            <a:r>
              <a:rPr lang="en-US" sz="4500" kern="0" spc="-81" dirty="0">
                <a:solidFill>
                  <a:srgbClr val="1A1A1A"/>
                </a:solidFill>
                <a:latin typeface="Instrument Serif" pitchFamily="34" charset="0"/>
                <a:ea typeface="Instrument Serif" pitchFamily="34" charset="-122"/>
                <a:cs typeface="Instrument Serif" pitchFamily="34" charset="-120"/>
              </a:rPr>
              <a:t>What the model </a:t>
            </a:r>
            <a:r>
              <a:rPr lang="en-US" sz="4500" i="1" kern="0" spc="-81" dirty="0">
                <a:solidFill>
                  <a:srgbClr val="C25A2A"/>
                </a:solidFill>
                <a:latin typeface="Instrument Serif" pitchFamily="34" charset="0"/>
                <a:ea typeface="Instrument Serif" pitchFamily="34" charset="-122"/>
                <a:cs typeface="Instrument Serif" pitchFamily="34" charset="-120"/>
              </a:rPr>
              <a:t>actually learned.</a:t>
            </a:r>
            <a:endParaRPr lang="en-US" sz="4500" dirty="0"/>
          </a:p>
        </p:txBody>
      </p:sp>
      <p:sp>
        <p:nvSpPr>
          <p:cNvPr id="21" name="Text 19"/>
          <p:cNvSpPr/>
          <p:nvPr/>
        </p:nvSpPr>
        <p:spPr>
          <a:xfrm>
            <a:off x="2781300" y="1691580"/>
            <a:ext cx="10791825" cy="328017"/>
          </a:xfrm>
          <a:prstGeom prst="rect">
            <a:avLst/>
          </a:prstGeom>
          <a:noFill/>
          <a:ln/>
        </p:spPr>
        <p:txBody>
          <a:bodyPr wrap="square" lIns="25400" tIns="25400" rIns="25400" bIns="25400" rtlCol="0" anchor="t">
            <a:normAutofit fontScale="92500" lnSpcReduction="20000"/>
          </a:bodyPr>
          <a:lstStyle/>
          <a:p>
            <a:pPr marL="0" indent="0" algn="l">
              <a:lnSpc>
                <a:spcPct val="145000"/>
              </a:lnSpc>
              <a:buNone/>
            </a:pPr>
            <a:r>
              <a:rPr lang="en-US" sz="1575" dirty="0">
                <a:solidFill>
                  <a:srgbClr val="4A4A4A"/>
                </a:solidFill>
                <a:latin typeface="Inter" pitchFamily="34" charset="0"/>
                <a:ea typeface="Inter" pitchFamily="34" charset="-122"/>
                <a:cs typeface="Inter" pitchFamily="34" charset="-120"/>
              </a:rPr>
              <a:t>One SHAP summary per class. The top feature changes — three different stories from one model.</a:t>
            </a:r>
            <a:endParaRPr lang="en-US" sz="1575" dirty="0"/>
          </a:p>
        </p:txBody>
      </p:sp>
      <p:sp>
        <p:nvSpPr>
          <p:cNvPr id="22" name="Shape 20"/>
          <p:cNvSpPr/>
          <p:nvPr/>
        </p:nvSpPr>
        <p:spPr>
          <a:xfrm>
            <a:off x="2781300" y="2210098"/>
            <a:ext cx="4800600" cy="6088112"/>
          </a:xfrm>
          <a:prstGeom prst="rect">
            <a:avLst/>
          </a:prstGeom>
          <a:solidFill>
            <a:srgbClr val="FFFFFF"/>
          </a:solidFill>
          <a:ln w="9525">
            <a:solidFill>
              <a:srgbClr val="D4CDBC"/>
            </a:solidFill>
            <a:prstDash val="solid"/>
          </a:ln>
        </p:spPr>
        <p:txBody>
          <a:bodyPr/>
          <a:lstStyle/>
          <a:p>
            <a:endParaRPr lang="he-IL"/>
          </a:p>
        </p:txBody>
      </p:sp>
      <p:sp>
        <p:nvSpPr>
          <p:cNvPr id="23" name="Shape 21"/>
          <p:cNvSpPr/>
          <p:nvPr/>
        </p:nvSpPr>
        <p:spPr>
          <a:xfrm>
            <a:off x="2905125" y="2333923"/>
            <a:ext cx="542925" cy="219075"/>
          </a:xfrm>
          <a:prstGeom prst="rect">
            <a:avLst/>
          </a:prstGeom>
          <a:solidFill>
            <a:srgbClr val="B73A3A"/>
          </a:solidFill>
          <a:ln w="9525">
            <a:solidFill>
              <a:srgbClr val="B73A3A"/>
            </a:solidFill>
            <a:prstDash val="solid"/>
          </a:ln>
        </p:spPr>
        <p:txBody>
          <a:bodyPr/>
          <a:lstStyle/>
          <a:p>
            <a:endParaRPr lang="he-IL"/>
          </a:p>
        </p:txBody>
      </p:sp>
      <p:sp>
        <p:nvSpPr>
          <p:cNvPr id="24" name="Text 22"/>
          <p:cNvSpPr/>
          <p:nvPr/>
        </p:nvSpPr>
        <p:spPr>
          <a:xfrm>
            <a:off x="3000375" y="2381548"/>
            <a:ext cx="428625" cy="161925"/>
          </a:xfrm>
          <a:prstGeom prst="rect">
            <a:avLst/>
          </a:prstGeom>
          <a:noFill/>
          <a:ln/>
        </p:spPr>
        <p:txBody>
          <a:bodyPr wrap="square" lIns="25400" tIns="25400" rIns="25400" bIns="25400" rtlCol="0" anchor="ctr">
            <a:normAutofit lnSpcReduction="10000"/>
          </a:bodyPr>
          <a:lstStyle/>
          <a:p>
            <a:pPr marL="0" indent="0" algn="l">
              <a:buNone/>
            </a:pPr>
            <a:r>
              <a:rPr lang="en-US" sz="750" kern="0" spc="105" dirty="0">
                <a:solidFill>
                  <a:srgbClr val="FFFFFF"/>
                </a:solidFill>
                <a:latin typeface="JetBrains Mono" pitchFamily="34" charset="0"/>
                <a:ea typeface="JetBrains Mono" pitchFamily="34" charset="-122"/>
                <a:cs typeface="JetBrains Mono" pitchFamily="34" charset="-120"/>
              </a:rPr>
              <a:t>DELAY</a:t>
            </a:r>
            <a:endParaRPr lang="en-US" sz="750" dirty="0"/>
          </a:p>
        </p:txBody>
      </p:sp>
      <p:sp>
        <p:nvSpPr>
          <p:cNvPr id="25" name="Text 23"/>
          <p:cNvSpPr/>
          <p:nvPr/>
        </p:nvSpPr>
        <p:spPr>
          <a:xfrm>
            <a:off x="7023646" y="2333923"/>
            <a:ext cx="510629" cy="257175"/>
          </a:xfrm>
          <a:prstGeom prst="rect">
            <a:avLst/>
          </a:prstGeom>
          <a:noFill/>
          <a:ln/>
        </p:spPr>
        <p:txBody>
          <a:bodyPr wrap="square" lIns="25400" tIns="25400" rIns="25400" bIns="25400" rtlCol="0" anchor="t">
            <a:normAutofit/>
          </a:bodyPr>
          <a:lstStyle/>
          <a:p>
            <a:pPr marL="0" indent="0" algn="l">
              <a:buNone/>
            </a:pPr>
            <a:r>
              <a:rPr lang="en-US" sz="750" kern="0" spc="120" dirty="0">
                <a:solidFill>
                  <a:srgbClr val="888080"/>
                </a:solidFill>
                <a:latin typeface="JetBrains Mono" pitchFamily="34" charset="0"/>
                <a:ea typeface="JetBrains Mono" pitchFamily="34" charset="-122"/>
                <a:cs typeface="JetBrains Mono" pitchFamily="34" charset="-120"/>
              </a:rPr>
              <a:t>TOP 20</a:t>
            </a:r>
            <a:endParaRPr lang="en-US" sz="750" dirty="0"/>
          </a:p>
        </p:txBody>
      </p:sp>
      <p:sp>
        <p:nvSpPr>
          <p:cNvPr id="26" name="Shape 24"/>
          <p:cNvSpPr/>
          <p:nvPr/>
        </p:nvSpPr>
        <p:spPr>
          <a:xfrm>
            <a:off x="2905125" y="2629198"/>
            <a:ext cx="4552950" cy="5545187"/>
          </a:xfrm>
          <a:prstGeom prst="rect">
            <a:avLst/>
          </a:prstGeom>
          <a:solidFill>
            <a:srgbClr val="FFFFFF"/>
          </a:solidFill>
          <a:ln/>
        </p:spPr>
        <p:txBody>
          <a:bodyPr/>
          <a:lstStyle/>
          <a:p>
            <a:endParaRPr lang="he-IL"/>
          </a:p>
        </p:txBody>
      </p:sp>
      <p:pic>
        <p:nvPicPr>
          <p:cNvPr id="27" name="Image 0" descr="preencoded.png"/>
          <p:cNvPicPr>
            <a:picLocks noChangeAspect="1"/>
          </p:cNvPicPr>
          <p:nvPr/>
        </p:nvPicPr>
        <p:blipFill>
          <a:blip r:embed="rId3"/>
          <a:srcRect/>
          <a:stretch/>
        </p:blipFill>
        <p:spPr>
          <a:xfrm>
            <a:off x="2905125" y="2629198"/>
            <a:ext cx="4552950" cy="5545187"/>
          </a:xfrm>
          <a:prstGeom prst="rect">
            <a:avLst/>
          </a:prstGeom>
        </p:spPr>
      </p:pic>
      <p:sp>
        <p:nvSpPr>
          <p:cNvPr id="28" name="Shape 25"/>
          <p:cNvSpPr/>
          <p:nvPr/>
        </p:nvSpPr>
        <p:spPr>
          <a:xfrm>
            <a:off x="7753350" y="2210098"/>
            <a:ext cx="4800600" cy="6088112"/>
          </a:xfrm>
          <a:prstGeom prst="rect">
            <a:avLst/>
          </a:prstGeom>
          <a:solidFill>
            <a:srgbClr val="FFFFFF"/>
          </a:solidFill>
          <a:ln w="9525">
            <a:solidFill>
              <a:srgbClr val="D4CDBC"/>
            </a:solidFill>
            <a:prstDash val="solid"/>
          </a:ln>
        </p:spPr>
        <p:txBody>
          <a:bodyPr/>
          <a:lstStyle/>
          <a:p>
            <a:endParaRPr lang="he-IL"/>
          </a:p>
        </p:txBody>
      </p:sp>
      <p:sp>
        <p:nvSpPr>
          <p:cNvPr id="29" name="Shape 26"/>
          <p:cNvSpPr/>
          <p:nvPr/>
        </p:nvSpPr>
        <p:spPr>
          <a:xfrm>
            <a:off x="7877175" y="2333923"/>
            <a:ext cx="542925" cy="219075"/>
          </a:xfrm>
          <a:prstGeom prst="rect">
            <a:avLst/>
          </a:prstGeom>
          <a:solidFill>
            <a:srgbClr val="2A6FB8"/>
          </a:solidFill>
          <a:ln w="9525">
            <a:solidFill>
              <a:srgbClr val="2A6FB8"/>
            </a:solidFill>
            <a:prstDash val="solid"/>
          </a:ln>
        </p:spPr>
        <p:txBody>
          <a:bodyPr/>
          <a:lstStyle/>
          <a:p>
            <a:endParaRPr lang="he-IL"/>
          </a:p>
        </p:txBody>
      </p:sp>
      <p:sp>
        <p:nvSpPr>
          <p:cNvPr id="30" name="Text 27"/>
          <p:cNvSpPr/>
          <p:nvPr/>
        </p:nvSpPr>
        <p:spPr>
          <a:xfrm>
            <a:off x="7972425" y="2381548"/>
            <a:ext cx="428625" cy="161925"/>
          </a:xfrm>
          <a:prstGeom prst="rect">
            <a:avLst/>
          </a:prstGeom>
          <a:noFill/>
          <a:ln/>
        </p:spPr>
        <p:txBody>
          <a:bodyPr wrap="square" lIns="25400" tIns="25400" rIns="25400" bIns="25400" rtlCol="0" anchor="ctr">
            <a:normAutofit lnSpcReduction="10000"/>
          </a:bodyPr>
          <a:lstStyle/>
          <a:p>
            <a:pPr marL="0" indent="0" algn="l">
              <a:buNone/>
            </a:pPr>
            <a:r>
              <a:rPr lang="en-US" sz="750" kern="0" spc="105" dirty="0">
                <a:solidFill>
                  <a:srgbClr val="FFFFFF"/>
                </a:solidFill>
                <a:latin typeface="JetBrains Mono" pitchFamily="34" charset="0"/>
                <a:ea typeface="JetBrains Mono" pitchFamily="34" charset="-122"/>
                <a:cs typeface="JetBrains Mono" pitchFamily="34" charset="-120"/>
              </a:rPr>
              <a:t>EARLY</a:t>
            </a:r>
            <a:endParaRPr lang="en-US" sz="750" dirty="0"/>
          </a:p>
        </p:txBody>
      </p:sp>
      <p:sp>
        <p:nvSpPr>
          <p:cNvPr id="31" name="Text 28"/>
          <p:cNvSpPr/>
          <p:nvPr/>
        </p:nvSpPr>
        <p:spPr>
          <a:xfrm>
            <a:off x="11995696" y="2333923"/>
            <a:ext cx="510629" cy="257175"/>
          </a:xfrm>
          <a:prstGeom prst="rect">
            <a:avLst/>
          </a:prstGeom>
          <a:noFill/>
          <a:ln/>
        </p:spPr>
        <p:txBody>
          <a:bodyPr wrap="square" lIns="25400" tIns="25400" rIns="25400" bIns="25400" rtlCol="0" anchor="t">
            <a:normAutofit/>
          </a:bodyPr>
          <a:lstStyle/>
          <a:p>
            <a:pPr marL="0" indent="0" algn="l">
              <a:buNone/>
            </a:pPr>
            <a:r>
              <a:rPr lang="en-US" sz="750" kern="0" spc="120" dirty="0">
                <a:solidFill>
                  <a:srgbClr val="888080"/>
                </a:solidFill>
                <a:latin typeface="JetBrains Mono" pitchFamily="34" charset="0"/>
                <a:ea typeface="JetBrains Mono" pitchFamily="34" charset="-122"/>
                <a:cs typeface="JetBrains Mono" pitchFamily="34" charset="-120"/>
              </a:rPr>
              <a:t>TOP 20</a:t>
            </a:r>
            <a:endParaRPr lang="en-US" sz="750" dirty="0"/>
          </a:p>
        </p:txBody>
      </p:sp>
      <p:sp>
        <p:nvSpPr>
          <p:cNvPr id="32" name="Shape 29"/>
          <p:cNvSpPr/>
          <p:nvPr/>
        </p:nvSpPr>
        <p:spPr>
          <a:xfrm>
            <a:off x="7877175" y="2629198"/>
            <a:ext cx="4552950" cy="5545187"/>
          </a:xfrm>
          <a:prstGeom prst="rect">
            <a:avLst/>
          </a:prstGeom>
          <a:solidFill>
            <a:srgbClr val="FFFFFF"/>
          </a:solidFill>
          <a:ln/>
        </p:spPr>
        <p:txBody>
          <a:bodyPr/>
          <a:lstStyle/>
          <a:p>
            <a:endParaRPr lang="he-IL"/>
          </a:p>
        </p:txBody>
      </p:sp>
      <p:pic>
        <p:nvPicPr>
          <p:cNvPr id="33" name="Image 1" descr="preencoded.png"/>
          <p:cNvPicPr>
            <a:picLocks noChangeAspect="1"/>
          </p:cNvPicPr>
          <p:nvPr/>
        </p:nvPicPr>
        <p:blipFill>
          <a:blip r:embed="rId4"/>
          <a:srcRect/>
          <a:stretch/>
        </p:blipFill>
        <p:spPr>
          <a:xfrm>
            <a:off x="7877175" y="2629198"/>
            <a:ext cx="4552950" cy="5545187"/>
          </a:xfrm>
          <a:prstGeom prst="rect">
            <a:avLst/>
          </a:prstGeom>
        </p:spPr>
      </p:pic>
      <p:sp>
        <p:nvSpPr>
          <p:cNvPr id="34" name="Shape 30"/>
          <p:cNvSpPr/>
          <p:nvPr/>
        </p:nvSpPr>
        <p:spPr>
          <a:xfrm>
            <a:off x="12725400" y="2210098"/>
            <a:ext cx="4800600" cy="6088112"/>
          </a:xfrm>
          <a:prstGeom prst="rect">
            <a:avLst/>
          </a:prstGeom>
          <a:solidFill>
            <a:srgbClr val="FFFFFF"/>
          </a:solidFill>
          <a:ln w="9525">
            <a:solidFill>
              <a:srgbClr val="D4CDBC"/>
            </a:solidFill>
            <a:prstDash val="solid"/>
          </a:ln>
        </p:spPr>
        <p:txBody>
          <a:bodyPr/>
          <a:lstStyle/>
          <a:p>
            <a:endParaRPr lang="he-IL"/>
          </a:p>
        </p:txBody>
      </p:sp>
      <p:sp>
        <p:nvSpPr>
          <p:cNvPr id="35" name="Shape 31"/>
          <p:cNvSpPr/>
          <p:nvPr/>
        </p:nvSpPr>
        <p:spPr>
          <a:xfrm>
            <a:off x="12849225" y="2333923"/>
            <a:ext cx="684014" cy="219075"/>
          </a:xfrm>
          <a:prstGeom prst="rect">
            <a:avLst/>
          </a:prstGeom>
          <a:solidFill>
            <a:srgbClr val="4D8C4F"/>
          </a:solidFill>
          <a:ln w="9525">
            <a:solidFill>
              <a:srgbClr val="4D8C4F"/>
            </a:solidFill>
            <a:prstDash val="solid"/>
          </a:ln>
        </p:spPr>
        <p:txBody>
          <a:bodyPr/>
          <a:lstStyle/>
          <a:p>
            <a:endParaRPr lang="he-IL"/>
          </a:p>
        </p:txBody>
      </p:sp>
      <p:sp>
        <p:nvSpPr>
          <p:cNvPr id="36" name="Text 32"/>
          <p:cNvSpPr/>
          <p:nvPr/>
        </p:nvSpPr>
        <p:spPr>
          <a:xfrm>
            <a:off x="12944475" y="2381548"/>
            <a:ext cx="569714" cy="161925"/>
          </a:xfrm>
          <a:prstGeom prst="rect">
            <a:avLst/>
          </a:prstGeom>
          <a:noFill/>
          <a:ln/>
        </p:spPr>
        <p:txBody>
          <a:bodyPr wrap="square" lIns="25400" tIns="25400" rIns="25400" bIns="25400" rtlCol="0" anchor="ctr">
            <a:normAutofit lnSpcReduction="10000"/>
          </a:bodyPr>
          <a:lstStyle/>
          <a:p>
            <a:pPr marL="0" indent="0" algn="l">
              <a:buNone/>
            </a:pPr>
            <a:r>
              <a:rPr lang="en-US" sz="750" kern="0" spc="105" dirty="0">
                <a:solidFill>
                  <a:srgbClr val="FFFFFF"/>
                </a:solidFill>
                <a:latin typeface="JetBrains Mono" pitchFamily="34" charset="0"/>
                <a:ea typeface="JetBrains Mono" pitchFamily="34" charset="-122"/>
                <a:cs typeface="JetBrains Mono" pitchFamily="34" charset="-120"/>
              </a:rPr>
              <a:t>ON-TIME</a:t>
            </a:r>
            <a:endParaRPr lang="en-US" sz="750" dirty="0"/>
          </a:p>
        </p:txBody>
      </p:sp>
      <p:sp>
        <p:nvSpPr>
          <p:cNvPr id="37" name="Text 33"/>
          <p:cNvSpPr/>
          <p:nvPr/>
        </p:nvSpPr>
        <p:spPr>
          <a:xfrm>
            <a:off x="16967746" y="2333923"/>
            <a:ext cx="510629" cy="257175"/>
          </a:xfrm>
          <a:prstGeom prst="rect">
            <a:avLst/>
          </a:prstGeom>
          <a:noFill/>
          <a:ln/>
        </p:spPr>
        <p:txBody>
          <a:bodyPr wrap="square" lIns="25400" tIns="25400" rIns="25400" bIns="25400" rtlCol="0" anchor="t">
            <a:normAutofit/>
          </a:bodyPr>
          <a:lstStyle/>
          <a:p>
            <a:pPr marL="0" indent="0" algn="l">
              <a:buNone/>
            </a:pPr>
            <a:r>
              <a:rPr lang="en-US" sz="750" kern="0" spc="120" dirty="0">
                <a:solidFill>
                  <a:srgbClr val="888080"/>
                </a:solidFill>
                <a:latin typeface="JetBrains Mono" pitchFamily="34" charset="0"/>
                <a:ea typeface="JetBrains Mono" pitchFamily="34" charset="-122"/>
                <a:cs typeface="JetBrains Mono" pitchFamily="34" charset="-120"/>
              </a:rPr>
              <a:t>TOP 20</a:t>
            </a:r>
            <a:endParaRPr lang="en-US" sz="750" dirty="0"/>
          </a:p>
        </p:txBody>
      </p:sp>
      <p:sp>
        <p:nvSpPr>
          <p:cNvPr id="38" name="Shape 34"/>
          <p:cNvSpPr/>
          <p:nvPr/>
        </p:nvSpPr>
        <p:spPr>
          <a:xfrm>
            <a:off x="12849225" y="2629198"/>
            <a:ext cx="4552950" cy="5545187"/>
          </a:xfrm>
          <a:prstGeom prst="rect">
            <a:avLst/>
          </a:prstGeom>
          <a:solidFill>
            <a:srgbClr val="FFFFFF"/>
          </a:solidFill>
          <a:ln/>
        </p:spPr>
        <p:txBody>
          <a:bodyPr/>
          <a:lstStyle/>
          <a:p>
            <a:endParaRPr lang="he-IL"/>
          </a:p>
        </p:txBody>
      </p:sp>
      <p:pic>
        <p:nvPicPr>
          <p:cNvPr id="39" name="Image 2" descr="preencoded.png"/>
          <p:cNvPicPr>
            <a:picLocks noChangeAspect="1"/>
          </p:cNvPicPr>
          <p:nvPr/>
        </p:nvPicPr>
        <p:blipFill>
          <a:blip r:embed="rId5"/>
          <a:srcRect/>
          <a:stretch/>
        </p:blipFill>
        <p:spPr>
          <a:xfrm>
            <a:off x="12849225" y="2629198"/>
            <a:ext cx="4552950" cy="5545187"/>
          </a:xfrm>
          <a:prstGeom prst="rect">
            <a:avLst/>
          </a:prstGeom>
        </p:spPr>
      </p:pic>
      <p:sp>
        <p:nvSpPr>
          <p:cNvPr id="40" name="Shape 35"/>
          <p:cNvSpPr/>
          <p:nvPr/>
        </p:nvSpPr>
        <p:spPr>
          <a:xfrm>
            <a:off x="2781300" y="8469660"/>
            <a:ext cx="4800600" cy="1640254"/>
          </a:xfrm>
          <a:prstGeom prst="rect">
            <a:avLst/>
          </a:prstGeom>
          <a:solidFill>
            <a:srgbClr val="FFFFFF"/>
          </a:solidFill>
          <a:ln w="9525">
            <a:solidFill>
              <a:srgbClr val="D4CDBC"/>
            </a:solidFill>
            <a:prstDash val="solid"/>
          </a:ln>
        </p:spPr>
        <p:txBody>
          <a:bodyPr/>
          <a:lstStyle/>
          <a:p>
            <a:endParaRPr lang="he-IL" sz="1400"/>
          </a:p>
        </p:txBody>
      </p:sp>
      <p:sp>
        <p:nvSpPr>
          <p:cNvPr id="41" name="Text 36"/>
          <p:cNvSpPr/>
          <p:nvPr/>
        </p:nvSpPr>
        <p:spPr>
          <a:xfrm>
            <a:off x="3019425" y="8688735"/>
            <a:ext cx="4454081" cy="161925"/>
          </a:xfrm>
          <a:prstGeom prst="rect">
            <a:avLst/>
          </a:prstGeom>
          <a:noFill/>
          <a:ln/>
        </p:spPr>
        <p:txBody>
          <a:bodyPr wrap="square" lIns="25400" tIns="25400" rIns="25400" bIns="25400" rtlCol="0" anchor="t">
            <a:noAutofit/>
          </a:bodyPr>
          <a:lstStyle/>
          <a:p>
            <a:pPr marL="0" indent="0" algn="l">
              <a:buNone/>
            </a:pPr>
            <a:r>
              <a:rPr lang="en-US" sz="1400" b="1" kern="0" spc="135" dirty="0">
                <a:solidFill>
                  <a:srgbClr val="C25A2A"/>
                </a:solidFill>
                <a:latin typeface="JetBrains Mono" pitchFamily="34" charset="0"/>
                <a:ea typeface="JetBrains Mono" pitchFamily="34" charset="-122"/>
                <a:cs typeface="JetBrains Mono" pitchFamily="34" charset="-120"/>
              </a:rPr>
              <a:t>DELAY · TOP DRIVER</a:t>
            </a:r>
            <a:endParaRPr lang="en-US" sz="1400" dirty="0"/>
          </a:p>
        </p:txBody>
      </p:sp>
      <p:sp>
        <p:nvSpPr>
          <p:cNvPr id="42" name="Text 37"/>
          <p:cNvSpPr/>
          <p:nvPr/>
        </p:nvSpPr>
        <p:spPr>
          <a:xfrm>
            <a:off x="3019425" y="8907810"/>
            <a:ext cx="4454081" cy="198090"/>
          </a:xfrm>
          <a:prstGeom prst="rect">
            <a:avLst/>
          </a:prstGeom>
          <a:noFill/>
          <a:ln/>
        </p:spPr>
        <p:txBody>
          <a:bodyPr wrap="square" lIns="25400" tIns="25400" rIns="25400" bIns="25400" rtlCol="0" anchor="t">
            <a:noAutofit/>
          </a:bodyPr>
          <a:lstStyle/>
          <a:p>
            <a:pPr marL="0" indent="0" algn="l">
              <a:lnSpc>
                <a:spcPct val="112000"/>
              </a:lnSpc>
              <a:buNone/>
            </a:pPr>
            <a:r>
              <a:rPr lang="en-US" sz="1400" kern="0" spc="-9" dirty="0">
                <a:solidFill>
                  <a:srgbClr val="1A1A1A"/>
                </a:solidFill>
                <a:latin typeface="Instrument Serif" pitchFamily="34" charset="0"/>
                <a:ea typeface="Instrument Serif" pitchFamily="34" charset="-122"/>
                <a:cs typeface="Instrument Serif" pitchFamily="34" charset="-120"/>
              </a:rPr>
              <a:t>agency_linenum_dir_alter</a:t>
            </a:r>
            <a:endParaRPr lang="en-US" sz="1400" dirty="0"/>
          </a:p>
        </p:txBody>
      </p:sp>
      <p:sp>
        <p:nvSpPr>
          <p:cNvPr id="43" name="Text 38"/>
          <p:cNvSpPr/>
          <p:nvPr/>
        </p:nvSpPr>
        <p:spPr>
          <a:xfrm>
            <a:off x="3019425" y="9163050"/>
            <a:ext cx="4454081" cy="409575"/>
          </a:xfrm>
          <a:prstGeom prst="rect">
            <a:avLst/>
          </a:prstGeom>
          <a:noFill/>
          <a:ln/>
        </p:spPr>
        <p:txBody>
          <a:bodyPr wrap="square" lIns="25400" tIns="25400" rIns="25400" bIns="25400" rtlCol="0" anchor="t">
            <a:noAutofit/>
          </a:bodyPr>
          <a:lstStyle/>
          <a:p>
            <a:pPr marL="0" indent="0" algn="l">
              <a:lnSpc>
                <a:spcPct val="150000"/>
              </a:lnSpc>
              <a:buNone/>
            </a:pPr>
            <a:r>
              <a:rPr lang="en-US" sz="1400" dirty="0">
                <a:solidFill>
                  <a:srgbClr val="4A4A4A"/>
                </a:solidFill>
                <a:latin typeface="Inter" pitchFamily="34" charset="0"/>
                <a:ea typeface="Inter" pitchFamily="34" charset="-122"/>
                <a:cs typeface="Inter" pitchFamily="34" charset="-120"/>
              </a:rPr>
              <a:t>Route identity. Some lines are </a:t>
            </a:r>
            <a:r>
              <a:rPr lang="en-US" sz="1400" dirty="0">
                <a:solidFill>
                  <a:srgbClr val="1A1A1A"/>
                </a:solidFill>
                <a:latin typeface="Inter" pitchFamily="34" charset="0"/>
                <a:ea typeface="Inter" pitchFamily="34" charset="-122"/>
                <a:cs typeface="Inter" pitchFamily="34" charset="-120"/>
              </a:rPr>
              <a:t>systemically late </a:t>
            </a:r>
            <a:r>
              <a:rPr lang="en-US" sz="1400" dirty="0">
                <a:solidFill>
                  <a:srgbClr val="4A4A4A"/>
                </a:solidFill>
                <a:latin typeface="Inter" pitchFamily="34" charset="0"/>
                <a:ea typeface="Inter" pitchFamily="34" charset="-122"/>
                <a:cs typeface="Inter" pitchFamily="34" charset="-120"/>
              </a:rPr>
              <a:t>— independent of crowding or geometry.</a:t>
            </a:r>
            <a:endParaRPr lang="en-US" sz="1400" dirty="0"/>
          </a:p>
        </p:txBody>
      </p:sp>
      <p:sp>
        <p:nvSpPr>
          <p:cNvPr id="44" name="Shape 39"/>
          <p:cNvSpPr/>
          <p:nvPr/>
        </p:nvSpPr>
        <p:spPr>
          <a:xfrm>
            <a:off x="7753350" y="8469660"/>
            <a:ext cx="4800600" cy="1640254"/>
          </a:xfrm>
          <a:prstGeom prst="rect">
            <a:avLst/>
          </a:prstGeom>
          <a:solidFill>
            <a:srgbClr val="FFFFFF"/>
          </a:solidFill>
          <a:ln w="9525">
            <a:solidFill>
              <a:srgbClr val="D4CDBC"/>
            </a:solidFill>
            <a:prstDash val="solid"/>
          </a:ln>
        </p:spPr>
        <p:txBody>
          <a:bodyPr/>
          <a:lstStyle/>
          <a:p>
            <a:endParaRPr lang="he-IL" sz="1400"/>
          </a:p>
        </p:txBody>
      </p:sp>
      <p:sp>
        <p:nvSpPr>
          <p:cNvPr id="45" name="Text 40"/>
          <p:cNvSpPr/>
          <p:nvPr/>
        </p:nvSpPr>
        <p:spPr>
          <a:xfrm>
            <a:off x="7991475" y="8688735"/>
            <a:ext cx="4454081" cy="161925"/>
          </a:xfrm>
          <a:prstGeom prst="rect">
            <a:avLst/>
          </a:prstGeom>
          <a:noFill/>
          <a:ln/>
        </p:spPr>
        <p:txBody>
          <a:bodyPr wrap="square" lIns="25400" tIns="25400" rIns="25400" bIns="25400" rtlCol="0" anchor="t">
            <a:noAutofit/>
          </a:bodyPr>
          <a:lstStyle/>
          <a:p>
            <a:pPr marL="0" indent="0" algn="l">
              <a:buNone/>
            </a:pPr>
            <a:r>
              <a:rPr lang="en-US" sz="1400" b="1" kern="0" spc="135" dirty="0">
                <a:solidFill>
                  <a:srgbClr val="C25A2A"/>
                </a:solidFill>
                <a:latin typeface="JetBrains Mono" pitchFamily="34" charset="0"/>
                <a:ea typeface="JetBrains Mono" pitchFamily="34" charset="-122"/>
                <a:cs typeface="JetBrains Mono" pitchFamily="34" charset="-120"/>
              </a:rPr>
              <a:t>EARLY · TOP DRIVER</a:t>
            </a:r>
            <a:endParaRPr lang="en-US" sz="1400" dirty="0"/>
          </a:p>
        </p:txBody>
      </p:sp>
      <p:sp>
        <p:nvSpPr>
          <p:cNvPr id="46" name="Text 41"/>
          <p:cNvSpPr/>
          <p:nvPr/>
        </p:nvSpPr>
        <p:spPr>
          <a:xfrm>
            <a:off x="7991475" y="8907810"/>
            <a:ext cx="4454081" cy="198090"/>
          </a:xfrm>
          <a:prstGeom prst="rect">
            <a:avLst/>
          </a:prstGeom>
          <a:noFill/>
          <a:ln/>
        </p:spPr>
        <p:txBody>
          <a:bodyPr wrap="square" lIns="25400" tIns="25400" rIns="25400" bIns="25400" rtlCol="0" anchor="t">
            <a:noAutofit/>
          </a:bodyPr>
          <a:lstStyle/>
          <a:p>
            <a:pPr marL="0" indent="0" algn="l">
              <a:lnSpc>
                <a:spcPct val="112000"/>
              </a:lnSpc>
              <a:buNone/>
            </a:pPr>
            <a:r>
              <a:rPr lang="en-US" sz="1400" kern="0" spc="-9" dirty="0">
                <a:solidFill>
                  <a:srgbClr val="1A1A1A"/>
                </a:solidFill>
                <a:latin typeface="Instrument Serif" pitchFamily="34" charset="0"/>
                <a:ea typeface="Instrument Serif" pitchFamily="34" charset="-122"/>
                <a:cs typeface="Instrument Serif" pitchFamily="34" charset="-120"/>
              </a:rPr>
              <a:t>early_by_hour_length_proba</a:t>
            </a:r>
            <a:endParaRPr lang="en-US" sz="1400" dirty="0"/>
          </a:p>
        </p:txBody>
      </p:sp>
      <p:sp>
        <p:nvSpPr>
          <p:cNvPr id="47" name="Text 42"/>
          <p:cNvSpPr/>
          <p:nvPr/>
        </p:nvSpPr>
        <p:spPr>
          <a:xfrm>
            <a:off x="7991475" y="9163050"/>
            <a:ext cx="4454081" cy="409575"/>
          </a:xfrm>
          <a:prstGeom prst="rect">
            <a:avLst/>
          </a:prstGeom>
          <a:noFill/>
          <a:ln/>
        </p:spPr>
        <p:txBody>
          <a:bodyPr wrap="square" lIns="25400" tIns="25400" rIns="25400" bIns="25400" rtlCol="0" anchor="t">
            <a:noAutofit/>
          </a:bodyPr>
          <a:lstStyle/>
          <a:p>
            <a:pPr marL="0" indent="0" algn="l">
              <a:lnSpc>
                <a:spcPct val="150000"/>
              </a:lnSpc>
              <a:buNone/>
            </a:pPr>
            <a:r>
              <a:rPr lang="en-US" sz="1400" dirty="0">
                <a:solidFill>
                  <a:srgbClr val="4A4A4A"/>
                </a:solidFill>
                <a:latin typeface="Inter" pitchFamily="34" charset="0"/>
                <a:ea typeface="Inter" pitchFamily="34" charset="-122"/>
                <a:cs typeface="Inter" pitchFamily="34" charset="-120"/>
              </a:rPr>
              <a:t>Our engineered conditional probability lifted from EDA — the strongest signal for "running early".</a:t>
            </a:r>
            <a:endParaRPr lang="en-US" sz="1400" dirty="0"/>
          </a:p>
        </p:txBody>
      </p:sp>
      <p:sp>
        <p:nvSpPr>
          <p:cNvPr id="48" name="Shape 43"/>
          <p:cNvSpPr/>
          <p:nvPr/>
        </p:nvSpPr>
        <p:spPr>
          <a:xfrm>
            <a:off x="12725400" y="8469659"/>
            <a:ext cx="4800600" cy="1640255"/>
          </a:xfrm>
          <a:prstGeom prst="rect">
            <a:avLst/>
          </a:prstGeom>
          <a:solidFill>
            <a:srgbClr val="1A1A1A"/>
          </a:solidFill>
          <a:ln w="9525">
            <a:solidFill>
              <a:srgbClr val="1A1A1A"/>
            </a:solidFill>
            <a:prstDash val="solid"/>
          </a:ln>
        </p:spPr>
        <p:txBody>
          <a:bodyPr/>
          <a:lstStyle/>
          <a:p>
            <a:endParaRPr lang="he-IL" sz="1400"/>
          </a:p>
        </p:txBody>
      </p:sp>
      <p:sp>
        <p:nvSpPr>
          <p:cNvPr id="49" name="Text 44"/>
          <p:cNvSpPr/>
          <p:nvPr/>
        </p:nvSpPr>
        <p:spPr>
          <a:xfrm>
            <a:off x="12963525" y="8688735"/>
            <a:ext cx="4454081" cy="161925"/>
          </a:xfrm>
          <a:prstGeom prst="rect">
            <a:avLst/>
          </a:prstGeom>
          <a:noFill/>
          <a:ln/>
        </p:spPr>
        <p:txBody>
          <a:bodyPr wrap="square" lIns="25400" tIns="25400" rIns="25400" bIns="25400" rtlCol="0" anchor="t">
            <a:noAutofit/>
          </a:bodyPr>
          <a:lstStyle/>
          <a:p>
            <a:pPr marL="0" indent="0" algn="l">
              <a:buNone/>
            </a:pPr>
            <a:r>
              <a:rPr lang="en-US" sz="1400" b="1" kern="0" spc="135" dirty="0">
                <a:solidFill>
                  <a:srgbClr val="C25A2A"/>
                </a:solidFill>
                <a:latin typeface="JetBrains Mono" pitchFamily="34" charset="0"/>
                <a:ea typeface="JetBrains Mono" pitchFamily="34" charset="-122"/>
                <a:cs typeface="JetBrains Mono" pitchFamily="34" charset="-120"/>
              </a:rPr>
              <a:t>ON-TIME · TOP DRIVER</a:t>
            </a:r>
            <a:endParaRPr lang="en-US" sz="1400" dirty="0"/>
          </a:p>
        </p:txBody>
      </p:sp>
      <p:sp>
        <p:nvSpPr>
          <p:cNvPr id="50" name="Text 45"/>
          <p:cNvSpPr/>
          <p:nvPr/>
        </p:nvSpPr>
        <p:spPr>
          <a:xfrm>
            <a:off x="12963525" y="8907810"/>
            <a:ext cx="4454081" cy="198090"/>
          </a:xfrm>
          <a:prstGeom prst="rect">
            <a:avLst/>
          </a:prstGeom>
          <a:noFill/>
          <a:ln/>
        </p:spPr>
        <p:txBody>
          <a:bodyPr wrap="square" lIns="25400" tIns="25400" rIns="25400" bIns="25400" rtlCol="0" anchor="t">
            <a:noAutofit/>
          </a:bodyPr>
          <a:lstStyle/>
          <a:p>
            <a:pPr marL="0" indent="0" algn="l">
              <a:lnSpc>
                <a:spcPct val="112000"/>
              </a:lnSpc>
              <a:buNone/>
            </a:pPr>
            <a:r>
              <a:rPr lang="en-US" sz="1400" kern="0" spc="-9" dirty="0">
                <a:solidFill>
                  <a:srgbClr val="F5F1E8"/>
                </a:solidFill>
                <a:latin typeface="Instrument Serif" pitchFamily="34" charset="0"/>
                <a:ea typeface="Instrument Serif" pitchFamily="34" charset="-122"/>
                <a:cs typeface="Instrument Serif" pitchFamily="34" charset="-120"/>
              </a:rPr>
              <a:t>Avg_Passengers_Per_Bus</a:t>
            </a:r>
            <a:endParaRPr lang="en-US" sz="1400" dirty="0"/>
          </a:p>
        </p:txBody>
      </p:sp>
      <p:sp>
        <p:nvSpPr>
          <p:cNvPr id="51" name="Text 46"/>
          <p:cNvSpPr/>
          <p:nvPr/>
        </p:nvSpPr>
        <p:spPr>
          <a:xfrm>
            <a:off x="12963525" y="9163050"/>
            <a:ext cx="4454081" cy="409575"/>
          </a:xfrm>
          <a:prstGeom prst="rect">
            <a:avLst/>
          </a:prstGeom>
          <a:noFill/>
          <a:ln/>
        </p:spPr>
        <p:txBody>
          <a:bodyPr wrap="square" lIns="25400" tIns="25400" rIns="25400" bIns="25400" rtlCol="0" anchor="t">
            <a:noAutofit/>
          </a:bodyPr>
          <a:lstStyle/>
          <a:p>
            <a:pPr marL="0" indent="0" algn="l">
              <a:lnSpc>
                <a:spcPct val="150000"/>
              </a:lnSpc>
              <a:buNone/>
            </a:pPr>
            <a:r>
              <a:rPr lang="en-US" sz="1400" dirty="0">
                <a:solidFill>
                  <a:srgbClr val="FFFFFF">
                    <a:alpha val="78000"/>
                  </a:srgbClr>
                </a:solidFill>
                <a:latin typeface="Inter" pitchFamily="34" charset="0"/>
                <a:ea typeface="Inter" pitchFamily="34" charset="-122"/>
                <a:cs typeface="Inter" pitchFamily="34" charset="-120"/>
              </a:rPr>
              <a:t>Crowding drives the on-time class — the more loaded the bus, the less likely it stays in the on-time band.</a:t>
            </a:r>
            <a:endParaRPr lang="en-US" sz="1400" dirty="0"/>
          </a:p>
        </p:txBody>
      </p:sp>
      <p:sp>
        <p:nvSpPr>
          <p:cNvPr id="52" name="Text 16">
            <a:extLst>
              <a:ext uri="{FF2B5EF4-FFF2-40B4-BE49-F238E27FC236}">
                <a16:creationId xmlns:a16="http://schemas.microsoft.com/office/drawing/2014/main" id="{33DD1EA0-DA53-F6A4-7AC8-A92D68CDFAB2}"/>
              </a:ext>
            </a:extLst>
          </p:cNvPr>
          <p:cNvSpPr/>
          <p:nvPr/>
        </p:nvSpPr>
        <p:spPr>
          <a:xfrm>
            <a:off x="266700" y="9410700"/>
            <a:ext cx="1628775" cy="342900"/>
          </a:xfrm>
          <a:prstGeom prst="rect">
            <a:avLst/>
          </a:prstGeom>
          <a:noFill/>
          <a:ln/>
        </p:spPr>
        <p:txBody>
          <a:bodyPr wrap="square" lIns="25400" tIns="25400" rIns="25400" bIns="25400" rtlCol="0" anchor="t">
            <a:noAutofit/>
          </a:bodyPr>
          <a:lstStyle/>
          <a:p>
            <a:pPr>
              <a:lnSpc>
                <a:spcPct val="160000"/>
              </a:lnSpc>
            </a:pPr>
            <a:r>
              <a:rPr lang="en-US" sz="1400" b="1" kern="0" spc="105" dirty="0">
                <a:solidFill>
                  <a:srgbClr val="1A1A1A"/>
                </a:solidFill>
                <a:latin typeface="JetBrains Mono" pitchFamily="34" charset="0"/>
                <a:ea typeface="JetBrains Mono" pitchFamily="34" charset="-122"/>
                <a:cs typeface="JetBrains Mono" pitchFamily="34" charset="-120"/>
              </a:rPr>
              <a:t>30 / 34</a:t>
            </a:r>
            <a:endParaRPr lang="en-US" sz="1400" dirty="0"/>
          </a:p>
        </p:txBody>
      </p:sp>
      <p:sp>
        <p:nvSpPr>
          <p:cNvPr id="53" name="Text 4">
            <a:extLst>
              <a:ext uri="{FF2B5EF4-FFF2-40B4-BE49-F238E27FC236}">
                <a16:creationId xmlns:a16="http://schemas.microsoft.com/office/drawing/2014/main" id="{1C50FFFB-3A72-4D2C-C094-8BBD7016F489}"/>
              </a:ext>
            </a:extLst>
          </p:cNvPr>
          <p:cNvSpPr/>
          <p:nvPr/>
        </p:nvSpPr>
        <p:spPr>
          <a:xfrm>
            <a:off x="228063" y="1524367"/>
            <a:ext cx="372012" cy="200025"/>
          </a:xfrm>
          <a:prstGeom prst="rect">
            <a:avLst/>
          </a:prstGeom>
          <a:noFill/>
          <a:ln/>
        </p:spPr>
        <p:txBody>
          <a:bodyPr wrap="square" lIns="25400" tIns="25400" rIns="25400" bIns="25400" rtlCol="0" anchor="t">
            <a:noAutofit/>
          </a:bodyPr>
          <a:lstStyle/>
          <a:p>
            <a:pPr marL="0" indent="0" algn="l">
              <a:lnSpc>
                <a:spcPct val="130000"/>
              </a:lnSpc>
              <a:buNone/>
            </a:pPr>
            <a:r>
              <a:rPr lang="en-US" sz="1400" kern="0" spc="21" dirty="0">
                <a:solidFill>
                  <a:srgbClr val="888080"/>
                </a:solidFill>
                <a:latin typeface="Inter" pitchFamily="34" charset="0"/>
                <a:ea typeface="Inter" pitchFamily="34" charset="-122"/>
              </a:rPr>
              <a:t>01</a:t>
            </a:r>
          </a:p>
        </p:txBody>
      </p:sp>
      <p:sp>
        <p:nvSpPr>
          <p:cNvPr id="54" name="Text 5">
            <a:extLst>
              <a:ext uri="{FF2B5EF4-FFF2-40B4-BE49-F238E27FC236}">
                <a16:creationId xmlns:a16="http://schemas.microsoft.com/office/drawing/2014/main" id="{AF5DFE6B-3697-B43C-B68C-FE11EC070ACF}"/>
              </a:ext>
            </a:extLst>
          </p:cNvPr>
          <p:cNvSpPr/>
          <p:nvPr/>
        </p:nvSpPr>
        <p:spPr>
          <a:xfrm>
            <a:off x="523875" y="1522975"/>
            <a:ext cx="876300" cy="476251"/>
          </a:xfrm>
          <a:prstGeom prst="rect">
            <a:avLst/>
          </a:prstGeom>
          <a:noFill/>
          <a:ln/>
        </p:spPr>
        <p:txBody>
          <a:bodyPr wrap="square" lIns="25400" tIns="25400" rIns="25400" bIns="25400" rtlCol="0" anchor="t">
            <a:normAutofit/>
          </a:bodyPr>
          <a:lstStyle/>
          <a:p>
            <a:pPr marL="0" indent="0" algn="l">
              <a:lnSpc>
                <a:spcPct val="130000"/>
              </a:lnSpc>
              <a:buNone/>
            </a:pPr>
            <a:r>
              <a:rPr lang="en-US" sz="1400" kern="0" spc="21" dirty="0">
                <a:solidFill>
                  <a:srgbClr val="888080"/>
                </a:solidFill>
                <a:latin typeface="Inter" pitchFamily="34" charset="0"/>
                <a:ea typeface="Inter" pitchFamily="34" charset="-122"/>
              </a:rPr>
              <a:t>Agenda</a:t>
            </a:r>
          </a:p>
        </p:txBody>
      </p:sp>
      <p:sp>
        <p:nvSpPr>
          <p:cNvPr id="55" name="Text 6">
            <a:extLst>
              <a:ext uri="{FF2B5EF4-FFF2-40B4-BE49-F238E27FC236}">
                <a16:creationId xmlns:a16="http://schemas.microsoft.com/office/drawing/2014/main" id="{A69F8EAC-2701-48E9-60FF-4E33D8E51CC5}"/>
              </a:ext>
            </a:extLst>
          </p:cNvPr>
          <p:cNvSpPr/>
          <p:nvPr/>
        </p:nvSpPr>
        <p:spPr>
          <a:xfrm>
            <a:off x="228063" y="1830953"/>
            <a:ext cx="372010" cy="194877"/>
          </a:xfrm>
          <a:prstGeom prst="rect">
            <a:avLst/>
          </a:prstGeom>
          <a:noFill/>
          <a:ln/>
        </p:spPr>
        <p:txBody>
          <a:bodyPr wrap="square" lIns="25400" tIns="25400" rIns="25400" bIns="25400" rtlCol="0" anchor="t">
            <a:noAutofit/>
          </a:bodyPr>
          <a:lstStyle/>
          <a:p>
            <a:pPr marL="0" indent="0" algn="l">
              <a:lnSpc>
                <a:spcPct val="130000"/>
              </a:lnSpc>
              <a:buNone/>
            </a:pPr>
            <a:r>
              <a:rPr lang="en-US" sz="1400" kern="0" spc="21" dirty="0">
                <a:solidFill>
                  <a:srgbClr val="888080"/>
                </a:solidFill>
                <a:latin typeface="Inter" pitchFamily="34" charset="0"/>
                <a:ea typeface="Inter" pitchFamily="34" charset="-122"/>
              </a:rPr>
              <a:t>02</a:t>
            </a:r>
          </a:p>
        </p:txBody>
      </p:sp>
      <p:sp>
        <p:nvSpPr>
          <p:cNvPr id="56" name="Text 8">
            <a:extLst>
              <a:ext uri="{FF2B5EF4-FFF2-40B4-BE49-F238E27FC236}">
                <a16:creationId xmlns:a16="http://schemas.microsoft.com/office/drawing/2014/main" id="{1E1ACACB-5A57-8447-29FF-DBB1E665BB49}"/>
              </a:ext>
            </a:extLst>
          </p:cNvPr>
          <p:cNvSpPr/>
          <p:nvPr/>
        </p:nvSpPr>
        <p:spPr>
          <a:xfrm>
            <a:off x="230504" y="2152895"/>
            <a:ext cx="302895" cy="141422"/>
          </a:xfrm>
          <a:prstGeom prst="rect">
            <a:avLst/>
          </a:prstGeom>
          <a:noFill/>
          <a:ln/>
        </p:spPr>
        <p:txBody>
          <a:bodyPr wrap="square" lIns="25400" tIns="25400" rIns="25400" bIns="25400" rtlCol="0" anchor="t">
            <a:noAutofit/>
          </a:bodyPr>
          <a:lstStyle/>
          <a:p>
            <a:pPr marL="0" indent="0" algn="l">
              <a:lnSpc>
                <a:spcPct val="130000"/>
              </a:lnSpc>
              <a:buNone/>
            </a:pPr>
            <a:r>
              <a:rPr lang="en-US" sz="1400" kern="0" spc="21" dirty="0">
                <a:solidFill>
                  <a:srgbClr val="888080"/>
                </a:solidFill>
                <a:latin typeface="Inter" pitchFamily="34" charset="0"/>
                <a:ea typeface="Inter" pitchFamily="34" charset="-122"/>
              </a:rPr>
              <a:t>03</a:t>
            </a:r>
          </a:p>
        </p:txBody>
      </p:sp>
      <p:sp>
        <p:nvSpPr>
          <p:cNvPr id="57" name="Text 9">
            <a:extLst>
              <a:ext uri="{FF2B5EF4-FFF2-40B4-BE49-F238E27FC236}">
                <a16:creationId xmlns:a16="http://schemas.microsoft.com/office/drawing/2014/main" id="{AC5DE4CB-E851-DDB4-94E3-50E5707D0EFC}"/>
              </a:ext>
            </a:extLst>
          </p:cNvPr>
          <p:cNvSpPr/>
          <p:nvPr/>
        </p:nvSpPr>
        <p:spPr>
          <a:xfrm>
            <a:off x="531240" y="2145027"/>
            <a:ext cx="1185416" cy="342476"/>
          </a:xfrm>
          <a:prstGeom prst="rect">
            <a:avLst/>
          </a:prstGeom>
          <a:noFill/>
          <a:ln/>
        </p:spPr>
        <p:txBody>
          <a:bodyPr wrap="square" lIns="25400" tIns="25400" rIns="25400" bIns="25400" rtlCol="0" anchor="t">
            <a:normAutofit/>
          </a:bodyPr>
          <a:lstStyle/>
          <a:p>
            <a:pPr marL="0" indent="0" algn="l">
              <a:lnSpc>
                <a:spcPct val="130000"/>
              </a:lnSpc>
              <a:buNone/>
            </a:pPr>
            <a:r>
              <a:rPr lang="en-US" sz="1400" kern="0" spc="21" dirty="0">
                <a:solidFill>
                  <a:srgbClr val="888080"/>
                </a:solidFill>
                <a:latin typeface="Inter" pitchFamily="34" charset="0"/>
                <a:ea typeface="Inter" pitchFamily="34" charset="-122"/>
              </a:rPr>
              <a:t>EDA</a:t>
            </a:r>
          </a:p>
        </p:txBody>
      </p:sp>
      <p:sp>
        <p:nvSpPr>
          <p:cNvPr id="58" name="Text 10">
            <a:extLst>
              <a:ext uri="{FF2B5EF4-FFF2-40B4-BE49-F238E27FC236}">
                <a16:creationId xmlns:a16="http://schemas.microsoft.com/office/drawing/2014/main" id="{4B574AA9-2507-C454-C7E1-22E61BFACD12}"/>
              </a:ext>
            </a:extLst>
          </p:cNvPr>
          <p:cNvSpPr/>
          <p:nvPr/>
        </p:nvSpPr>
        <p:spPr>
          <a:xfrm>
            <a:off x="228062" y="2444125"/>
            <a:ext cx="305337" cy="172132"/>
          </a:xfrm>
          <a:prstGeom prst="rect">
            <a:avLst/>
          </a:prstGeom>
          <a:noFill/>
          <a:ln/>
        </p:spPr>
        <p:txBody>
          <a:bodyPr wrap="square" lIns="25400" tIns="25400" rIns="25400" bIns="25400" rtlCol="0" anchor="t">
            <a:noAutofit/>
          </a:bodyPr>
          <a:lstStyle/>
          <a:p>
            <a:pPr marL="0" indent="0" algn="l">
              <a:lnSpc>
                <a:spcPct val="130000"/>
              </a:lnSpc>
              <a:buNone/>
            </a:pPr>
            <a:r>
              <a:rPr lang="en-US" sz="1400" kern="0" spc="21" dirty="0">
                <a:solidFill>
                  <a:srgbClr val="888080"/>
                </a:solidFill>
                <a:latin typeface="Inter" pitchFamily="34" charset="0"/>
                <a:ea typeface="Inter" pitchFamily="34" charset="-122"/>
              </a:rPr>
              <a:t>04</a:t>
            </a:r>
          </a:p>
        </p:txBody>
      </p:sp>
      <p:sp>
        <p:nvSpPr>
          <p:cNvPr id="59" name="Text 12">
            <a:extLst>
              <a:ext uri="{FF2B5EF4-FFF2-40B4-BE49-F238E27FC236}">
                <a16:creationId xmlns:a16="http://schemas.microsoft.com/office/drawing/2014/main" id="{D1CA9629-B6D4-5F46-2EC7-03CFEB374F1A}"/>
              </a:ext>
            </a:extLst>
          </p:cNvPr>
          <p:cNvSpPr/>
          <p:nvPr/>
        </p:nvSpPr>
        <p:spPr>
          <a:xfrm>
            <a:off x="228062" y="2750711"/>
            <a:ext cx="372011" cy="158880"/>
          </a:xfrm>
          <a:prstGeom prst="rect">
            <a:avLst/>
          </a:prstGeom>
          <a:noFill/>
          <a:ln/>
        </p:spPr>
        <p:txBody>
          <a:bodyPr wrap="square" lIns="25400" tIns="25400" rIns="25400" bIns="25400" rtlCol="0" anchor="t">
            <a:noAutofit/>
          </a:bodyPr>
          <a:lstStyle/>
          <a:p>
            <a:pPr marL="0" indent="0" algn="l">
              <a:lnSpc>
                <a:spcPct val="130000"/>
              </a:lnSpc>
              <a:buNone/>
            </a:pPr>
            <a:r>
              <a:rPr lang="en-US" sz="1400" b="1" kern="0" spc="21" dirty="0">
                <a:solidFill>
                  <a:srgbClr val="C25A2A"/>
                </a:solidFill>
                <a:latin typeface="JetBrains Mono" pitchFamily="34" charset="0"/>
                <a:ea typeface="JetBrains Mono" pitchFamily="34" charset="-122"/>
              </a:rPr>
              <a:t>05</a:t>
            </a:r>
          </a:p>
        </p:txBody>
      </p:sp>
      <p:sp>
        <p:nvSpPr>
          <p:cNvPr id="60" name="Text 13">
            <a:extLst>
              <a:ext uri="{FF2B5EF4-FFF2-40B4-BE49-F238E27FC236}">
                <a16:creationId xmlns:a16="http://schemas.microsoft.com/office/drawing/2014/main" id="{0500B219-008C-77A0-DC08-59A2CC367C4B}"/>
              </a:ext>
            </a:extLst>
          </p:cNvPr>
          <p:cNvSpPr/>
          <p:nvPr/>
        </p:nvSpPr>
        <p:spPr>
          <a:xfrm>
            <a:off x="533399" y="2725489"/>
            <a:ext cx="948333" cy="761256"/>
          </a:xfrm>
          <a:prstGeom prst="rect">
            <a:avLst/>
          </a:prstGeom>
          <a:noFill/>
          <a:ln/>
        </p:spPr>
        <p:txBody>
          <a:bodyPr wrap="square" lIns="25400" tIns="25400" rIns="25400" bIns="25400" rtlCol="0" anchor="t">
            <a:normAutofit/>
          </a:bodyPr>
          <a:lstStyle/>
          <a:p>
            <a:pPr marL="0" indent="0" algn="l">
              <a:lnSpc>
                <a:spcPct val="130000"/>
              </a:lnSpc>
              <a:buNone/>
            </a:pPr>
            <a:r>
              <a:rPr lang="en-US" sz="1400" kern="0" spc="21" dirty="0">
                <a:solidFill>
                  <a:srgbClr val="1A1A1A"/>
                </a:solidFill>
                <a:latin typeface="Inter" pitchFamily="34" charset="0"/>
                <a:ea typeface="Inter" pitchFamily="34" charset="-122"/>
              </a:rPr>
              <a:t>Modeling</a:t>
            </a:r>
          </a:p>
        </p:txBody>
      </p:sp>
      <p:sp>
        <p:nvSpPr>
          <p:cNvPr id="61" name="Text 14">
            <a:extLst>
              <a:ext uri="{FF2B5EF4-FFF2-40B4-BE49-F238E27FC236}">
                <a16:creationId xmlns:a16="http://schemas.microsoft.com/office/drawing/2014/main" id="{1EA8628C-8FCC-03B0-D95E-EDD479A40405}"/>
              </a:ext>
            </a:extLst>
          </p:cNvPr>
          <p:cNvSpPr/>
          <p:nvPr/>
        </p:nvSpPr>
        <p:spPr>
          <a:xfrm>
            <a:off x="235683" y="3042056"/>
            <a:ext cx="372010" cy="191463"/>
          </a:xfrm>
          <a:prstGeom prst="rect">
            <a:avLst/>
          </a:prstGeom>
          <a:noFill/>
          <a:ln/>
        </p:spPr>
        <p:txBody>
          <a:bodyPr wrap="square" lIns="25400" tIns="25400" rIns="25400" bIns="25400" rtlCol="0" anchor="t">
            <a:noAutofit/>
          </a:bodyPr>
          <a:lstStyle/>
          <a:p>
            <a:pPr marL="0" indent="0" algn="l">
              <a:lnSpc>
                <a:spcPct val="130000"/>
              </a:lnSpc>
              <a:buNone/>
            </a:pPr>
            <a:r>
              <a:rPr lang="en-US" sz="1400" kern="0" spc="21" dirty="0">
                <a:solidFill>
                  <a:srgbClr val="888080"/>
                </a:solidFill>
                <a:latin typeface="JetBrains Mono" pitchFamily="34" charset="0"/>
                <a:ea typeface="JetBrains Mono" pitchFamily="34" charset="-122"/>
                <a:cs typeface="JetBrains Mono" pitchFamily="34" charset="-120"/>
              </a:rPr>
              <a:t>06</a:t>
            </a:r>
            <a:endParaRPr lang="en-US" sz="1400" dirty="0"/>
          </a:p>
        </p:txBody>
      </p:sp>
      <p:sp>
        <p:nvSpPr>
          <p:cNvPr id="62" name="Text 15">
            <a:extLst>
              <a:ext uri="{FF2B5EF4-FFF2-40B4-BE49-F238E27FC236}">
                <a16:creationId xmlns:a16="http://schemas.microsoft.com/office/drawing/2014/main" id="{E65A6014-491F-98DF-78C4-311D24B015F1}"/>
              </a:ext>
            </a:extLst>
          </p:cNvPr>
          <p:cNvSpPr/>
          <p:nvPr/>
        </p:nvSpPr>
        <p:spPr>
          <a:xfrm>
            <a:off x="533400" y="3032075"/>
            <a:ext cx="1185416" cy="626120"/>
          </a:xfrm>
          <a:prstGeom prst="rect">
            <a:avLst/>
          </a:prstGeom>
          <a:noFill/>
          <a:ln/>
        </p:spPr>
        <p:txBody>
          <a:bodyPr wrap="square" lIns="25400" tIns="25400" rIns="25400" bIns="25400" rtlCol="0" anchor="t">
            <a:normAutofit/>
          </a:bodyPr>
          <a:lstStyle/>
          <a:p>
            <a:pPr marL="0" indent="0" algn="l">
              <a:lnSpc>
                <a:spcPct val="130000"/>
              </a:lnSpc>
              <a:buNone/>
            </a:pPr>
            <a:r>
              <a:rPr lang="en-US" sz="1400" kern="0" spc="21" dirty="0">
                <a:solidFill>
                  <a:srgbClr val="888080"/>
                </a:solidFill>
                <a:latin typeface="Inter" pitchFamily="34" charset="0"/>
                <a:ea typeface="Inter" pitchFamily="34" charset="-122"/>
                <a:cs typeface="Inter" pitchFamily="34" charset="-120"/>
              </a:rPr>
              <a:t>Conclusions</a:t>
            </a:r>
            <a:endParaRPr lang="en-US" sz="1400" dirty="0"/>
          </a:p>
        </p:txBody>
      </p:sp>
      <p:sp>
        <p:nvSpPr>
          <p:cNvPr id="63" name="Text 9">
            <a:extLst>
              <a:ext uri="{FF2B5EF4-FFF2-40B4-BE49-F238E27FC236}">
                <a16:creationId xmlns:a16="http://schemas.microsoft.com/office/drawing/2014/main" id="{F6298861-6225-20DC-7C0B-69AF6C81DBAE}"/>
              </a:ext>
            </a:extLst>
          </p:cNvPr>
          <p:cNvSpPr/>
          <p:nvPr/>
        </p:nvSpPr>
        <p:spPr>
          <a:xfrm>
            <a:off x="538609" y="2426180"/>
            <a:ext cx="1185416" cy="342476"/>
          </a:xfrm>
          <a:prstGeom prst="rect">
            <a:avLst/>
          </a:prstGeom>
          <a:noFill/>
          <a:ln/>
        </p:spPr>
        <p:txBody>
          <a:bodyPr wrap="square" lIns="25400" tIns="25400" rIns="25400" bIns="25400" rtlCol="0" anchor="t">
            <a:normAutofit/>
          </a:bodyPr>
          <a:lstStyle/>
          <a:p>
            <a:pPr marL="0" indent="0" algn="l">
              <a:lnSpc>
                <a:spcPct val="130000"/>
              </a:lnSpc>
              <a:buNone/>
            </a:pPr>
            <a:r>
              <a:rPr lang="en-US" sz="1400" kern="0" spc="21" dirty="0">
                <a:solidFill>
                  <a:srgbClr val="888080"/>
                </a:solidFill>
                <a:latin typeface="Inter" pitchFamily="34" charset="0"/>
                <a:ea typeface="Inter" pitchFamily="34" charset="-122"/>
              </a:rPr>
              <a:t>Pipeline</a:t>
            </a:r>
          </a:p>
        </p:txBody>
      </p:sp>
      <p:sp>
        <p:nvSpPr>
          <p:cNvPr id="64" name="Text 7">
            <a:extLst>
              <a:ext uri="{FF2B5EF4-FFF2-40B4-BE49-F238E27FC236}">
                <a16:creationId xmlns:a16="http://schemas.microsoft.com/office/drawing/2014/main" id="{17FA75EA-658C-B0E2-5491-FC1C1119F54E}"/>
              </a:ext>
            </a:extLst>
          </p:cNvPr>
          <p:cNvSpPr/>
          <p:nvPr/>
        </p:nvSpPr>
        <p:spPr>
          <a:xfrm>
            <a:off x="523875" y="1826620"/>
            <a:ext cx="1325700" cy="467696"/>
          </a:xfrm>
          <a:prstGeom prst="rect">
            <a:avLst/>
          </a:prstGeom>
          <a:noFill/>
          <a:ln/>
        </p:spPr>
        <p:txBody>
          <a:bodyPr wrap="square" lIns="25400" tIns="25400" rIns="25400" bIns="25400" rtlCol="0" anchor="t">
            <a:noAutofit/>
          </a:bodyPr>
          <a:lstStyle/>
          <a:p>
            <a:pPr marL="0" indent="0" algn="l">
              <a:lnSpc>
                <a:spcPct val="130000"/>
              </a:lnSpc>
              <a:buNone/>
            </a:pPr>
            <a:r>
              <a:rPr lang="en-US" sz="1400" kern="0" spc="21" dirty="0">
                <a:solidFill>
                  <a:srgbClr val="888080"/>
                </a:solidFill>
                <a:latin typeface="Inter" pitchFamily="34" charset="0"/>
                <a:ea typeface="Inter" pitchFamily="34" charset="-122"/>
              </a:rPr>
              <a:t>Data &amp; target</a:t>
            </a:r>
          </a:p>
        </p:txBody>
      </p:sp>
      <p:sp>
        <p:nvSpPr>
          <p:cNvPr id="65" name="Text 1">
            <a:extLst>
              <a:ext uri="{FF2B5EF4-FFF2-40B4-BE49-F238E27FC236}">
                <a16:creationId xmlns:a16="http://schemas.microsoft.com/office/drawing/2014/main" id="{0E4739BF-9CEB-72B5-FD76-65BC409F344D}"/>
              </a:ext>
            </a:extLst>
          </p:cNvPr>
          <p:cNvSpPr/>
          <p:nvPr/>
        </p:nvSpPr>
        <p:spPr>
          <a:xfrm>
            <a:off x="261138" y="379598"/>
            <a:ext cx="1778457" cy="447678"/>
          </a:xfrm>
          <a:prstGeom prst="rect">
            <a:avLst/>
          </a:prstGeom>
          <a:noFill/>
          <a:ln/>
        </p:spPr>
        <p:txBody>
          <a:bodyPr wrap="square" lIns="25400" tIns="25400" rIns="25400" bIns="25400" rtlCol="0" anchor="t">
            <a:noAutofit/>
          </a:bodyPr>
          <a:lstStyle/>
          <a:p>
            <a:pPr marL="0" indent="0">
              <a:buNone/>
            </a:pPr>
            <a:r>
              <a:rPr lang="en-US" sz="1400" kern="0" spc="116" dirty="0">
                <a:solidFill>
                  <a:srgbClr val="888080"/>
                </a:solidFill>
                <a:latin typeface="JetBrains Mono" pitchFamily="34" charset="0"/>
                <a:ea typeface="JetBrains Mono" pitchFamily="34" charset="-122"/>
                <a:cs typeface="JetBrains Mono" pitchFamily="34" charset="-120"/>
              </a:rPr>
              <a:t>DS22 - Bar Ilan</a:t>
            </a:r>
            <a:br>
              <a:rPr lang="en-US" sz="1400" kern="0" spc="116" dirty="0">
                <a:solidFill>
                  <a:srgbClr val="888080"/>
                </a:solidFill>
                <a:latin typeface="JetBrains Mono" pitchFamily="34" charset="0"/>
                <a:ea typeface="JetBrains Mono" pitchFamily="34" charset="-122"/>
                <a:cs typeface="JetBrains Mono" pitchFamily="34" charset="-120"/>
              </a:rPr>
            </a:br>
            <a:r>
              <a:rPr lang="en-US" sz="1400" kern="0" spc="116" dirty="0">
                <a:solidFill>
                  <a:srgbClr val="888080"/>
                </a:solidFill>
                <a:latin typeface="JetBrains Mono" pitchFamily="34" charset="0"/>
                <a:ea typeface="JetBrains Mono" pitchFamily="34" charset="-122"/>
                <a:cs typeface="JetBrains Mono" pitchFamily="34" charset="-120"/>
              </a:rPr>
              <a:t>ML PROJECT</a:t>
            </a:r>
          </a:p>
          <a:p>
            <a:pPr marL="0" indent="0">
              <a:buNone/>
            </a:pPr>
            <a:r>
              <a:rPr lang="en-US" sz="1400" kern="0" spc="116" dirty="0">
                <a:solidFill>
                  <a:srgbClr val="888080"/>
                </a:solidFill>
                <a:latin typeface="JetBrains Mono" pitchFamily="34" charset="0"/>
                <a:ea typeface="JetBrains Mono" pitchFamily="34" charset="-122"/>
                <a:cs typeface="JetBrains Mono" pitchFamily="34" charset="-120"/>
              </a:rPr>
              <a:t>MAY 2026</a:t>
            </a:r>
            <a:endParaRPr lang="en-US" sz="14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27">
    <p:bg>
      <p:bgPr>
        <a:solidFill>
          <a:srgbClr val="F5F1E8"/>
        </a:solidFill>
        <a:effectLst/>
      </p:bgPr>
    </p:bg>
    <p:spTree>
      <p:nvGrpSpPr>
        <p:cNvPr id="1" name=""/>
        <p:cNvGrpSpPr/>
        <p:nvPr/>
      </p:nvGrpSpPr>
      <p:grpSpPr>
        <a:xfrm>
          <a:off x="0" y="0"/>
          <a:ext cx="0" cy="0"/>
          <a:chOff x="0" y="0"/>
          <a:chExt cx="0" cy="0"/>
        </a:xfrm>
      </p:grpSpPr>
      <p:sp>
        <p:nvSpPr>
          <p:cNvPr id="2" name="Shape 0"/>
          <p:cNvSpPr/>
          <p:nvPr/>
        </p:nvSpPr>
        <p:spPr>
          <a:xfrm>
            <a:off x="0" y="0"/>
            <a:ext cx="2095500" cy="10287000"/>
          </a:xfrm>
          <a:prstGeom prst="rect">
            <a:avLst/>
          </a:prstGeom>
          <a:solidFill>
            <a:srgbClr val="EBE5D6"/>
          </a:solidFill>
          <a:ln/>
        </p:spPr>
        <p:txBody>
          <a:bodyPr/>
          <a:lstStyle/>
          <a:p>
            <a:endParaRPr lang="he-IL"/>
          </a:p>
        </p:txBody>
      </p:sp>
      <p:sp>
        <p:nvSpPr>
          <p:cNvPr id="3" name="Shape 1"/>
          <p:cNvSpPr/>
          <p:nvPr/>
        </p:nvSpPr>
        <p:spPr>
          <a:xfrm>
            <a:off x="2085975" y="0"/>
            <a:ext cx="9525" cy="10287000"/>
          </a:xfrm>
          <a:prstGeom prst="rect">
            <a:avLst/>
          </a:prstGeom>
          <a:solidFill>
            <a:srgbClr val="D4CDBC"/>
          </a:solidFill>
          <a:ln/>
        </p:spPr>
        <p:txBody>
          <a:bodyPr/>
          <a:lstStyle/>
          <a:p>
            <a:endParaRPr lang="he-IL"/>
          </a:p>
        </p:txBody>
      </p:sp>
      <p:sp>
        <p:nvSpPr>
          <p:cNvPr id="19" name="Text 17"/>
          <p:cNvSpPr/>
          <p:nvPr/>
        </p:nvSpPr>
        <p:spPr>
          <a:xfrm>
            <a:off x="2781300" y="571500"/>
            <a:ext cx="15187041" cy="171450"/>
          </a:xfrm>
          <a:prstGeom prst="rect">
            <a:avLst/>
          </a:prstGeom>
          <a:noFill/>
          <a:ln/>
        </p:spPr>
        <p:txBody>
          <a:bodyPr wrap="square" lIns="25400" tIns="25400" rIns="25400" bIns="25400" rtlCol="0" anchor="ctr">
            <a:noAutofit/>
          </a:bodyPr>
          <a:lstStyle/>
          <a:p>
            <a:pPr marL="0" indent="0" algn="l">
              <a:buNone/>
            </a:pPr>
            <a:r>
              <a:rPr lang="en-US" sz="1400" kern="0" spc="182" dirty="0">
                <a:solidFill>
                  <a:srgbClr val="888080"/>
                </a:solidFill>
                <a:latin typeface="JetBrains Mono" pitchFamily="34" charset="0"/>
                <a:ea typeface="JetBrains Mono" pitchFamily="34" charset="-122"/>
                <a:cs typeface="JetBrains Mono" pitchFamily="34" charset="-120"/>
              </a:rPr>
              <a:t>FROM BASELINE TO FINAL · WHAT EACH STEP BOUGHT US</a:t>
            </a:r>
            <a:endParaRPr lang="en-US" sz="1400" dirty="0"/>
          </a:p>
        </p:txBody>
      </p:sp>
      <p:sp>
        <p:nvSpPr>
          <p:cNvPr id="20" name="Text 18"/>
          <p:cNvSpPr/>
          <p:nvPr/>
        </p:nvSpPr>
        <p:spPr>
          <a:xfrm>
            <a:off x="2781300" y="914400"/>
            <a:ext cx="15187041" cy="643830"/>
          </a:xfrm>
          <a:prstGeom prst="rect">
            <a:avLst/>
          </a:prstGeom>
          <a:noFill/>
          <a:ln/>
        </p:spPr>
        <p:txBody>
          <a:bodyPr wrap="square" lIns="25400" tIns="25400" rIns="25400" bIns="25400" rtlCol="0" anchor="t">
            <a:normAutofit fontScale="92500" lnSpcReduction="20000"/>
          </a:bodyPr>
          <a:lstStyle/>
          <a:p>
            <a:pPr marL="0" indent="0" algn="l">
              <a:lnSpc>
                <a:spcPct val="106000"/>
              </a:lnSpc>
              <a:buNone/>
            </a:pPr>
            <a:r>
              <a:rPr lang="en-US" sz="4500" kern="0" spc="-81" dirty="0">
                <a:solidFill>
                  <a:srgbClr val="1A1A1A"/>
                </a:solidFill>
                <a:latin typeface="Instrument Serif" pitchFamily="34" charset="0"/>
                <a:ea typeface="Instrument Serif" pitchFamily="34" charset="-122"/>
                <a:cs typeface="Instrument Serif" pitchFamily="34" charset="-120"/>
              </a:rPr>
              <a:t>Baseline → Final.</a:t>
            </a:r>
            <a:endParaRPr lang="en-US" sz="4500" dirty="0"/>
          </a:p>
        </p:txBody>
      </p:sp>
      <p:sp>
        <p:nvSpPr>
          <p:cNvPr id="21" name="Shape 19"/>
          <p:cNvSpPr/>
          <p:nvPr/>
        </p:nvSpPr>
        <p:spPr>
          <a:xfrm>
            <a:off x="2781300" y="1824930"/>
            <a:ext cx="7143750" cy="2245668"/>
          </a:xfrm>
          <a:prstGeom prst="rect">
            <a:avLst/>
          </a:prstGeom>
          <a:solidFill>
            <a:srgbClr val="FFFFFF"/>
          </a:solidFill>
          <a:ln w="9525">
            <a:solidFill>
              <a:srgbClr val="D4CDBC"/>
            </a:solidFill>
            <a:prstDash val="solid"/>
          </a:ln>
        </p:spPr>
        <p:txBody>
          <a:bodyPr/>
          <a:lstStyle/>
          <a:p>
            <a:endParaRPr lang="he-IL"/>
          </a:p>
        </p:txBody>
      </p:sp>
      <p:sp>
        <p:nvSpPr>
          <p:cNvPr id="22" name="Text 20"/>
          <p:cNvSpPr/>
          <p:nvPr/>
        </p:nvSpPr>
        <p:spPr>
          <a:xfrm>
            <a:off x="3019425" y="2044005"/>
            <a:ext cx="6867525" cy="161925"/>
          </a:xfrm>
          <a:prstGeom prst="rect">
            <a:avLst/>
          </a:prstGeom>
          <a:noFill/>
          <a:ln/>
        </p:spPr>
        <p:txBody>
          <a:bodyPr wrap="square" lIns="25400" tIns="25400" rIns="25400" bIns="25400" rtlCol="0" anchor="t">
            <a:noAutofit/>
          </a:bodyPr>
          <a:lstStyle/>
          <a:p>
            <a:pPr marL="0" indent="0" algn="l">
              <a:buNone/>
            </a:pPr>
            <a:r>
              <a:rPr lang="en-US" sz="1400" b="1" kern="0" spc="135" dirty="0">
                <a:solidFill>
                  <a:srgbClr val="888080"/>
                </a:solidFill>
                <a:latin typeface="JetBrains Mono" pitchFamily="34" charset="0"/>
                <a:ea typeface="JetBrains Mono" pitchFamily="34" charset="-122"/>
                <a:cs typeface="JetBrains Mono" pitchFamily="34" charset="-120"/>
              </a:rPr>
              <a:t>BASELINE</a:t>
            </a:r>
            <a:endParaRPr lang="en-US" sz="1400" dirty="0"/>
          </a:p>
        </p:txBody>
      </p:sp>
      <p:sp>
        <p:nvSpPr>
          <p:cNvPr id="23" name="Text 21"/>
          <p:cNvSpPr/>
          <p:nvPr/>
        </p:nvSpPr>
        <p:spPr>
          <a:xfrm>
            <a:off x="3019425" y="2314596"/>
            <a:ext cx="6867525" cy="315367"/>
          </a:xfrm>
          <a:prstGeom prst="rect">
            <a:avLst/>
          </a:prstGeom>
          <a:noFill/>
          <a:ln/>
        </p:spPr>
        <p:txBody>
          <a:bodyPr wrap="square" lIns="25400" tIns="25400" rIns="25400" bIns="25400" rtlCol="0" anchor="t">
            <a:normAutofit fontScale="92500" lnSpcReduction="20000"/>
          </a:bodyPr>
          <a:lstStyle/>
          <a:p>
            <a:pPr marL="0" indent="0" algn="l">
              <a:lnSpc>
                <a:spcPct val="112000"/>
              </a:lnSpc>
              <a:buNone/>
            </a:pPr>
            <a:r>
              <a:rPr lang="en-US" sz="1950" kern="0" spc="-16" dirty="0">
                <a:solidFill>
                  <a:srgbClr val="1A1A1A"/>
                </a:solidFill>
                <a:latin typeface="Instrument Serif" pitchFamily="34" charset="0"/>
                <a:ea typeface="Instrument Serif" pitchFamily="34" charset="-122"/>
                <a:cs typeface="Instrument Serif" pitchFamily="34" charset="-120"/>
              </a:rPr>
              <a:t>Rule based – most frequent class by line</a:t>
            </a:r>
            <a:endParaRPr lang="en-US" sz="1950" dirty="0"/>
          </a:p>
        </p:txBody>
      </p:sp>
      <p:sp>
        <p:nvSpPr>
          <p:cNvPr id="24" name="Shape 22"/>
          <p:cNvSpPr/>
          <p:nvPr/>
        </p:nvSpPr>
        <p:spPr>
          <a:xfrm>
            <a:off x="3019425" y="2711797"/>
            <a:ext cx="6667500" cy="9525"/>
          </a:xfrm>
          <a:prstGeom prst="rect">
            <a:avLst/>
          </a:prstGeom>
          <a:solidFill>
            <a:srgbClr val="D4CDBC"/>
          </a:solidFill>
          <a:ln/>
        </p:spPr>
        <p:txBody>
          <a:bodyPr/>
          <a:lstStyle/>
          <a:p>
            <a:endParaRPr lang="he-IL"/>
          </a:p>
        </p:txBody>
      </p:sp>
      <p:sp>
        <p:nvSpPr>
          <p:cNvPr id="25" name="Text 23"/>
          <p:cNvSpPr/>
          <p:nvPr/>
        </p:nvSpPr>
        <p:spPr>
          <a:xfrm>
            <a:off x="3019425" y="2892772"/>
            <a:ext cx="3355277" cy="458688"/>
          </a:xfrm>
          <a:prstGeom prst="rect">
            <a:avLst/>
          </a:prstGeom>
          <a:noFill/>
          <a:ln/>
        </p:spPr>
        <p:txBody>
          <a:bodyPr wrap="square" lIns="25400" tIns="25400" rIns="25400" bIns="25400" rtlCol="0" anchor="t">
            <a:normAutofit fontScale="92500" lnSpcReduction="20000"/>
          </a:bodyPr>
          <a:lstStyle/>
          <a:p>
            <a:pPr marL="0" indent="0" algn="l">
              <a:lnSpc>
                <a:spcPct val="92000"/>
              </a:lnSpc>
              <a:buNone/>
            </a:pPr>
            <a:r>
              <a:rPr lang="en-US" sz="3600" kern="0" spc="-90" dirty="0">
                <a:solidFill>
                  <a:srgbClr val="1A1A1A"/>
                </a:solidFill>
                <a:latin typeface="Instrument Serif" pitchFamily="34" charset="0"/>
                <a:ea typeface="Instrument Serif" pitchFamily="34" charset="-122"/>
                <a:cs typeface="Instrument Serif" pitchFamily="34" charset="-120"/>
              </a:rPr>
              <a:t>0.74</a:t>
            </a:r>
            <a:endParaRPr lang="en-US" sz="3600" dirty="0"/>
          </a:p>
        </p:txBody>
      </p:sp>
      <p:sp>
        <p:nvSpPr>
          <p:cNvPr id="26" name="Text 24"/>
          <p:cNvSpPr/>
          <p:nvPr/>
        </p:nvSpPr>
        <p:spPr>
          <a:xfrm>
            <a:off x="3019425" y="3389561"/>
            <a:ext cx="3355277" cy="161925"/>
          </a:xfrm>
          <a:prstGeom prst="rect">
            <a:avLst/>
          </a:prstGeom>
          <a:noFill/>
          <a:ln/>
        </p:spPr>
        <p:txBody>
          <a:bodyPr wrap="square" lIns="25400" tIns="25400" rIns="25400" bIns="25400" rtlCol="0" anchor="t">
            <a:noAutofit/>
          </a:bodyPr>
          <a:lstStyle/>
          <a:p>
            <a:pPr marL="0" indent="0" algn="l">
              <a:buNone/>
            </a:pPr>
            <a:r>
              <a:rPr lang="en-US" sz="1400" kern="0" spc="135" dirty="0">
                <a:solidFill>
                  <a:srgbClr val="888080"/>
                </a:solidFill>
                <a:latin typeface="JetBrains Mono" pitchFamily="34" charset="0"/>
                <a:ea typeface="JetBrains Mono" pitchFamily="34" charset="-122"/>
                <a:cs typeface="JetBrains Mono" pitchFamily="34" charset="-120"/>
              </a:rPr>
              <a:t>ACCURACY</a:t>
            </a:r>
            <a:endParaRPr lang="en-US" sz="1400" dirty="0"/>
          </a:p>
        </p:txBody>
      </p:sp>
      <p:sp>
        <p:nvSpPr>
          <p:cNvPr id="27" name="Text 25"/>
          <p:cNvSpPr/>
          <p:nvPr/>
        </p:nvSpPr>
        <p:spPr>
          <a:xfrm>
            <a:off x="6429375" y="2892772"/>
            <a:ext cx="3355277" cy="458688"/>
          </a:xfrm>
          <a:prstGeom prst="rect">
            <a:avLst/>
          </a:prstGeom>
          <a:noFill/>
          <a:ln/>
        </p:spPr>
        <p:txBody>
          <a:bodyPr wrap="square" lIns="25400" tIns="25400" rIns="25400" bIns="25400" rtlCol="0" anchor="t">
            <a:normAutofit fontScale="92500" lnSpcReduction="20000"/>
          </a:bodyPr>
          <a:lstStyle/>
          <a:p>
            <a:pPr marL="0" indent="0" algn="l">
              <a:lnSpc>
                <a:spcPct val="92000"/>
              </a:lnSpc>
              <a:buNone/>
            </a:pPr>
            <a:r>
              <a:rPr lang="en-US" sz="3600" kern="0" spc="-90" dirty="0">
                <a:solidFill>
                  <a:srgbClr val="1A1A1A"/>
                </a:solidFill>
                <a:latin typeface="Instrument Serif" pitchFamily="34" charset="0"/>
                <a:ea typeface="Instrument Serif" pitchFamily="34" charset="-122"/>
                <a:cs typeface="Instrument Serif" pitchFamily="34" charset="-120"/>
              </a:rPr>
              <a:t>0.45</a:t>
            </a:r>
            <a:endParaRPr lang="en-US" sz="3600" dirty="0"/>
          </a:p>
        </p:txBody>
      </p:sp>
      <p:sp>
        <p:nvSpPr>
          <p:cNvPr id="28" name="Text 26"/>
          <p:cNvSpPr/>
          <p:nvPr/>
        </p:nvSpPr>
        <p:spPr>
          <a:xfrm>
            <a:off x="6429375" y="3389561"/>
            <a:ext cx="3355277" cy="161925"/>
          </a:xfrm>
          <a:prstGeom prst="rect">
            <a:avLst/>
          </a:prstGeom>
          <a:noFill/>
          <a:ln/>
        </p:spPr>
        <p:txBody>
          <a:bodyPr wrap="square" lIns="25400" tIns="25400" rIns="25400" bIns="25400" rtlCol="0" anchor="t">
            <a:noAutofit/>
          </a:bodyPr>
          <a:lstStyle/>
          <a:p>
            <a:pPr marL="0" indent="0" algn="l">
              <a:buNone/>
            </a:pPr>
            <a:r>
              <a:rPr lang="en-US" sz="1400" kern="0" spc="135" dirty="0">
                <a:solidFill>
                  <a:srgbClr val="888080"/>
                </a:solidFill>
                <a:latin typeface="JetBrains Mono" pitchFamily="34" charset="0"/>
                <a:ea typeface="JetBrains Mono" pitchFamily="34" charset="-122"/>
                <a:cs typeface="JetBrains Mono" pitchFamily="34" charset="-120"/>
              </a:rPr>
              <a:t>F1 · MACRO</a:t>
            </a:r>
            <a:endParaRPr lang="en-US" sz="1400" dirty="0"/>
          </a:p>
        </p:txBody>
      </p:sp>
      <p:sp>
        <p:nvSpPr>
          <p:cNvPr id="30" name="Shape 28"/>
          <p:cNvSpPr/>
          <p:nvPr/>
        </p:nvSpPr>
        <p:spPr>
          <a:xfrm>
            <a:off x="10382250" y="1824930"/>
            <a:ext cx="7143750" cy="2245668"/>
          </a:xfrm>
          <a:prstGeom prst="rect">
            <a:avLst/>
          </a:prstGeom>
          <a:solidFill>
            <a:srgbClr val="1A1A1A"/>
          </a:solidFill>
          <a:ln w="9525">
            <a:solidFill>
              <a:srgbClr val="1A1A1A"/>
            </a:solidFill>
            <a:prstDash val="solid"/>
          </a:ln>
        </p:spPr>
        <p:txBody>
          <a:bodyPr/>
          <a:lstStyle/>
          <a:p>
            <a:endParaRPr lang="he-IL"/>
          </a:p>
        </p:txBody>
      </p:sp>
      <p:sp>
        <p:nvSpPr>
          <p:cNvPr id="31" name="Text 29"/>
          <p:cNvSpPr/>
          <p:nvPr/>
        </p:nvSpPr>
        <p:spPr>
          <a:xfrm>
            <a:off x="10620375" y="2044005"/>
            <a:ext cx="6867525" cy="161925"/>
          </a:xfrm>
          <a:prstGeom prst="rect">
            <a:avLst/>
          </a:prstGeom>
          <a:noFill/>
          <a:ln/>
        </p:spPr>
        <p:txBody>
          <a:bodyPr wrap="square" lIns="25400" tIns="25400" rIns="25400" bIns="25400" rtlCol="0" anchor="t">
            <a:noAutofit/>
          </a:bodyPr>
          <a:lstStyle/>
          <a:p>
            <a:pPr marL="0" indent="0" algn="l">
              <a:buNone/>
            </a:pPr>
            <a:r>
              <a:rPr lang="en-US" sz="1400" b="1" kern="0" spc="135" dirty="0">
                <a:solidFill>
                  <a:srgbClr val="C25A2A"/>
                </a:solidFill>
                <a:latin typeface="JetBrains Mono" pitchFamily="34" charset="0"/>
                <a:ea typeface="JetBrains Mono" pitchFamily="34" charset="-122"/>
                <a:cs typeface="JetBrains Mono" pitchFamily="34" charset="-120"/>
              </a:rPr>
              <a:t>FINAL</a:t>
            </a:r>
            <a:endParaRPr lang="en-US" sz="1400" dirty="0"/>
          </a:p>
        </p:txBody>
      </p:sp>
      <p:sp>
        <p:nvSpPr>
          <p:cNvPr id="32" name="Text 30"/>
          <p:cNvSpPr/>
          <p:nvPr/>
        </p:nvSpPr>
        <p:spPr>
          <a:xfrm>
            <a:off x="10620375" y="2314596"/>
            <a:ext cx="6867525" cy="315367"/>
          </a:xfrm>
          <a:prstGeom prst="rect">
            <a:avLst/>
          </a:prstGeom>
          <a:noFill/>
          <a:ln/>
        </p:spPr>
        <p:txBody>
          <a:bodyPr wrap="square" lIns="25400" tIns="25400" rIns="25400" bIns="25400" rtlCol="0" anchor="t">
            <a:normAutofit fontScale="92500" lnSpcReduction="20000"/>
          </a:bodyPr>
          <a:lstStyle/>
          <a:p>
            <a:pPr marL="0" indent="0" algn="l">
              <a:lnSpc>
                <a:spcPct val="112000"/>
              </a:lnSpc>
              <a:buNone/>
            </a:pPr>
            <a:r>
              <a:rPr lang="en-US" sz="1950" i="1" kern="0" spc="-16" dirty="0">
                <a:solidFill>
                  <a:srgbClr val="C25A2A"/>
                </a:solidFill>
                <a:latin typeface="Instrument Serif" pitchFamily="34" charset="0"/>
                <a:ea typeface="Instrument Serif" pitchFamily="34" charset="-122"/>
                <a:cs typeface="Instrument Serif" pitchFamily="34" charset="-120"/>
              </a:rPr>
              <a:t>XGBoost </a:t>
            </a:r>
            <a:r>
              <a:rPr lang="en-US" sz="1950" kern="0" spc="-16" dirty="0">
                <a:solidFill>
                  <a:srgbClr val="F5F1E8"/>
                </a:solidFill>
                <a:latin typeface="Instrument Serif" pitchFamily="34" charset="0"/>
                <a:ea typeface="Instrument Serif" pitchFamily="34" charset="-122"/>
                <a:cs typeface="Instrument Serif" pitchFamily="34" charset="-120"/>
              </a:rPr>
              <a:t>· 20 features · thr 0.20.</a:t>
            </a:r>
            <a:endParaRPr lang="en-US" sz="1950" dirty="0"/>
          </a:p>
        </p:txBody>
      </p:sp>
      <p:sp>
        <p:nvSpPr>
          <p:cNvPr id="33" name="Shape 31"/>
          <p:cNvSpPr/>
          <p:nvPr/>
        </p:nvSpPr>
        <p:spPr>
          <a:xfrm>
            <a:off x="10620375" y="2711797"/>
            <a:ext cx="6667500" cy="9525"/>
          </a:xfrm>
          <a:prstGeom prst="rect">
            <a:avLst/>
          </a:prstGeom>
          <a:solidFill>
            <a:srgbClr val="FFFFFF">
              <a:alpha val="18000"/>
            </a:srgbClr>
          </a:solidFill>
          <a:ln/>
        </p:spPr>
        <p:txBody>
          <a:bodyPr/>
          <a:lstStyle/>
          <a:p>
            <a:endParaRPr lang="he-IL"/>
          </a:p>
        </p:txBody>
      </p:sp>
      <p:sp>
        <p:nvSpPr>
          <p:cNvPr id="34" name="Text 32"/>
          <p:cNvSpPr/>
          <p:nvPr/>
        </p:nvSpPr>
        <p:spPr>
          <a:xfrm>
            <a:off x="10620375" y="2892772"/>
            <a:ext cx="3355277" cy="458688"/>
          </a:xfrm>
          <a:prstGeom prst="rect">
            <a:avLst/>
          </a:prstGeom>
          <a:noFill/>
          <a:ln/>
        </p:spPr>
        <p:txBody>
          <a:bodyPr wrap="square" lIns="25400" tIns="25400" rIns="25400" bIns="25400" rtlCol="0" anchor="t">
            <a:normAutofit fontScale="92500" lnSpcReduction="20000"/>
          </a:bodyPr>
          <a:lstStyle/>
          <a:p>
            <a:pPr marL="0" indent="0" algn="l">
              <a:lnSpc>
                <a:spcPct val="92000"/>
              </a:lnSpc>
              <a:buNone/>
            </a:pPr>
            <a:r>
              <a:rPr lang="en-US" sz="3600" kern="0" spc="-90" dirty="0">
                <a:solidFill>
                  <a:srgbClr val="C25A2A"/>
                </a:solidFill>
                <a:latin typeface="Instrument Serif" pitchFamily="34" charset="0"/>
                <a:ea typeface="Instrument Serif" pitchFamily="34" charset="-122"/>
                <a:cs typeface="Instrument Serif" pitchFamily="34" charset="-120"/>
              </a:rPr>
              <a:t>0.82</a:t>
            </a:r>
            <a:endParaRPr lang="en-US" sz="3600" dirty="0"/>
          </a:p>
        </p:txBody>
      </p:sp>
      <p:sp>
        <p:nvSpPr>
          <p:cNvPr id="35" name="Text 33"/>
          <p:cNvSpPr/>
          <p:nvPr/>
        </p:nvSpPr>
        <p:spPr>
          <a:xfrm>
            <a:off x="10620375" y="3389561"/>
            <a:ext cx="3355277" cy="161925"/>
          </a:xfrm>
          <a:prstGeom prst="rect">
            <a:avLst/>
          </a:prstGeom>
          <a:noFill/>
          <a:ln/>
        </p:spPr>
        <p:txBody>
          <a:bodyPr wrap="square" lIns="25400" tIns="25400" rIns="25400" bIns="25400" rtlCol="0" anchor="t">
            <a:noAutofit/>
          </a:bodyPr>
          <a:lstStyle/>
          <a:p>
            <a:pPr marL="0" indent="0" algn="l">
              <a:buNone/>
            </a:pPr>
            <a:r>
              <a:rPr lang="en-US" sz="1400" kern="0" spc="135" dirty="0">
                <a:solidFill>
                  <a:srgbClr val="FFFFFF">
                    <a:alpha val="55000"/>
                  </a:srgbClr>
                </a:solidFill>
                <a:latin typeface="JetBrains Mono" pitchFamily="34" charset="0"/>
                <a:ea typeface="JetBrains Mono" pitchFamily="34" charset="-122"/>
                <a:cs typeface="JetBrains Mono" pitchFamily="34" charset="-120"/>
              </a:rPr>
              <a:t>ACCURACY</a:t>
            </a:r>
            <a:endParaRPr lang="en-US" sz="1400" dirty="0"/>
          </a:p>
        </p:txBody>
      </p:sp>
      <p:sp>
        <p:nvSpPr>
          <p:cNvPr id="36" name="Text 34"/>
          <p:cNvSpPr/>
          <p:nvPr/>
        </p:nvSpPr>
        <p:spPr>
          <a:xfrm>
            <a:off x="14030325" y="2892772"/>
            <a:ext cx="3355277" cy="458688"/>
          </a:xfrm>
          <a:prstGeom prst="rect">
            <a:avLst/>
          </a:prstGeom>
          <a:noFill/>
          <a:ln/>
        </p:spPr>
        <p:txBody>
          <a:bodyPr wrap="square" lIns="25400" tIns="25400" rIns="25400" bIns="25400" rtlCol="0" anchor="t">
            <a:normAutofit fontScale="92500" lnSpcReduction="20000"/>
          </a:bodyPr>
          <a:lstStyle/>
          <a:p>
            <a:pPr marL="0" indent="0" algn="l">
              <a:lnSpc>
                <a:spcPct val="92000"/>
              </a:lnSpc>
              <a:buNone/>
            </a:pPr>
            <a:r>
              <a:rPr lang="en-US" sz="3600" kern="0" spc="-90" dirty="0">
                <a:solidFill>
                  <a:srgbClr val="C25A2A"/>
                </a:solidFill>
                <a:latin typeface="Instrument Serif" pitchFamily="34" charset="0"/>
                <a:ea typeface="Instrument Serif" pitchFamily="34" charset="-122"/>
                <a:cs typeface="Instrument Serif" pitchFamily="34" charset="-120"/>
              </a:rPr>
              <a:t>0.68</a:t>
            </a:r>
            <a:endParaRPr lang="en-US" sz="3600" dirty="0"/>
          </a:p>
        </p:txBody>
      </p:sp>
      <p:sp>
        <p:nvSpPr>
          <p:cNvPr id="37" name="Text 35"/>
          <p:cNvSpPr/>
          <p:nvPr/>
        </p:nvSpPr>
        <p:spPr>
          <a:xfrm>
            <a:off x="14030325" y="3389561"/>
            <a:ext cx="3355277" cy="161925"/>
          </a:xfrm>
          <a:prstGeom prst="rect">
            <a:avLst/>
          </a:prstGeom>
          <a:noFill/>
          <a:ln/>
        </p:spPr>
        <p:txBody>
          <a:bodyPr wrap="square" lIns="25400" tIns="25400" rIns="25400" bIns="25400" rtlCol="0" anchor="t">
            <a:noAutofit/>
          </a:bodyPr>
          <a:lstStyle/>
          <a:p>
            <a:pPr marL="0" indent="0" algn="l">
              <a:buNone/>
            </a:pPr>
            <a:r>
              <a:rPr lang="en-US" sz="1400" kern="0" spc="135" dirty="0">
                <a:solidFill>
                  <a:srgbClr val="FFFFFF">
                    <a:alpha val="55000"/>
                  </a:srgbClr>
                </a:solidFill>
                <a:latin typeface="JetBrains Mono" pitchFamily="34" charset="0"/>
                <a:ea typeface="JetBrains Mono" pitchFamily="34" charset="-122"/>
                <a:cs typeface="JetBrains Mono" pitchFamily="34" charset="-120"/>
              </a:rPr>
              <a:t>F1 · MACRO</a:t>
            </a:r>
            <a:endParaRPr lang="en-US" sz="1400" dirty="0"/>
          </a:p>
        </p:txBody>
      </p:sp>
      <p:sp>
        <p:nvSpPr>
          <p:cNvPr id="39" name="Text 16">
            <a:extLst>
              <a:ext uri="{FF2B5EF4-FFF2-40B4-BE49-F238E27FC236}">
                <a16:creationId xmlns:a16="http://schemas.microsoft.com/office/drawing/2014/main" id="{670BC579-89D8-5529-23DF-87B46943E775}"/>
              </a:ext>
            </a:extLst>
          </p:cNvPr>
          <p:cNvSpPr/>
          <p:nvPr/>
        </p:nvSpPr>
        <p:spPr>
          <a:xfrm>
            <a:off x="266700" y="9410700"/>
            <a:ext cx="1628775" cy="342900"/>
          </a:xfrm>
          <a:prstGeom prst="rect">
            <a:avLst/>
          </a:prstGeom>
          <a:noFill/>
          <a:ln/>
        </p:spPr>
        <p:txBody>
          <a:bodyPr wrap="square" lIns="25400" tIns="25400" rIns="25400" bIns="25400" rtlCol="0" anchor="t">
            <a:noAutofit/>
          </a:bodyPr>
          <a:lstStyle/>
          <a:p>
            <a:pPr>
              <a:lnSpc>
                <a:spcPct val="160000"/>
              </a:lnSpc>
            </a:pPr>
            <a:r>
              <a:rPr lang="en-US" sz="1400" b="1" kern="0" spc="105" dirty="0">
                <a:solidFill>
                  <a:srgbClr val="1A1A1A"/>
                </a:solidFill>
                <a:latin typeface="JetBrains Mono" pitchFamily="34" charset="0"/>
                <a:ea typeface="JetBrains Mono" pitchFamily="34" charset="-122"/>
                <a:cs typeface="JetBrains Mono" pitchFamily="34" charset="-120"/>
              </a:rPr>
              <a:t>31 / 34</a:t>
            </a:r>
            <a:endParaRPr lang="en-US" sz="1400" dirty="0"/>
          </a:p>
        </p:txBody>
      </p:sp>
      <p:sp>
        <p:nvSpPr>
          <p:cNvPr id="40" name="Text 4">
            <a:extLst>
              <a:ext uri="{FF2B5EF4-FFF2-40B4-BE49-F238E27FC236}">
                <a16:creationId xmlns:a16="http://schemas.microsoft.com/office/drawing/2014/main" id="{A45E644B-5792-CC76-677C-C180A2230C83}"/>
              </a:ext>
            </a:extLst>
          </p:cNvPr>
          <p:cNvSpPr/>
          <p:nvPr/>
        </p:nvSpPr>
        <p:spPr>
          <a:xfrm>
            <a:off x="228063" y="1524367"/>
            <a:ext cx="372012" cy="200025"/>
          </a:xfrm>
          <a:prstGeom prst="rect">
            <a:avLst/>
          </a:prstGeom>
          <a:noFill/>
          <a:ln/>
        </p:spPr>
        <p:txBody>
          <a:bodyPr wrap="square" lIns="25400" tIns="25400" rIns="25400" bIns="25400" rtlCol="0" anchor="t">
            <a:noAutofit/>
          </a:bodyPr>
          <a:lstStyle/>
          <a:p>
            <a:pPr marL="0" indent="0" algn="l">
              <a:lnSpc>
                <a:spcPct val="130000"/>
              </a:lnSpc>
              <a:buNone/>
            </a:pPr>
            <a:r>
              <a:rPr lang="en-US" sz="1400" kern="0" spc="21" dirty="0">
                <a:solidFill>
                  <a:srgbClr val="888080"/>
                </a:solidFill>
                <a:latin typeface="Inter" pitchFamily="34" charset="0"/>
                <a:ea typeface="Inter" pitchFamily="34" charset="-122"/>
              </a:rPr>
              <a:t>01</a:t>
            </a:r>
          </a:p>
        </p:txBody>
      </p:sp>
      <p:sp>
        <p:nvSpPr>
          <p:cNvPr id="41" name="Text 5">
            <a:extLst>
              <a:ext uri="{FF2B5EF4-FFF2-40B4-BE49-F238E27FC236}">
                <a16:creationId xmlns:a16="http://schemas.microsoft.com/office/drawing/2014/main" id="{87D720C6-6D50-23AC-A529-6A95C05AD1E7}"/>
              </a:ext>
            </a:extLst>
          </p:cNvPr>
          <p:cNvSpPr/>
          <p:nvPr/>
        </p:nvSpPr>
        <p:spPr>
          <a:xfrm>
            <a:off x="523875" y="1522975"/>
            <a:ext cx="876300" cy="476251"/>
          </a:xfrm>
          <a:prstGeom prst="rect">
            <a:avLst/>
          </a:prstGeom>
          <a:noFill/>
          <a:ln/>
        </p:spPr>
        <p:txBody>
          <a:bodyPr wrap="square" lIns="25400" tIns="25400" rIns="25400" bIns="25400" rtlCol="0" anchor="t">
            <a:normAutofit/>
          </a:bodyPr>
          <a:lstStyle/>
          <a:p>
            <a:pPr marL="0" indent="0" algn="l">
              <a:lnSpc>
                <a:spcPct val="130000"/>
              </a:lnSpc>
              <a:buNone/>
            </a:pPr>
            <a:r>
              <a:rPr lang="en-US" sz="1400" kern="0" spc="21" dirty="0">
                <a:solidFill>
                  <a:srgbClr val="888080"/>
                </a:solidFill>
                <a:latin typeface="Inter" pitchFamily="34" charset="0"/>
                <a:ea typeface="Inter" pitchFamily="34" charset="-122"/>
              </a:rPr>
              <a:t>Agenda</a:t>
            </a:r>
          </a:p>
        </p:txBody>
      </p:sp>
      <p:sp>
        <p:nvSpPr>
          <p:cNvPr id="42" name="Text 6">
            <a:extLst>
              <a:ext uri="{FF2B5EF4-FFF2-40B4-BE49-F238E27FC236}">
                <a16:creationId xmlns:a16="http://schemas.microsoft.com/office/drawing/2014/main" id="{D9F458A8-48BD-4CEA-F3BA-704127D47E18}"/>
              </a:ext>
            </a:extLst>
          </p:cNvPr>
          <p:cNvSpPr/>
          <p:nvPr/>
        </p:nvSpPr>
        <p:spPr>
          <a:xfrm>
            <a:off x="228063" y="1830953"/>
            <a:ext cx="372010" cy="194877"/>
          </a:xfrm>
          <a:prstGeom prst="rect">
            <a:avLst/>
          </a:prstGeom>
          <a:noFill/>
          <a:ln/>
        </p:spPr>
        <p:txBody>
          <a:bodyPr wrap="square" lIns="25400" tIns="25400" rIns="25400" bIns="25400" rtlCol="0" anchor="t">
            <a:noAutofit/>
          </a:bodyPr>
          <a:lstStyle/>
          <a:p>
            <a:pPr marL="0" indent="0" algn="l">
              <a:lnSpc>
                <a:spcPct val="130000"/>
              </a:lnSpc>
              <a:buNone/>
            </a:pPr>
            <a:r>
              <a:rPr lang="en-US" sz="1400" kern="0" spc="21" dirty="0">
                <a:solidFill>
                  <a:srgbClr val="888080"/>
                </a:solidFill>
                <a:latin typeface="Inter" pitchFamily="34" charset="0"/>
                <a:ea typeface="Inter" pitchFamily="34" charset="-122"/>
              </a:rPr>
              <a:t>02</a:t>
            </a:r>
          </a:p>
        </p:txBody>
      </p:sp>
      <p:sp>
        <p:nvSpPr>
          <p:cNvPr id="43" name="Text 8">
            <a:extLst>
              <a:ext uri="{FF2B5EF4-FFF2-40B4-BE49-F238E27FC236}">
                <a16:creationId xmlns:a16="http://schemas.microsoft.com/office/drawing/2014/main" id="{BDFE0C09-92A1-CF0D-D13D-10E43D4A177E}"/>
              </a:ext>
            </a:extLst>
          </p:cNvPr>
          <p:cNvSpPr/>
          <p:nvPr/>
        </p:nvSpPr>
        <p:spPr>
          <a:xfrm>
            <a:off x="230504" y="2152895"/>
            <a:ext cx="302895" cy="141422"/>
          </a:xfrm>
          <a:prstGeom prst="rect">
            <a:avLst/>
          </a:prstGeom>
          <a:noFill/>
          <a:ln/>
        </p:spPr>
        <p:txBody>
          <a:bodyPr wrap="square" lIns="25400" tIns="25400" rIns="25400" bIns="25400" rtlCol="0" anchor="t">
            <a:noAutofit/>
          </a:bodyPr>
          <a:lstStyle/>
          <a:p>
            <a:pPr marL="0" indent="0" algn="l">
              <a:lnSpc>
                <a:spcPct val="130000"/>
              </a:lnSpc>
              <a:buNone/>
            </a:pPr>
            <a:r>
              <a:rPr lang="en-US" sz="1400" kern="0" spc="21" dirty="0">
                <a:solidFill>
                  <a:srgbClr val="888080"/>
                </a:solidFill>
                <a:latin typeface="Inter" pitchFamily="34" charset="0"/>
                <a:ea typeface="Inter" pitchFamily="34" charset="-122"/>
              </a:rPr>
              <a:t>03</a:t>
            </a:r>
          </a:p>
        </p:txBody>
      </p:sp>
      <p:sp>
        <p:nvSpPr>
          <p:cNvPr id="44" name="Text 9">
            <a:extLst>
              <a:ext uri="{FF2B5EF4-FFF2-40B4-BE49-F238E27FC236}">
                <a16:creationId xmlns:a16="http://schemas.microsoft.com/office/drawing/2014/main" id="{7CD009C9-0EDD-B2D7-A722-1596D90152ED}"/>
              </a:ext>
            </a:extLst>
          </p:cNvPr>
          <p:cNvSpPr/>
          <p:nvPr/>
        </p:nvSpPr>
        <p:spPr>
          <a:xfrm>
            <a:off x="531240" y="2145027"/>
            <a:ext cx="1185416" cy="342476"/>
          </a:xfrm>
          <a:prstGeom prst="rect">
            <a:avLst/>
          </a:prstGeom>
          <a:noFill/>
          <a:ln/>
        </p:spPr>
        <p:txBody>
          <a:bodyPr wrap="square" lIns="25400" tIns="25400" rIns="25400" bIns="25400" rtlCol="0" anchor="t">
            <a:normAutofit/>
          </a:bodyPr>
          <a:lstStyle/>
          <a:p>
            <a:pPr marL="0" indent="0" algn="l">
              <a:lnSpc>
                <a:spcPct val="130000"/>
              </a:lnSpc>
              <a:buNone/>
            </a:pPr>
            <a:r>
              <a:rPr lang="en-US" sz="1400" kern="0" spc="21" dirty="0">
                <a:solidFill>
                  <a:srgbClr val="888080"/>
                </a:solidFill>
                <a:latin typeface="Inter" pitchFamily="34" charset="0"/>
                <a:ea typeface="Inter" pitchFamily="34" charset="-122"/>
              </a:rPr>
              <a:t>EDA</a:t>
            </a:r>
          </a:p>
        </p:txBody>
      </p:sp>
      <p:sp>
        <p:nvSpPr>
          <p:cNvPr id="45" name="Text 10">
            <a:extLst>
              <a:ext uri="{FF2B5EF4-FFF2-40B4-BE49-F238E27FC236}">
                <a16:creationId xmlns:a16="http://schemas.microsoft.com/office/drawing/2014/main" id="{B9B0ADAD-B067-AFB3-7656-98747219DFC0}"/>
              </a:ext>
            </a:extLst>
          </p:cNvPr>
          <p:cNvSpPr/>
          <p:nvPr/>
        </p:nvSpPr>
        <p:spPr>
          <a:xfrm>
            <a:off x="228062" y="2444125"/>
            <a:ext cx="305337" cy="172132"/>
          </a:xfrm>
          <a:prstGeom prst="rect">
            <a:avLst/>
          </a:prstGeom>
          <a:noFill/>
          <a:ln/>
        </p:spPr>
        <p:txBody>
          <a:bodyPr wrap="square" lIns="25400" tIns="25400" rIns="25400" bIns="25400" rtlCol="0" anchor="t">
            <a:noAutofit/>
          </a:bodyPr>
          <a:lstStyle/>
          <a:p>
            <a:pPr marL="0" indent="0" algn="l">
              <a:lnSpc>
                <a:spcPct val="130000"/>
              </a:lnSpc>
              <a:buNone/>
            </a:pPr>
            <a:r>
              <a:rPr lang="en-US" sz="1400" kern="0" spc="21" dirty="0">
                <a:solidFill>
                  <a:srgbClr val="888080"/>
                </a:solidFill>
                <a:latin typeface="Inter" pitchFamily="34" charset="0"/>
                <a:ea typeface="Inter" pitchFamily="34" charset="-122"/>
              </a:rPr>
              <a:t>04</a:t>
            </a:r>
          </a:p>
        </p:txBody>
      </p:sp>
      <p:sp>
        <p:nvSpPr>
          <p:cNvPr id="46" name="Text 12">
            <a:extLst>
              <a:ext uri="{FF2B5EF4-FFF2-40B4-BE49-F238E27FC236}">
                <a16:creationId xmlns:a16="http://schemas.microsoft.com/office/drawing/2014/main" id="{4414E7D2-4035-9E1A-65B7-16872CF7C2D0}"/>
              </a:ext>
            </a:extLst>
          </p:cNvPr>
          <p:cNvSpPr/>
          <p:nvPr/>
        </p:nvSpPr>
        <p:spPr>
          <a:xfrm>
            <a:off x="228062" y="2750711"/>
            <a:ext cx="372011" cy="158880"/>
          </a:xfrm>
          <a:prstGeom prst="rect">
            <a:avLst/>
          </a:prstGeom>
          <a:noFill/>
          <a:ln/>
        </p:spPr>
        <p:txBody>
          <a:bodyPr wrap="square" lIns="25400" tIns="25400" rIns="25400" bIns="25400" rtlCol="0" anchor="t">
            <a:noAutofit/>
          </a:bodyPr>
          <a:lstStyle/>
          <a:p>
            <a:pPr marL="0" indent="0" algn="l">
              <a:lnSpc>
                <a:spcPct val="130000"/>
              </a:lnSpc>
              <a:buNone/>
            </a:pPr>
            <a:r>
              <a:rPr lang="en-US" sz="1400" b="1" kern="0" spc="21" dirty="0">
                <a:solidFill>
                  <a:srgbClr val="C25A2A"/>
                </a:solidFill>
                <a:latin typeface="JetBrains Mono" pitchFamily="34" charset="0"/>
                <a:ea typeface="JetBrains Mono" pitchFamily="34" charset="-122"/>
              </a:rPr>
              <a:t>05</a:t>
            </a:r>
          </a:p>
        </p:txBody>
      </p:sp>
      <p:sp>
        <p:nvSpPr>
          <p:cNvPr id="47" name="Text 13">
            <a:extLst>
              <a:ext uri="{FF2B5EF4-FFF2-40B4-BE49-F238E27FC236}">
                <a16:creationId xmlns:a16="http://schemas.microsoft.com/office/drawing/2014/main" id="{2C27EF12-676E-7CAE-6237-7FA044D5A5AC}"/>
              </a:ext>
            </a:extLst>
          </p:cNvPr>
          <p:cNvSpPr/>
          <p:nvPr/>
        </p:nvSpPr>
        <p:spPr>
          <a:xfrm>
            <a:off x="533399" y="2725489"/>
            <a:ext cx="948333" cy="761256"/>
          </a:xfrm>
          <a:prstGeom prst="rect">
            <a:avLst/>
          </a:prstGeom>
          <a:noFill/>
          <a:ln/>
        </p:spPr>
        <p:txBody>
          <a:bodyPr wrap="square" lIns="25400" tIns="25400" rIns="25400" bIns="25400" rtlCol="0" anchor="t">
            <a:normAutofit/>
          </a:bodyPr>
          <a:lstStyle/>
          <a:p>
            <a:pPr marL="0" indent="0" algn="l">
              <a:lnSpc>
                <a:spcPct val="130000"/>
              </a:lnSpc>
              <a:buNone/>
            </a:pPr>
            <a:r>
              <a:rPr lang="en-US" sz="1400" kern="0" spc="21" dirty="0">
                <a:solidFill>
                  <a:srgbClr val="1A1A1A"/>
                </a:solidFill>
                <a:latin typeface="Inter" pitchFamily="34" charset="0"/>
                <a:ea typeface="Inter" pitchFamily="34" charset="-122"/>
              </a:rPr>
              <a:t>Modeling</a:t>
            </a:r>
          </a:p>
        </p:txBody>
      </p:sp>
      <p:sp>
        <p:nvSpPr>
          <p:cNvPr id="48" name="Text 14">
            <a:extLst>
              <a:ext uri="{FF2B5EF4-FFF2-40B4-BE49-F238E27FC236}">
                <a16:creationId xmlns:a16="http://schemas.microsoft.com/office/drawing/2014/main" id="{15D7D628-4436-A042-5302-551742ABCF7D}"/>
              </a:ext>
            </a:extLst>
          </p:cNvPr>
          <p:cNvSpPr/>
          <p:nvPr/>
        </p:nvSpPr>
        <p:spPr>
          <a:xfrm>
            <a:off x="235683" y="3042056"/>
            <a:ext cx="372010" cy="191463"/>
          </a:xfrm>
          <a:prstGeom prst="rect">
            <a:avLst/>
          </a:prstGeom>
          <a:noFill/>
          <a:ln/>
        </p:spPr>
        <p:txBody>
          <a:bodyPr wrap="square" lIns="25400" tIns="25400" rIns="25400" bIns="25400" rtlCol="0" anchor="t">
            <a:noAutofit/>
          </a:bodyPr>
          <a:lstStyle/>
          <a:p>
            <a:pPr marL="0" indent="0" algn="l">
              <a:lnSpc>
                <a:spcPct val="130000"/>
              </a:lnSpc>
              <a:buNone/>
            </a:pPr>
            <a:r>
              <a:rPr lang="en-US" sz="1400" kern="0" spc="21" dirty="0">
                <a:solidFill>
                  <a:srgbClr val="888080"/>
                </a:solidFill>
                <a:latin typeface="JetBrains Mono" pitchFamily="34" charset="0"/>
                <a:ea typeface="JetBrains Mono" pitchFamily="34" charset="-122"/>
                <a:cs typeface="JetBrains Mono" pitchFamily="34" charset="-120"/>
              </a:rPr>
              <a:t>06</a:t>
            </a:r>
            <a:endParaRPr lang="en-US" sz="1400" dirty="0"/>
          </a:p>
        </p:txBody>
      </p:sp>
      <p:sp>
        <p:nvSpPr>
          <p:cNvPr id="49" name="Text 15">
            <a:extLst>
              <a:ext uri="{FF2B5EF4-FFF2-40B4-BE49-F238E27FC236}">
                <a16:creationId xmlns:a16="http://schemas.microsoft.com/office/drawing/2014/main" id="{30A38DCD-4D67-1649-C31D-40046C1883C0}"/>
              </a:ext>
            </a:extLst>
          </p:cNvPr>
          <p:cNvSpPr/>
          <p:nvPr/>
        </p:nvSpPr>
        <p:spPr>
          <a:xfrm>
            <a:off x="533400" y="3032075"/>
            <a:ext cx="1185416" cy="626120"/>
          </a:xfrm>
          <a:prstGeom prst="rect">
            <a:avLst/>
          </a:prstGeom>
          <a:noFill/>
          <a:ln/>
        </p:spPr>
        <p:txBody>
          <a:bodyPr wrap="square" lIns="25400" tIns="25400" rIns="25400" bIns="25400" rtlCol="0" anchor="t">
            <a:normAutofit/>
          </a:bodyPr>
          <a:lstStyle/>
          <a:p>
            <a:pPr marL="0" indent="0" algn="l">
              <a:lnSpc>
                <a:spcPct val="130000"/>
              </a:lnSpc>
              <a:buNone/>
            </a:pPr>
            <a:r>
              <a:rPr lang="en-US" sz="1400" kern="0" spc="21" dirty="0">
                <a:solidFill>
                  <a:srgbClr val="888080"/>
                </a:solidFill>
                <a:latin typeface="Inter" pitchFamily="34" charset="0"/>
                <a:ea typeface="Inter" pitchFamily="34" charset="-122"/>
                <a:cs typeface="Inter" pitchFamily="34" charset="-120"/>
              </a:rPr>
              <a:t>Conclusions</a:t>
            </a:r>
            <a:endParaRPr lang="en-US" sz="1400" dirty="0"/>
          </a:p>
        </p:txBody>
      </p:sp>
      <p:sp>
        <p:nvSpPr>
          <p:cNvPr id="50" name="Text 9">
            <a:extLst>
              <a:ext uri="{FF2B5EF4-FFF2-40B4-BE49-F238E27FC236}">
                <a16:creationId xmlns:a16="http://schemas.microsoft.com/office/drawing/2014/main" id="{F7523104-3042-B802-5E06-643371331289}"/>
              </a:ext>
            </a:extLst>
          </p:cNvPr>
          <p:cNvSpPr/>
          <p:nvPr/>
        </p:nvSpPr>
        <p:spPr>
          <a:xfrm>
            <a:off x="538609" y="2426180"/>
            <a:ext cx="1185416" cy="342476"/>
          </a:xfrm>
          <a:prstGeom prst="rect">
            <a:avLst/>
          </a:prstGeom>
          <a:noFill/>
          <a:ln/>
        </p:spPr>
        <p:txBody>
          <a:bodyPr wrap="square" lIns="25400" tIns="25400" rIns="25400" bIns="25400" rtlCol="0" anchor="t">
            <a:normAutofit/>
          </a:bodyPr>
          <a:lstStyle/>
          <a:p>
            <a:pPr marL="0" indent="0" algn="l">
              <a:lnSpc>
                <a:spcPct val="130000"/>
              </a:lnSpc>
              <a:buNone/>
            </a:pPr>
            <a:r>
              <a:rPr lang="en-US" sz="1400" kern="0" spc="21" dirty="0">
                <a:solidFill>
                  <a:srgbClr val="888080"/>
                </a:solidFill>
                <a:latin typeface="Inter" pitchFamily="34" charset="0"/>
                <a:ea typeface="Inter" pitchFamily="34" charset="-122"/>
              </a:rPr>
              <a:t>Pipeline</a:t>
            </a:r>
          </a:p>
        </p:txBody>
      </p:sp>
      <p:sp>
        <p:nvSpPr>
          <p:cNvPr id="51" name="Text 7">
            <a:extLst>
              <a:ext uri="{FF2B5EF4-FFF2-40B4-BE49-F238E27FC236}">
                <a16:creationId xmlns:a16="http://schemas.microsoft.com/office/drawing/2014/main" id="{D1F0F5B3-30E8-D619-2A07-8F44F8E5C067}"/>
              </a:ext>
            </a:extLst>
          </p:cNvPr>
          <p:cNvSpPr/>
          <p:nvPr/>
        </p:nvSpPr>
        <p:spPr>
          <a:xfrm>
            <a:off x="523875" y="1826620"/>
            <a:ext cx="1325700" cy="467696"/>
          </a:xfrm>
          <a:prstGeom prst="rect">
            <a:avLst/>
          </a:prstGeom>
          <a:noFill/>
          <a:ln/>
        </p:spPr>
        <p:txBody>
          <a:bodyPr wrap="square" lIns="25400" tIns="25400" rIns="25400" bIns="25400" rtlCol="0" anchor="t">
            <a:noAutofit/>
          </a:bodyPr>
          <a:lstStyle/>
          <a:p>
            <a:pPr marL="0" indent="0" algn="l">
              <a:lnSpc>
                <a:spcPct val="130000"/>
              </a:lnSpc>
              <a:buNone/>
            </a:pPr>
            <a:r>
              <a:rPr lang="en-US" sz="1400" kern="0" spc="21" dirty="0">
                <a:solidFill>
                  <a:srgbClr val="888080"/>
                </a:solidFill>
                <a:latin typeface="Inter" pitchFamily="34" charset="0"/>
                <a:ea typeface="Inter" pitchFamily="34" charset="-122"/>
              </a:rPr>
              <a:t>Data &amp; target</a:t>
            </a:r>
          </a:p>
        </p:txBody>
      </p:sp>
      <p:sp>
        <p:nvSpPr>
          <p:cNvPr id="52" name="Text 1">
            <a:extLst>
              <a:ext uri="{FF2B5EF4-FFF2-40B4-BE49-F238E27FC236}">
                <a16:creationId xmlns:a16="http://schemas.microsoft.com/office/drawing/2014/main" id="{074E7411-B760-13FC-E085-272EA6648AAE}"/>
              </a:ext>
            </a:extLst>
          </p:cNvPr>
          <p:cNvSpPr/>
          <p:nvPr/>
        </p:nvSpPr>
        <p:spPr>
          <a:xfrm>
            <a:off x="261138" y="379598"/>
            <a:ext cx="1778457" cy="447678"/>
          </a:xfrm>
          <a:prstGeom prst="rect">
            <a:avLst/>
          </a:prstGeom>
          <a:noFill/>
          <a:ln/>
        </p:spPr>
        <p:txBody>
          <a:bodyPr wrap="square" lIns="25400" tIns="25400" rIns="25400" bIns="25400" rtlCol="0" anchor="t">
            <a:noAutofit/>
          </a:bodyPr>
          <a:lstStyle/>
          <a:p>
            <a:pPr marL="0" indent="0">
              <a:buNone/>
            </a:pPr>
            <a:r>
              <a:rPr lang="en-US" sz="1400" kern="0" spc="116" dirty="0">
                <a:solidFill>
                  <a:srgbClr val="888080"/>
                </a:solidFill>
                <a:latin typeface="JetBrains Mono" pitchFamily="34" charset="0"/>
                <a:ea typeface="JetBrains Mono" pitchFamily="34" charset="-122"/>
                <a:cs typeface="JetBrains Mono" pitchFamily="34" charset="-120"/>
              </a:rPr>
              <a:t>DS22 - Bar Ilan</a:t>
            </a:r>
            <a:br>
              <a:rPr lang="en-US" sz="1400" kern="0" spc="116" dirty="0">
                <a:solidFill>
                  <a:srgbClr val="888080"/>
                </a:solidFill>
                <a:latin typeface="JetBrains Mono" pitchFamily="34" charset="0"/>
                <a:ea typeface="JetBrains Mono" pitchFamily="34" charset="-122"/>
                <a:cs typeface="JetBrains Mono" pitchFamily="34" charset="-120"/>
              </a:rPr>
            </a:br>
            <a:r>
              <a:rPr lang="en-US" sz="1400" kern="0" spc="116" dirty="0">
                <a:solidFill>
                  <a:srgbClr val="888080"/>
                </a:solidFill>
                <a:latin typeface="JetBrains Mono" pitchFamily="34" charset="0"/>
                <a:ea typeface="JetBrains Mono" pitchFamily="34" charset="-122"/>
                <a:cs typeface="JetBrains Mono" pitchFamily="34" charset="-120"/>
              </a:rPr>
              <a:t>ML PROJECT</a:t>
            </a:r>
          </a:p>
          <a:p>
            <a:pPr marL="0" indent="0">
              <a:buNone/>
            </a:pPr>
            <a:r>
              <a:rPr lang="en-US" sz="1400" kern="0" spc="116" dirty="0">
                <a:solidFill>
                  <a:srgbClr val="888080"/>
                </a:solidFill>
                <a:latin typeface="JetBrains Mono" pitchFamily="34" charset="0"/>
                <a:ea typeface="JetBrains Mono" pitchFamily="34" charset="-122"/>
                <a:cs typeface="JetBrains Mono" pitchFamily="34" charset="-120"/>
              </a:rPr>
              <a:t>MAY 2026</a:t>
            </a:r>
            <a:endParaRPr lang="en-US" sz="14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2095500" cy="10287000"/>
          </a:xfrm>
          <a:prstGeom prst="rect">
            <a:avLst/>
          </a:prstGeom>
          <a:solidFill>
            <a:srgbClr val="EBE5D6"/>
          </a:solidFill>
          <a:ln/>
        </p:spPr>
        <p:txBody>
          <a:bodyPr/>
          <a:lstStyle/>
          <a:p>
            <a:endParaRPr lang="he-IL"/>
          </a:p>
        </p:txBody>
      </p:sp>
      <p:sp>
        <p:nvSpPr>
          <p:cNvPr id="3" name="Shape 1"/>
          <p:cNvSpPr/>
          <p:nvPr/>
        </p:nvSpPr>
        <p:spPr>
          <a:xfrm>
            <a:off x="2085975" y="0"/>
            <a:ext cx="9525" cy="10287000"/>
          </a:xfrm>
          <a:prstGeom prst="rect">
            <a:avLst/>
          </a:prstGeom>
          <a:solidFill>
            <a:srgbClr val="D4CDBC"/>
          </a:solidFill>
          <a:ln/>
        </p:spPr>
        <p:txBody>
          <a:bodyPr/>
          <a:lstStyle/>
          <a:p>
            <a:endParaRPr lang="he-IL"/>
          </a:p>
        </p:txBody>
      </p:sp>
      <p:sp>
        <p:nvSpPr>
          <p:cNvPr id="19" name="Text 17"/>
          <p:cNvSpPr/>
          <p:nvPr/>
        </p:nvSpPr>
        <p:spPr>
          <a:xfrm>
            <a:off x="2781300" y="571500"/>
            <a:ext cx="15187041" cy="171450"/>
          </a:xfrm>
          <a:prstGeom prst="rect">
            <a:avLst/>
          </a:prstGeom>
          <a:noFill/>
          <a:ln/>
        </p:spPr>
        <p:txBody>
          <a:bodyPr wrap="square" lIns="25400" tIns="25400" rIns="25400" bIns="25400" rtlCol="0" anchor="ctr">
            <a:noAutofit/>
          </a:bodyPr>
          <a:lstStyle/>
          <a:p>
            <a:pPr marL="0" indent="0" algn="l">
              <a:buNone/>
            </a:pPr>
            <a:r>
              <a:rPr lang="en-US" sz="1400" kern="0" spc="182" dirty="0">
                <a:solidFill>
                  <a:srgbClr val="888080"/>
                </a:solidFill>
                <a:latin typeface="JetBrains Mono" pitchFamily="34" charset="0"/>
                <a:ea typeface="JetBrains Mono" pitchFamily="34" charset="-122"/>
                <a:cs typeface="JetBrains Mono" pitchFamily="34" charset="-120"/>
              </a:rPr>
              <a:t>PART V · SECTION OPENER</a:t>
            </a:r>
            <a:endParaRPr lang="en-US" sz="1400" dirty="0"/>
          </a:p>
        </p:txBody>
      </p:sp>
      <p:sp>
        <p:nvSpPr>
          <p:cNvPr id="20" name="Text 18"/>
          <p:cNvSpPr/>
          <p:nvPr/>
        </p:nvSpPr>
        <p:spPr>
          <a:xfrm>
            <a:off x="2781300" y="4338638"/>
            <a:ext cx="6204226" cy="171450"/>
          </a:xfrm>
          <a:prstGeom prst="rect">
            <a:avLst/>
          </a:prstGeom>
          <a:noFill/>
          <a:ln/>
        </p:spPr>
        <p:txBody>
          <a:bodyPr wrap="square" lIns="25400" tIns="25400" rIns="25400" bIns="25400" rtlCol="0" anchor="t">
            <a:normAutofit lnSpcReduction="10000"/>
          </a:bodyPr>
          <a:lstStyle/>
          <a:p>
            <a:pPr marL="0" indent="0" algn="l">
              <a:buNone/>
            </a:pPr>
            <a:r>
              <a:rPr lang="en-US" sz="825" kern="0" spc="149" dirty="0">
                <a:solidFill>
                  <a:srgbClr val="888080"/>
                </a:solidFill>
                <a:latin typeface="JetBrains Mono" pitchFamily="34" charset="0"/>
                <a:ea typeface="JetBrains Mono" pitchFamily="34" charset="-122"/>
                <a:cs typeface="JetBrains Mono" pitchFamily="34" charset="-120"/>
              </a:rPr>
              <a:t>SECTION</a:t>
            </a:r>
            <a:endParaRPr lang="en-US" sz="825" dirty="0"/>
          </a:p>
        </p:txBody>
      </p:sp>
      <p:sp>
        <p:nvSpPr>
          <p:cNvPr id="21" name="Shape 19"/>
          <p:cNvSpPr/>
          <p:nvPr/>
        </p:nvSpPr>
        <p:spPr>
          <a:xfrm>
            <a:off x="2781300" y="4586288"/>
            <a:ext cx="6023521" cy="9525"/>
          </a:xfrm>
          <a:prstGeom prst="rect">
            <a:avLst/>
          </a:prstGeom>
          <a:solidFill>
            <a:srgbClr val="1A1A1A"/>
          </a:solidFill>
          <a:ln/>
        </p:spPr>
        <p:txBody>
          <a:bodyPr/>
          <a:lstStyle/>
          <a:p>
            <a:endParaRPr lang="he-IL"/>
          </a:p>
        </p:txBody>
      </p:sp>
      <p:sp>
        <p:nvSpPr>
          <p:cNvPr id="22" name="Text 20"/>
          <p:cNvSpPr/>
          <p:nvPr/>
        </p:nvSpPr>
        <p:spPr>
          <a:xfrm>
            <a:off x="2781300" y="4672013"/>
            <a:ext cx="6204226" cy="1924050"/>
          </a:xfrm>
          <a:prstGeom prst="rect">
            <a:avLst/>
          </a:prstGeom>
          <a:noFill/>
          <a:ln/>
        </p:spPr>
        <p:txBody>
          <a:bodyPr wrap="square" lIns="25400" tIns="25400" rIns="25400" bIns="25400" rtlCol="0" anchor="t">
            <a:normAutofit fontScale="92500" lnSpcReduction="20000"/>
          </a:bodyPr>
          <a:lstStyle/>
          <a:p>
            <a:pPr marL="0" indent="0" algn="l">
              <a:lnSpc>
                <a:spcPct val="90000"/>
              </a:lnSpc>
              <a:buNone/>
            </a:pPr>
            <a:r>
              <a:rPr lang="en-US" sz="16500" kern="0" spc="-660" dirty="0">
                <a:solidFill>
                  <a:srgbClr val="C25A2A"/>
                </a:solidFill>
                <a:latin typeface="JetBrains Mono" pitchFamily="34" charset="0"/>
                <a:ea typeface="JetBrains Mono" pitchFamily="34" charset="-122"/>
                <a:cs typeface="JetBrains Mono" pitchFamily="34" charset="-120"/>
              </a:rPr>
              <a:t>05</a:t>
            </a:r>
            <a:endParaRPr lang="en-US" sz="16500" dirty="0"/>
          </a:p>
        </p:txBody>
      </p:sp>
      <p:sp>
        <p:nvSpPr>
          <p:cNvPr id="23" name="Text 21"/>
          <p:cNvSpPr/>
          <p:nvPr/>
        </p:nvSpPr>
        <p:spPr>
          <a:xfrm>
            <a:off x="9376321" y="3938141"/>
            <a:ext cx="8394170" cy="171450"/>
          </a:xfrm>
          <a:prstGeom prst="rect">
            <a:avLst/>
          </a:prstGeom>
          <a:noFill/>
          <a:ln/>
        </p:spPr>
        <p:txBody>
          <a:bodyPr wrap="square" lIns="25400" tIns="25400" rIns="25400" bIns="25400" rtlCol="0" anchor="t">
            <a:noAutofit/>
          </a:bodyPr>
          <a:lstStyle/>
          <a:p>
            <a:pPr marL="0" indent="0" algn="l">
              <a:buNone/>
            </a:pPr>
            <a:endParaRPr lang="en-US" sz="1400" dirty="0"/>
          </a:p>
        </p:txBody>
      </p:sp>
      <p:sp>
        <p:nvSpPr>
          <p:cNvPr id="24" name="Text 22"/>
          <p:cNvSpPr/>
          <p:nvPr/>
        </p:nvSpPr>
        <p:spPr>
          <a:xfrm>
            <a:off x="9376321" y="4281041"/>
            <a:ext cx="8394170" cy="1943100"/>
          </a:xfrm>
          <a:prstGeom prst="rect">
            <a:avLst/>
          </a:prstGeom>
          <a:noFill/>
          <a:ln/>
        </p:spPr>
        <p:txBody>
          <a:bodyPr wrap="square" lIns="25400" tIns="25400" rIns="25400" bIns="25400" rtlCol="0" anchor="t">
            <a:normAutofit/>
          </a:bodyPr>
          <a:lstStyle/>
          <a:p>
            <a:pPr marL="0" indent="0" algn="l">
              <a:lnSpc>
                <a:spcPct val="100000"/>
              </a:lnSpc>
              <a:buNone/>
            </a:pPr>
            <a:r>
              <a:rPr lang="en-US" sz="7500" kern="0" spc="-187" dirty="0">
                <a:solidFill>
                  <a:srgbClr val="1A1A1A"/>
                </a:solidFill>
                <a:latin typeface="Instrument Serif" pitchFamily="34" charset="0"/>
                <a:ea typeface="Instrument Serif" pitchFamily="34" charset="-122"/>
                <a:cs typeface="Instrument Serif" pitchFamily="34" charset="-120"/>
              </a:rPr>
              <a:t>Summary</a:t>
            </a:r>
            <a:endParaRPr lang="en-US" sz="7500" dirty="0"/>
          </a:p>
        </p:txBody>
      </p:sp>
      <p:sp>
        <p:nvSpPr>
          <p:cNvPr id="26" name="Text 16">
            <a:extLst>
              <a:ext uri="{FF2B5EF4-FFF2-40B4-BE49-F238E27FC236}">
                <a16:creationId xmlns:a16="http://schemas.microsoft.com/office/drawing/2014/main" id="{9EF84F90-524E-E6F4-A403-49D319AD7AAD}"/>
              </a:ext>
            </a:extLst>
          </p:cNvPr>
          <p:cNvSpPr/>
          <p:nvPr/>
        </p:nvSpPr>
        <p:spPr>
          <a:xfrm>
            <a:off x="266700" y="9410700"/>
            <a:ext cx="1628775" cy="342900"/>
          </a:xfrm>
          <a:prstGeom prst="rect">
            <a:avLst/>
          </a:prstGeom>
          <a:noFill/>
          <a:ln/>
        </p:spPr>
        <p:txBody>
          <a:bodyPr wrap="square" lIns="25400" tIns="25400" rIns="25400" bIns="25400" rtlCol="0" anchor="t">
            <a:noAutofit/>
          </a:bodyPr>
          <a:lstStyle/>
          <a:p>
            <a:pPr>
              <a:lnSpc>
                <a:spcPct val="160000"/>
              </a:lnSpc>
            </a:pPr>
            <a:r>
              <a:rPr lang="en-US" sz="1400" b="1" kern="0" spc="105" dirty="0">
                <a:solidFill>
                  <a:srgbClr val="1A1A1A"/>
                </a:solidFill>
                <a:latin typeface="JetBrains Mono" pitchFamily="34" charset="0"/>
                <a:ea typeface="JetBrains Mono" pitchFamily="34" charset="-122"/>
                <a:cs typeface="JetBrains Mono" pitchFamily="34" charset="-120"/>
              </a:rPr>
              <a:t>32 / 34</a:t>
            </a:r>
            <a:endParaRPr lang="en-US" sz="1400" dirty="0"/>
          </a:p>
        </p:txBody>
      </p:sp>
      <p:sp>
        <p:nvSpPr>
          <p:cNvPr id="27" name="Text 4">
            <a:extLst>
              <a:ext uri="{FF2B5EF4-FFF2-40B4-BE49-F238E27FC236}">
                <a16:creationId xmlns:a16="http://schemas.microsoft.com/office/drawing/2014/main" id="{4965A899-8967-EB9D-3465-17042E050E7E}"/>
              </a:ext>
            </a:extLst>
          </p:cNvPr>
          <p:cNvSpPr/>
          <p:nvPr/>
        </p:nvSpPr>
        <p:spPr>
          <a:xfrm>
            <a:off x="228063" y="1524367"/>
            <a:ext cx="372012" cy="200025"/>
          </a:xfrm>
          <a:prstGeom prst="rect">
            <a:avLst/>
          </a:prstGeom>
          <a:noFill/>
          <a:ln/>
        </p:spPr>
        <p:txBody>
          <a:bodyPr wrap="square" lIns="25400" tIns="25400" rIns="25400" bIns="25400" rtlCol="0" anchor="t">
            <a:noAutofit/>
          </a:bodyPr>
          <a:lstStyle/>
          <a:p>
            <a:pPr marL="0" indent="0" algn="l">
              <a:lnSpc>
                <a:spcPct val="130000"/>
              </a:lnSpc>
              <a:buNone/>
            </a:pPr>
            <a:r>
              <a:rPr lang="en-US" sz="1400" kern="0" spc="21" dirty="0">
                <a:solidFill>
                  <a:srgbClr val="888080"/>
                </a:solidFill>
                <a:latin typeface="Inter" pitchFamily="34" charset="0"/>
                <a:ea typeface="Inter" pitchFamily="34" charset="-122"/>
              </a:rPr>
              <a:t>01</a:t>
            </a:r>
          </a:p>
        </p:txBody>
      </p:sp>
      <p:sp>
        <p:nvSpPr>
          <p:cNvPr id="28" name="Text 5">
            <a:extLst>
              <a:ext uri="{FF2B5EF4-FFF2-40B4-BE49-F238E27FC236}">
                <a16:creationId xmlns:a16="http://schemas.microsoft.com/office/drawing/2014/main" id="{48FD833E-9E55-DB60-A503-CDFCDAFBBD13}"/>
              </a:ext>
            </a:extLst>
          </p:cNvPr>
          <p:cNvSpPr/>
          <p:nvPr/>
        </p:nvSpPr>
        <p:spPr>
          <a:xfrm>
            <a:off x="523875" y="1522975"/>
            <a:ext cx="876300" cy="476251"/>
          </a:xfrm>
          <a:prstGeom prst="rect">
            <a:avLst/>
          </a:prstGeom>
          <a:noFill/>
          <a:ln/>
        </p:spPr>
        <p:txBody>
          <a:bodyPr wrap="square" lIns="25400" tIns="25400" rIns="25400" bIns="25400" rtlCol="0" anchor="t">
            <a:normAutofit/>
          </a:bodyPr>
          <a:lstStyle/>
          <a:p>
            <a:pPr marL="0" indent="0" algn="l">
              <a:lnSpc>
                <a:spcPct val="130000"/>
              </a:lnSpc>
              <a:buNone/>
            </a:pPr>
            <a:r>
              <a:rPr lang="en-US" sz="1400" kern="0" spc="21" dirty="0">
                <a:solidFill>
                  <a:srgbClr val="888080"/>
                </a:solidFill>
                <a:latin typeface="Inter" pitchFamily="34" charset="0"/>
                <a:ea typeface="Inter" pitchFamily="34" charset="-122"/>
              </a:rPr>
              <a:t>Agenda</a:t>
            </a:r>
          </a:p>
        </p:txBody>
      </p:sp>
      <p:sp>
        <p:nvSpPr>
          <p:cNvPr id="29" name="Text 6">
            <a:extLst>
              <a:ext uri="{FF2B5EF4-FFF2-40B4-BE49-F238E27FC236}">
                <a16:creationId xmlns:a16="http://schemas.microsoft.com/office/drawing/2014/main" id="{4209EE4F-E168-2EC5-7F9C-2D315FB3A5B2}"/>
              </a:ext>
            </a:extLst>
          </p:cNvPr>
          <p:cNvSpPr/>
          <p:nvPr/>
        </p:nvSpPr>
        <p:spPr>
          <a:xfrm>
            <a:off x="228063" y="1830953"/>
            <a:ext cx="372010" cy="194877"/>
          </a:xfrm>
          <a:prstGeom prst="rect">
            <a:avLst/>
          </a:prstGeom>
          <a:noFill/>
          <a:ln/>
        </p:spPr>
        <p:txBody>
          <a:bodyPr wrap="square" lIns="25400" tIns="25400" rIns="25400" bIns="25400" rtlCol="0" anchor="t">
            <a:noAutofit/>
          </a:bodyPr>
          <a:lstStyle/>
          <a:p>
            <a:pPr marL="0" indent="0" algn="l">
              <a:lnSpc>
                <a:spcPct val="130000"/>
              </a:lnSpc>
              <a:buNone/>
            </a:pPr>
            <a:r>
              <a:rPr lang="en-US" sz="1400" kern="0" spc="21" dirty="0">
                <a:solidFill>
                  <a:srgbClr val="888080"/>
                </a:solidFill>
                <a:latin typeface="Inter" pitchFamily="34" charset="0"/>
                <a:ea typeface="Inter" pitchFamily="34" charset="-122"/>
              </a:rPr>
              <a:t>02</a:t>
            </a:r>
          </a:p>
        </p:txBody>
      </p:sp>
      <p:sp>
        <p:nvSpPr>
          <p:cNvPr id="30" name="Text 8">
            <a:extLst>
              <a:ext uri="{FF2B5EF4-FFF2-40B4-BE49-F238E27FC236}">
                <a16:creationId xmlns:a16="http://schemas.microsoft.com/office/drawing/2014/main" id="{8CAF9CD4-E443-04F7-CBD6-9267F2817DED}"/>
              </a:ext>
            </a:extLst>
          </p:cNvPr>
          <p:cNvSpPr/>
          <p:nvPr/>
        </p:nvSpPr>
        <p:spPr>
          <a:xfrm>
            <a:off x="230504" y="2152895"/>
            <a:ext cx="302895" cy="141422"/>
          </a:xfrm>
          <a:prstGeom prst="rect">
            <a:avLst/>
          </a:prstGeom>
          <a:noFill/>
          <a:ln/>
        </p:spPr>
        <p:txBody>
          <a:bodyPr wrap="square" lIns="25400" tIns="25400" rIns="25400" bIns="25400" rtlCol="0" anchor="t">
            <a:noAutofit/>
          </a:bodyPr>
          <a:lstStyle/>
          <a:p>
            <a:pPr marL="0" indent="0" algn="l">
              <a:lnSpc>
                <a:spcPct val="130000"/>
              </a:lnSpc>
              <a:buNone/>
            </a:pPr>
            <a:r>
              <a:rPr lang="en-US" sz="1400" kern="0" spc="21" dirty="0">
                <a:solidFill>
                  <a:srgbClr val="888080"/>
                </a:solidFill>
                <a:latin typeface="Inter" pitchFamily="34" charset="0"/>
                <a:ea typeface="Inter" pitchFamily="34" charset="-122"/>
              </a:rPr>
              <a:t>03</a:t>
            </a:r>
          </a:p>
        </p:txBody>
      </p:sp>
      <p:sp>
        <p:nvSpPr>
          <p:cNvPr id="31" name="Text 9">
            <a:extLst>
              <a:ext uri="{FF2B5EF4-FFF2-40B4-BE49-F238E27FC236}">
                <a16:creationId xmlns:a16="http://schemas.microsoft.com/office/drawing/2014/main" id="{EB5008C5-74EB-0663-D138-2F0FB49EF363}"/>
              </a:ext>
            </a:extLst>
          </p:cNvPr>
          <p:cNvSpPr/>
          <p:nvPr/>
        </p:nvSpPr>
        <p:spPr>
          <a:xfrm>
            <a:off x="531240" y="2145027"/>
            <a:ext cx="1185416" cy="342476"/>
          </a:xfrm>
          <a:prstGeom prst="rect">
            <a:avLst/>
          </a:prstGeom>
          <a:noFill/>
          <a:ln/>
        </p:spPr>
        <p:txBody>
          <a:bodyPr wrap="square" lIns="25400" tIns="25400" rIns="25400" bIns="25400" rtlCol="0" anchor="t">
            <a:normAutofit/>
          </a:bodyPr>
          <a:lstStyle/>
          <a:p>
            <a:pPr marL="0" indent="0" algn="l">
              <a:lnSpc>
                <a:spcPct val="130000"/>
              </a:lnSpc>
              <a:buNone/>
            </a:pPr>
            <a:r>
              <a:rPr lang="en-US" sz="1400" kern="0" spc="21" dirty="0">
                <a:solidFill>
                  <a:srgbClr val="888080"/>
                </a:solidFill>
                <a:latin typeface="Inter" pitchFamily="34" charset="0"/>
                <a:ea typeface="Inter" pitchFamily="34" charset="-122"/>
              </a:rPr>
              <a:t>EDA</a:t>
            </a:r>
          </a:p>
        </p:txBody>
      </p:sp>
      <p:sp>
        <p:nvSpPr>
          <p:cNvPr id="32" name="Text 10">
            <a:extLst>
              <a:ext uri="{FF2B5EF4-FFF2-40B4-BE49-F238E27FC236}">
                <a16:creationId xmlns:a16="http://schemas.microsoft.com/office/drawing/2014/main" id="{1A35C40C-09C6-4CFD-0382-DAF0A3FE26AE}"/>
              </a:ext>
            </a:extLst>
          </p:cNvPr>
          <p:cNvSpPr/>
          <p:nvPr/>
        </p:nvSpPr>
        <p:spPr>
          <a:xfrm>
            <a:off x="228062" y="2444125"/>
            <a:ext cx="305337" cy="172132"/>
          </a:xfrm>
          <a:prstGeom prst="rect">
            <a:avLst/>
          </a:prstGeom>
          <a:noFill/>
          <a:ln/>
        </p:spPr>
        <p:txBody>
          <a:bodyPr wrap="square" lIns="25400" tIns="25400" rIns="25400" bIns="25400" rtlCol="0" anchor="t">
            <a:noAutofit/>
          </a:bodyPr>
          <a:lstStyle/>
          <a:p>
            <a:pPr marL="0" indent="0" algn="l">
              <a:lnSpc>
                <a:spcPct val="130000"/>
              </a:lnSpc>
              <a:buNone/>
            </a:pPr>
            <a:r>
              <a:rPr lang="en-US" sz="1400" kern="0" spc="21" dirty="0">
                <a:solidFill>
                  <a:srgbClr val="888080"/>
                </a:solidFill>
                <a:latin typeface="Inter" pitchFamily="34" charset="0"/>
                <a:ea typeface="Inter" pitchFamily="34" charset="-122"/>
              </a:rPr>
              <a:t>04</a:t>
            </a:r>
          </a:p>
        </p:txBody>
      </p:sp>
      <p:sp>
        <p:nvSpPr>
          <p:cNvPr id="33" name="Text 12">
            <a:extLst>
              <a:ext uri="{FF2B5EF4-FFF2-40B4-BE49-F238E27FC236}">
                <a16:creationId xmlns:a16="http://schemas.microsoft.com/office/drawing/2014/main" id="{F762BD12-2746-2BCE-1D67-9E683556C810}"/>
              </a:ext>
            </a:extLst>
          </p:cNvPr>
          <p:cNvSpPr/>
          <p:nvPr/>
        </p:nvSpPr>
        <p:spPr>
          <a:xfrm>
            <a:off x="228062" y="2750711"/>
            <a:ext cx="372011" cy="158880"/>
          </a:xfrm>
          <a:prstGeom prst="rect">
            <a:avLst/>
          </a:prstGeom>
          <a:noFill/>
          <a:ln/>
        </p:spPr>
        <p:txBody>
          <a:bodyPr wrap="square" lIns="25400" tIns="25400" rIns="25400" bIns="25400" rtlCol="0" anchor="t">
            <a:noAutofit/>
          </a:bodyPr>
          <a:lstStyle/>
          <a:p>
            <a:pPr marL="0" indent="0" algn="l">
              <a:lnSpc>
                <a:spcPct val="130000"/>
              </a:lnSpc>
              <a:buNone/>
            </a:pPr>
            <a:r>
              <a:rPr lang="en-US" sz="1400" kern="0" spc="21" dirty="0">
                <a:solidFill>
                  <a:srgbClr val="888080"/>
                </a:solidFill>
                <a:latin typeface="Inter" pitchFamily="34" charset="0"/>
                <a:ea typeface="Inter" pitchFamily="34" charset="-122"/>
              </a:rPr>
              <a:t>05</a:t>
            </a:r>
          </a:p>
        </p:txBody>
      </p:sp>
      <p:sp>
        <p:nvSpPr>
          <p:cNvPr id="34" name="Text 13">
            <a:extLst>
              <a:ext uri="{FF2B5EF4-FFF2-40B4-BE49-F238E27FC236}">
                <a16:creationId xmlns:a16="http://schemas.microsoft.com/office/drawing/2014/main" id="{682ED114-9537-F35A-A797-30F0D8FDB5C5}"/>
              </a:ext>
            </a:extLst>
          </p:cNvPr>
          <p:cNvSpPr/>
          <p:nvPr/>
        </p:nvSpPr>
        <p:spPr>
          <a:xfrm>
            <a:off x="533399" y="2725489"/>
            <a:ext cx="948333" cy="316567"/>
          </a:xfrm>
          <a:prstGeom prst="rect">
            <a:avLst/>
          </a:prstGeom>
          <a:noFill/>
          <a:ln/>
        </p:spPr>
        <p:txBody>
          <a:bodyPr wrap="square" lIns="25400" tIns="25400" rIns="25400" bIns="25400" rtlCol="0" anchor="t">
            <a:normAutofit/>
          </a:bodyPr>
          <a:lstStyle/>
          <a:p>
            <a:pPr marL="0" indent="0" algn="l">
              <a:lnSpc>
                <a:spcPct val="130000"/>
              </a:lnSpc>
              <a:buNone/>
            </a:pPr>
            <a:r>
              <a:rPr lang="en-US" sz="1400" kern="0" spc="21" dirty="0">
                <a:solidFill>
                  <a:srgbClr val="888080"/>
                </a:solidFill>
                <a:latin typeface="Inter" pitchFamily="34" charset="0"/>
                <a:ea typeface="Inter" pitchFamily="34" charset="-122"/>
              </a:rPr>
              <a:t>Modeling</a:t>
            </a:r>
          </a:p>
        </p:txBody>
      </p:sp>
      <p:sp>
        <p:nvSpPr>
          <p:cNvPr id="35" name="Text 14">
            <a:extLst>
              <a:ext uri="{FF2B5EF4-FFF2-40B4-BE49-F238E27FC236}">
                <a16:creationId xmlns:a16="http://schemas.microsoft.com/office/drawing/2014/main" id="{8688EC8D-3DC4-D100-A1BF-62EE529AEA00}"/>
              </a:ext>
            </a:extLst>
          </p:cNvPr>
          <p:cNvSpPr/>
          <p:nvPr/>
        </p:nvSpPr>
        <p:spPr>
          <a:xfrm>
            <a:off x="235683" y="3042056"/>
            <a:ext cx="372010" cy="191463"/>
          </a:xfrm>
          <a:prstGeom prst="rect">
            <a:avLst/>
          </a:prstGeom>
          <a:noFill/>
          <a:ln/>
        </p:spPr>
        <p:txBody>
          <a:bodyPr wrap="square" lIns="25400" tIns="25400" rIns="25400" bIns="25400" rtlCol="0" anchor="t">
            <a:noAutofit/>
          </a:bodyPr>
          <a:lstStyle/>
          <a:p>
            <a:pPr marL="0" indent="0" algn="l">
              <a:lnSpc>
                <a:spcPct val="130000"/>
              </a:lnSpc>
              <a:buNone/>
            </a:pPr>
            <a:r>
              <a:rPr lang="en-US" sz="1400" b="1" kern="0" spc="21" dirty="0">
                <a:solidFill>
                  <a:srgbClr val="C25A2A"/>
                </a:solidFill>
                <a:latin typeface="JetBrains Mono" pitchFamily="34" charset="0"/>
                <a:ea typeface="JetBrains Mono" pitchFamily="34" charset="-122"/>
              </a:rPr>
              <a:t>06</a:t>
            </a:r>
          </a:p>
        </p:txBody>
      </p:sp>
      <p:sp>
        <p:nvSpPr>
          <p:cNvPr id="36" name="Text 15">
            <a:extLst>
              <a:ext uri="{FF2B5EF4-FFF2-40B4-BE49-F238E27FC236}">
                <a16:creationId xmlns:a16="http://schemas.microsoft.com/office/drawing/2014/main" id="{F9B0BF6A-A45E-A061-2832-56059A4D5A85}"/>
              </a:ext>
            </a:extLst>
          </p:cNvPr>
          <p:cNvSpPr/>
          <p:nvPr/>
        </p:nvSpPr>
        <p:spPr>
          <a:xfrm>
            <a:off x="533400" y="3032075"/>
            <a:ext cx="1185416" cy="626120"/>
          </a:xfrm>
          <a:prstGeom prst="rect">
            <a:avLst/>
          </a:prstGeom>
          <a:noFill/>
          <a:ln/>
        </p:spPr>
        <p:txBody>
          <a:bodyPr wrap="square" lIns="25400" tIns="25400" rIns="25400" bIns="25400" rtlCol="0" anchor="t">
            <a:normAutofit/>
          </a:bodyPr>
          <a:lstStyle/>
          <a:p>
            <a:pPr marL="0" indent="0" algn="l">
              <a:lnSpc>
                <a:spcPct val="130000"/>
              </a:lnSpc>
              <a:buNone/>
            </a:pPr>
            <a:r>
              <a:rPr lang="en-US" sz="1400" kern="0" spc="21" dirty="0">
                <a:solidFill>
                  <a:srgbClr val="1A1A1A"/>
                </a:solidFill>
                <a:latin typeface="Inter" pitchFamily="34" charset="0"/>
                <a:ea typeface="Inter" pitchFamily="34" charset="-122"/>
              </a:rPr>
              <a:t>Conclusions</a:t>
            </a:r>
          </a:p>
        </p:txBody>
      </p:sp>
      <p:sp>
        <p:nvSpPr>
          <p:cNvPr id="37" name="Text 9">
            <a:extLst>
              <a:ext uri="{FF2B5EF4-FFF2-40B4-BE49-F238E27FC236}">
                <a16:creationId xmlns:a16="http://schemas.microsoft.com/office/drawing/2014/main" id="{2154ADE1-4EE3-B056-A254-DABC3D79E590}"/>
              </a:ext>
            </a:extLst>
          </p:cNvPr>
          <p:cNvSpPr/>
          <p:nvPr/>
        </p:nvSpPr>
        <p:spPr>
          <a:xfrm>
            <a:off x="538609" y="2426180"/>
            <a:ext cx="1185416" cy="342476"/>
          </a:xfrm>
          <a:prstGeom prst="rect">
            <a:avLst/>
          </a:prstGeom>
          <a:noFill/>
          <a:ln/>
        </p:spPr>
        <p:txBody>
          <a:bodyPr wrap="square" lIns="25400" tIns="25400" rIns="25400" bIns="25400" rtlCol="0" anchor="t">
            <a:normAutofit/>
          </a:bodyPr>
          <a:lstStyle/>
          <a:p>
            <a:pPr marL="0" indent="0" algn="l">
              <a:lnSpc>
                <a:spcPct val="130000"/>
              </a:lnSpc>
              <a:buNone/>
            </a:pPr>
            <a:r>
              <a:rPr lang="en-US" sz="1400" kern="0" spc="21" dirty="0">
                <a:solidFill>
                  <a:srgbClr val="888080"/>
                </a:solidFill>
                <a:latin typeface="Inter" pitchFamily="34" charset="0"/>
                <a:ea typeface="Inter" pitchFamily="34" charset="-122"/>
              </a:rPr>
              <a:t>Pipeline</a:t>
            </a:r>
          </a:p>
        </p:txBody>
      </p:sp>
      <p:sp>
        <p:nvSpPr>
          <p:cNvPr id="38" name="Text 7">
            <a:extLst>
              <a:ext uri="{FF2B5EF4-FFF2-40B4-BE49-F238E27FC236}">
                <a16:creationId xmlns:a16="http://schemas.microsoft.com/office/drawing/2014/main" id="{E3AA3043-76AE-6F10-E40A-27725378B33D}"/>
              </a:ext>
            </a:extLst>
          </p:cNvPr>
          <p:cNvSpPr/>
          <p:nvPr/>
        </p:nvSpPr>
        <p:spPr>
          <a:xfrm>
            <a:off x="523875" y="1826620"/>
            <a:ext cx="1325700" cy="467696"/>
          </a:xfrm>
          <a:prstGeom prst="rect">
            <a:avLst/>
          </a:prstGeom>
          <a:noFill/>
          <a:ln/>
        </p:spPr>
        <p:txBody>
          <a:bodyPr wrap="square" lIns="25400" tIns="25400" rIns="25400" bIns="25400" rtlCol="0" anchor="t">
            <a:noAutofit/>
          </a:bodyPr>
          <a:lstStyle/>
          <a:p>
            <a:pPr marL="0" indent="0" algn="l">
              <a:lnSpc>
                <a:spcPct val="130000"/>
              </a:lnSpc>
              <a:buNone/>
            </a:pPr>
            <a:r>
              <a:rPr lang="en-US" sz="1400" kern="0" spc="21" dirty="0">
                <a:solidFill>
                  <a:srgbClr val="888080"/>
                </a:solidFill>
                <a:latin typeface="Inter" pitchFamily="34" charset="0"/>
                <a:ea typeface="Inter" pitchFamily="34" charset="-122"/>
              </a:rPr>
              <a:t>Data &amp; target</a:t>
            </a:r>
          </a:p>
        </p:txBody>
      </p:sp>
      <p:sp>
        <p:nvSpPr>
          <p:cNvPr id="39" name="Text 1">
            <a:extLst>
              <a:ext uri="{FF2B5EF4-FFF2-40B4-BE49-F238E27FC236}">
                <a16:creationId xmlns:a16="http://schemas.microsoft.com/office/drawing/2014/main" id="{1B5F941C-37F5-24C2-DE3B-9B9D990665C5}"/>
              </a:ext>
            </a:extLst>
          </p:cNvPr>
          <p:cNvSpPr/>
          <p:nvPr/>
        </p:nvSpPr>
        <p:spPr>
          <a:xfrm>
            <a:off x="261138" y="379598"/>
            <a:ext cx="1778457" cy="447678"/>
          </a:xfrm>
          <a:prstGeom prst="rect">
            <a:avLst/>
          </a:prstGeom>
          <a:noFill/>
          <a:ln/>
        </p:spPr>
        <p:txBody>
          <a:bodyPr wrap="square" lIns="25400" tIns="25400" rIns="25400" bIns="25400" rtlCol="0" anchor="t">
            <a:noAutofit/>
          </a:bodyPr>
          <a:lstStyle/>
          <a:p>
            <a:pPr marL="0" indent="0">
              <a:buNone/>
            </a:pPr>
            <a:r>
              <a:rPr lang="en-US" sz="1400" kern="0" spc="116" dirty="0">
                <a:solidFill>
                  <a:srgbClr val="888080"/>
                </a:solidFill>
                <a:latin typeface="JetBrains Mono" pitchFamily="34" charset="0"/>
                <a:ea typeface="JetBrains Mono" pitchFamily="34" charset="-122"/>
                <a:cs typeface="JetBrains Mono" pitchFamily="34" charset="-120"/>
              </a:rPr>
              <a:t>DS22 - Bar Ilan</a:t>
            </a:r>
            <a:br>
              <a:rPr lang="en-US" sz="1400" kern="0" spc="116" dirty="0">
                <a:solidFill>
                  <a:srgbClr val="888080"/>
                </a:solidFill>
                <a:latin typeface="JetBrains Mono" pitchFamily="34" charset="0"/>
                <a:ea typeface="JetBrains Mono" pitchFamily="34" charset="-122"/>
                <a:cs typeface="JetBrains Mono" pitchFamily="34" charset="-120"/>
              </a:rPr>
            </a:br>
            <a:r>
              <a:rPr lang="en-US" sz="1400" kern="0" spc="116" dirty="0">
                <a:solidFill>
                  <a:srgbClr val="888080"/>
                </a:solidFill>
                <a:latin typeface="JetBrains Mono" pitchFamily="34" charset="0"/>
                <a:ea typeface="JetBrains Mono" pitchFamily="34" charset="-122"/>
                <a:cs typeface="JetBrains Mono" pitchFamily="34" charset="-120"/>
              </a:rPr>
              <a:t>ML PROJECT</a:t>
            </a:r>
          </a:p>
          <a:p>
            <a:pPr marL="0" indent="0">
              <a:buNone/>
            </a:pPr>
            <a:r>
              <a:rPr lang="en-US" sz="1400" kern="0" spc="116" dirty="0">
                <a:solidFill>
                  <a:srgbClr val="888080"/>
                </a:solidFill>
                <a:latin typeface="JetBrains Mono" pitchFamily="34" charset="0"/>
                <a:ea typeface="JetBrains Mono" pitchFamily="34" charset="-122"/>
                <a:cs typeface="JetBrains Mono" pitchFamily="34" charset="-120"/>
              </a:rPr>
              <a:t>MAY 2026</a:t>
            </a:r>
            <a:endParaRPr lang="en-US" sz="14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5F1E8"/>
        </a:solidFill>
        <a:effectLst/>
      </p:bgPr>
    </p:bg>
    <p:spTree>
      <p:nvGrpSpPr>
        <p:cNvPr id="1" name="">
          <a:extLst>
            <a:ext uri="{FF2B5EF4-FFF2-40B4-BE49-F238E27FC236}">
              <a16:creationId xmlns:a16="http://schemas.microsoft.com/office/drawing/2014/main" id="{7A8EDBB3-8E7E-089D-89C5-6BE6FE9F7A1C}"/>
            </a:ext>
          </a:extLst>
        </p:cNvPr>
        <p:cNvGrpSpPr/>
        <p:nvPr/>
      </p:nvGrpSpPr>
      <p:grpSpPr>
        <a:xfrm>
          <a:off x="0" y="0"/>
          <a:ext cx="0" cy="0"/>
          <a:chOff x="0" y="0"/>
          <a:chExt cx="0" cy="0"/>
        </a:xfrm>
      </p:grpSpPr>
      <p:sp>
        <p:nvSpPr>
          <p:cNvPr id="34" name="Shape 0">
            <a:extLst>
              <a:ext uri="{FF2B5EF4-FFF2-40B4-BE49-F238E27FC236}">
                <a16:creationId xmlns:a16="http://schemas.microsoft.com/office/drawing/2014/main" id="{810EC3A5-5B75-329E-1A1D-E3B3254B9270}"/>
              </a:ext>
            </a:extLst>
          </p:cNvPr>
          <p:cNvSpPr/>
          <p:nvPr/>
        </p:nvSpPr>
        <p:spPr>
          <a:xfrm>
            <a:off x="0" y="0"/>
            <a:ext cx="2095500" cy="10287000"/>
          </a:xfrm>
          <a:prstGeom prst="rect">
            <a:avLst/>
          </a:prstGeom>
          <a:solidFill>
            <a:srgbClr val="EBE5D6"/>
          </a:solidFill>
          <a:ln/>
        </p:spPr>
        <p:txBody>
          <a:bodyPr/>
          <a:lstStyle/>
          <a:p>
            <a:endParaRPr lang="he-IL"/>
          </a:p>
        </p:txBody>
      </p:sp>
      <p:sp>
        <p:nvSpPr>
          <p:cNvPr id="19" name="Text 17">
            <a:extLst>
              <a:ext uri="{FF2B5EF4-FFF2-40B4-BE49-F238E27FC236}">
                <a16:creationId xmlns:a16="http://schemas.microsoft.com/office/drawing/2014/main" id="{9262637F-F816-0896-9B1B-934DC559A7E0}"/>
              </a:ext>
            </a:extLst>
          </p:cNvPr>
          <p:cNvSpPr/>
          <p:nvPr/>
        </p:nvSpPr>
        <p:spPr>
          <a:xfrm>
            <a:off x="2781300" y="571500"/>
            <a:ext cx="15187041" cy="171450"/>
          </a:xfrm>
          <a:prstGeom prst="rect">
            <a:avLst/>
          </a:prstGeom>
          <a:noFill/>
          <a:ln/>
        </p:spPr>
        <p:txBody>
          <a:bodyPr wrap="square" lIns="25400" tIns="25400" rIns="25400" bIns="25400" rtlCol="0" anchor="ctr">
            <a:noAutofit/>
          </a:bodyPr>
          <a:lstStyle/>
          <a:p>
            <a:pPr marL="0" indent="0" algn="l">
              <a:buNone/>
            </a:pPr>
            <a:r>
              <a:rPr lang="en-US" sz="1400" kern="0" spc="182" dirty="0">
                <a:solidFill>
                  <a:srgbClr val="888080"/>
                </a:solidFill>
                <a:latin typeface="JetBrains Mono" pitchFamily="34" charset="0"/>
                <a:ea typeface="JetBrains Mono" pitchFamily="34" charset="-122"/>
                <a:cs typeface="JetBrains Mono" pitchFamily="34" charset="-120"/>
              </a:rPr>
              <a:t>FROM BASELINE TO FINAL · WHAT EACH STEP BOUGHT US</a:t>
            </a:r>
            <a:endParaRPr lang="en-US" sz="1400" dirty="0"/>
          </a:p>
        </p:txBody>
      </p:sp>
      <p:sp>
        <p:nvSpPr>
          <p:cNvPr id="20" name="Text 18">
            <a:extLst>
              <a:ext uri="{FF2B5EF4-FFF2-40B4-BE49-F238E27FC236}">
                <a16:creationId xmlns:a16="http://schemas.microsoft.com/office/drawing/2014/main" id="{4FB0DAA9-E9EC-4A11-5B1B-F8D895B49116}"/>
              </a:ext>
            </a:extLst>
          </p:cNvPr>
          <p:cNvSpPr/>
          <p:nvPr/>
        </p:nvSpPr>
        <p:spPr>
          <a:xfrm>
            <a:off x="2781300" y="914400"/>
            <a:ext cx="15187041" cy="643830"/>
          </a:xfrm>
          <a:prstGeom prst="rect">
            <a:avLst/>
          </a:prstGeom>
          <a:noFill/>
          <a:ln/>
        </p:spPr>
        <p:txBody>
          <a:bodyPr wrap="square" lIns="25400" tIns="25400" rIns="25400" bIns="25400" rtlCol="0" anchor="t">
            <a:normAutofit/>
          </a:bodyPr>
          <a:lstStyle/>
          <a:p>
            <a:pPr>
              <a:lnSpc>
                <a:spcPct val="106000"/>
              </a:lnSpc>
            </a:pPr>
            <a:r>
              <a:rPr lang="en-US" sz="3600" dirty="0"/>
              <a:t>Summary</a:t>
            </a:r>
          </a:p>
        </p:txBody>
      </p:sp>
      <p:sp>
        <p:nvSpPr>
          <p:cNvPr id="46" name="Shape 5">
            <a:extLst>
              <a:ext uri="{FF2B5EF4-FFF2-40B4-BE49-F238E27FC236}">
                <a16:creationId xmlns:a16="http://schemas.microsoft.com/office/drawing/2014/main" id="{FCBAC512-5639-3C7D-6E98-8AF751617144}"/>
              </a:ext>
            </a:extLst>
          </p:cNvPr>
          <p:cNvSpPr/>
          <p:nvPr/>
        </p:nvSpPr>
        <p:spPr>
          <a:xfrm>
            <a:off x="2781300" y="9410701"/>
            <a:ext cx="15027618" cy="59686"/>
          </a:xfrm>
          <a:prstGeom prst="rect">
            <a:avLst/>
          </a:prstGeom>
          <a:solidFill>
            <a:srgbClr val="1A1A1A"/>
          </a:solidFill>
          <a:ln/>
        </p:spPr>
        <p:txBody>
          <a:bodyPr/>
          <a:lstStyle/>
          <a:p>
            <a:endParaRPr lang="he-IL"/>
          </a:p>
        </p:txBody>
      </p:sp>
      <p:sp>
        <p:nvSpPr>
          <p:cNvPr id="47" name="Text 6">
            <a:extLst>
              <a:ext uri="{FF2B5EF4-FFF2-40B4-BE49-F238E27FC236}">
                <a16:creationId xmlns:a16="http://schemas.microsoft.com/office/drawing/2014/main" id="{877C5A50-1796-C10A-EE43-A9A71B7A2B18}"/>
              </a:ext>
            </a:extLst>
          </p:cNvPr>
          <p:cNvSpPr/>
          <p:nvPr/>
        </p:nvSpPr>
        <p:spPr>
          <a:xfrm>
            <a:off x="2816399" y="9564785"/>
            <a:ext cx="3859240" cy="145498"/>
          </a:xfrm>
          <a:prstGeom prst="rect">
            <a:avLst/>
          </a:prstGeom>
          <a:noFill/>
          <a:ln/>
        </p:spPr>
        <p:txBody>
          <a:bodyPr wrap="square" lIns="25400" tIns="25400" rIns="25400" bIns="25400" rtlCol="0" anchor="t">
            <a:noAutofit/>
          </a:bodyPr>
          <a:lstStyle/>
          <a:p>
            <a:pPr marL="0" indent="0" algn="l">
              <a:buNone/>
            </a:pPr>
            <a:r>
              <a:rPr lang="en-US" sz="1400" kern="0" spc="135" dirty="0">
                <a:solidFill>
                  <a:srgbClr val="888080"/>
                </a:solidFill>
                <a:latin typeface="JetBrains Mono" pitchFamily="34" charset="0"/>
                <a:ea typeface="JetBrains Mono" pitchFamily="34" charset="-122"/>
                <a:cs typeface="JetBrains Mono" pitchFamily="34" charset="-120"/>
              </a:rPr>
              <a:t>INSTITUTION</a:t>
            </a:r>
            <a:endParaRPr lang="en-US" sz="1400" dirty="0"/>
          </a:p>
        </p:txBody>
      </p:sp>
      <p:sp>
        <p:nvSpPr>
          <p:cNvPr id="48" name="Text 7">
            <a:extLst>
              <a:ext uri="{FF2B5EF4-FFF2-40B4-BE49-F238E27FC236}">
                <a16:creationId xmlns:a16="http://schemas.microsoft.com/office/drawing/2014/main" id="{4746D8BC-47B7-46DF-5879-21287C2EEC26}"/>
              </a:ext>
            </a:extLst>
          </p:cNvPr>
          <p:cNvSpPr/>
          <p:nvPr/>
        </p:nvSpPr>
        <p:spPr>
          <a:xfrm>
            <a:off x="2816399" y="9797666"/>
            <a:ext cx="4864292" cy="335161"/>
          </a:xfrm>
          <a:prstGeom prst="rect">
            <a:avLst/>
          </a:prstGeom>
          <a:noFill/>
          <a:ln/>
        </p:spPr>
        <p:txBody>
          <a:bodyPr wrap="square" lIns="25400" tIns="25400" rIns="25400" bIns="25400" rtlCol="0" anchor="t">
            <a:noAutofit/>
          </a:bodyPr>
          <a:lstStyle/>
          <a:p>
            <a:pPr marL="0" indent="0" algn="l">
              <a:lnSpc>
                <a:spcPct val="130000"/>
              </a:lnSpc>
              <a:buNone/>
            </a:pPr>
            <a:r>
              <a:rPr lang="en-US" dirty="0">
                <a:solidFill>
                  <a:srgbClr val="1A1A1A"/>
                </a:solidFill>
                <a:latin typeface="Instrument Serif" pitchFamily="34" charset="0"/>
                <a:ea typeface="Instrument Serif" pitchFamily="34" charset="-122"/>
                <a:cs typeface="Instrument Serif" pitchFamily="34" charset="-120"/>
              </a:rPr>
              <a:t>Bar-Ilan University</a:t>
            </a:r>
            <a:endParaRPr lang="en-US" dirty="0"/>
          </a:p>
        </p:txBody>
      </p:sp>
      <p:sp>
        <p:nvSpPr>
          <p:cNvPr id="49" name="Text 8">
            <a:extLst>
              <a:ext uri="{FF2B5EF4-FFF2-40B4-BE49-F238E27FC236}">
                <a16:creationId xmlns:a16="http://schemas.microsoft.com/office/drawing/2014/main" id="{2DC4EE87-BD80-05CC-7CF6-99118B850975}"/>
              </a:ext>
            </a:extLst>
          </p:cNvPr>
          <p:cNvSpPr/>
          <p:nvPr/>
        </p:nvSpPr>
        <p:spPr>
          <a:xfrm>
            <a:off x="11464588" y="9587420"/>
            <a:ext cx="2968618" cy="145498"/>
          </a:xfrm>
          <a:prstGeom prst="rect">
            <a:avLst/>
          </a:prstGeom>
          <a:noFill/>
          <a:ln/>
        </p:spPr>
        <p:txBody>
          <a:bodyPr wrap="square" lIns="25400" tIns="25400" rIns="25400" bIns="25400" rtlCol="0" anchor="t">
            <a:noAutofit/>
          </a:bodyPr>
          <a:lstStyle/>
          <a:p>
            <a:pPr marL="0" indent="0" algn="l">
              <a:buNone/>
            </a:pPr>
            <a:r>
              <a:rPr lang="en-US" sz="1400" kern="0" spc="135" dirty="0">
                <a:solidFill>
                  <a:srgbClr val="888080"/>
                </a:solidFill>
                <a:latin typeface="JetBrains Mono" pitchFamily="34" charset="0"/>
                <a:ea typeface="JetBrains Mono" pitchFamily="34" charset="-122"/>
                <a:cs typeface="JetBrains Mono" pitchFamily="34" charset="-120"/>
              </a:rPr>
              <a:t>AUTHORS</a:t>
            </a:r>
            <a:endParaRPr lang="en-US" sz="1400" dirty="0"/>
          </a:p>
        </p:txBody>
      </p:sp>
      <p:sp>
        <p:nvSpPr>
          <p:cNvPr id="50" name="Text 9">
            <a:extLst>
              <a:ext uri="{FF2B5EF4-FFF2-40B4-BE49-F238E27FC236}">
                <a16:creationId xmlns:a16="http://schemas.microsoft.com/office/drawing/2014/main" id="{B1BF22DA-7F55-FAF7-D33F-85BF7A3CA50D}"/>
              </a:ext>
            </a:extLst>
          </p:cNvPr>
          <p:cNvSpPr/>
          <p:nvPr/>
        </p:nvSpPr>
        <p:spPr>
          <a:xfrm>
            <a:off x="11464588" y="9793599"/>
            <a:ext cx="3741728" cy="335161"/>
          </a:xfrm>
          <a:prstGeom prst="rect">
            <a:avLst/>
          </a:prstGeom>
          <a:noFill/>
          <a:ln/>
        </p:spPr>
        <p:txBody>
          <a:bodyPr wrap="square" lIns="25400" tIns="25400" rIns="25400" bIns="25400" rtlCol="0" anchor="t">
            <a:noAutofit/>
          </a:bodyPr>
          <a:lstStyle/>
          <a:p>
            <a:pPr marL="0" indent="0" algn="l">
              <a:lnSpc>
                <a:spcPct val="130000"/>
              </a:lnSpc>
              <a:buNone/>
            </a:pPr>
            <a:r>
              <a:rPr lang="en-US" dirty="0">
                <a:solidFill>
                  <a:srgbClr val="1A1A1A"/>
                </a:solidFill>
                <a:latin typeface="Instrument Serif" pitchFamily="34" charset="0"/>
                <a:ea typeface="Instrument Serif" pitchFamily="34" charset="-122"/>
                <a:cs typeface="Instrument Serif" pitchFamily="34" charset="-120"/>
              </a:rPr>
              <a:t>Ofer Shahal · Tamir Edelstein</a:t>
            </a:r>
            <a:endParaRPr lang="en-US" dirty="0"/>
          </a:p>
        </p:txBody>
      </p:sp>
      <p:sp>
        <p:nvSpPr>
          <p:cNvPr id="57" name="TextBox 56">
            <a:extLst>
              <a:ext uri="{FF2B5EF4-FFF2-40B4-BE49-F238E27FC236}">
                <a16:creationId xmlns:a16="http://schemas.microsoft.com/office/drawing/2014/main" id="{35613A18-6648-53B8-DB0B-77ABB475FB55}"/>
              </a:ext>
            </a:extLst>
          </p:cNvPr>
          <p:cNvSpPr txBox="1"/>
          <p:nvPr/>
        </p:nvSpPr>
        <p:spPr>
          <a:xfrm>
            <a:off x="7226492" y="9824717"/>
            <a:ext cx="3590314" cy="369332"/>
          </a:xfrm>
          <a:prstGeom prst="rect">
            <a:avLst/>
          </a:prstGeom>
          <a:noFill/>
        </p:spPr>
        <p:txBody>
          <a:bodyPr wrap="square">
            <a:spAutoFit/>
          </a:bodyPr>
          <a:lstStyle/>
          <a:p>
            <a:r>
              <a:rPr lang="en-US" b="0" i="0" dirty="0">
                <a:solidFill>
                  <a:srgbClr val="1A1A1A"/>
                </a:solidFill>
                <a:effectLst/>
                <a:latin typeface="Instrument Serif"/>
              </a:rPr>
              <a:t>DS22 · 1125 · Machine Learning</a:t>
            </a:r>
            <a:endParaRPr lang="he-IL" dirty="0"/>
          </a:p>
        </p:txBody>
      </p:sp>
      <p:sp>
        <p:nvSpPr>
          <p:cNvPr id="58" name="Text 8">
            <a:extLst>
              <a:ext uri="{FF2B5EF4-FFF2-40B4-BE49-F238E27FC236}">
                <a16:creationId xmlns:a16="http://schemas.microsoft.com/office/drawing/2014/main" id="{03069806-E739-A715-AB40-EC42F24C5974}"/>
              </a:ext>
            </a:extLst>
          </p:cNvPr>
          <p:cNvSpPr/>
          <p:nvPr/>
        </p:nvSpPr>
        <p:spPr>
          <a:xfrm>
            <a:off x="7358705" y="9565310"/>
            <a:ext cx="2968618" cy="145498"/>
          </a:xfrm>
          <a:prstGeom prst="rect">
            <a:avLst/>
          </a:prstGeom>
          <a:noFill/>
          <a:ln/>
        </p:spPr>
        <p:txBody>
          <a:bodyPr wrap="square" lIns="25400" tIns="25400" rIns="25400" bIns="25400" rtlCol="0" anchor="t">
            <a:noAutofit/>
          </a:bodyPr>
          <a:lstStyle/>
          <a:p>
            <a:pPr marL="0" indent="0" algn="l">
              <a:buNone/>
            </a:pPr>
            <a:r>
              <a:rPr lang="en-US" sz="1400" kern="0" spc="135" dirty="0">
                <a:solidFill>
                  <a:srgbClr val="888080"/>
                </a:solidFill>
                <a:latin typeface="JetBrains Mono" pitchFamily="34" charset="0"/>
                <a:ea typeface="JetBrains Mono" pitchFamily="34" charset="-122"/>
                <a:cs typeface="JetBrains Mono" pitchFamily="34" charset="-120"/>
              </a:rPr>
              <a:t>COURSE</a:t>
            </a:r>
            <a:endParaRPr lang="en-US" sz="1400" dirty="0"/>
          </a:p>
        </p:txBody>
      </p:sp>
      <p:sp>
        <p:nvSpPr>
          <p:cNvPr id="59" name="Text 8">
            <a:extLst>
              <a:ext uri="{FF2B5EF4-FFF2-40B4-BE49-F238E27FC236}">
                <a16:creationId xmlns:a16="http://schemas.microsoft.com/office/drawing/2014/main" id="{6ED88C42-E9D1-A0DA-03E0-F0F3C78314BF}"/>
              </a:ext>
            </a:extLst>
          </p:cNvPr>
          <p:cNvSpPr/>
          <p:nvPr/>
        </p:nvSpPr>
        <p:spPr>
          <a:xfrm>
            <a:off x="15570472" y="9570993"/>
            <a:ext cx="3741728" cy="161925"/>
          </a:xfrm>
          <a:prstGeom prst="rect">
            <a:avLst/>
          </a:prstGeom>
          <a:noFill/>
          <a:ln/>
        </p:spPr>
        <p:txBody>
          <a:bodyPr wrap="square" lIns="25400" tIns="25400" rIns="25400" bIns="25400" rtlCol="0" anchor="t">
            <a:noAutofit/>
          </a:bodyPr>
          <a:lstStyle/>
          <a:p>
            <a:pPr marL="0" indent="0" algn="l">
              <a:buNone/>
            </a:pPr>
            <a:r>
              <a:rPr lang="en-US" sz="1400" kern="0" spc="135" dirty="0">
                <a:solidFill>
                  <a:srgbClr val="888080"/>
                </a:solidFill>
                <a:latin typeface="JetBrains Mono" pitchFamily="34" charset="0"/>
                <a:ea typeface="JetBrains Mono" pitchFamily="34" charset="-122"/>
                <a:cs typeface="JetBrains Mono" pitchFamily="34" charset="-120"/>
              </a:rPr>
              <a:t>DATE</a:t>
            </a:r>
            <a:endParaRPr lang="en-US" sz="1400" dirty="0"/>
          </a:p>
        </p:txBody>
      </p:sp>
      <p:sp>
        <p:nvSpPr>
          <p:cNvPr id="60" name="Text 9">
            <a:extLst>
              <a:ext uri="{FF2B5EF4-FFF2-40B4-BE49-F238E27FC236}">
                <a16:creationId xmlns:a16="http://schemas.microsoft.com/office/drawing/2014/main" id="{D03B0DCC-9401-90AB-94C3-EB53B278BB70}"/>
              </a:ext>
            </a:extLst>
          </p:cNvPr>
          <p:cNvSpPr/>
          <p:nvPr/>
        </p:nvSpPr>
        <p:spPr>
          <a:xfrm>
            <a:off x="15477406" y="9784214"/>
            <a:ext cx="3741728" cy="335161"/>
          </a:xfrm>
          <a:prstGeom prst="rect">
            <a:avLst/>
          </a:prstGeom>
          <a:noFill/>
          <a:ln/>
        </p:spPr>
        <p:txBody>
          <a:bodyPr wrap="square" lIns="25400" tIns="25400" rIns="25400" bIns="25400" rtlCol="0" anchor="t">
            <a:noAutofit/>
          </a:bodyPr>
          <a:lstStyle/>
          <a:p>
            <a:pPr marL="0" indent="0" algn="l">
              <a:lnSpc>
                <a:spcPct val="130000"/>
              </a:lnSpc>
              <a:buNone/>
            </a:pPr>
            <a:r>
              <a:rPr lang="en-US" dirty="0">
                <a:solidFill>
                  <a:srgbClr val="1A1A1A"/>
                </a:solidFill>
                <a:latin typeface="Instrument Serif" pitchFamily="34" charset="0"/>
                <a:ea typeface="Instrument Serif" pitchFamily="34" charset="-122"/>
              </a:rPr>
              <a:t>May 2026</a:t>
            </a:r>
            <a:endParaRPr lang="en-US" dirty="0"/>
          </a:p>
        </p:txBody>
      </p:sp>
      <p:sp>
        <p:nvSpPr>
          <p:cNvPr id="21" name="Text 16">
            <a:extLst>
              <a:ext uri="{FF2B5EF4-FFF2-40B4-BE49-F238E27FC236}">
                <a16:creationId xmlns:a16="http://schemas.microsoft.com/office/drawing/2014/main" id="{66F750A1-96CF-65EE-C8D9-B2BC5CE584DF}"/>
              </a:ext>
            </a:extLst>
          </p:cNvPr>
          <p:cNvSpPr/>
          <p:nvPr/>
        </p:nvSpPr>
        <p:spPr>
          <a:xfrm>
            <a:off x="266700" y="9410700"/>
            <a:ext cx="1628775" cy="342900"/>
          </a:xfrm>
          <a:prstGeom prst="rect">
            <a:avLst/>
          </a:prstGeom>
          <a:noFill/>
          <a:ln/>
        </p:spPr>
        <p:txBody>
          <a:bodyPr wrap="square" lIns="25400" tIns="25400" rIns="25400" bIns="25400" rtlCol="0" anchor="t">
            <a:noAutofit/>
          </a:bodyPr>
          <a:lstStyle/>
          <a:p>
            <a:pPr>
              <a:lnSpc>
                <a:spcPct val="160000"/>
              </a:lnSpc>
            </a:pPr>
            <a:r>
              <a:rPr lang="en-US" sz="1400" b="1" kern="0" spc="105" dirty="0">
                <a:solidFill>
                  <a:srgbClr val="1A1A1A"/>
                </a:solidFill>
                <a:latin typeface="JetBrains Mono" pitchFamily="34" charset="0"/>
                <a:ea typeface="JetBrains Mono" pitchFamily="34" charset="-122"/>
                <a:cs typeface="JetBrains Mono" pitchFamily="34" charset="-120"/>
              </a:rPr>
              <a:t>33 / 34</a:t>
            </a:r>
            <a:endParaRPr lang="en-US" sz="1400" dirty="0"/>
          </a:p>
        </p:txBody>
      </p:sp>
      <p:sp>
        <p:nvSpPr>
          <p:cNvPr id="22" name="Text 4">
            <a:extLst>
              <a:ext uri="{FF2B5EF4-FFF2-40B4-BE49-F238E27FC236}">
                <a16:creationId xmlns:a16="http://schemas.microsoft.com/office/drawing/2014/main" id="{F58A4B24-7617-0989-7CA0-87D1E80C3587}"/>
              </a:ext>
            </a:extLst>
          </p:cNvPr>
          <p:cNvSpPr/>
          <p:nvPr/>
        </p:nvSpPr>
        <p:spPr>
          <a:xfrm>
            <a:off x="228063" y="1524367"/>
            <a:ext cx="372012" cy="200025"/>
          </a:xfrm>
          <a:prstGeom prst="rect">
            <a:avLst/>
          </a:prstGeom>
          <a:noFill/>
          <a:ln/>
        </p:spPr>
        <p:txBody>
          <a:bodyPr wrap="square" lIns="25400" tIns="25400" rIns="25400" bIns="25400" rtlCol="0" anchor="t">
            <a:noAutofit/>
          </a:bodyPr>
          <a:lstStyle/>
          <a:p>
            <a:pPr marL="0" indent="0" algn="l">
              <a:lnSpc>
                <a:spcPct val="130000"/>
              </a:lnSpc>
              <a:buNone/>
            </a:pPr>
            <a:r>
              <a:rPr lang="en-US" sz="1400" kern="0" spc="21" dirty="0">
                <a:solidFill>
                  <a:srgbClr val="888080"/>
                </a:solidFill>
                <a:latin typeface="Inter" pitchFamily="34" charset="0"/>
                <a:ea typeface="Inter" pitchFamily="34" charset="-122"/>
              </a:rPr>
              <a:t>01</a:t>
            </a:r>
          </a:p>
        </p:txBody>
      </p:sp>
      <p:sp>
        <p:nvSpPr>
          <p:cNvPr id="23" name="Text 5">
            <a:extLst>
              <a:ext uri="{FF2B5EF4-FFF2-40B4-BE49-F238E27FC236}">
                <a16:creationId xmlns:a16="http://schemas.microsoft.com/office/drawing/2014/main" id="{5C277A93-BF8E-1A4D-A6E6-B2B21A59D673}"/>
              </a:ext>
            </a:extLst>
          </p:cNvPr>
          <p:cNvSpPr/>
          <p:nvPr/>
        </p:nvSpPr>
        <p:spPr>
          <a:xfrm>
            <a:off x="523875" y="1522975"/>
            <a:ext cx="876300" cy="476251"/>
          </a:xfrm>
          <a:prstGeom prst="rect">
            <a:avLst/>
          </a:prstGeom>
          <a:noFill/>
          <a:ln/>
        </p:spPr>
        <p:txBody>
          <a:bodyPr wrap="square" lIns="25400" tIns="25400" rIns="25400" bIns="25400" rtlCol="0" anchor="t">
            <a:normAutofit/>
          </a:bodyPr>
          <a:lstStyle/>
          <a:p>
            <a:pPr marL="0" indent="0" algn="l">
              <a:lnSpc>
                <a:spcPct val="130000"/>
              </a:lnSpc>
              <a:buNone/>
            </a:pPr>
            <a:r>
              <a:rPr lang="en-US" sz="1400" kern="0" spc="21" dirty="0">
                <a:solidFill>
                  <a:srgbClr val="888080"/>
                </a:solidFill>
                <a:latin typeface="Inter" pitchFamily="34" charset="0"/>
                <a:ea typeface="Inter" pitchFamily="34" charset="-122"/>
              </a:rPr>
              <a:t>Agenda</a:t>
            </a:r>
          </a:p>
        </p:txBody>
      </p:sp>
      <p:sp>
        <p:nvSpPr>
          <p:cNvPr id="24" name="Text 6">
            <a:extLst>
              <a:ext uri="{FF2B5EF4-FFF2-40B4-BE49-F238E27FC236}">
                <a16:creationId xmlns:a16="http://schemas.microsoft.com/office/drawing/2014/main" id="{77181225-A83C-7410-E621-EFC6AD4F0091}"/>
              </a:ext>
            </a:extLst>
          </p:cNvPr>
          <p:cNvSpPr/>
          <p:nvPr/>
        </p:nvSpPr>
        <p:spPr>
          <a:xfrm>
            <a:off x="228063" y="1830953"/>
            <a:ext cx="372010" cy="194877"/>
          </a:xfrm>
          <a:prstGeom prst="rect">
            <a:avLst/>
          </a:prstGeom>
          <a:noFill/>
          <a:ln/>
        </p:spPr>
        <p:txBody>
          <a:bodyPr wrap="square" lIns="25400" tIns="25400" rIns="25400" bIns="25400" rtlCol="0" anchor="t">
            <a:noAutofit/>
          </a:bodyPr>
          <a:lstStyle/>
          <a:p>
            <a:pPr marL="0" indent="0" algn="l">
              <a:lnSpc>
                <a:spcPct val="130000"/>
              </a:lnSpc>
              <a:buNone/>
            </a:pPr>
            <a:r>
              <a:rPr lang="en-US" sz="1400" kern="0" spc="21" dirty="0">
                <a:solidFill>
                  <a:srgbClr val="888080"/>
                </a:solidFill>
                <a:latin typeface="Inter" pitchFamily="34" charset="0"/>
                <a:ea typeface="Inter" pitchFamily="34" charset="-122"/>
              </a:rPr>
              <a:t>02</a:t>
            </a:r>
          </a:p>
        </p:txBody>
      </p:sp>
      <p:sp>
        <p:nvSpPr>
          <p:cNvPr id="25" name="Text 8">
            <a:extLst>
              <a:ext uri="{FF2B5EF4-FFF2-40B4-BE49-F238E27FC236}">
                <a16:creationId xmlns:a16="http://schemas.microsoft.com/office/drawing/2014/main" id="{48D6FEBB-AD83-9615-15F8-94981B25D2AB}"/>
              </a:ext>
            </a:extLst>
          </p:cNvPr>
          <p:cNvSpPr/>
          <p:nvPr/>
        </p:nvSpPr>
        <p:spPr>
          <a:xfrm>
            <a:off x="230504" y="2152895"/>
            <a:ext cx="302895" cy="141422"/>
          </a:xfrm>
          <a:prstGeom prst="rect">
            <a:avLst/>
          </a:prstGeom>
          <a:noFill/>
          <a:ln/>
        </p:spPr>
        <p:txBody>
          <a:bodyPr wrap="square" lIns="25400" tIns="25400" rIns="25400" bIns="25400" rtlCol="0" anchor="t">
            <a:noAutofit/>
          </a:bodyPr>
          <a:lstStyle/>
          <a:p>
            <a:pPr marL="0" indent="0" algn="l">
              <a:lnSpc>
                <a:spcPct val="130000"/>
              </a:lnSpc>
              <a:buNone/>
            </a:pPr>
            <a:r>
              <a:rPr lang="en-US" sz="1400" kern="0" spc="21" dirty="0">
                <a:solidFill>
                  <a:srgbClr val="888080"/>
                </a:solidFill>
                <a:latin typeface="Inter" pitchFamily="34" charset="0"/>
                <a:ea typeface="Inter" pitchFamily="34" charset="-122"/>
              </a:rPr>
              <a:t>03</a:t>
            </a:r>
          </a:p>
        </p:txBody>
      </p:sp>
      <p:sp>
        <p:nvSpPr>
          <p:cNvPr id="26" name="Text 9">
            <a:extLst>
              <a:ext uri="{FF2B5EF4-FFF2-40B4-BE49-F238E27FC236}">
                <a16:creationId xmlns:a16="http://schemas.microsoft.com/office/drawing/2014/main" id="{6EE609B3-3D6D-CEC9-E2F8-F8D43003EFA7}"/>
              </a:ext>
            </a:extLst>
          </p:cNvPr>
          <p:cNvSpPr/>
          <p:nvPr/>
        </p:nvSpPr>
        <p:spPr>
          <a:xfrm>
            <a:off x="531240" y="2145027"/>
            <a:ext cx="1185416" cy="342476"/>
          </a:xfrm>
          <a:prstGeom prst="rect">
            <a:avLst/>
          </a:prstGeom>
          <a:noFill/>
          <a:ln/>
        </p:spPr>
        <p:txBody>
          <a:bodyPr wrap="square" lIns="25400" tIns="25400" rIns="25400" bIns="25400" rtlCol="0" anchor="t">
            <a:normAutofit/>
          </a:bodyPr>
          <a:lstStyle/>
          <a:p>
            <a:pPr marL="0" indent="0" algn="l">
              <a:lnSpc>
                <a:spcPct val="130000"/>
              </a:lnSpc>
              <a:buNone/>
            </a:pPr>
            <a:r>
              <a:rPr lang="en-US" sz="1400" kern="0" spc="21" dirty="0">
                <a:solidFill>
                  <a:srgbClr val="888080"/>
                </a:solidFill>
                <a:latin typeface="Inter" pitchFamily="34" charset="0"/>
                <a:ea typeface="Inter" pitchFamily="34" charset="-122"/>
              </a:rPr>
              <a:t>EDA</a:t>
            </a:r>
          </a:p>
        </p:txBody>
      </p:sp>
      <p:sp>
        <p:nvSpPr>
          <p:cNvPr id="27" name="Text 10">
            <a:extLst>
              <a:ext uri="{FF2B5EF4-FFF2-40B4-BE49-F238E27FC236}">
                <a16:creationId xmlns:a16="http://schemas.microsoft.com/office/drawing/2014/main" id="{ADECF462-1730-CCEC-9010-89B4F298E162}"/>
              </a:ext>
            </a:extLst>
          </p:cNvPr>
          <p:cNvSpPr/>
          <p:nvPr/>
        </p:nvSpPr>
        <p:spPr>
          <a:xfrm>
            <a:off x="228062" y="2444125"/>
            <a:ext cx="305337" cy="172132"/>
          </a:xfrm>
          <a:prstGeom prst="rect">
            <a:avLst/>
          </a:prstGeom>
          <a:noFill/>
          <a:ln/>
        </p:spPr>
        <p:txBody>
          <a:bodyPr wrap="square" lIns="25400" tIns="25400" rIns="25400" bIns="25400" rtlCol="0" anchor="t">
            <a:noAutofit/>
          </a:bodyPr>
          <a:lstStyle/>
          <a:p>
            <a:pPr marL="0" indent="0" algn="l">
              <a:lnSpc>
                <a:spcPct val="130000"/>
              </a:lnSpc>
              <a:buNone/>
            </a:pPr>
            <a:r>
              <a:rPr lang="en-US" sz="1400" kern="0" spc="21" dirty="0">
                <a:solidFill>
                  <a:srgbClr val="888080"/>
                </a:solidFill>
                <a:latin typeface="Inter" pitchFamily="34" charset="0"/>
                <a:ea typeface="Inter" pitchFamily="34" charset="-122"/>
              </a:rPr>
              <a:t>04</a:t>
            </a:r>
          </a:p>
        </p:txBody>
      </p:sp>
      <p:sp>
        <p:nvSpPr>
          <p:cNvPr id="28" name="Text 12">
            <a:extLst>
              <a:ext uri="{FF2B5EF4-FFF2-40B4-BE49-F238E27FC236}">
                <a16:creationId xmlns:a16="http://schemas.microsoft.com/office/drawing/2014/main" id="{67CAF3A5-BA24-938E-23BA-2AB01CDA51B1}"/>
              </a:ext>
            </a:extLst>
          </p:cNvPr>
          <p:cNvSpPr/>
          <p:nvPr/>
        </p:nvSpPr>
        <p:spPr>
          <a:xfrm>
            <a:off x="228062" y="2750711"/>
            <a:ext cx="372011" cy="158880"/>
          </a:xfrm>
          <a:prstGeom prst="rect">
            <a:avLst/>
          </a:prstGeom>
          <a:noFill/>
          <a:ln/>
        </p:spPr>
        <p:txBody>
          <a:bodyPr wrap="square" lIns="25400" tIns="25400" rIns="25400" bIns="25400" rtlCol="0" anchor="t">
            <a:noAutofit/>
          </a:bodyPr>
          <a:lstStyle/>
          <a:p>
            <a:pPr marL="0" indent="0" algn="l">
              <a:lnSpc>
                <a:spcPct val="130000"/>
              </a:lnSpc>
              <a:buNone/>
            </a:pPr>
            <a:r>
              <a:rPr lang="en-US" sz="1400" kern="0" spc="21" dirty="0">
                <a:solidFill>
                  <a:srgbClr val="888080"/>
                </a:solidFill>
                <a:latin typeface="Inter" pitchFamily="34" charset="0"/>
                <a:ea typeface="Inter" pitchFamily="34" charset="-122"/>
              </a:rPr>
              <a:t>05</a:t>
            </a:r>
          </a:p>
        </p:txBody>
      </p:sp>
      <p:sp>
        <p:nvSpPr>
          <p:cNvPr id="29" name="Text 13">
            <a:extLst>
              <a:ext uri="{FF2B5EF4-FFF2-40B4-BE49-F238E27FC236}">
                <a16:creationId xmlns:a16="http://schemas.microsoft.com/office/drawing/2014/main" id="{C4833558-E84D-4C80-391E-6506CE34F54E}"/>
              </a:ext>
            </a:extLst>
          </p:cNvPr>
          <p:cNvSpPr/>
          <p:nvPr/>
        </p:nvSpPr>
        <p:spPr>
          <a:xfrm>
            <a:off x="533399" y="2725489"/>
            <a:ext cx="948333" cy="316567"/>
          </a:xfrm>
          <a:prstGeom prst="rect">
            <a:avLst/>
          </a:prstGeom>
          <a:noFill/>
          <a:ln/>
        </p:spPr>
        <p:txBody>
          <a:bodyPr wrap="square" lIns="25400" tIns="25400" rIns="25400" bIns="25400" rtlCol="0" anchor="t">
            <a:normAutofit/>
          </a:bodyPr>
          <a:lstStyle/>
          <a:p>
            <a:pPr marL="0" indent="0" algn="l">
              <a:lnSpc>
                <a:spcPct val="130000"/>
              </a:lnSpc>
              <a:buNone/>
            </a:pPr>
            <a:r>
              <a:rPr lang="en-US" sz="1400" kern="0" spc="21" dirty="0">
                <a:solidFill>
                  <a:srgbClr val="888080"/>
                </a:solidFill>
                <a:latin typeface="Inter" pitchFamily="34" charset="0"/>
                <a:ea typeface="Inter" pitchFamily="34" charset="-122"/>
              </a:rPr>
              <a:t>Modeling</a:t>
            </a:r>
          </a:p>
        </p:txBody>
      </p:sp>
      <p:sp>
        <p:nvSpPr>
          <p:cNvPr id="30" name="Text 14">
            <a:extLst>
              <a:ext uri="{FF2B5EF4-FFF2-40B4-BE49-F238E27FC236}">
                <a16:creationId xmlns:a16="http://schemas.microsoft.com/office/drawing/2014/main" id="{07E90F38-204D-05C9-3A3D-CCACC3E61F9F}"/>
              </a:ext>
            </a:extLst>
          </p:cNvPr>
          <p:cNvSpPr/>
          <p:nvPr/>
        </p:nvSpPr>
        <p:spPr>
          <a:xfrm>
            <a:off x="235683" y="3042056"/>
            <a:ext cx="372010" cy="191463"/>
          </a:xfrm>
          <a:prstGeom prst="rect">
            <a:avLst/>
          </a:prstGeom>
          <a:noFill/>
          <a:ln/>
        </p:spPr>
        <p:txBody>
          <a:bodyPr wrap="square" lIns="25400" tIns="25400" rIns="25400" bIns="25400" rtlCol="0" anchor="t">
            <a:noAutofit/>
          </a:bodyPr>
          <a:lstStyle/>
          <a:p>
            <a:pPr marL="0" indent="0" algn="l">
              <a:lnSpc>
                <a:spcPct val="130000"/>
              </a:lnSpc>
              <a:buNone/>
            </a:pPr>
            <a:r>
              <a:rPr lang="en-US" sz="1400" b="1" kern="0" spc="21" dirty="0">
                <a:solidFill>
                  <a:srgbClr val="C25A2A"/>
                </a:solidFill>
                <a:latin typeface="JetBrains Mono" pitchFamily="34" charset="0"/>
                <a:ea typeface="JetBrains Mono" pitchFamily="34" charset="-122"/>
              </a:rPr>
              <a:t>06</a:t>
            </a:r>
          </a:p>
        </p:txBody>
      </p:sp>
      <p:sp>
        <p:nvSpPr>
          <p:cNvPr id="31" name="Text 15">
            <a:extLst>
              <a:ext uri="{FF2B5EF4-FFF2-40B4-BE49-F238E27FC236}">
                <a16:creationId xmlns:a16="http://schemas.microsoft.com/office/drawing/2014/main" id="{CC9DEC9C-8504-0F83-3910-51D2D41BC7EB}"/>
              </a:ext>
            </a:extLst>
          </p:cNvPr>
          <p:cNvSpPr/>
          <p:nvPr/>
        </p:nvSpPr>
        <p:spPr>
          <a:xfrm>
            <a:off x="533400" y="3032075"/>
            <a:ext cx="1185416" cy="626120"/>
          </a:xfrm>
          <a:prstGeom prst="rect">
            <a:avLst/>
          </a:prstGeom>
          <a:noFill/>
          <a:ln/>
        </p:spPr>
        <p:txBody>
          <a:bodyPr wrap="square" lIns="25400" tIns="25400" rIns="25400" bIns="25400" rtlCol="0" anchor="t">
            <a:normAutofit/>
          </a:bodyPr>
          <a:lstStyle/>
          <a:p>
            <a:pPr marL="0" indent="0" algn="l">
              <a:lnSpc>
                <a:spcPct val="130000"/>
              </a:lnSpc>
              <a:buNone/>
            </a:pPr>
            <a:r>
              <a:rPr lang="en-US" sz="1400" kern="0" spc="21" dirty="0">
                <a:solidFill>
                  <a:srgbClr val="1A1A1A"/>
                </a:solidFill>
                <a:latin typeface="Inter" pitchFamily="34" charset="0"/>
                <a:ea typeface="Inter" pitchFamily="34" charset="-122"/>
              </a:rPr>
              <a:t>Conclusions</a:t>
            </a:r>
          </a:p>
        </p:txBody>
      </p:sp>
      <p:sp>
        <p:nvSpPr>
          <p:cNvPr id="32" name="Text 9">
            <a:extLst>
              <a:ext uri="{FF2B5EF4-FFF2-40B4-BE49-F238E27FC236}">
                <a16:creationId xmlns:a16="http://schemas.microsoft.com/office/drawing/2014/main" id="{A3F5AB65-F8F2-81F0-3CEC-0C6C0EFFF0CF}"/>
              </a:ext>
            </a:extLst>
          </p:cNvPr>
          <p:cNvSpPr/>
          <p:nvPr/>
        </p:nvSpPr>
        <p:spPr>
          <a:xfrm>
            <a:off x="538609" y="2426180"/>
            <a:ext cx="1185416" cy="342476"/>
          </a:xfrm>
          <a:prstGeom prst="rect">
            <a:avLst/>
          </a:prstGeom>
          <a:noFill/>
          <a:ln/>
        </p:spPr>
        <p:txBody>
          <a:bodyPr wrap="square" lIns="25400" tIns="25400" rIns="25400" bIns="25400" rtlCol="0" anchor="t">
            <a:normAutofit/>
          </a:bodyPr>
          <a:lstStyle/>
          <a:p>
            <a:pPr marL="0" indent="0" algn="l">
              <a:lnSpc>
                <a:spcPct val="130000"/>
              </a:lnSpc>
              <a:buNone/>
            </a:pPr>
            <a:r>
              <a:rPr lang="en-US" sz="1400" kern="0" spc="21" dirty="0">
                <a:solidFill>
                  <a:srgbClr val="888080"/>
                </a:solidFill>
                <a:latin typeface="Inter" pitchFamily="34" charset="0"/>
                <a:ea typeface="Inter" pitchFamily="34" charset="-122"/>
              </a:rPr>
              <a:t>Pipeline</a:t>
            </a:r>
          </a:p>
        </p:txBody>
      </p:sp>
      <p:sp>
        <p:nvSpPr>
          <p:cNvPr id="33" name="Text 7">
            <a:extLst>
              <a:ext uri="{FF2B5EF4-FFF2-40B4-BE49-F238E27FC236}">
                <a16:creationId xmlns:a16="http://schemas.microsoft.com/office/drawing/2014/main" id="{835697F0-1697-5764-765A-18DF2C84A019}"/>
              </a:ext>
            </a:extLst>
          </p:cNvPr>
          <p:cNvSpPr/>
          <p:nvPr/>
        </p:nvSpPr>
        <p:spPr>
          <a:xfrm>
            <a:off x="523875" y="1826620"/>
            <a:ext cx="1325700" cy="467696"/>
          </a:xfrm>
          <a:prstGeom prst="rect">
            <a:avLst/>
          </a:prstGeom>
          <a:noFill/>
          <a:ln/>
        </p:spPr>
        <p:txBody>
          <a:bodyPr wrap="square" lIns="25400" tIns="25400" rIns="25400" bIns="25400" rtlCol="0" anchor="t">
            <a:noAutofit/>
          </a:bodyPr>
          <a:lstStyle/>
          <a:p>
            <a:pPr marL="0" indent="0" algn="l">
              <a:lnSpc>
                <a:spcPct val="130000"/>
              </a:lnSpc>
              <a:buNone/>
            </a:pPr>
            <a:r>
              <a:rPr lang="en-US" sz="1400" kern="0" spc="21" dirty="0">
                <a:solidFill>
                  <a:srgbClr val="888080"/>
                </a:solidFill>
                <a:latin typeface="Inter" pitchFamily="34" charset="0"/>
                <a:ea typeface="Inter" pitchFamily="34" charset="-122"/>
              </a:rPr>
              <a:t>Data &amp; target</a:t>
            </a:r>
          </a:p>
        </p:txBody>
      </p:sp>
      <p:sp>
        <p:nvSpPr>
          <p:cNvPr id="35" name="Text 1">
            <a:extLst>
              <a:ext uri="{FF2B5EF4-FFF2-40B4-BE49-F238E27FC236}">
                <a16:creationId xmlns:a16="http://schemas.microsoft.com/office/drawing/2014/main" id="{0DAB8499-3282-40BA-1C9B-B660DF3B0557}"/>
              </a:ext>
            </a:extLst>
          </p:cNvPr>
          <p:cNvSpPr/>
          <p:nvPr/>
        </p:nvSpPr>
        <p:spPr>
          <a:xfrm>
            <a:off x="261138" y="379598"/>
            <a:ext cx="1778457" cy="447678"/>
          </a:xfrm>
          <a:prstGeom prst="rect">
            <a:avLst/>
          </a:prstGeom>
          <a:noFill/>
          <a:ln/>
        </p:spPr>
        <p:txBody>
          <a:bodyPr wrap="square" lIns="25400" tIns="25400" rIns="25400" bIns="25400" rtlCol="0" anchor="t">
            <a:noAutofit/>
          </a:bodyPr>
          <a:lstStyle/>
          <a:p>
            <a:pPr marL="0" indent="0">
              <a:buNone/>
            </a:pPr>
            <a:r>
              <a:rPr lang="en-US" sz="1400" kern="0" spc="116" dirty="0">
                <a:solidFill>
                  <a:srgbClr val="888080"/>
                </a:solidFill>
                <a:latin typeface="JetBrains Mono" pitchFamily="34" charset="0"/>
                <a:ea typeface="JetBrains Mono" pitchFamily="34" charset="-122"/>
                <a:cs typeface="JetBrains Mono" pitchFamily="34" charset="-120"/>
              </a:rPr>
              <a:t>DS22 - Bar Ilan</a:t>
            </a:r>
            <a:br>
              <a:rPr lang="en-US" sz="1400" kern="0" spc="116" dirty="0">
                <a:solidFill>
                  <a:srgbClr val="888080"/>
                </a:solidFill>
                <a:latin typeface="JetBrains Mono" pitchFamily="34" charset="0"/>
                <a:ea typeface="JetBrains Mono" pitchFamily="34" charset="-122"/>
                <a:cs typeface="JetBrains Mono" pitchFamily="34" charset="-120"/>
              </a:rPr>
            </a:br>
            <a:r>
              <a:rPr lang="en-US" sz="1400" kern="0" spc="116" dirty="0">
                <a:solidFill>
                  <a:srgbClr val="888080"/>
                </a:solidFill>
                <a:latin typeface="JetBrains Mono" pitchFamily="34" charset="0"/>
                <a:ea typeface="JetBrains Mono" pitchFamily="34" charset="-122"/>
                <a:cs typeface="JetBrains Mono" pitchFamily="34" charset="-120"/>
              </a:rPr>
              <a:t>ML PROJECT</a:t>
            </a:r>
          </a:p>
          <a:p>
            <a:pPr marL="0" indent="0">
              <a:buNone/>
            </a:pPr>
            <a:r>
              <a:rPr lang="en-US" sz="1400" kern="0" spc="116" dirty="0">
                <a:solidFill>
                  <a:srgbClr val="888080"/>
                </a:solidFill>
                <a:latin typeface="JetBrains Mono" pitchFamily="34" charset="0"/>
                <a:ea typeface="JetBrains Mono" pitchFamily="34" charset="-122"/>
                <a:cs typeface="JetBrains Mono" pitchFamily="34" charset="-120"/>
              </a:rPr>
              <a:t>MAY 2026</a:t>
            </a:r>
            <a:endParaRPr lang="en-US" sz="1400" dirty="0"/>
          </a:p>
        </p:txBody>
      </p:sp>
      <p:sp>
        <p:nvSpPr>
          <p:cNvPr id="2" name="Text 19">
            <a:extLst>
              <a:ext uri="{FF2B5EF4-FFF2-40B4-BE49-F238E27FC236}">
                <a16:creationId xmlns:a16="http://schemas.microsoft.com/office/drawing/2014/main" id="{F9E25F6B-3F11-3852-A9E7-B07FAA2D3DE0}"/>
              </a:ext>
            </a:extLst>
          </p:cNvPr>
          <p:cNvSpPr/>
          <p:nvPr/>
        </p:nvSpPr>
        <p:spPr>
          <a:xfrm>
            <a:off x="2816399" y="1928391"/>
            <a:ext cx="14801715" cy="4189193"/>
          </a:xfrm>
          <a:prstGeom prst="rect">
            <a:avLst/>
          </a:prstGeom>
          <a:noFill/>
          <a:ln/>
        </p:spPr>
        <p:txBody>
          <a:bodyPr wrap="square" lIns="25400" tIns="25400" rIns="25400" bIns="25400" rtlCol="0" anchor="t">
            <a:normAutofit/>
          </a:bodyPr>
          <a:lstStyle/>
          <a:p>
            <a:pPr>
              <a:lnSpc>
                <a:spcPct val="150000"/>
              </a:lnSpc>
            </a:pPr>
            <a:r>
              <a:rPr lang="en-US" sz="2800" b="1" dirty="0"/>
              <a:t>Conclusions</a:t>
            </a:r>
          </a:p>
          <a:p>
            <a:pPr marL="342900" indent="-342900">
              <a:lnSpc>
                <a:spcPct val="150000"/>
              </a:lnSpc>
              <a:buFont typeface="Arial" panose="020B0604020202020204" pitchFamily="34" charset="0"/>
              <a:buChar char="•"/>
            </a:pPr>
            <a:r>
              <a:rPr lang="en-US" sz="2800" dirty="0" err="1"/>
              <a:t>XGBoost</a:t>
            </a:r>
            <a:r>
              <a:rPr lang="en-US" sz="2800" dirty="0"/>
              <a:t> achieved the best overall performance among the tested models. </a:t>
            </a:r>
          </a:p>
          <a:p>
            <a:pPr marL="342900" indent="-342900">
              <a:lnSpc>
                <a:spcPct val="150000"/>
              </a:lnSpc>
              <a:buFont typeface="Arial" panose="020B0604020202020204" pitchFamily="34" charset="0"/>
              <a:buChar char="•"/>
            </a:pPr>
            <a:r>
              <a:rPr lang="en-US" sz="2800" dirty="0"/>
              <a:t>The classification approach (</a:t>
            </a:r>
            <a:r>
              <a:rPr lang="en-US" sz="2000" dirty="0"/>
              <a:t>early</a:t>
            </a:r>
            <a:r>
              <a:rPr lang="en-US" sz="2800" dirty="0"/>
              <a:t>, </a:t>
            </a:r>
            <a:r>
              <a:rPr lang="en-US" sz="2000" dirty="0" err="1"/>
              <a:t>on_time</a:t>
            </a:r>
            <a:r>
              <a:rPr lang="en-US" sz="2800" dirty="0"/>
              <a:t>, </a:t>
            </a:r>
            <a:r>
              <a:rPr lang="en-US" sz="2000" dirty="0"/>
              <a:t>delay</a:t>
            </a:r>
            <a:r>
              <a:rPr lang="en-US" sz="2800" dirty="0"/>
              <a:t>) provided meaningful operational insights. </a:t>
            </a:r>
          </a:p>
          <a:p>
            <a:pPr marL="342900" indent="-342900">
              <a:lnSpc>
                <a:spcPct val="150000"/>
              </a:lnSpc>
              <a:buFont typeface="Arial" panose="020B0604020202020204" pitchFamily="34" charset="0"/>
              <a:buChar char="•"/>
            </a:pPr>
            <a:r>
              <a:rPr lang="en-US" sz="2800" dirty="0"/>
              <a:t>Feature engineering and tuning significantly improved model performance. </a:t>
            </a:r>
          </a:p>
          <a:p>
            <a:pPr marL="342900" indent="-342900">
              <a:lnSpc>
                <a:spcPct val="150000"/>
              </a:lnSpc>
              <a:buFont typeface="Arial" panose="020B0604020202020204" pitchFamily="34" charset="0"/>
              <a:buChar char="•"/>
            </a:pPr>
            <a:r>
              <a:rPr lang="en-US" sz="2800" dirty="0"/>
              <a:t>The model generalized well with no major overfitting. </a:t>
            </a:r>
          </a:p>
          <a:p>
            <a:pPr marL="342900" indent="-342900">
              <a:lnSpc>
                <a:spcPct val="150000"/>
              </a:lnSpc>
              <a:buFont typeface="Arial" panose="020B0604020202020204" pitchFamily="34" charset="0"/>
              <a:buChar char="•"/>
            </a:pPr>
            <a:r>
              <a:rPr lang="en-US" sz="2800" dirty="0"/>
              <a:t>The main challenge remained the </a:t>
            </a:r>
            <a:r>
              <a:rPr lang="en-US" sz="2000" dirty="0"/>
              <a:t>early</a:t>
            </a:r>
            <a:r>
              <a:rPr lang="en-US" sz="2800" dirty="0"/>
              <a:t> and </a:t>
            </a:r>
            <a:r>
              <a:rPr lang="en-US" sz="2000" dirty="0" err="1"/>
              <a:t>on_time</a:t>
            </a:r>
            <a:r>
              <a:rPr lang="en-US" sz="2800" dirty="0"/>
              <a:t> classes due to class imbalance. </a:t>
            </a:r>
          </a:p>
          <a:p>
            <a:pPr marL="342900" indent="-342900">
              <a:buFont typeface="Arial" panose="020B0604020202020204" pitchFamily="34" charset="0"/>
              <a:buChar char="•"/>
            </a:pPr>
            <a:endParaRPr lang="en-US" sz="2400" dirty="0"/>
          </a:p>
        </p:txBody>
      </p:sp>
    </p:spTree>
    <p:extLst>
      <p:ext uri="{BB962C8B-B14F-4D97-AF65-F5344CB8AC3E}">
        <p14:creationId xmlns:p14="http://schemas.microsoft.com/office/powerpoint/2010/main" val="92336370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F89ED1-4D32-18FD-402B-5CB69E812B40}"/>
            </a:ext>
          </a:extLst>
        </p:cNvPr>
        <p:cNvGrpSpPr/>
        <p:nvPr/>
      </p:nvGrpSpPr>
      <p:grpSpPr>
        <a:xfrm>
          <a:off x="0" y="0"/>
          <a:ext cx="0" cy="0"/>
          <a:chOff x="0" y="0"/>
          <a:chExt cx="0" cy="0"/>
        </a:xfrm>
      </p:grpSpPr>
      <p:sp>
        <p:nvSpPr>
          <p:cNvPr id="34" name="Shape 0">
            <a:extLst>
              <a:ext uri="{FF2B5EF4-FFF2-40B4-BE49-F238E27FC236}">
                <a16:creationId xmlns:a16="http://schemas.microsoft.com/office/drawing/2014/main" id="{78D1A139-2BE8-6CC7-6E26-63650BBC3962}"/>
              </a:ext>
            </a:extLst>
          </p:cNvPr>
          <p:cNvSpPr/>
          <p:nvPr/>
        </p:nvSpPr>
        <p:spPr>
          <a:xfrm>
            <a:off x="0" y="0"/>
            <a:ext cx="2095500" cy="10287000"/>
          </a:xfrm>
          <a:prstGeom prst="rect">
            <a:avLst/>
          </a:prstGeom>
          <a:solidFill>
            <a:srgbClr val="EBE5D6"/>
          </a:solidFill>
          <a:ln/>
        </p:spPr>
        <p:txBody>
          <a:bodyPr/>
          <a:lstStyle/>
          <a:p>
            <a:endParaRPr lang="he-IL"/>
          </a:p>
        </p:txBody>
      </p:sp>
      <p:sp>
        <p:nvSpPr>
          <p:cNvPr id="19" name="Text 17">
            <a:extLst>
              <a:ext uri="{FF2B5EF4-FFF2-40B4-BE49-F238E27FC236}">
                <a16:creationId xmlns:a16="http://schemas.microsoft.com/office/drawing/2014/main" id="{42DFEF9D-94A7-2E99-A461-EE57F50A436A}"/>
              </a:ext>
            </a:extLst>
          </p:cNvPr>
          <p:cNvSpPr/>
          <p:nvPr/>
        </p:nvSpPr>
        <p:spPr>
          <a:xfrm>
            <a:off x="2781300" y="571500"/>
            <a:ext cx="15187041" cy="171450"/>
          </a:xfrm>
          <a:prstGeom prst="rect">
            <a:avLst/>
          </a:prstGeom>
          <a:noFill/>
          <a:ln/>
        </p:spPr>
        <p:txBody>
          <a:bodyPr wrap="square" lIns="25400" tIns="25400" rIns="25400" bIns="25400" rtlCol="0" anchor="ctr">
            <a:noAutofit/>
          </a:bodyPr>
          <a:lstStyle/>
          <a:p>
            <a:pPr marL="0" indent="0" algn="l">
              <a:buNone/>
            </a:pPr>
            <a:r>
              <a:rPr lang="en-US" sz="1400" kern="0" spc="182" dirty="0">
                <a:solidFill>
                  <a:srgbClr val="888080"/>
                </a:solidFill>
                <a:latin typeface="JetBrains Mono" pitchFamily="34" charset="0"/>
                <a:ea typeface="JetBrains Mono" pitchFamily="34" charset="-122"/>
                <a:cs typeface="JetBrains Mono" pitchFamily="34" charset="-120"/>
              </a:rPr>
              <a:t>FROM BASELINE TO FINAL · WHAT EACH STEP BOUGHT US</a:t>
            </a:r>
            <a:endParaRPr lang="en-US" sz="1400" dirty="0"/>
          </a:p>
        </p:txBody>
      </p:sp>
      <p:sp>
        <p:nvSpPr>
          <p:cNvPr id="20" name="Text 18">
            <a:extLst>
              <a:ext uri="{FF2B5EF4-FFF2-40B4-BE49-F238E27FC236}">
                <a16:creationId xmlns:a16="http://schemas.microsoft.com/office/drawing/2014/main" id="{FF71A69B-172A-EF02-9CF9-8B2BA8ACFCB4}"/>
              </a:ext>
            </a:extLst>
          </p:cNvPr>
          <p:cNvSpPr/>
          <p:nvPr/>
        </p:nvSpPr>
        <p:spPr>
          <a:xfrm>
            <a:off x="2781300" y="914400"/>
            <a:ext cx="15187041" cy="643830"/>
          </a:xfrm>
          <a:prstGeom prst="rect">
            <a:avLst/>
          </a:prstGeom>
          <a:noFill/>
          <a:ln/>
        </p:spPr>
        <p:txBody>
          <a:bodyPr wrap="square" lIns="25400" tIns="25400" rIns="25400" bIns="25400" rtlCol="0" anchor="t">
            <a:normAutofit/>
          </a:bodyPr>
          <a:lstStyle/>
          <a:p>
            <a:pPr>
              <a:lnSpc>
                <a:spcPct val="106000"/>
              </a:lnSpc>
            </a:pPr>
            <a:r>
              <a:rPr lang="en-US" sz="3600" dirty="0"/>
              <a:t>Summary</a:t>
            </a:r>
          </a:p>
        </p:txBody>
      </p:sp>
      <p:sp>
        <p:nvSpPr>
          <p:cNvPr id="46" name="Shape 5">
            <a:extLst>
              <a:ext uri="{FF2B5EF4-FFF2-40B4-BE49-F238E27FC236}">
                <a16:creationId xmlns:a16="http://schemas.microsoft.com/office/drawing/2014/main" id="{59C91BD3-69F1-347D-CA55-07F569DBD21A}"/>
              </a:ext>
            </a:extLst>
          </p:cNvPr>
          <p:cNvSpPr/>
          <p:nvPr/>
        </p:nvSpPr>
        <p:spPr>
          <a:xfrm>
            <a:off x="2781300" y="9410701"/>
            <a:ext cx="15027618" cy="59686"/>
          </a:xfrm>
          <a:prstGeom prst="rect">
            <a:avLst/>
          </a:prstGeom>
          <a:solidFill>
            <a:srgbClr val="1A1A1A"/>
          </a:solidFill>
          <a:ln/>
        </p:spPr>
        <p:txBody>
          <a:bodyPr/>
          <a:lstStyle/>
          <a:p>
            <a:endParaRPr lang="he-IL"/>
          </a:p>
        </p:txBody>
      </p:sp>
      <p:sp>
        <p:nvSpPr>
          <p:cNvPr id="47" name="Text 6">
            <a:extLst>
              <a:ext uri="{FF2B5EF4-FFF2-40B4-BE49-F238E27FC236}">
                <a16:creationId xmlns:a16="http://schemas.microsoft.com/office/drawing/2014/main" id="{B3768035-3DF2-9099-83E8-2C6080BB4FA0}"/>
              </a:ext>
            </a:extLst>
          </p:cNvPr>
          <p:cNvSpPr/>
          <p:nvPr/>
        </p:nvSpPr>
        <p:spPr>
          <a:xfrm>
            <a:off x="2816399" y="9564785"/>
            <a:ext cx="3859240" cy="145498"/>
          </a:xfrm>
          <a:prstGeom prst="rect">
            <a:avLst/>
          </a:prstGeom>
          <a:noFill/>
          <a:ln/>
        </p:spPr>
        <p:txBody>
          <a:bodyPr wrap="square" lIns="25400" tIns="25400" rIns="25400" bIns="25400" rtlCol="0" anchor="t">
            <a:noAutofit/>
          </a:bodyPr>
          <a:lstStyle/>
          <a:p>
            <a:pPr marL="0" indent="0" algn="l">
              <a:buNone/>
            </a:pPr>
            <a:r>
              <a:rPr lang="en-US" sz="1400" kern="0" spc="135" dirty="0">
                <a:solidFill>
                  <a:srgbClr val="888080"/>
                </a:solidFill>
                <a:latin typeface="JetBrains Mono" pitchFamily="34" charset="0"/>
                <a:ea typeface="JetBrains Mono" pitchFamily="34" charset="-122"/>
                <a:cs typeface="JetBrains Mono" pitchFamily="34" charset="-120"/>
              </a:rPr>
              <a:t>INSTITUTION</a:t>
            </a:r>
            <a:endParaRPr lang="en-US" sz="1400" dirty="0"/>
          </a:p>
        </p:txBody>
      </p:sp>
      <p:sp>
        <p:nvSpPr>
          <p:cNvPr id="48" name="Text 7">
            <a:extLst>
              <a:ext uri="{FF2B5EF4-FFF2-40B4-BE49-F238E27FC236}">
                <a16:creationId xmlns:a16="http://schemas.microsoft.com/office/drawing/2014/main" id="{DFC3E156-05EA-0302-6B4F-4A77FDFC5854}"/>
              </a:ext>
            </a:extLst>
          </p:cNvPr>
          <p:cNvSpPr/>
          <p:nvPr/>
        </p:nvSpPr>
        <p:spPr>
          <a:xfrm>
            <a:off x="2816399" y="9797666"/>
            <a:ext cx="4864292" cy="335161"/>
          </a:xfrm>
          <a:prstGeom prst="rect">
            <a:avLst/>
          </a:prstGeom>
          <a:noFill/>
          <a:ln/>
        </p:spPr>
        <p:txBody>
          <a:bodyPr wrap="square" lIns="25400" tIns="25400" rIns="25400" bIns="25400" rtlCol="0" anchor="t">
            <a:noAutofit/>
          </a:bodyPr>
          <a:lstStyle/>
          <a:p>
            <a:pPr marL="0" indent="0" algn="l">
              <a:lnSpc>
                <a:spcPct val="130000"/>
              </a:lnSpc>
              <a:buNone/>
            </a:pPr>
            <a:r>
              <a:rPr lang="en-US" dirty="0">
                <a:solidFill>
                  <a:srgbClr val="1A1A1A"/>
                </a:solidFill>
                <a:latin typeface="Instrument Serif" pitchFamily="34" charset="0"/>
                <a:ea typeface="Instrument Serif" pitchFamily="34" charset="-122"/>
                <a:cs typeface="Instrument Serif" pitchFamily="34" charset="-120"/>
              </a:rPr>
              <a:t>Bar-Ilan University</a:t>
            </a:r>
            <a:endParaRPr lang="en-US" dirty="0"/>
          </a:p>
        </p:txBody>
      </p:sp>
      <p:sp>
        <p:nvSpPr>
          <p:cNvPr id="49" name="Text 8">
            <a:extLst>
              <a:ext uri="{FF2B5EF4-FFF2-40B4-BE49-F238E27FC236}">
                <a16:creationId xmlns:a16="http://schemas.microsoft.com/office/drawing/2014/main" id="{6C8575D1-E747-CCE2-AFD7-4AFD96F6834D}"/>
              </a:ext>
            </a:extLst>
          </p:cNvPr>
          <p:cNvSpPr/>
          <p:nvPr/>
        </p:nvSpPr>
        <p:spPr>
          <a:xfrm>
            <a:off x="11464588" y="9587420"/>
            <a:ext cx="2968618" cy="145498"/>
          </a:xfrm>
          <a:prstGeom prst="rect">
            <a:avLst/>
          </a:prstGeom>
          <a:noFill/>
          <a:ln/>
        </p:spPr>
        <p:txBody>
          <a:bodyPr wrap="square" lIns="25400" tIns="25400" rIns="25400" bIns="25400" rtlCol="0" anchor="t">
            <a:noAutofit/>
          </a:bodyPr>
          <a:lstStyle/>
          <a:p>
            <a:pPr marL="0" indent="0" algn="l">
              <a:buNone/>
            </a:pPr>
            <a:r>
              <a:rPr lang="en-US" sz="1400" kern="0" spc="135" dirty="0">
                <a:solidFill>
                  <a:srgbClr val="888080"/>
                </a:solidFill>
                <a:latin typeface="JetBrains Mono" pitchFamily="34" charset="0"/>
                <a:ea typeface="JetBrains Mono" pitchFamily="34" charset="-122"/>
                <a:cs typeface="JetBrains Mono" pitchFamily="34" charset="-120"/>
              </a:rPr>
              <a:t>AUTHORS</a:t>
            </a:r>
            <a:endParaRPr lang="en-US" sz="1400" dirty="0"/>
          </a:p>
        </p:txBody>
      </p:sp>
      <p:sp>
        <p:nvSpPr>
          <p:cNvPr id="50" name="Text 9">
            <a:extLst>
              <a:ext uri="{FF2B5EF4-FFF2-40B4-BE49-F238E27FC236}">
                <a16:creationId xmlns:a16="http://schemas.microsoft.com/office/drawing/2014/main" id="{0287E5D3-F375-1645-ACD9-7AD9723C8283}"/>
              </a:ext>
            </a:extLst>
          </p:cNvPr>
          <p:cNvSpPr/>
          <p:nvPr/>
        </p:nvSpPr>
        <p:spPr>
          <a:xfrm>
            <a:off x="11464588" y="9793599"/>
            <a:ext cx="3741728" cy="335161"/>
          </a:xfrm>
          <a:prstGeom prst="rect">
            <a:avLst/>
          </a:prstGeom>
          <a:noFill/>
          <a:ln/>
        </p:spPr>
        <p:txBody>
          <a:bodyPr wrap="square" lIns="25400" tIns="25400" rIns="25400" bIns="25400" rtlCol="0" anchor="t">
            <a:noAutofit/>
          </a:bodyPr>
          <a:lstStyle/>
          <a:p>
            <a:pPr marL="0" indent="0" algn="l">
              <a:lnSpc>
                <a:spcPct val="130000"/>
              </a:lnSpc>
              <a:buNone/>
            </a:pPr>
            <a:r>
              <a:rPr lang="en-US" dirty="0">
                <a:solidFill>
                  <a:srgbClr val="1A1A1A"/>
                </a:solidFill>
                <a:latin typeface="Instrument Serif" pitchFamily="34" charset="0"/>
                <a:ea typeface="Instrument Serif" pitchFamily="34" charset="-122"/>
                <a:cs typeface="Instrument Serif" pitchFamily="34" charset="-120"/>
              </a:rPr>
              <a:t>Ofer Shahal · Tamir Edelstein</a:t>
            </a:r>
            <a:endParaRPr lang="en-US" dirty="0"/>
          </a:p>
        </p:txBody>
      </p:sp>
      <p:sp>
        <p:nvSpPr>
          <p:cNvPr id="57" name="TextBox 56">
            <a:extLst>
              <a:ext uri="{FF2B5EF4-FFF2-40B4-BE49-F238E27FC236}">
                <a16:creationId xmlns:a16="http://schemas.microsoft.com/office/drawing/2014/main" id="{F2614E57-4012-F07E-54C9-A9EBA5EE4251}"/>
              </a:ext>
            </a:extLst>
          </p:cNvPr>
          <p:cNvSpPr txBox="1"/>
          <p:nvPr/>
        </p:nvSpPr>
        <p:spPr>
          <a:xfrm>
            <a:off x="7226492" y="9824717"/>
            <a:ext cx="3590314" cy="369332"/>
          </a:xfrm>
          <a:prstGeom prst="rect">
            <a:avLst/>
          </a:prstGeom>
          <a:noFill/>
        </p:spPr>
        <p:txBody>
          <a:bodyPr wrap="square">
            <a:spAutoFit/>
          </a:bodyPr>
          <a:lstStyle/>
          <a:p>
            <a:r>
              <a:rPr lang="en-US" b="0" i="0" dirty="0">
                <a:solidFill>
                  <a:srgbClr val="1A1A1A"/>
                </a:solidFill>
                <a:effectLst/>
                <a:latin typeface="Instrument Serif"/>
              </a:rPr>
              <a:t>DS22 · 1125 · Machine Learning</a:t>
            </a:r>
            <a:endParaRPr lang="he-IL" dirty="0"/>
          </a:p>
        </p:txBody>
      </p:sp>
      <p:sp>
        <p:nvSpPr>
          <p:cNvPr id="58" name="Text 8">
            <a:extLst>
              <a:ext uri="{FF2B5EF4-FFF2-40B4-BE49-F238E27FC236}">
                <a16:creationId xmlns:a16="http://schemas.microsoft.com/office/drawing/2014/main" id="{F567C9C1-4173-81A5-5379-EBAD77BE1814}"/>
              </a:ext>
            </a:extLst>
          </p:cNvPr>
          <p:cNvSpPr/>
          <p:nvPr/>
        </p:nvSpPr>
        <p:spPr>
          <a:xfrm>
            <a:off x="7358705" y="9565310"/>
            <a:ext cx="2968618" cy="145498"/>
          </a:xfrm>
          <a:prstGeom prst="rect">
            <a:avLst/>
          </a:prstGeom>
          <a:noFill/>
          <a:ln/>
        </p:spPr>
        <p:txBody>
          <a:bodyPr wrap="square" lIns="25400" tIns="25400" rIns="25400" bIns="25400" rtlCol="0" anchor="t">
            <a:noAutofit/>
          </a:bodyPr>
          <a:lstStyle/>
          <a:p>
            <a:pPr marL="0" indent="0" algn="l">
              <a:buNone/>
            </a:pPr>
            <a:r>
              <a:rPr lang="en-US" sz="1400" kern="0" spc="135" dirty="0">
                <a:solidFill>
                  <a:srgbClr val="888080"/>
                </a:solidFill>
                <a:latin typeface="JetBrains Mono" pitchFamily="34" charset="0"/>
                <a:ea typeface="JetBrains Mono" pitchFamily="34" charset="-122"/>
                <a:cs typeface="JetBrains Mono" pitchFamily="34" charset="-120"/>
              </a:rPr>
              <a:t>COURSE</a:t>
            </a:r>
            <a:endParaRPr lang="en-US" sz="1400" dirty="0"/>
          </a:p>
        </p:txBody>
      </p:sp>
      <p:sp>
        <p:nvSpPr>
          <p:cNvPr id="59" name="Text 8">
            <a:extLst>
              <a:ext uri="{FF2B5EF4-FFF2-40B4-BE49-F238E27FC236}">
                <a16:creationId xmlns:a16="http://schemas.microsoft.com/office/drawing/2014/main" id="{AF257B92-BAA5-4F8F-F52F-6B28294C3193}"/>
              </a:ext>
            </a:extLst>
          </p:cNvPr>
          <p:cNvSpPr/>
          <p:nvPr/>
        </p:nvSpPr>
        <p:spPr>
          <a:xfrm>
            <a:off x="15570472" y="9570993"/>
            <a:ext cx="3741728" cy="161925"/>
          </a:xfrm>
          <a:prstGeom prst="rect">
            <a:avLst/>
          </a:prstGeom>
          <a:noFill/>
          <a:ln/>
        </p:spPr>
        <p:txBody>
          <a:bodyPr wrap="square" lIns="25400" tIns="25400" rIns="25400" bIns="25400" rtlCol="0" anchor="t">
            <a:noAutofit/>
          </a:bodyPr>
          <a:lstStyle/>
          <a:p>
            <a:pPr marL="0" indent="0" algn="l">
              <a:buNone/>
            </a:pPr>
            <a:r>
              <a:rPr lang="en-US" sz="1400" kern="0" spc="135" dirty="0">
                <a:solidFill>
                  <a:srgbClr val="888080"/>
                </a:solidFill>
                <a:latin typeface="JetBrains Mono" pitchFamily="34" charset="0"/>
                <a:ea typeface="JetBrains Mono" pitchFamily="34" charset="-122"/>
                <a:cs typeface="JetBrains Mono" pitchFamily="34" charset="-120"/>
              </a:rPr>
              <a:t>DATE</a:t>
            </a:r>
            <a:endParaRPr lang="en-US" sz="1400" dirty="0"/>
          </a:p>
        </p:txBody>
      </p:sp>
      <p:sp>
        <p:nvSpPr>
          <p:cNvPr id="60" name="Text 9">
            <a:extLst>
              <a:ext uri="{FF2B5EF4-FFF2-40B4-BE49-F238E27FC236}">
                <a16:creationId xmlns:a16="http://schemas.microsoft.com/office/drawing/2014/main" id="{A33FE039-5652-F650-E959-74F17B335330}"/>
              </a:ext>
            </a:extLst>
          </p:cNvPr>
          <p:cNvSpPr/>
          <p:nvPr/>
        </p:nvSpPr>
        <p:spPr>
          <a:xfrm>
            <a:off x="15477406" y="9784214"/>
            <a:ext cx="3741728" cy="335161"/>
          </a:xfrm>
          <a:prstGeom prst="rect">
            <a:avLst/>
          </a:prstGeom>
          <a:noFill/>
          <a:ln/>
        </p:spPr>
        <p:txBody>
          <a:bodyPr wrap="square" lIns="25400" tIns="25400" rIns="25400" bIns="25400" rtlCol="0" anchor="t">
            <a:noAutofit/>
          </a:bodyPr>
          <a:lstStyle/>
          <a:p>
            <a:pPr marL="0" indent="0" algn="l">
              <a:lnSpc>
                <a:spcPct val="130000"/>
              </a:lnSpc>
              <a:buNone/>
            </a:pPr>
            <a:r>
              <a:rPr lang="en-US" dirty="0">
                <a:solidFill>
                  <a:srgbClr val="1A1A1A"/>
                </a:solidFill>
                <a:latin typeface="Instrument Serif" pitchFamily="34" charset="0"/>
                <a:ea typeface="Instrument Serif" pitchFamily="34" charset="-122"/>
              </a:rPr>
              <a:t>May 2026</a:t>
            </a:r>
            <a:endParaRPr lang="en-US" dirty="0"/>
          </a:p>
        </p:txBody>
      </p:sp>
      <p:sp>
        <p:nvSpPr>
          <p:cNvPr id="21" name="Text 16">
            <a:extLst>
              <a:ext uri="{FF2B5EF4-FFF2-40B4-BE49-F238E27FC236}">
                <a16:creationId xmlns:a16="http://schemas.microsoft.com/office/drawing/2014/main" id="{006941F4-F4F1-CF04-DB1D-236B52811BC5}"/>
              </a:ext>
            </a:extLst>
          </p:cNvPr>
          <p:cNvSpPr/>
          <p:nvPr/>
        </p:nvSpPr>
        <p:spPr>
          <a:xfrm>
            <a:off x="266700" y="9410700"/>
            <a:ext cx="1628775" cy="342900"/>
          </a:xfrm>
          <a:prstGeom prst="rect">
            <a:avLst/>
          </a:prstGeom>
          <a:noFill/>
          <a:ln/>
        </p:spPr>
        <p:txBody>
          <a:bodyPr wrap="square" lIns="25400" tIns="25400" rIns="25400" bIns="25400" rtlCol="0" anchor="t">
            <a:noAutofit/>
          </a:bodyPr>
          <a:lstStyle/>
          <a:p>
            <a:pPr marL="0" indent="0" algn="l">
              <a:lnSpc>
                <a:spcPct val="160000"/>
              </a:lnSpc>
              <a:buNone/>
            </a:pPr>
            <a:r>
              <a:rPr lang="en-US" sz="1400" b="1" kern="0" spc="105" dirty="0">
                <a:solidFill>
                  <a:srgbClr val="1A1A1A"/>
                </a:solidFill>
                <a:latin typeface="JetBrains Mono" pitchFamily="34" charset="0"/>
                <a:ea typeface="JetBrains Mono" pitchFamily="34" charset="-122"/>
                <a:cs typeface="JetBrains Mono" pitchFamily="34" charset="-120"/>
              </a:rPr>
              <a:t>34 / 34</a:t>
            </a:r>
            <a:endParaRPr lang="en-US" sz="1400" dirty="0"/>
          </a:p>
        </p:txBody>
      </p:sp>
      <p:sp>
        <p:nvSpPr>
          <p:cNvPr id="22" name="Text 4">
            <a:extLst>
              <a:ext uri="{FF2B5EF4-FFF2-40B4-BE49-F238E27FC236}">
                <a16:creationId xmlns:a16="http://schemas.microsoft.com/office/drawing/2014/main" id="{E8383411-93F6-65CD-E0E9-D09F6D9632C9}"/>
              </a:ext>
            </a:extLst>
          </p:cNvPr>
          <p:cNvSpPr/>
          <p:nvPr/>
        </p:nvSpPr>
        <p:spPr>
          <a:xfrm>
            <a:off x="228063" y="1524367"/>
            <a:ext cx="372012" cy="200025"/>
          </a:xfrm>
          <a:prstGeom prst="rect">
            <a:avLst/>
          </a:prstGeom>
          <a:noFill/>
          <a:ln/>
        </p:spPr>
        <p:txBody>
          <a:bodyPr wrap="square" lIns="25400" tIns="25400" rIns="25400" bIns="25400" rtlCol="0" anchor="t">
            <a:noAutofit/>
          </a:bodyPr>
          <a:lstStyle/>
          <a:p>
            <a:pPr marL="0" indent="0" algn="l">
              <a:lnSpc>
                <a:spcPct val="130000"/>
              </a:lnSpc>
              <a:buNone/>
            </a:pPr>
            <a:r>
              <a:rPr lang="en-US" sz="1400" kern="0" spc="21" dirty="0">
                <a:solidFill>
                  <a:srgbClr val="888080"/>
                </a:solidFill>
                <a:latin typeface="Inter" pitchFamily="34" charset="0"/>
                <a:ea typeface="Inter" pitchFamily="34" charset="-122"/>
              </a:rPr>
              <a:t>01</a:t>
            </a:r>
          </a:p>
        </p:txBody>
      </p:sp>
      <p:sp>
        <p:nvSpPr>
          <p:cNvPr id="23" name="Text 5">
            <a:extLst>
              <a:ext uri="{FF2B5EF4-FFF2-40B4-BE49-F238E27FC236}">
                <a16:creationId xmlns:a16="http://schemas.microsoft.com/office/drawing/2014/main" id="{CADD8415-BCC8-CBBF-FDE8-3E90BA365649}"/>
              </a:ext>
            </a:extLst>
          </p:cNvPr>
          <p:cNvSpPr/>
          <p:nvPr/>
        </p:nvSpPr>
        <p:spPr>
          <a:xfrm>
            <a:off x="523875" y="1522975"/>
            <a:ext cx="876300" cy="476251"/>
          </a:xfrm>
          <a:prstGeom prst="rect">
            <a:avLst/>
          </a:prstGeom>
          <a:noFill/>
          <a:ln/>
        </p:spPr>
        <p:txBody>
          <a:bodyPr wrap="square" lIns="25400" tIns="25400" rIns="25400" bIns="25400" rtlCol="0" anchor="t">
            <a:normAutofit/>
          </a:bodyPr>
          <a:lstStyle/>
          <a:p>
            <a:pPr marL="0" indent="0" algn="l">
              <a:lnSpc>
                <a:spcPct val="130000"/>
              </a:lnSpc>
              <a:buNone/>
            </a:pPr>
            <a:r>
              <a:rPr lang="en-US" sz="1400" kern="0" spc="21" dirty="0">
                <a:solidFill>
                  <a:srgbClr val="888080"/>
                </a:solidFill>
                <a:latin typeface="Inter" pitchFamily="34" charset="0"/>
                <a:ea typeface="Inter" pitchFamily="34" charset="-122"/>
              </a:rPr>
              <a:t>Agenda</a:t>
            </a:r>
          </a:p>
        </p:txBody>
      </p:sp>
      <p:sp>
        <p:nvSpPr>
          <p:cNvPr id="24" name="Text 6">
            <a:extLst>
              <a:ext uri="{FF2B5EF4-FFF2-40B4-BE49-F238E27FC236}">
                <a16:creationId xmlns:a16="http://schemas.microsoft.com/office/drawing/2014/main" id="{790AEACF-5A55-28F3-7126-678470202FD8}"/>
              </a:ext>
            </a:extLst>
          </p:cNvPr>
          <p:cNvSpPr/>
          <p:nvPr/>
        </p:nvSpPr>
        <p:spPr>
          <a:xfrm>
            <a:off x="228063" y="1830953"/>
            <a:ext cx="372010" cy="194877"/>
          </a:xfrm>
          <a:prstGeom prst="rect">
            <a:avLst/>
          </a:prstGeom>
          <a:noFill/>
          <a:ln/>
        </p:spPr>
        <p:txBody>
          <a:bodyPr wrap="square" lIns="25400" tIns="25400" rIns="25400" bIns="25400" rtlCol="0" anchor="t">
            <a:noAutofit/>
          </a:bodyPr>
          <a:lstStyle/>
          <a:p>
            <a:pPr marL="0" indent="0" algn="l">
              <a:lnSpc>
                <a:spcPct val="130000"/>
              </a:lnSpc>
              <a:buNone/>
            </a:pPr>
            <a:r>
              <a:rPr lang="en-US" sz="1400" kern="0" spc="21" dirty="0">
                <a:solidFill>
                  <a:srgbClr val="888080"/>
                </a:solidFill>
                <a:latin typeface="Inter" pitchFamily="34" charset="0"/>
                <a:ea typeface="Inter" pitchFamily="34" charset="-122"/>
              </a:rPr>
              <a:t>02</a:t>
            </a:r>
          </a:p>
        </p:txBody>
      </p:sp>
      <p:sp>
        <p:nvSpPr>
          <p:cNvPr id="25" name="Text 8">
            <a:extLst>
              <a:ext uri="{FF2B5EF4-FFF2-40B4-BE49-F238E27FC236}">
                <a16:creationId xmlns:a16="http://schemas.microsoft.com/office/drawing/2014/main" id="{02360F0D-1C3C-C8F8-C1B4-BDFDD4A57A80}"/>
              </a:ext>
            </a:extLst>
          </p:cNvPr>
          <p:cNvSpPr/>
          <p:nvPr/>
        </p:nvSpPr>
        <p:spPr>
          <a:xfrm>
            <a:off x="230504" y="2152895"/>
            <a:ext cx="302895" cy="141422"/>
          </a:xfrm>
          <a:prstGeom prst="rect">
            <a:avLst/>
          </a:prstGeom>
          <a:noFill/>
          <a:ln/>
        </p:spPr>
        <p:txBody>
          <a:bodyPr wrap="square" lIns="25400" tIns="25400" rIns="25400" bIns="25400" rtlCol="0" anchor="t">
            <a:noAutofit/>
          </a:bodyPr>
          <a:lstStyle/>
          <a:p>
            <a:pPr marL="0" indent="0" algn="l">
              <a:lnSpc>
                <a:spcPct val="130000"/>
              </a:lnSpc>
              <a:buNone/>
            </a:pPr>
            <a:r>
              <a:rPr lang="en-US" sz="1400" kern="0" spc="21" dirty="0">
                <a:solidFill>
                  <a:srgbClr val="888080"/>
                </a:solidFill>
                <a:latin typeface="Inter" pitchFamily="34" charset="0"/>
                <a:ea typeface="Inter" pitchFamily="34" charset="-122"/>
              </a:rPr>
              <a:t>03</a:t>
            </a:r>
          </a:p>
        </p:txBody>
      </p:sp>
      <p:sp>
        <p:nvSpPr>
          <p:cNvPr id="26" name="Text 9">
            <a:extLst>
              <a:ext uri="{FF2B5EF4-FFF2-40B4-BE49-F238E27FC236}">
                <a16:creationId xmlns:a16="http://schemas.microsoft.com/office/drawing/2014/main" id="{EE8B79F6-9CAF-ED40-8EB3-51E28BFE6654}"/>
              </a:ext>
            </a:extLst>
          </p:cNvPr>
          <p:cNvSpPr/>
          <p:nvPr/>
        </p:nvSpPr>
        <p:spPr>
          <a:xfrm>
            <a:off x="531240" y="2145027"/>
            <a:ext cx="1185416" cy="342476"/>
          </a:xfrm>
          <a:prstGeom prst="rect">
            <a:avLst/>
          </a:prstGeom>
          <a:noFill/>
          <a:ln/>
        </p:spPr>
        <p:txBody>
          <a:bodyPr wrap="square" lIns="25400" tIns="25400" rIns="25400" bIns="25400" rtlCol="0" anchor="t">
            <a:normAutofit/>
          </a:bodyPr>
          <a:lstStyle/>
          <a:p>
            <a:pPr marL="0" indent="0" algn="l">
              <a:lnSpc>
                <a:spcPct val="130000"/>
              </a:lnSpc>
              <a:buNone/>
            </a:pPr>
            <a:r>
              <a:rPr lang="en-US" sz="1400" kern="0" spc="21" dirty="0">
                <a:solidFill>
                  <a:srgbClr val="888080"/>
                </a:solidFill>
                <a:latin typeface="Inter" pitchFamily="34" charset="0"/>
                <a:ea typeface="Inter" pitchFamily="34" charset="-122"/>
              </a:rPr>
              <a:t>EDA</a:t>
            </a:r>
          </a:p>
        </p:txBody>
      </p:sp>
      <p:sp>
        <p:nvSpPr>
          <p:cNvPr id="27" name="Text 10">
            <a:extLst>
              <a:ext uri="{FF2B5EF4-FFF2-40B4-BE49-F238E27FC236}">
                <a16:creationId xmlns:a16="http://schemas.microsoft.com/office/drawing/2014/main" id="{18068378-B387-EDE7-B57D-3EF5CEDF6825}"/>
              </a:ext>
            </a:extLst>
          </p:cNvPr>
          <p:cNvSpPr/>
          <p:nvPr/>
        </p:nvSpPr>
        <p:spPr>
          <a:xfrm>
            <a:off x="228062" y="2444125"/>
            <a:ext cx="305337" cy="172132"/>
          </a:xfrm>
          <a:prstGeom prst="rect">
            <a:avLst/>
          </a:prstGeom>
          <a:noFill/>
          <a:ln/>
        </p:spPr>
        <p:txBody>
          <a:bodyPr wrap="square" lIns="25400" tIns="25400" rIns="25400" bIns="25400" rtlCol="0" anchor="t">
            <a:noAutofit/>
          </a:bodyPr>
          <a:lstStyle/>
          <a:p>
            <a:pPr marL="0" indent="0" algn="l">
              <a:lnSpc>
                <a:spcPct val="130000"/>
              </a:lnSpc>
              <a:buNone/>
            </a:pPr>
            <a:r>
              <a:rPr lang="en-US" sz="1400" kern="0" spc="21" dirty="0">
                <a:solidFill>
                  <a:srgbClr val="888080"/>
                </a:solidFill>
                <a:latin typeface="Inter" pitchFamily="34" charset="0"/>
                <a:ea typeface="Inter" pitchFamily="34" charset="-122"/>
              </a:rPr>
              <a:t>04</a:t>
            </a:r>
          </a:p>
        </p:txBody>
      </p:sp>
      <p:sp>
        <p:nvSpPr>
          <p:cNvPr id="28" name="Text 12">
            <a:extLst>
              <a:ext uri="{FF2B5EF4-FFF2-40B4-BE49-F238E27FC236}">
                <a16:creationId xmlns:a16="http://schemas.microsoft.com/office/drawing/2014/main" id="{34381962-19E3-01B2-5C30-359AA68B6B75}"/>
              </a:ext>
            </a:extLst>
          </p:cNvPr>
          <p:cNvSpPr/>
          <p:nvPr/>
        </p:nvSpPr>
        <p:spPr>
          <a:xfrm>
            <a:off x="228062" y="2750711"/>
            <a:ext cx="372011" cy="158880"/>
          </a:xfrm>
          <a:prstGeom prst="rect">
            <a:avLst/>
          </a:prstGeom>
          <a:noFill/>
          <a:ln/>
        </p:spPr>
        <p:txBody>
          <a:bodyPr wrap="square" lIns="25400" tIns="25400" rIns="25400" bIns="25400" rtlCol="0" anchor="t">
            <a:noAutofit/>
          </a:bodyPr>
          <a:lstStyle/>
          <a:p>
            <a:pPr marL="0" indent="0" algn="l">
              <a:lnSpc>
                <a:spcPct val="130000"/>
              </a:lnSpc>
              <a:buNone/>
            </a:pPr>
            <a:r>
              <a:rPr lang="en-US" sz="1400" kern="0" spc="21" dirty="0">
                <a:solidFill>
                  <a:srgbClr val="888080"/>
                </a:solidFill>
                <a:latin typeface="Inter" pitchFamily="34" charset="0"/>
                <a:ea typeface="Inter" pitchFamily="34" charset="-122"/>
              </a:rPr>
              <a:t>05</a:t>
            </a:r>
          </a:p>
        </p:txBody>
      </p:sp>
      <p:sp>
        <p:nvSpPr>
          <p:cNvPr id="29" name="Text 13">
            <a:extLst>
              <a:ext uri="{FF2B5EF4-FFF2-40B4-BE49-F238E27FC236}">
                <a16:creationId xmlns:a16="http://schemas.microsoft.com/office/drawing/2014/main" id="{4C28914F-F8B0-FD87-9370-FDDD2C1A7C4F}"/>
              </a:ext>
            </a:extLst>
          </p:cNvPr>
          <p:cNvSpPr/>
          <p:nvPr/>
        </p:nvSpPr>
        <p:spPr>
          <a:xfrm>
            <a:off x="533399" y="2725489"/>
            <a:ext cx="948333" cy="316567"/>
          </a:xfrm>
          <a:prstGeom prst="rect">
            <a:avLst/>
          </a:prstGeom>
          <a:noFill/>
          <a:ln/>
        </p:spPr>
        <p:txBody>
          <a:bodyPr wrap="square" lIns="25400" tIns="25400" rIns="25400" bIns="25400" rtlCol="0" anchor="t">
            <a:normAutofit/>
          </a:bodyPr>
          <a:lstStyle/>
          <a:p>
            <a:pPr marL="0" indent="0" algn="l">
              <a:lnSpc>
                <a:spcPct val="130000"/>
              </a:lnSpc>
              <a:buNone/>
            </a:pPr>
            <a:r>
              <a:rPr lang="en-US" sz="1400" kern="0" spc="21" dirty="0">
                <a:solidFill>
                  <a:srgbClr val="888080"/>
                </a:solidFill>
                <a:latin typeface="Inter" pitchFamily="34" charset="0"/>
                <a:ea typeface="Inter" pitchFamily="34" charset="-122"/>
              </a:rPr>
              <a:t>Modeling</a:t>
            </a:r>
          </a:p>
        </p:txBody>
      </p:sp>
      <p:sp>
        <p:nvSpPr>
          <p:cNvPr id="30" name="Text 14">
            <a:extLst>
              <a:ext uri="{FF2B5EF4-FFF2-40B4-BE49-F238E27FC236}">
                <a16:creationId xmlns:a16="http://schemas.microsoft.com/office/drawing/2014/main" id="{E16EA218-4C1B-E64B-E85D-500646ACEC4B}"/>
              </a:ext>
            </a:extLst>
          </p:cNvPr>
          <p:cNvSpPr/>
          <p:nvPr/>
        </p:nvSpPr>
        <p:spPr>
          <a:xfrm>
            <a:off x="235683" y="3042056"/>
            <a:ext cx="372010" cy="191463"/>
          </a:xfrm>
          <a:prstGeom prst="rect">
            <a:avLst/>
          </a:prstGeom>
          <a:noFill/>
          <a:ln/>
        </p:spPr>
        <p:txBody>
          <a:bodyPr wrap="square" lIns="25400" tIns="25400" rIns="25400" bIns="25400" rtlCol="0" anchor="t">
            <a:noAutofit/>
          </a:bodyPr>
          <a:lstStyle/>
          <a:p>
            <a:pPr marL="0" indent="0" algn="l">
              <a:lnSpc>
                <a:spcPct val="130000"/>
              </a:lnSpc>
              <a:buNone/>
            </a:pPr>
            <a:r>
              <a:rPr lang="en-US" sz="1400" b="1" kern="0" spc="21" dirty="0">
                <a:solidFill>
                  <a:srgbClr val="C25A2A"/>
                </a:solidFill>
                <a:latin typeface="JetBrains Mono" pitchFamily="34" charset="0"/>
                <a:ea typeface="JetBrains Mono" pitchFamily="34" charset="-122"/>
              </a:rPr>
              <a:t>06</a:t>
            </a:r>
          </a:p>
        </p:txBody>
      </p:sp>
      <p:sp>
        <p:nvSpPr>
          <p:cNvPr id="31" name="Text 15">
            <a:extLst>
              <a:ext uri="{FF2B5EF4-FFF2-40B4-BE49-F238E27FC236}">
                <a16:creationId xmlns:a16="http://schemas.microsoft.com/office/drawing/2014/main" id="{3D81F172-2FA3-3D1D-B630-49B2E42290EE}"/>
              </a:ext>
            </a:extLst>
          </p:cNvPr>
          <p:cNvSpPr/>
          <p:nvPr/>
        </p:nvSpPr>
        <p:spPr>
          <a:xfrm>
            <a:off x="533400" y="3032075"/>
            <a:ext cx="1185416" cy="626120"/>
          </a:xfrm>
          <a:prstGeom prst="rect">
            <a:avLst/>
          </a:prstGeom>
          <a:noFill/>
          <a:ln/>
        </p:spPr>
        <p:txBody>
          <a:bodyPr wrap="square" lIns="25400" tIns="25400" rIns="25400" bIns="25400" rtlCol="0" anchor="t">
            <a:normAutofit/>
          </a:bodyPr>
          <a:lstStyle/>
          <a:p>
            <a:pPr marL="0" indent="0" algn="l">
              <a:lnSpc>
                <a:spcPct val="130000"/>
              </a:lnSpc>
              <a:buNone/>
            </a:pPr>
            <a:r>
              <a:rPr lang="en-US" sz="1400" kern="0" spc="21" dirty="0">
                <a:solidFill>
                  <a:srgbClr val="1A1A1A"/>
                </a:solidFill>
                <a:latin typeface="Inter" pitchFamily="34" charset="0"/>
                <a:ea typeface="Inter" pitchFamily="34" charset="-122"/>
              </a:rPr>
              <a:t>Conclusions</a:t>
            </a:r>
          </a:p>
        </p:txBody>
      </p:sp>
      <p:sp>
        <p:nvSpPr>
          <p:cNvPr id="32" name="Text 9">
            <a:extLst>
              <a:ext uri="{FF2B5EF4-FFF2-40B4-BE49-F238E27FC236}">
                <a16:creationId xmlns:a16="http://schemas.microsoft.com/office/drawing/2014/main" id="{CAFC9347-4D23-762C-EE1F-BE9441E86A7A}"/>
              </a:ext>
            </a:extLst>
          </p:cNvPr>
          <p:cNvSpPr/>
          <p:nvPr/>
        </p:nvSpPr>
        <p:spPr>
          <a:xfrm>
            <a:off x="538609" y="2426180"/>
            <a:ext cx="1185416" cy="342476"/>
          </a:xfrm>
          <a:prstGeom prst="rect">
            <a:avLst/>
          </a:prstGeom>
          <a:noFill/>
          <a:ln/>
        </p:spPr>
        <p:txBody>
          <a:bodyPr wrap="square" lIns="25400" tIns="25400" rIns="25400" bIns="25400" rtlCol="0" anchor="t">
            <a:normAutofit/>
          </a:bodyPr>
          <a:lstStyle/>
          <a:p>
            <a:pPr marL="0" indent="0" algn="l">
              <a:lnSpc>
                <a:spcPct val="130000"/>
              </a:lnSpc>
              <a:buNone/>
            </a:pPr>
            <a:r>
              <a:rPr lang="en-US" sz="1400" kern="0" spc="21" dirty="0">
                <a:solidFill>
                  <a:srgbClr val="888080"/>
                </a:solidFill>
                <a:latin typeface="Inter" pitchFamily="34" charset="0"/>
                <a:ea typeface="Inter" pitchFamily="34" charset="-122"/>
              </a:rPr>
              <a:t>Pipeline</a:t>
            </a:r>
          </a:p>
        </p:txBody>
      </p:sp>
      <p:sp>
        <p:nvSpPr>
          <p:cNvPr id="33" name="Text 7">
            <a:extLst>
              <a:ext uri="{FF2B5EF4-FFF2-40B4-BE49-F238E27FC236}">
                <a16:creationId xmlns:a16="http://schemas.microsoft.com/office/drawing/2014/main" id="{2E687612-45F5-5CCF-3F9E-50CE53DE66D9}"/>
              </a:ext>
            </a:extLst>
          </p:cNvPr>
          <p:cNvSpPr/>
          <p:nvPr/>
        </p:nvSpPr>
        <p:spPr>
          <a:xfrm>
            <a:off x="523875" y="1826620"/>
            <a:ext cx="1325700" cy="467696"/>
          </a:xfrm>
          <a:prstGeom prst="rect">
            <a:avLst/>
          </a:prstGeom>
          <a:noFill/>
          <a:ln/>
        </p:spPr>
        <p:txBody>
          <a:bodyPr wrap="square" lIns="25400" tIns="25400" rIns="25400" bIns="25400" rtlCol="0" anchor="t">
            <a:noAutofit/>
          </a:bodyPr>
          <a:lstStyle/>
          <a:p>
            <a:pPr marL="0" indent="0" algn="l">
              <a:lnSpc>
                <a:spcPct val="130000"/>
              </a:lnSpc>
              <a:buNone/>
            </a:pPr>
            <a:r>
              <a:rPr lang="en-US" sz="1400" kern="0" spc="21" dirty="0">
                <a:solidFill>
                  <a:srgbClr val="888080"/>
                </a:solidFill>
                <a:latin typeface="Inter" pitchFamily="34" charset="0"/>
                <a:ea typeface="Inter" pitchFamily="34" charset="-122"/>
              </a:rPr>
              <a:t>Data &amp; target</a:t>
            </a:r>
          </a:p>
        </p:txBody>
      </p:sp>
      <p:sp>
        <p:nvSpPr>
          <p:cNvPr id="35" name="Text 1">
            <a:extLst>
              <a:ext uri="{FF2B5EF4-FFF2-40B4-BE49-F238E27FC236}">
                <a16:creationId xmlns:a16="http://schemas.microsoft.com/office/drawing/2014/main" id="{6AE280C3-ED56-DB97-8254-E83DCC5C6981}"/>
              </a:ext>
            </a:extLst>
          </p:cNvPr>
          <p:cNvSpPr/>
          <p:nvPr/>
        </p:nvSpPr>
        <p:spPr>
          <a:xfrm>
            <a:off x="261138" y="379598"/>
            <a:ext cx="1778457" cy="447678"/>
          </a:xfrm>
          <a:prstGeom prst="rect">
            <a:avLst/>
          </a:prstGeom>
          <a:noFill/>
          <a:ln/>
        </p:spPr>
        <p:txBody>
          <a:bodyPr wrap="square" lIns="25400" tIns="25400" rIns="25400" bIns="25400" rtlCol="0" anchor="t">
            <a:noAutofit/>
          </a:bodyPr>
          <a:lstStyle/>
          <a:p>
            <a:pPr marL="0" indent="0">
              <a:buNone/>
            </a:pPr>
            <a:r>
              <a:rPr lang="en-US" sz="1400" kern="0" spc="116" dirty="0">
                <a:solidFill>
                  <a:srgbClr val="888080"/>
                </a:solidFill>
                <a:latin typeface="JetBrains Mono" pitchFamily="34" charset="0"/>
                <a:ea typeface="JetBrains Mono" pitchFamily="34" charset="-122"/>
                <a:cs typeface="JetBrains Mono" pitchFamily="34" charset="-120"/>
              </a:rPr>
              <a:t>DS22 - Bar Ilan</a:t>
            </a:r>
            <a:br>
              <a:rPr lang="en-US" sz="1400" kern="0" spc="116" dirty="0">
                <a:solidFill>
                  <a:srgbClr val="888080"/>
                </a:solidFill>
                <a:latin typeface="JetBrains Mono" pitchFamily="34" charset="0"/>
                <a:ea typeface="JetBrains Mono" pitchFamily="34" charset="-122"/>
                <a:cs typeface="JetBrains Mono" pitchFamily="34" charset="-120"/>
              </a:rPr>
            </a:br>
            <a:r>
              <a:rPr lang="en-US" sz="1400" kern="0" spc="116" dirty="0">
                <a:solidFill>
                  <a:srgbClr val="888080"/>
                </a:solidFill>
                <a:latin typeface="JetBrains Mono" pitchFamily="34" charset="0"/>
                <a:ea typeface="JetBrains Mono" pitchFamily="34" charset="-122"/>
                <a:cs typeface="JetBrains Mono" pitchFamily="34" charset="-120"/>
              </a:rPr>
              <a:t>ML PROJECT</a:t>
            </a:r>
          </a:p>
          <a:p>
            <a:pPr marL="0" indent="0">
              <a:buNone/>
            </a:pPr>
            <a:r>
              <a:rPr lang="en-US" sz="1400" kern="0" spc="116" dirty="0">
                <a:solidFill>
                  <a:srgbClr val="888080"/>
                </a:solidFill>
                <a:latin typeface="JetBrains Mono" pitchFamily="34" charset="0"/>
                <a:ea typeface="JetBrains Mono" pitchFamily="34" charset="-122"/>
                <a:cs typeface="JetBrains Mono" pitchFamily="34" charset="-120"/>
              </a:rPr>
              <a:t>MAY 2026</a:t>
            </a:r>
            <a:endParaRPr lang="en-US" sz="1400" dirty="0"/>
          </a:p>
        </p:txBody>
      </p:sp>
      <p:sp>
        <p:nvSpPr>
          <p:cNvPr id="2" name="Text 19">
            <a:extLst>
              <a:ext uri="{FF2B5EF4-FFF2-40B4-BE49-F238E27FC236}">
                <a16:creationId xmlns:a16="http://schemas.microsoft.com/office/drawing/2014/main" id="{E261DEDD-B66A-B2B3-D921-79BF3835509A}"/>
              </a:ext>
            </a:extLst>
          </p:cNvPr>
          <p:cNvSpPr/>
          <p:nvPr/>
        </p:nvSpPr>
        <p:spPr>
          <a:xfrm>
            <a:off x="2816399" y="1928391"/>
            <a:ext cx="14801715" cy="4189193"/>
          </a:xfrm>
          <a:prstGeom prst="rect">
            <a:avLst/>
          </a:prstGeom>
          <a:noFill/>
          <a:ln/>
        </p:spPr>
        <p:txBody>
          <a:bodyPr wrap="square" lIns="25400" tIns="25400" rIns="25400" bIns="25400" rtlCol="0" anchor="t">
            <a:normAutofit/>
          </a:bodyPr>
          <a:lstStyle/>
          <a:p>
            <a:pPr>
              <a:lnSpc>
                <a:spcPct val="150000"/>
              </a:lnSpc>
            </a:pPr>
            <a:r>
              <a:rPr lang="en-US" sz="2800" b="1" dirty="0"/>
              <a:t>Next steps suggestions </a:t>
            </a:r>
          </a:p>
          <a:p>
            <a:pPr marL="457200" indent="-457200">
              <a:lnSpc>
                <a:spcPct val="150000"/>
              </a:lnSpc>
              <a:buFont typeface="Arial" panose="020B0604020202020204" pitchFamily="34" charset="0"/>
              <a:buChar char="•"/>
            </a:pPr>
            <a:r>
              <a:rPr lang="en-US" sz="2800" dirty="0"/>
              <a:t>Increase dataset size and seasonal coverage. </a:t>
            </a:r>
          </a:p>
          <a:p>
            <a:pPr marL="457200" indent="-457200">
              <a:lnSpc>
                <a:spcPct val="150000"/>
              </a:lnSpc>
              <a:buFont typeface="Arial" panose="020B0604020202020204" pitchFamily="34" charset="0"/>
              <a:buChar char="•"/>
            </a:pPr>
            <a:r>
              <a:rPr lang="en-US" sz="2800" dirty="0"/>
              <a:t>Further investigate the </a:t>
            </a:r>
            <a:r>
              <a:rPr lang="en-US" dirty="0"/>
              <a:t>early</a:t>
            </a:r>
            <a:r>
              <a:rPr lang="en-US" sz="2800" dirty="0"/>
              <a:t> class behavior. </a:t>
            </a:r>
          </a:p>
          <a:p>
            <a:pPr marL="457200" indent="-457200">
              <a:lnSpc>
                <a:spcPct val="150000"/>
              </a:lnSpc>
              <a:buFont typeface="Arial" panose="020B0604020202020204" pitchFamily="34" charset="0"/>
              <a:buChar char="•"/>
            </a:pPr>
            <a:r>
              <a:rPr lang="en-US" sz="2800" dirty="0"/>
              <a:t>Integrate additional external data (traffic, incidents, holidays). </a:t>
            </a:r>
          </a:p>
          <a:p>
            <a:pPr marL="457200" indent="-457200">
              <a:lnSpc>
                <a:spcPct val="150000"/>
              </a:lnSpc>
              <a:buFont typeface="Arial" panose="020B0604020202020204" pitchFamily="34" charset="0"/>
              <a:buChar char="•"/>
            </a:pPr>
            <a:r>
              <a:rPr lang="en-US" sz="2800" dirty="0"/>
              <a:t>Explore advanced imbalance-handling techniques. </a:t>
            </a:r>
          </a:p>
          <a:p>
            <a:pPr marL="342900" indent="-342900">
              <a:lnSpc>
                <a:spcPct val="150000"/>
              </a:lnSpc>
              <a:buFont typeface="Arial" panose="020B0604020202020204" pitchFamily="34" charset="0"/>
              <a:buChar char="•"/>
            </a:pPr>
            <a:endParaRPr lang="en-US" sz="2400" dirty="0"/>
          </a:p>
        </p:txBody>
      </p:sp>
    </p:spTree>
    <p:extLst>
      <p:ext uri="{BB962C8B-B14F-4D97-AF65-F5344CB8AC3E}">
        <p14:creationId xmlns:p14="http://schemas.microsoft.com/office/powerpoint/2010/main" val="189470749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551</TotalTime>
  <Words>6744</Words>
  <Application>Microsoft Office PowerPoint</Application>
  <PresentationFormat>Custom</PresentationFormat>
  <Paragraphs>1168</Paragraphs>
  <Slides>35</Slides>
  <Notes>35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35</vt:i4>
      </vt:variant>
    </vt:vector>
  </HeadingPairs>
  <TitlesOfParts>
    <vt:vector size="41" baseType="lpstr">
      <vt:lpstr>Arial</vt:lpstr>
      <vt:lpstr>Courier New</vt:lpstr>
      <vt:lpstr>Instrument Serif</vt:lpstr>
      <vt:lpstr>Inter</vt:lpstr>
      <vt:lpstr>JetBrains Mono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Ofer Shahal</cp:lastModifiedBy>
  <cp:revision>37</cp:revision>
  <dcterms:created xsi:type="dcterms:W3CDTF">2026-05-09T07:35:47Z</dcterms:created>
  <dcterms:modified xsi:type="dcterms:W3CDTF">2026-05-13T14:42:08Z</dcterms:modified>
</cp:coreProperties>
</file>